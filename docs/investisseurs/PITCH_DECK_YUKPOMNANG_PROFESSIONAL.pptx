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6366F1"/>
                </a:solidFill>
                <a:latin typeface="Calibri"/>
              </a:defRPr>
            </a:pPr>
            <a:r>
              <a:t>YUKPOMNANG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  <a:latin typeface="Calibri"/>
              </a:defRPr>
            </a:pPr>
            <a:r>
              <a:t>Plateforme Intelligente de Services Multi-Secteurs en Afrique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808080"/>
                </a:solidFill>
                <a:latin typeface="Calibri"/>
              </a:defRPr>
            </a:pPr>
            <a:r>
              <a:t>Application déjà développée | Financement : 470M-550M FCFA | ROI : 10-15x sur 5 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UNE RÉPONSE SOCIÉTALE À LA FRACTURE DIGITALE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Millions de commerçants </a:t>
            </a:r>
            <a:r>
              <a:rPr sz="2000">
                <a:solidFill>
                  <a:srgbClr val="2C3E50"/>
                </a:solidFill>
                <a:latin typeface="Calibri"/>
              </a:rPr>
              <a:t>exclus : 1-2M FCFA pour site web/vidéos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Dizaines de millions de familles </a:t>
            </a:r>
            <a:r>
              <a:rPr sz="2000">
                <a:solidFill>
                  <a:srgbClr val="2C3E50"/>
                </a:solidFill>
                <a:latin typeface="Calibri"/>
              </a:rPr>
              <a:t>: 50K-150K FCFA/mois juste pour chercher services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5-10 applications différentes </a:t>
            </a:r>
            <a:r>
              <a:rPr sz="2000">
                <a:solidFill>
                  <a:srgbClr val="2C3E50"/>
                </a:solidFill>
                <a:latin typeface="Calibri"/>
              </a:rPr>
              <a:t>pour besoins quotidiens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Exclusion digitale </a:t>
            </a:r>
            <a:r>
              <a:rPr sz="2000">
                <a:solidFill>
                  <a:srgbClr val="2C3E50"/>
                </a:solidFill>
                <a:latin typeface="Calibri"/>
              </a:rPr>
              <a:t>perpétue pauvreté et limite accès services essentiels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YUKPOMNANG : LA 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Création automatique présence digitale par IA </a:t>
            </a:r>
            <a:r>
              <a:rPr sz="2000">
                <a:solidFill>
                  <a:srgbClr val="2C3E50"/>
                </a:solidFill>
                <a:latin typeface="Calibri"/>
              </a:rPr>
              <a:t>: Gratuite en 5 minutes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Génération vidéo automatisée </a:t>
            </a:r>
            <a:r>
              <a:rPr sz="2000">
                <a:solidFill>
                  <a:srgbClr val="2C3E50"/>
                </a:solidFill>
                <a:latin typeface="Calibri"/>
              </a:rPr>
              <a:t>: Réduction 90% coûts marketing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Recherche intelligente langage naturel </a:t>
            </a:r>
            <a:r>
              <a:rPr sz="2000">
                <a:solidFill>
                  <a:srgbClr val="2C3E50"/>
                </a:solidFill>
                <a:latin typeface="Calibri"/>
              </a:rPr>
              <a:t>: Économie 50K-90K FCFA/mois par famille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Optimisation livraison par IA </a:t>
            </a:r>
            <a:r>
              <a:rPr sz="2000">
                <a:solidFill>
                  <a:srgbClr val="2C3E50"/>
                </a:solidFill>
                <a:latin typeface="Calibri"/>
              </a:rPr>
              <a:t>: Réduction 40-60% coûts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Écosystème intégré multi-secteurs </a:t>
            </a:r>
            <a:r>
              <a:rPr sz="2000">
                <a:solidFill>
                  <a:srgbClr val="2C3E50"/>
                </a:solidFill>
                <a:latin typeface="Calibri"/>
              </a:rPr>
              <a:t>: Une seule app pour tous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MARCHÉ ADRESSABLE : 2-3 BILLIONS FCFA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60-100 billions FCFA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PIB Secteur Informel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2-3 billions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Marché Digitalisable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~180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Population Cible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11 pays francophones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Pays Cibles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FONCTIONNALITÉS INTELLIGENTES DÉJÀ OPÉRATIONNELLES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Création automatique présence digitale (IA) </a:t>
            </a:r>
            <a:r>
              <a:rPr sz="2000">
                <a:solidFill>
                  <a:srgbClr val="2C3E50"/>
                </a:solidFill>
                <a:latin typeface="Calibri"/>
              </a:rPr>
              <a:t>: Fiche complète en 5 min - GRATUIT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Génération vidéo publicitaire </a:t>
            </a:r>
            <a:r>
              <a:rPr sz="2000">
                <a:solidFill>
                  <a:srgbClr val="2C3E50"/>
                </a:solidFill>
                <a:latin typeface="Calibri"/>
              </a:rPr>
              <a:t>: TikTok/Reels-like en 2 min - 15K-30K vs 200K-1M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Recherche intelligente + géolocalisation </a:t>
            </a:r>
            <a:r>
              <a:rPr sz="2000">
                <a:solidFill>
                  <a:srgbClr val="2C3E50"/>
                </a:solidFill>
                <a:latin typeface="Calibri"/>
              </a:rPr>
              <a:t>: Langage naturel, 25+ catégories, 111+ filtres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Livraison optimisée par IA </a:t>
            </a:r>
            <a:r>
              <a:rPr sz="2000">
                <a:solidFill>
                  <a:srgbClr val="2C3E50"/>
                </a:solidFill>
                <a:latin typeface="Calibri"/>
              </a:rPr>
              <a:t>: Groupage multi-livraisons, trajet optimal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Écosystème multi-secteurs </a:t>
            </a:r>
            <a:r>
              <a:rPr sz="2000">
                <a:solidFill>
                  <a:srgbClr val="2C3E50"/>
                </a:solidFill>
                <a:latin typeface="Calibri"/>
              </a:rPr>
              <a:t>: Santé, éducation, transport, immobilier, e-commerce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INNOVATION TECHNOLOGIQUE YUKPO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Backend haute performance </a:t>
            </a:r>
            <a:r>
              <a:rPr sz="2000">
                <a:solidFill>
                  <a:srgbClr val="2C3E50"/>
                </a:solidFill>
                <a:latin typeface="Calibri"/>
              </a:rPr>
              <a:t>: Rust/Axum (10x Node.js)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IA multi-modèles </a:t>
            </a:r>
            <a:r>
              <a:rPr sz="2000">
                <a:solidFill>
                  <a:srgbClr val="2C3E50"/>
                </a:solidFill>
                <a:latin typeface="Calibri"/>
              </a:rPr>
              <a:t>: Orchestration intelligente (GPT-4, Mistral, Claude) avec fallback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Base de données vectorielle </a:t>
            </a:r>
            <a:r>
              <a:rPr sz="2000">
                <a:solidFill>
                  <a:srgbClr val="2C3E50"/>
                </a:solidFill>
                <a:latin typeface="Calibri"/>
              </a:rPr>
              <a:t>: PostgreSQL/pgvector pour recherche sémantique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Génération vidéo automatisée </a:t>
            </a:r>
            <a:r>
              <a:rPr sz="2000">
                <a:solidFill>
                  <a:srgbClr val="2C3E50"/>
                </a:solidFill>
                <a:latin typeface="Calibri"/>
              </a:rPr>
              <a:t>: Pipeline Remotion (Docker GPU)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Géolocalisation intelligente </a:t>
            </a:r>
            <a:r>
              <a:rPr sz="2000">
                <a:solidFill>
                  <a:srgbClr val="2C3E50"/>
                </a:solidFill>
                <a:latin typeface="Calibri"/>
              </a:rPr>
              <a:t>: Algorithmes optimisation routes par IA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Multi-plateformes </a:t>
            </a:r>
            <a:r>
              <a:rPr sz="2000">
                <a:solidFill>
                  <a:srgbClr val="2C3E50"/>
                </a:solidFill>
                <a:latin typeface="Calibri"/>
              </a:rPr>
              <a:t>: Web (React), Mobile (React Native), Cloud-native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PROJECTIONS REVENUS 5 ANS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Année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Produits Actifs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Placement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Revenus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2026 (6m)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378M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2,880M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2,905M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9,600M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9,650M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3,5M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84,000M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84,090M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7,5M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180,000M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180,150M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RENTABILITÉ SUR 5 ANS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Année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Charges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Résultat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2026 (6m)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378M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2,905M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1,200M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1,705M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9,650M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3,500M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6,150M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64%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84,090M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25,000M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59,090M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180,150M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45,000M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135,150M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BESOINS DE FINANCEMENT : 470M-550M FCFA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264M (56%)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60M (13%)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48M (10%)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Direction &amp; Tech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39,6M (8%)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Charges Opérationnelles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1148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21,6M (5%)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634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Équipe Commerciale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1148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206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37,2M (8%)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6634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Support &amp; Réserve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TIMELINE D'UTILISATION DES FONDS (12 MOIS)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Mois 1-3 </a:t>
            </a:r>
            <a:r>
              <a:rPr sz="2000">
                <a:solidFill>
                  <a:srgbClr val="2C3E50"/>
                </a:solidFill>
                <a:latin typeface="Calibri"/>
              </a:rPr>
              <a:t>: 120M (25%) - Recrutement, lancement campagnes, setup infrastructure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Mois 4-6 </a:t>
            </a:r>
            <a:r>
              <a:rPr sz="2000">
                <a:solidFill>
                  <a:srgbClr val="2C3E50"/>
                </a:solidFill>
                <a:latin typeface="Calibri"/>
              </a:rPr>
              <a:t>: 120M (25%) - Acquisition 500-800 commerçants, 50K utilisateurs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Mois 7-9 </a:t>
            </a:r>
            <a:r>
              <a:rPr sz="2000">
                <a:solidFill>
                  <a:srgbClr val="2C3E50"/>
                </a:solidFill>
                <a:latin typeface="Calibri"/>
              </a:rPr>
              <a:t>: 120M (25%) - Scaling, 150K utilisateurs, expansion géographique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Mois 10-12 </a:t>
            </a:r>
            <a:r>
              <a:rPr sz="2000">
                <a:solidFill>
                  <a:srgbClr val="2C3E50"/>
                </a:solidFill>
                <a:latin typeface="Calibri"/>
              </a:rPr>
              <a:t>: 110M (23%) - 200K utilisateurs, 3,000+ commerçants, rentabilité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AVANTAGES CONCURRENTIELS DÉCISIFS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Intégration unique </a:t>
            </a:r>
            <a:r>
              <a:rPr sz="2000">
                <a:solidFill>
                  <a:srgbClr val="2C3E50"/>
                </a:solidFill>
                <a:latin typeface="Calibri"/>
              </a:rPr>
              <a:t>: Une seule app vs 5-10 apps concurrentes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IA intégrée </a:t>
            </a:r>
            <a:r>
              <a:rPr sz="2000">
                <a:solidFill>
                  <a:srgbClr val="2C3E50"/>
                </a:solidFill>
                <a:latin typeface="Calibri"/>
              </a:rPr>
              <a:t>: Création automatique gratuite vs 1-2M FCFA concurrents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Géolocalisation intelligente </a:t>
            </a:r>
            <a:r>
              <a:rPr sz="2000">
                <a:solidFill>
                  <a:srgbClr val="2C3E50"/>
                </a:solidFill>
                <a:latin typeface="Calibri"/>
              </a:rPr>
              <a:t>: Optimisation routes IA (réduction 40-60% coûts)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Modèle adapté marché </a:t>
            </a:r>
            <a:r>
              <a:rPr sz="2000">
                <a:solidFill>
                  <a:srgbClr val="2C3E50"/>
                </a:solidFill>
                <a:latin typeface="Calibri"/>
              </a:rPr>
              <a:t>: Pay-per-use (2K/mois) vs abonnements inaccessibles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Focus secteur informel </a:t>
            </a:r>
            <a:r>
              <a:rPr sz="2000">
                <a:solidFill>
                  <a:srgbClr val="2C3E50"/>
                </a:solidFill>
                <a:latin typeface="Calibri"/>
              </a:rPr>
              <a:t>: 85% commerces exclus par concurrents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First-mover avantage </a:t>
            </a:r>
            <a:r>
              <a:rPr sz="2000">
                <a:solidFill>
                  <a:srgbClr val="2C3E50"/>
                </a:solidFill>
                <a:latin typeface="Calibri"/>
              </a:rPr>
              <a:t>: Fenêtre 2026-2027 avant géants 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RISQUES ET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Adoption lente </a:t>
            </a:r>
            <a:r>
              <a:rPr sz="2000">
                <a:solidFill>
                  <a:srgbClr val="2C3E50"/>
                </a:solidFill>
                <a:latin typeface="Calibri"/>
              </a:rPr>
              <a:t>: Marketing agressif (264M/an), freemium, support 24/7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Concurrence </a:t>
            </a:r>
            <a:r>
              <a:rPr sz="2000">
                <a:solidFill>
                  <a:srgbClr val="2C3E50"/>
                </a:solidFill>
                <a:latin typeface="Calibri"/>
              </a:rPr>
              <a:t>: First-mover, barrière technologique (Rust/IA), effets réseau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Technique/scaling </a:t>
            </a:r>
            <a:r>
              <a:rPr sz="2000">
                <a:solidFill>
                  <a:srgbClr val="2C3E50"/>
                </a:solidFill>
                <a:latin typeface="Calibri"/>
              </a:rPr>
              <a:t>: Architecture cloud-native, monitoring, équipe expérimentée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Réglementaire </a:t>
            </a:r>
            <a:r>
              <a:rPr sz="2000">
                <a:solidFill>
                  <a:srgbClr val="2C3E50"/>
                </a:solidFill>
                <a:latin typeface="Calibri"/>
              </a:rPr>
              <a:t>: Conformité RGPD, veille réglementaire continue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Financier </a:t>
            </a:r>
            <a:r>
              <a:rPr sz="2000">
                <a:solidFill>
                  <a:srgbClr val="2C3E50"/>
                </a:solidFill>
                <a:latin typeface="Calibri"/>
              </a:rPr>
              <a:t>: Modèle validé, trésorerie 3-4 mois, diversification revenus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PLAN DE SORTIE (EXIT STRATEGY)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Horizon </a:t>
            </a:r>
            <a:r>
              <a:rPr sz="2000">
                <a:solidFill>
                  <a:srgbClr val="2C3E50"/>
                </a:solidFill>
                <a:latin typeface="Calibri"/>
              </a:rPr>
              <a:t>: 5-7 ans (2029-2031)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Valorisation estimée </a:t>
            </a:r>
            <a:r>
              <a:rPr sz="2000">
                <a:solidFill>
                  <a:srgbClr val="2C3E50"/>
                </a:solidFill>
                <a:latin typeface="Calibri"/>
              </a:rPr>
              <a:t>: 50-100 billions FCFA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Option 1 </a:t>
            </a:r>
            <a:r>
              <a:rPr sz="2000">
                <a:solidFill>
                  <a:srgbClr val="2C3E50"/>
                </a:solidFill>
                <a:latin typeface="Calibri"/>
              </a:rPr>
              <a:t>: Acquisition stratégique (Jumia, MTN, Orange, géants tech)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Option 2 </a:t>
            </a:r>
            <a:r>
              <a:rPr sz="2000">
                <a:solidFill>
                  <a:srgbClr val="2C3E50"/>
                </a:solidFill>
                <a:latin typeface="Calibri"/>
              </a:rPr>
              <a:t>: IPO après 5 ans croissance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Option 3 </a:t>
            </a:r>
            <a:r>
              <a:rPr sz="2000">
                <a:solidFill>
                  <a:srgbClr val="2C3E50"/>
                </a:solidFill>
                <a:latin typeface="Calibri"/>
              </a:rPr>
              <a:t>: Fusion avec autre plateforme tech africaine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Garanties investisseurs </a:t>
            </a:r>
            <a:r>
              <a:rPr sz="2000">
                <a:solidFill>
                  <a:srgbClr val="2C3E50"/>
                </a:solidFill>
                <a:latin typeface="Calibri"/>
              </a:rPr>
              <a:t>: Clauses anti-dilution, retour minimum 5x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FONDATEUR : LELE SIAKA HERNANDEZ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13+ ans d'expérience </a:t>
            </a:r>
            <a:r>
              <a:rPr sz="2000">
                <a:solidFill>
                  <a:srgbClr val="2C3E50"/>
                </a:solidFill>
                <a:latin typeface="Calibri"/>
              </a:rPr>
              <a:t>: Data analyst, statisticien, modélisation avancée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Expertise terrain </a:t>
            </a:r>
            <a:r>
              <a:rPr sz="2000">
                <a:solidFill>
                  <a:srgbClr val="2C3E50"/>
                </a:solidFill>
                <a:latin typeface="Calibri"/>
              </a:rPr>
              <a:t>: Suivi-évaluation projets santé publique à fort impact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Collaborations internationales </a:t>
            </a:r>
            <a:r>
              <a:rPr sz="2000">
                <a:solidFill>
                  <a:srgbClr val="2C3E50"/>
                </a:solidFill>
                <a:latin typeface="Calibri"/>
              </a:rPr>
              <a:t>: Partenaire technique avec </a:t>
            </a:r>
            <a:r>
              <a:rPr sz="2000" b="1">
                <a:solidFill>
                  <a:srgbClr val="6366F1"/>
                </a:solidFill>
                <a:latin typeface="Calibri"/>
              </a:rPr>
              <a:t>UNICEF </a:t>
            </a:r>
            <a:r>
              <a:rPr sz="2000">
                <a:solidFill>
                  <a:srgbClr val="2C3E50"/>
                </a:solidFill>
                <a:latin typeface="Calibri"/>
              </a:rPr>
              <a:t>et </a:t>
            </a:r>
            <a:r>
              <a:rPr sz="2000" b="1">
                <a:solidFill>
                  <a:srgbClr val="6366F1"/>
                </a:solidFill>
                <a:latin typeface="Calibri"/>
              </a:rPr>
              <a:t>BAD 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Vision </a:t>
            </a:r>
            <a:r>
              <a:rPr sz="2000">
                <a:solidFill>
                  <a:srgbClr val="2C3E50"/>
                </a:solidFill>
                <a:latin typeface="Calibri"/>
              </a:rPr>
              <a:t>: Transformer besoins quotidiens en solutions intelligentes, scalables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Impact social </a:t>
            </a:r>
            <a:r>
              <a:rPr sz="2000">
                <a:solidFill>
                  <a:srgbClr val="2C3E50"/>
                </a:solidFill>
                <a:latin typeface="Calibri"/>
              </a:rPr>
              <a:t>: Solutions à fort impact dans contextes complexes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POURQUOI INVESTIR MAINTENANT 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Risque technique réduit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Application développée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1,4M → 2,5M habitants 2050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Marché en explosion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Fenêtre 2026-2027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First-mover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3200400" cy="10972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alibri"/>
              </a:defRPr>
            </a:pPr>
            <a:r>
              <a:t>10-15x sur 5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ROI projeté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VISION 2030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508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772400" cy="475488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40+ millions d'utilisateurs actifs 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7,5+ millions de produits/services actifs 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180+ milliards FCFA de revenus annuels 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Leader panafricain </a:t>
            </a:r>
            <a:r>
              <a:rPr sz="2000">
                <a:solidFill>
                  <a:srgbClr val="2C3E50"/>
                </a:solidFill>
                <a:latin typeface="Calibri"/>
              </a:rPr>
              <a:t>des services essentiels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366F1"/>
                </a:solidFill>
                <a:latin typeface="Calibri"/>
              </a:rPr>
              <a:t>Impact social </a:t>
            </a:r>
            <a:r>
              <a:rPr sz="2000">
                <a:solidFill>
                  <a:srgbClr val="2C3E50"/>
                </a:solidFill>
                <a:latin typeface="Calibri"/>
              </a:rPr>
              <a:t>: Amélioration qualité de vie millions d'Africains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  <a:latin typeface="Calibri"/>
              </a:defRPr>
            </a:pPr>
            <a:r>
              <a:t>Hernandez LELE</a:t>
            </a:r>
          </a:p>
          <a:p>
            <a:r>
              <a:t>Fondateur &amp; CEO</a:t>
            </a:r>
          </a:p>
          <a:p>
            <a:r>
              <a:t>lelehernandez2007@yahoo.fr</a:t>
            </a:r>
          </a:p>
          <a:p>
            <a:r>
              <a:t>+237 674 546895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  <a:latin typeface="Calibri"/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