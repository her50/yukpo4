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04 Plan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Document Investisseurs - Janvier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OBJECTIFS MARKETING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Objectifs Quantitatifs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2026 (Cameroun) - Objectifs Réalistes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Utilisateurs actifs</a:t>
            </a:r>
            <a:r>
              <a:rPr sz="1600">
                <a:solidFill>
                  <a:srgbClr val="333333"/>
                </a:solidFill>
              </a:rPr>
              <a:t> : 200,000 (objectif réaliste)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Utilisateurs enregistrés</a:t>
            </a:r>
            <a:r>
              <a:rPr sz="1600">
                <a:solidFill>
                  <a:srgbClr val="333333"/>
                </a:solidFill>
              </a:rPr>
              <a:t> : 500,000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Partenaires</a:t>
            </a:r>
            <a:r>
              <a:rPr sz="1600">
                <a:solidFill>
                  <a:srgbClr val="333333"/>
                </a:solidFill>
              </a:rPr>
              <a:t> : 4,500 (3,000 commerçants + 1,500 coursiers)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Taux d'adoption</a:t>
            </a:r>
            <a:r>
              <a:rPr sz="1600">
                <a:solidFill>
                  <a:srgbClr val="333333"/>
                </a:solidFill>
              </a:rPr>
              <a:t> : 15-20% croissance mensuelle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CAC (Customer Acquisition Cost)</a:t>
            </a:r>
            <a:r>
              <a:rPr sz="1600">
                <a:solidFill>
                  <a:srgbClr val="333333"/>
                </a:solidFill>
              </a:rPr>
              <a:t> : &lt; 5,000 FCFA (&lt;4K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Taux de rétention</a:t>
            </a:r>
            <a:r>
              <a:rPr sz="1600">
                <a:solidFill>
                  <a:srgbClr val="333333"/>
                </a:solidFill>
              </a:rPr>
              <a:t> : 60% à 30 jours, 40% à 90 jours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Brand awareness</a:t>
            </a:r>
            <a:r>
              <a:rPr sz="1600">
                <a:solidFill>
                  <a:srgbClr val="333333"/>
                </a:solidFill>
              </a:rPr>
              <a:t> : 40% dans zones urbaines cibles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2027 (3 pays) - Objectifs Réalistes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Utilisateurs actifs</a:t>
            </a:r>
            <a:r>
              <a:rPr sz="1600">
                <a:solidFill>
                  <a:srgbClr val="333333"/>
                </a:solidFill>
              </a:rPr>
              <a:t> : 800,000 (objectif réaliste)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Utilisateurs enregistrés</a:t>
            </a:r>
            <a:r>
              <a:rPr sz="1600">
                <a:solidFill>
                  <a:srgbClr val="333333"/>
                </a:solidFill>
              </a:rPr>
              <a:t> : 1,500,000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Partenaires</a:t>
            </a:r>
            <a:r>
              <a:rPr sz="1600">
                <a:solidFill>
                  <a:srgbClr val="333333"/>
                </a:solidFill>
              </a:rPr>
              <a:t> : 17,000 (12,000 commerçants + 5,000 coursiers)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CAC</a:t>
            </a:r>
            <a:r>
              <a:rPr sz="1600">
                <a:solidFill>
                  <a:srgbClr val="333333"/>
                </a:solidFill>
              </a:rPr>
              <a:t> : &lt; 4,200 FCFA (&lt;4K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Taux de rétention</a:t>
            </a:r>
            <a:r>
              <a:rPr sz="1600">
                <a:solidFill>
                  <a:srgbClr val="333333"/>
                </a:solidFill>
              </a:rPr>
              <a:t> : 65% à 30 jours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Brand awareness</a:t>
            </a:r>
            <a:r>
              <a:rPr sz="1600">
                <a:solidFill>
                  <a:srgbClr val="333333"/>
                </a:solidFill>
              </a:rPr>
              <a:t> : 60% dans marchés cibles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2028 (10+ pays)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Utilisateurs actifs</a:t>
            </a:r>
            <a:r>
              <a:rPr sz="1600">
                <a:solidFill>
                  <a:srgbClr val="333333"/>
                </a:solidFill>
              </a:rPr>
              <a:t> : 7,000,000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Partenaires</a:t>
            </a:r>
            <a:r>
              <a:rPr sz="1600">
                <a:solidFill>
                  <a:srgbClr val="333333"/>
                </a:solidFill>
              </a:rPr>
              <a:t> : 700,000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CAC</a:t>
            </a:r>
            <a:r>
              <a:rPr sz="1600">
                <a:solidFill>
                  <a:srgbClr val="333333"/>
                </a:solidFill>
              </a:rPr>
              <a:t> : &lt;3K FCFA- </a:t>
            </a:r>
            <a:r>
              <a:rPr sz="1600" b="1">
                <a:solidFill>
                  <a:srgbClr val="003366"/>
                </a:solidFill>
              </a:rPr>
              <a:t>Brand awareness</a:t>
            </a:r>
            <a:r>
              <a:rPr sz="1600">
                <a:solidFill>
                  <a:srgbClr val="333333"/>
                </a:solidFill>
              </a:rPr>
              <a:t> : 70% dans marchés cibles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2029 (20+ pays)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Utilisateurs actifs</a:t>
            </a:r>
            <a:r>
              <a:rPr sz="1600">
                <a:solidFill>
                  <a:srgbClr val="333333"/>
                </a:solidFill>
              </a:rPr>
              <a:t> : 18,000,000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Partenaires</a:t>
            </a:r>
            <a:r>
              <a:rPr sz="1600">
                <a:solidFill>
                  <a:srgbClr val="333333"/>
                </a:solidFill>
              </a:rPr>
              <a:t> : 1,800,000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CAC</a:t>
            </a:r>
            <a:r>
              <a:rPr sz="1600">
                <a:solidFill>
                  <a:srgbClr val="333333"/>
                </a:solidFill>
              </a:rPr>
              <a:t> : &lt;3K FCFA- </a:t>
            </a:r>
            <a:r>
              <a:rPr sz="1600" b="1">
                <a:solidFill>
                  <a:srgbClr val="003366"/>
                </a:solidFill>
              </a:rPr>
              <a:t>Brand awareness</a:t>
            </a:r>
            <a:r>
              <a:rPr sz="1600">
                <a:solidFill>
                  <a:srgbClr val="333333"/>
                </a:solidFill>
              </a:rPr>
              <a:t> : Leader de catégorie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Objectifs Qualitatifs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Positionnement</a:t>
            </a:r>
            <a:r>
              <a:rPr sz="1600">
                <a:solidFill>
                  <a:srgbClr val="333333"/>
                </a:solidFill>
              </a:rPr>
              <a:t> : Plateforme de référence pour services essentiels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Image de marque</a:t>
            </a:r>
            <a:r>
              <a:rPr sz="1600">
                <a:solidFill>
                  <a:srgbClr val="333333"/>
                </a:solidFill>
              </a:rPr>
              <a:t> : Innovant, fiable, accessible, impact social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Satisfaction client</a:t>
            </a:r>
            <a:r>
              <a:rPr sz="1600">
                <a:solidFill>
                  <a:srgbClr val="333333"/>
                </a:solidFill>
              </a:rPr>
              <a:t> : &gt;4.5/5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Net Promoter Score (NPS)</a:t>
            </a:r>
            <a:r>
              <a:rPr sz="1600">
                <a:solidFill>
                  <a:srgbClr val="333333"/>
                </a:solidFill>
              </a:rPr>
              <a:t> : &gt;50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STRATÉGIE DE LANCEMENT PAR PHASE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PHASE 1 : CAMEROUN 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Q1 2026 : Pré-Lancement et Beta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1,000 beta testeurs qualifiés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50 partenaires pilotes (commerçants)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100 coursiers vérifiés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Brand awareness initiale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Recrutement</a:t>
            </a:r>
            <a:r>
              <a:rPr sz="1600">
                <a:solidFill>
                  <a:srgbClr val="333333"/>
                </a:solidFill>
              </a:rPr>
              <a:t> : Réseaux sociaux, universités, communautés tech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Incentives</a:t>
            </a:r>
            <a:r>
              <a:rPr sz="1600">
                <a:solidFill>
                  <a:srgbClr val="333333"/>
                </a:solidFill>
              </a:rPr>
              <a:t> : Accès gratuit premium 6 mois, récompenses exclusives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Feedback</a:t>
            </a:r>
            <a:r>
              <a:rPr sz="1600">
                <a:solidFill>
                  <a:srgbClr val="333333"/>
                </a:solidFill>
              </a:rPr>
              <a:t> : Surveys hebdomadaires, groupes focus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18 millions FCFA</a:t>
            </a:r>
            <a:r>
              <a:rPr sz="1600" b="1">
                <a:solidFill>
                  <a:srgbClr val="003366"/>
                </a:solidFill>
              </a:rPr>
              <a:t>2. Partenariats Stratégiques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Supermarkets</a:t>
            </a:r>
            <a:r>
              <a:rPr sz="1600">
                <a:solidFill>
                  <a:srgbClr val="333333"/>
                </a:solidFill>
              </a:rPr>
              <a:t> : Carrefour, Casino (si présents), supermarchés locaux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Pharmacies</a:t>
            </a:r>
            <a:r>
              <a:rPr sz="1600">
                <a:solidFill>
                  <a:srgbClr val="333333"/>
                </a:solidFill>
              </a:rPr>
              <a:t> : Chaînes principales (Pharmacie Centrale, etc.)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Restaurants</a:t>
            </a:r>
            <a:r>
              <a:rPr sz="1600">
                <a:solidFill>
                  <a:srgbClr val="333333"/>
                </a:solidFill>
              </a:rPr>
              <a:t> : 20-30 restaurants populaires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30 millions FCFA(incitations partenaires)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Micro-influenceurs</a:t>
            </a:r>
            <a:r>
              <a:rPr sz="1600">
                <a:solidFill>
                  <a:srgbClr val="333333"/>
                </a:solidFill>
              </a:rPr>
              <a:t> (10K-100K followers) : 20-30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Macro-influenceurs</a:t>
            </a:r>
            <a:r>
              <a:rPr sz="1600">
                <a:solidFill>
                  <a:srgbClr val="333333"/>
                </a:solidFill>
              </a:rPr>
              <a:t> (100K+ followers) : 5-10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Contenu</a:t>
            </a:r>
            <a:r>
              <a:rPr sz="1600">
                <a:solidFill>
                  <a:srgbClr val="333333"/>
                </a:solidFill>
              </a:rPr>
              <a:t> : Unboxing, tests, tutoriels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24 millions FCFA</a:t>
            </a:r>
            <a:r>
              <a:rPr sz="1600" b="1">
                <a:solidFill>
                  <a:srgbClr val="003366"/>
                </a:solidFill>
              </a:rPr>
              <a:t>4. Relations Presse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Médias locaux</a:t>
            </a:r>
            <a:r>
              <a:rPr sz="1600">
                <a:solidFill>
                  <a:srgbClr val="333333"/>
                </a:solidFill>
              </a:rPr>
              <a:t> : Presse écrite, radio, TV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Tech blogs</a:t>
            </a:r>
            <a:r>
              <a:rPr sz="1600">
                <a:solidFill>
                  <a:srgbClr val="333333"/>
                </a:solidFill>
              </a:rPr>
              <a:t> : Articles, interviews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Communiqués</a:t>
            </a:r>
            <a:r>
              <a:rPr sz="1600">
                <a:solidFill>
                  <a:srgbClr val="333333"/>
                </a:solidFill>
              </a:rPr>
              <a:t> : Lancement, milestones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12 millions FCFA</a:t>
            </a:r>
            <a:r>
              <a:rPr sz="1600" b="1">
                <a:solidFill>
                  <a:srgbClr val="003366"/>
                </a:solidFill>
              </a:rPr>
              <a:t>Total Q1 2026</a:t>
            </a:r>
            <a:r>
              <a:rPr sz="1600">
                <a:solidFill>
                  <a:srgbClr val="333333"/>
                </a:solidFill>
              </a:rPr>
              <a:t> : 84 millions FCFA---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Q2 2026 : Lancement Officiel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150,000 utilisateurs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5,000 partenaires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500 coursiers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50,000 transactions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Lieux</a:t>
            </a:r>
            <a:r>
              <a:rPr sz="1600">
                <a:solidFill>
                  <a:srgbClr val="333333"/>
                </a:solidFill>
              </a:rPr>
              <a:t> : Yaoundé et Douala (événements simultanés)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Format</a:t>
            </a:r>
            <a:r>
              <a:rPr sz="1600">
                <a:solidFill>
                  <a:srgbClr val="333333"/>
                </a:solidFill>
              </a:rPr>
              <a:t> : Conférence de presse + événement public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Contenu</a:t>
            </a:r>
            <a:r>
              <a:rPr sz="1600">
                <a:solidFill>
                  <a:srgbClr val="333333"/>
                </a:solidFill>
              </a:rPr>
              <a:t> : Présentation produit, démos, networking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Médias</a:t>
            </a:r>
            <a:r>
              <a:rPr sz="1600">
                <a:solidFill>
                  <a:srgbClr val="333333"/>
                </a:solidFill>
              </a:rPr>
              <a:t> : Couverture presse, live streaming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48 millions FCFA</a:t>
            </a:r>
            <a:r>
              <a:rPr sz="1600" b="1">
                <a:solidFill>
                  <a:srgbClr val="003366"/>
                </a:solidFill>
              </a:rPr>
              <a:t>2. Campagne Digitale Massive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Cibles</a:t>
            </a:r>
            <a:r>
              <a:rPr sz="1600">
                <a:solidFill>
                  <a:srgbClr val="333333"/>
                </a:solidFill>
              </a:rPr>
              <a:t> : 18-45 ans, zones urbaines (Yaoundé, Douala)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Formats</a:t>
            </a:r>
            <a:r>
              <a:rPr sz="1600">
                <a:solidFill>
                  <a:srgbClr val="333333"/>
                </a:solidFill>
              </a:rPr>
              <a:t> : Vidéos, carrousels, stories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120 millions FCFA- </a:t>
            </a:r>
            <a:r>
              <a:rPr sz="1600" b="1">
                <a:solidFill>
                  <a:srgbClr val="003366"/>
                </a:solidFill>
              </a:rPr>
              <a:t>Objectif</a:t>
            </a:r>
            <a:r>
              <a:rPr sz="1600">
                <a:solidFill>
                  <a:srgbClr val="333333"/>
                </a:solidFill>
              </a:rPr>
              <a:t> : 50,000 installations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Cibles</a:t>
            </a:r>
            <a:r>
              <a:rPr sz="1600">
                <a:solidFill>
                  <a:srgbClr val="333333"/>
                </a:solidFill>
              </a:rPr>
              <a:t> : 18-35 ans, créateurs de contenu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Format</a:t>
            </a:r>
            <a:r>
              <a:rPr sz="1600">
                <a:solidFill>
                  <a:srgbClr val="333333"/>
                </a:solidFill>
              </a:rPr>
              <a:t> : Vidéos virales, challenges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60 millions FCFA- </a:t>
            </a:r>
            <a:r>
              <a:rPr sz="1600" b="1">
                <a:solidFill>
                  <a:srgbClr val="003366"/>
                </a:solidFill>
              </a:rPr>
              <a:t>Objectif</a:t>
            </a:r>
            <a:r>
              <a:rPr sz="1600">
                <a:solidFill>
                  <a:srgbClr val="333333"/>
                </a:solidFill>
              </a:rPr>
              <a:t> : 30,000 installations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Recherche</a:t>
            </a:r>
            <a:r>
              <a:rPr sz="1600">
                <a:solidFill>
                  <a:srgbClr val="333333"/>
                </a:solidFill>
              </a:rPr>
              <a:t> : Mots-clés "livraison", "services", "achats en ligne"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Display</a:t>
            </a:r>
            <a:r>
              <a:rPr sz="1600">
                <a:solidFill>
                  <a:srgbClr val="333333"/>
                </a:solidFill>
              </a:rPr>
              <a:t> : Sites partenaires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YouTube</a:t>
            </a:r>
            <a:r>
              <a:rPr sz="1600">
                <a:solidFill>
                  <a:srgbClr val="333333"/>
                </a:solidFill>
              </a:rPr>
              <a:t> : Vidéos publicitaires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90 millions FCFA- </a:t>
            </a:r>
            <a:r>
              <a:rPr sz="1600" b="1">
                <a:solidFill>
                  <a:srgbClr val="003366"/>
                </a:solidFill>
              </a:rPr>
              <a:t>Objectif</a:t>
            </a:r>
            <a:r>
              <a:rPr sz="1600">
                <a:solidFill>
                  <a:srgbClr val="333333"/>
                </a:solidFill>
              </a:rPr>
              <a:t> : 40,000 installations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Stations</a:t>
            </a:r>
            <a:r>
              <a:rPr sz="1600">
                <a:solidFill>
                  <a:srgbClr val="333333"/>
                </a:solidFill>
              </a:rPr>
              <a:t> : Top 5 stations Yaoundé/Douala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Format</a:t>
            </a:r>
            <a:r>
              <a:rPr sz="1600">
                <a:solidFill>
                  <a:srgbClr val="333333"/>
                </a:solidFill>
              </a:rPr>
              <a:t> : Spots 30s, émissions sponsorisées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Durée</a:t>
            </a:r>
            <a:r>
              <a:rPr sz="1600">
                <a:solidFill>
                  <a:srgbClr val="333333"/>
                </a:solidFill>
              </a:rPr>
              <a:t> : 3 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36 millions FCFA</a:t>
            </a:r>
            <a:r>
              <a:rPr sz="1600" b="1">
                <a:solidFill>
                  <a:srgbClr val="003366"/>
                </a:solidFill>
              </a:rPr>
              <a:t>Affichage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Lieux</a:t>
            </a:r>
            <a:r>
              <a:rPr sz="1600">
                <a:solidFill>
                  <a:srgbClr val="333333"/>
                </a:solidFill>
              </a:rPr>
              <a:t> : Bus, taxis, panneaux stratégiques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Zones</a:t>
            </a:r>
            <a:r>
              <a:rPr sz="1600">
                <a:solidFill>
                  <a:srgbClr val="333333"/>
                </a:solidFill>
              </a:rPr>
              <a:t> : Centres-villes, universités, commerces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30 millions FCFA</a:t>
            </a:r>
            <a:r>
              <a:rPr sz="1600" b="1">
                <a:solidFill>
                  <a:srgbClr val="003366"/>
                </a:solidFill>
              </a:rPr>
              <a:t>Marketing de Rue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Équipes</a:t>
            </a:r>
            <a:r>
              <a:rPr sz="1600">
                <a:solidFill>
                  <a:srgbClr val="333333"/>
                </a:solidFill>
              </a:rPr>
              <a:t> : 20-30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 Distribution flyers, démos, inscriptions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Zones</a:t>
            </a:r>
            <a:r>
              <a:rPr sz="1600">
                <a:solidFill>
                  <a:srgbClr val="333333"/>
                </a:solidFill>
              </a:rPr>
              <a:t> : Marchés, universités, centres commerciaux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24 millions FCFA</a:t>
            </a:r>
            <a:r>
              <a:rPr sz="1600" b="1">
                <a:solidFill>
                  <a:srgbClr val="003366"/>
                </a:solidFill>
              </a:rPr>
              <a:t>4. Programme de Parrainage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Récompense parrain</a:t>
            </a:r>
            <a:r>
              <a:rPr sz="1600">
                <a:solidFill>
                  <a:srgbClr val="333333"/>
                </a:solidFill>
              </a:rPr>
              <a:t> : 3K FCFA-10 par nouveau utilisateur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Récompense filleul</a:t>
            </a:r>
            <a:r>
              <a:rPr sz="1600">
                <a:solidFill>
                  <a:srgbClr val="333333"/>
                </a:solidFill>
              </a:rPr>
              <a:t> : 1K FCFA-5 crédit app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48 millions FCFA</a:t>
            </a:r>
            <a:r>
              <a:rPr sz="1600" b="1">
                <a:solidFill>
                  <a:srgbClr val="003366"/>
                </a:solidFill>
              </a:rPr>
              <a:t>5. Partenariats B2B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Institutions</a:t>
            </a:r>
            <a:r>
              <a:rPr sz="1600">
                <a:solidFill>
                  <a:srgbClr val="333333"/>
                </a:solidFill>
              </a:rPr>
              <a:t> : Universités, entreprises, administrations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Offres groupe</a:t>
            </a:r>
            <a:r>
              <a:rPr sz="1600">
                <a:solidFill>
                  <a:srgbClr val="333333"/>
                </a:solidFill>
              </a:rPr>
              <a:t> : Tarifs préférentiels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18 millions FCFA</a:t>
            </a:r>
            <a:r>
              <a:rPr sz="1600" b="1">
                <a:solidFill>
                  <a:srgbClr val="003366"/>
                </a:solidFill>
              </a:rPr>
              <a:t>Total Q2 2026</a:t>
            </a:r>
            <a:r>
              <a:rPr sz="1600">
                <a:solidFill>
                  <a:srgbClr val="333333"/>
                </a:solidFill>
              </a:rPr>
              <a:t> : 486 millions FCFA---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Q3 2026 : Expansion et Croissance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300,000 utilisateurs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15,000 partenaires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1,500 coursiers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120,000 transactions/mois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Nouvelles villes</a:t>
            </a:r>
            <a:r>
              <a:rPr sz="1600">
                <a:solidFill>
                  <a:srgbClr val="333333"/>
                </a:solidFill>
              </a:rPr>
              <a:t> : Bafoussam, Garoua, Limbe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Stratégie</a:t>
            </a:r>
            <a:r>
              <a:rPr sz="1600">
                <a:solidFill>
                  <a:srgbClr val="333333"/>
                </a:solidFill>
              </a:rPr>
              <a:t> : Adaptation campagne Q2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120 millions FCFA</a:t>
            </a:r>
            <a:r>
              <a:rPr sz="1600" b="1">
                <a:solidFill>
                  <a:srgbClr val="003366"/>
                </a:solidFill>
              </a:rPr>
              <a:t>2. Marketing Performance Optimisé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Optimisation CAC</a:t>
            </a:r>
            <a:r>
              <a:rPr sz="1600">
                <a:solidFill>
                  <a:srgbClr val="333333"/>
                </a:solidFill>
              </a:rPr>
              <a:t> : A/B testing, retargeting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digital</a:t>
            </a:r>
            <a:r>
              <a:rPr sz="1600">
                <a:solidFill>
                  <a:srgbClr val="333333"/>
                </a:solidFill>
              </a:rPr>
              <a:t> : 180 millions FCFA- </a:t>
            </a:r>
            <a:r>
              <a:rPr sz="1600" b="1">
                <a:solidFill>
                  <a:srgbClr val="003366"/>
                </a:solidFill>
              </a:rPr>
              <a:t>Focus</a:t>
            </a:r>
            <a:r>
              <a:rPr sz="1600">
                <a:solidFill>
                  <a:srgbClr val="333333"/>
                </a:solidFill>
              </a:rPr>
              <a:t> : Conversion, rétention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Blog</a:t>
            </a:r>
            <a:r>
              <a:rPr sz="1600">
                <a:solidFill>
                  <a:srgbClr val="333333"/>
                </a:solidFill>
              </a:rPr>
              <a:t> : Articles SEO, guides utilisateurs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Vidéos</a:t>
            </a:r>
            <a:r>
              <a:rPr sz="1600">
                <a:solidFill>
                  <a:srgbClr val="333333"/>
                </a:solidFill>
              </a:rPr>
              <a:t> : Tutoriels YouTube, TikTok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Podcasts</a:t>
            </a:r>
            <a:r>
              <a:rPr sz="1600">
                <a:solidFill>
                  <a:srgbClr val="333333"/>
                </a:solidFill>
              </a:rPr>
              <a:t> : Partenariats, interviews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30 millions FCFA</a:t>
            </a:r>
            <a:r>
              <a:rPr sz="1600" b="1">
                <a:solidFill>
                  <a:srgbClr val="003366"/>
                </a:solidFill>
              </a:rPr>
              <a:t>4. Programmes Fidélité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Lancement</a:t>
            </a:r>
            <a:r>
              <a:rPr sz="1600">
                <a:solidFill>
                  <a:srgbClr val="333333"/>
                </a:solidFill>
              </a:rPr>
              <a:t> : Points, niveaux, récompenses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Campagnes</a:t>
            </a:r>
            <a:r>
              <a:rPr sz="1600">
                <a:solidFill>
                  <a:srgbClr val="333333"/>
                </a:solidFill>
              </a:rPr>
              <a:t> : Offres exclusives membres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60 millions FCFA</a:t>
            </a:r>
            <a:r>
              <a:rPr sz="1600" b="1">
                <a:solidFill>
                  <a:srgbClr val="003366"/>
                </a:solidFill>
              </a:rPr>
              <a:t>5. Partenariats Stratégiques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Fintech</a:t>
            </a:r>
            <a:r>
              <a:rPr sz="1600">
                <a:solidFill>
                  <a:srgbClr val="333333"/>
                </a:solidFill>
              </a:rPr>
              <a:t> : Intégration paiements mobiles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Telecoms</a:t>
            </a:r>
            <a:r>
              <a:rPr sz="1600">
                <a:solidFill>
                  <a:srgbClr val="333333"/>
                </a:solidFill>
              </a:rPr>
              <a:t> : Partenariats Orange, MTN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36 millions FCFA</a:t>
            </a:r>
            <a:r>
              <a:rPr sz="1600" b="1">
                <a:solidFill>
                  <a:srgbClr val="003366"/>
                </a:solidFill>
              </a:rPr>
              <a:t>Total Q3 2026</a:t>
            </a:r>
            <a:r>
              <a:rPr sz="1600">
                <a:solidFill>
                  <a:srgbClr val="333333"/>
                </a:solidFill>
              </a:rPr>
              <a:t> : 426 millions FCFA---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Q4 2026 : Consolidation et Préparation Expansion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500,000 utilisateurs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25,000 partenaires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2,500 coursiers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150,000 transactions/mois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Email marketing</a:t>
            </a:r>
            <a:r>
              <a:rPr sz="1600">
                <a:solidFill>
                  <a:srgbClr val="333333"/>
                </a:solidFill>
              </a:rPr>
              <a:t> : Campagnes personnalisées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Push notifications</a:t>
            </a:r>
            <a:r>
              <a:rPr sz="1600">
                <a:solidFill>
                  <a:srgbClr val="333333"/>
                </a:solidFill>
              </a:rPr>
              <a:t> : Offres ciblées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Gamification</a:t>
            </a:r>
            <a:r>
              <a:rPr sz="1600">
                <a:solidFill>
                  <a:srgbClr val="333333"/>
                </a:solidFill>
              </a:rPr>
              <a:t> : Badges, défis, classements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48 millions FCFA</a:t>
            </a:r>
            <a:r>
              <a:rPr sz="1600" b="1">
                <a:solidFill>
                  <a:srgbClr val="003366"/>
                </a:solidFill>
              </a:rPr>
              <a:t>2. Marketing Saisonnier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Fêtes de fin d'année</a:t>
            </a:r>
            <a:r>
              <a:rPr sz="1600">
                <a:solidFill>
                  <a:srgbClr val="333333"/>
                </a:solidFill>
              </a:rPr>
              <a:t> : Campagnes spéciales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Black Friday</a:t>
            </a:r>
            <a:r>
              <a:rPr sz="1600">
                <a:solidFill>
                  <a:srgbClr val="333333"/>
                </a:solidFill>
              </a:rPr>
              <a:t> : Promotions massives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72 millions FCFA</a:t>
            </a:r>
            <a:r>
              <a:rPr sz="1600" b="1">
                <a:solidFill>
                  <a:srgbClr val="003366"/>
                </a:solidFill>
              </a:rPr>
              <a:t>3. Préparation Expansion Côte d'Ivoire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Recherche marché</a:t>
            </a:r>
            <a:r>
              <a:rPr sz="1600">
                <a:solidFill>
                  <a:srgbClr val="333333"/>
                </a:solidFill>
              </a:rPr>
              <a:t> : Études, focus groups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Partenariats locaux</a:t>
            </a:r>
            <a:r>
              <a:rPr sz="1600">
                <a:solidFill>
                  <a:srgbClr val="333333"/>
                </a:solidFill>
              </a:rPr>
              <a:t> : Premiers contacts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Branding</a:t>
            </a:r>
            <a:r>
              <a:rPr sz="1600">
                <a:solidFill>
                  <a:srgbClr val="333333"/>
                </a:solidFill>
              </a:rPr>
              <a:t> : Adaptation marque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60 millions FCFA</a:t>
            </a:r>
            <a:r>
              <a:rPr sz="1600" b="1">
                <a:solidFill>
                  <a:srgbClr val="003366"/>
                </a:solidFill>
              </a:rPr>
              <a:t>4. Relations Publiques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Success stories</a:t>
            </a:r>
            <a:r>
              <a:rPr sz="1600">
                <a:solidFill>
                  <a:srgbClr val="333333"/>
                </a:solidFill>
              </a:rPr>
              <a:t> : Témoignages, case studies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Awards</a:t>
            </a:r>
            <a:r>
              <a:rPr sz="1600">
                <a:solidFill>
                  <a:srgbClr val="333333"/>
                </a:solidFill>
              </a:rPr>
              <a:t> : Candidatures prix tech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18 millions FCFA</a:t>
            </a:r>
            <a:r>
              <a:rPr sz="1600" b="1">
                <a:solidFill>
                  <a:srgbClr val="003366"/>
                </a:solidFill>
              </a:rPr>
              <a:t>Total Q4 2026</a:t>
            </a:r>
            <a:r>
              <a:rPr sz="1600">
                <a:solidFill>
                  <a:srgbClr val="333333"/>
                </a:solidFill>
              </a:rPr>
              <a:t> : 198 millions FCFA</a:t>
            </a:r>
            <a:r>
              <a:rPr sz="1600" b="1">
                <a:solidFill>
                  <a:srgbClr val="003366"/>
                </a:solidFill>
              </a:rPr>
              <a:t>TOTAL MARKETING 2026</a:t>
            </a:r>
            <a:r>
              <a:rPr sz="1600">
                <a:solidFill>
                  <a:srgbClr val="333333"/>
                </a:solidFill>
              </a:rPr>
              <a:t> : 1.2 billions FCFA(≈1.2 billions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PHASE 2 : EXPANSION 3 PAYS 2027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Q1 2027 : Lancement Côte d'Ivoire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1,200,000 utilisateurs (total)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100,000 nouveaux utilisateurs CI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10,000 partenaires CI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Format</a:t>
            </a:r>
            <a:r>
              <a:rPr sz="1600">
                <a:solidFill>
                  <a:srgbClr val="333333"/>
                </a:solidFill>
              </a:rPr>
              <a:t> : Similaire Q2 2026 Cameroun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60 millions FCFA</a:t>
            </a:r>
            <a:r>
              <a:rPr sz="1600" b="1">
                <a:solidFill>
                  <a:srgbClr val="003366"/>
                </a:solidFill>
              </a:rPr>
              <a:t>2. Campagne Digitale CI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Facebook/Instagram</a:t>
            </a:r>
            <a:r>
              <a:rPr sz="1600">
                <a:solidFill>
                  <a:srgbClr val="333333"/>
                </a:solidFill>
              </a:rPr>
              <a:t> : 150 millions FCFA- </a:t>
            </a:r>
            <a:r>
              <a:rPr sz="1600" b="1">
                <a:solidFill>
                  <a:srgbClr val="003366"/>
                </a:solidFill>
              </a:rPr>
              <a:t>TikTok</a:t>
            </a:r>
            <a:r>
              <a:rPr sz="1600">
                <a:solidFill>
                  <a:srgbClr val="333333"/>
                </a:solidFill>
              </a:rPr>
              <a:t> : 72 millions FCFA- </a:t>
            </a:r>
            <a:r>
              <a:rPr sz="1600" b="1">
                <a:solidFill>
                  <a:srgbClr val="003366"/>
                </a:solidFill>
              </a:rPr>
              <a:t>Google</a:t>
            </a:r>
            <a:r>
              <a:rPr sz="1600">
                <a:solidFill>
                  <a:srgbClr val="333333"/>
                </a:solidFill>
              </a:rPr>
              <a:t> : 108 millions FCFA- 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330 millions FCFA</a:t>
            </a:r>
            <a:r>
              <a:rPr sz="1600" b="1">
                <a:solidFill>
                  <a:srgbClr val="003366"/>
                </a:solidFill>
              </a:rPr>
              <a:t>3. Marketing Local CI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Radio</a:t>
            </a:r>
            <a:r>
              <a:rPr sz="1600">
                <a:solidFill>
                  <a:srgbClr val="333333"/>
                </a:solidFill>
              </a:rPr>
              <a:t> : 48 millions FCFA- </a:t>
            </a:r>
            <a:r>
              <a:rPr sz="1600" b="1">
                <a:solidFill>
                  <a:srgbClr val="003366"/>
                </a:solidFill>
              </a:rPr>
              <a:t>Affichage</a:t>
            </a:r>
            <a:r>
              <a:rPr sz="1600">
                <a:solidFill>
                  <a:srgbClr val="333333"/>
                </a:solidFill>
              </a:rPr>
              <a:t> : 42 millions FCFA- </a:t>
            </a:r>
            <a:r>
              <a:rPr sz="1600" b="1">
                <a:solidFill>
                  <a:srgbClr val="003366"/>
                </a:solidFill>
              </a:rPr>
              <a:t>Marketing de rue</a:t>
            </a:r>
            <a:r>
              <a:rPr sz="1600">
                <a:solidFill>
                  <a:srgbClr val="333333"/>
                </a:solidFill>
              </a:rPr>
              <a:t> : 30 millions FCFA- 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120 millions FCFA</a:t>
            </a:r>
            <a:r>
              <a:rPr sz="1600" b="1">
                <a:solidFill>
                  <a:srgbClr val="003366"/>
                </a:solidFill>
              </a:rPr>
              <a:t>4. Influenceurs CI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Micro + Macro</a:t>
            </a:r>
            <a:r>
              <a:rPr sz="1600">
                <a:solidFill>
                  <a:srgbClr val="333333"/>
                </a:solidFill>
              </a:rPr>
              <a:t> : 36 millions FCFA</a:t>
            </a:r>
            <a:r>
              <a:rPr sz="1600" b="1">
                <a:solidFill>
                  <a:srgbClr val="003366"/>
                </a:solidFill>
              </a:rPr>
              <a:t>5. Partenariats CI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Supermarkets, pharmacies</a:t>
            </a:r>
            <a:r>
              <a:rPr sz="1600">
                <a:solidFill>
                  <a:srgbClr val="333333"/>
                </a:solidFill>
              </a:rPr>
              <a:t> : 48 millions FCFA</a:t>
            </a:r>
            <a:r>
              <a:rPr sz="1600" b="1">
                <a:solidFill>
                  <a:srgbClr val="003366"/>
                </a:solidFill>
              </a:rPr>
              <a:t>Total Q1 2027</a:t>
            </a:r>
            <a:r>
              <a:rPr sz="1600">
                <a:solidFill>
                  <a:srgbClr val="333333"/>
                </a:solidFill>
              </a:rPr>
              <a:t> : 654 millions FCFA---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Q2 2027 : Croissance Côte d'Ivoire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1,800,000 utilisateurs (total)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Expansion autres villes CI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Marketing performance</a:t>
            </a:r>
            <a:r>
              <a:rPr sz="1600">
                <a:solidFill>
                  <a:srgbClr val="333333"/>
                </a:solidFill>
              </a:rPr>
              <a:t> : 240 millions FCFA- </a:t>
            </a:r>
            <a:r>
              <a:rPr sz="1600" b="1">
                <a:solidFill>
                  <a:srgbClr val="003366"/>
                </a:solidFill>
              </a:rPr>
              <a:t>Expansion géographique</a:t>
            </a:r>
            <a:r>
              <a:rPr sz="1600">
                <a:solidFill>
                  <a:srgbClr val="333333"/>
                </a:solidFill>
              </a:rPr>
              <a:t> : 90 millions FCFA- </a:t>
            </a:r>
            <a:r>
              <a:rPr sz="1600" b="1">
                <a:solidFill>
                  <a:srgbClr val="003366"/>
                </a:solidFill>
              </a:rPr>
              <a:t>Content marketing</a:t>
            </a:r>
            <a:r>
              <a:rPr sz="1600">
                <a:solidFill>
                  <a:srgbClr val="333333"/>
                </a:solidFill>
              </a:rPr>
              <a:t> : 30 millions FCFA- </a:t>
            </a:r>
            <a:r>
              <a:rPr sz="1600" b="1">
                <a:solidFill>
                  <a:srgbClr val="003366"/>
                </a:solidFill>
              </a:rPr>
              <a:t>Fidélité</a:t>
            </a:r>
            <a:r>
              <a:rPr sz="1600">
                <a:solidFill>
                  <a:srgbClr val="333333"/>
                </a:solidFill>
              </a:rPr>
              <a:t> : 48 millions FCFA</a:t>
            </a:r>
            <a:r>
              <a:rPr sz="1600" b="1">
                <a:solidFill>
                  <a:srgbClr val="003366"/>
                </a:solidFill>
              </a:rPr>
              <a:t>Total Q2 2027</a:t>
            </a:r>
            <a:r>
              <a:rPr sz="1600">
                <a:solidFill>
                  <a:srgbClr val="333333"/>
                </a:solidFill>
              </a:rPr>
              <a:t> : 408 millions FCFA---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Q3 2027 : Lancement Sénégal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2,200,000 utilisateurs (total)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200,000 nouveaux utilisateurs Sénégal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15,000 partenaires Sénégal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Événement lancement Dakar</a:t>
            </a:r>
            <a:r>
              <a:rPr sz="1600">
                <a:solidFill>
                  <a:srgbClr val="333333"/>
                </a:solidFill>
              </a:rPr>
              <a:t> : 60 millions FCFA- </a:t>
            </a:r>
            <a:r>
              <a:rPr sz="1600" b="1">
                <a:solidFill>
                  <a:srgbClr val="003366"/>
                </a:solidFill>
              </a:rPr>
              <a:t>Campagne digitale</a:t>
            </a:r>
            <a:r>
              <a:rPr sz="1600">
                <a:solidFill>
                  <a:srgbClr val="333333"/>
                </a:solidFill>
              </a:rPr>
              <a:t> : 330 millions FCFA- </a:t>
            </a:r>
            <a:r>
              <a:rPr sz="1600" b="1">
                <a:solidFill>
                  <a:srgbClr val="003366"/>
                </a:solidFill>
              </a:rPr>
              <a:t>Marketing local</a:t>
            </a:r>
            <a:r>
              <a:rPr sz="1600">
                <a:solidFill>
                  <a:srgbClr val="333333"/>
                </a:solidFill>
              </a:rPr>
              <a:t> : 120 millions FCFA- </a:t>
            </a:r>
            <a:r>
              <a:rPr sz="1600" b="1">
                <a:solidFill>
                  <a:srgbClr val="003366"/>
                </a:solidFill>
              </a:rPr>
              <a:t>Influenceurs</a:t>
            </a:r>
            <a:r>
              <a:rPr sz="1600">
                <a:solidFill>
                  <a:srgbClr val="333333"/>
                </a:solidFill>
              </a:rPr>
              <a:t> : 36 millions FCFA- </a:t>
            </a:r>
            <a:r>
              <a:rPr sz="1600" b="1">
                <a:solidFill>
                  <a:srgbClr val="003366"/>
                </a:solidFill>
              </a:rPr>
              <a:t>Partenariats</a:t>
            </a:r>
            <a:r>
              <a:rPr sz="1600">
                <a:solidFill>
                  <a:srgbClr val="333333"/>
                </a:solidFill>
              </a:rPr>
              <a:t> : 48 millions FCFA</a:t>
            </a:r>
            <a:r>
              <a:rPr sz="1600" b="1">
                <a:solidFill>
                  <a:srgbClr val="003366"/>
                </a:solidFill>
              </a:rPr>
              <a:t>Total Q3 2027</a:t>
            </a:r>
            <a:r>
              <a:rPr sz="1600">
                <a:solidFill>
                  <a:srgbClr val="333333"/>
                </a:solidFill>
              </a:rPr>
              <a:t> : 594 millions FCFA---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Q4 2027 : Consolidation 3 Pays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2,500,000 utilisateurs (total)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Optimisation opérations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Marketing performance</a:t>
            </a:r>
            <a:r>
              <a:rPr sz="1600">
                <a:solidFill>
                  <a:srgbClr val="333333"/>
                </a:solidFill>
              </a:rPr>
              <a:t> : 300 millions FCFA- </a:t>
            </a:r>
            <a:r>
              <a:rPr sz="1600" b="1">
                <a:solidFill>
                  <a:srgbClr val="003366"/>
                </a:solidFill>
              </a:rPr>
              <a:t>Rétention</a:t>
            </a:r>
            <a:r>
              <a:rPr sz="1600">
                <a:solidFill>
                  <a:srgbClr val="333333"/>
                </a:solidFill>
              </a:rPr>
              <a:t> : 90 millions FCFA- </a:t>
            </a:r>
            <a:r>
              <a:rPr sz="1600" b="1">
                <a:solidFill>
                  <a:srgbClr val="003366"/>
                </a:solidFill>
              </a:rPr>
              <a:t>Saisonnier</a:t>
            </a:r>
            <a:r>
              <a:rPr sz="1600">
                <a:solidFill>
                  <a:srgbClr val="333333"/>
                </a:solidFill>
              </a:rPr>
              <a:t> : 90 millions FCFA- </a:t>
            </a:r>
            <a:r>
              <a:rPr sz="1600" b="1">
                <a:solidFill>
                  <a:srgbClr val="003366"/>
                </a:solidFill>
              </a:rPr>
              <a:t>Préparation expansion</a:t>
            </a:r>
            <a:r>
              <a:rPr sz="1600">
                <a:solidFill>
                  <a:srgbClr val="333333"/>
                </a:solidFill>
              </a:rPr>
              <a:t> : 60 millions FCFA</a:t>
            </a:r>
            <a:r>
              <a:rPr sz="1600" b="1">
                <a:solidFill>
                  <a:srgbClr val="003366"/>
                </a:solidFill>
              </a:rPr>
              <a:t>Total Q4 2027</a:t>
            </a:r>
            <a:r>
              <a:rPr sz="1600">
                <a:solidFill>
                  <a:srgbClr val="333333"/>
                </a:solidFill>
              </a:rPr>
              <a:t> : 540 millions FCFA</a:t>
            </a:r>
            <a:r>
              <a:rPr sz="1600" b="1">
                <a:solidFill>
                  <a:srgbClr val="003366"/>
                </a:solidFill>
              </a:rPr>
              <a:t>TOTAL MARKETING 2027</a:t>
            </a:r>
            <a:r>
              <a:rPr sz="1600">
                <a:solidFill>
                  <a:srgbClr val="333333"/>
                </a:solidFill>
              </a:rPr>
              <a:t> : 2.2 billions FCFA(≈2.2 billions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PHASE 3 : EXPANSION FRANCOPHONE 2028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Expansion nouveaux pays</a:t>
            </a:r>
            <a:r>
              <a:rPr sz="1600">
                <a:solidFill>
                  <a:srgbClr val="333333"/>
                </a:solidFill>
              </a:rPr>
              <a:t> : 40% (1.9 billions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Marketing performance</a:t>
            </a:r>
            <a:r>
              <a:rPr sz="1600">
                <a:solidFill>
                  <a:srgbClr val="333333"/>
                </a:solidFill>
              </a:rPr>
              <a:t> : 30% (1.4 billions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Branding panafricain</a:t>
            </a:r>
            <a:r>
              <a:rPr sz="1600">
                <a:solidFill>
                  <a:srgbClr val="333333"/>
                </a:solidFill>
              </a:rPr>
              <a:t> : 20% (960 millions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Content &amp; PR</a:t>
            </a:r>
            <a:r>
              <a:rPr sz="1600">
                <a:solidFill>
                  <a:srgbClr val="333333"/>
                </a:solidFill>
              </a:rPr>
              <a:t> : 10% (480 millions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PHASE 4 : LEADERSHIP PANAFRICAIN 2029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Expansion anglophone/lusophone</a:t>
            </a:r>
            <a:r>
              <a:rPr sz="1600">
                <a:solidFill>
                  <a:srgbClr val="333333"/>
                </a:solidFill>
              </a:rPr>
              <a:t> : 35% (3.8 billions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Marketing performance</a:t>
            </a:r>
            <a:r>
              <a:rPr sz="1600">
                <a:solidFill>
                  <a:srgbClr val="333333"/>
                </a:solidFill>
              </a:rPr>
              <a:t> : 25% (2.7 billions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Branding leader</a:t>
            </a:r>
            <a:r>
              <a:rPr sz="1600">
                <a:solidFill>
                  <a:srgbClr val="333333"/>
                </a:solidFill>
              </a:rPr>
              <a:t> : 25% (2.7 billions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Content &amp; PR</a:t>
            </a:r>
            <a:r>
              <a:rPr sz="1600">
                <a:solidFill>
                  <a:srgbClr val="333333"/>
                </a:solidFill>
              </a:rPr>
              <a:t> : 15% (1.6 billions FCFA)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CANAUX MARKETING DÉTAILLÉS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1. MARKETING DIGITAL (60-70% du budget)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Réseaux Sociaux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Stratégie</a:t>
            </a:r>
            <a:r>
              <a:rPr sz="1600">
                <a:solidFill>
                  <a:srgbClr val="333333"/>
                </a:solidFill>
              </a:rPr>
              <a:t> : Awareness, consideration, conversion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Formats</a:t>
            </a:r>
            <a:r>
              <a:rPr sz="1600">
                <a:solidFill>
                  <a:srgbClr val="333333"/>
                </a:solidFill>
              </a:rPr>
              <a:t> : Vidéos, carrousels, stories, reels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Cibles</a:t>
            </a:r>
            <a:r>
              <a:rPr sz="1600">
                <a:solidFill>
                  <a:srgbClr val="333333"/>
                </a:solidFill>
              </a:rPr>
              <a:t> : 18-45 ans, zones urbaines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2026</a:t>
            </a:r>
            <a:r>
              <a:rPr sz="1600">
                <a:solidFill>
                  <a:srgbClr val="333333"/>
                </a:solidFill>
              </a:rPr>
              <a:t> : 240 millions FCFA- </a:t>
            </a:r>
            <a:r>
              <a:rPr sz="1600" b="1">
                <a:solidFill>
                  <a:srgbClr val="003366"/>
                </a:solidFill>
              </a:rPr>
              <a:t>Budget 2027</a:t>
            </a:r>
            <a:r>
              <a:rPr sz="1600">
                <a:solidFill>
                  <a:srgbClr val="333333"/>
                </a:solidFill>
              </a:rPr>
              <a:t> : 720 millions FCFA</a:t>
            </a:r>
            <a:r>
              <a:rPr sz="1600" b="1">
                <a:solidFill>
                  <a:srgbClr val="003366"/>
                </a:solidFill>
              </a:rPr>
              <a:t>TikTok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Stratégie</a:t>
            </a:r>
            <a:r>
              <a:rPr sz="1600">
                <a:solidFill>
                  <a:srgbClr val="333333"/>
                </a:solidFill>
              </a:rPr>
              <a:t> : Viral, challenges, créateurs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Formats</a:t>
            </a:r>
            <a:r>
              <a:rPr sz="1600">
                <a:solidFill>
                  <a:srgbClr val="333333"/>
                </a:solidFill>
              </a:rPr>
              <a:t> : Vidéos courtes, hashtags challenges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Cibles</a:t>
            </a:r>
            <a:r>
              <a:rPr sz="1600">
                <a:solidFill>
                  <a:srgbClr val="333333"/>
                </a:solidFill>
              </a:rPr>
              <a:t> : 18-35 ans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2026</a:t>
            </a:r>
            <a:r>
              <a:rPr sz="1600">
                <a:solidFill>
                  <a:srgbClr val="333333"/>
                </a:solidFill>
              </a:rPr>
              <a:t> : 120 millions FCFA- </a:t>
            </a:r>
            <a:r>
              <a:rPr sz="1600" b="1">
                <a:solidFill>
                  <a:srgbClr val="003366"/>
                </a:solidFill>
              </a:rPr>
              <a:t>Budget 2027</a:t>
            </a:r>
            <a:r>
              <a:rPr sz="1600">
                <a:solidFill>
                  <a:srgbClr val="333333"/>
                </a:solidFill>
              </a:rPr>
              <a:t> : 360 millions FCFA</a:t>
            </a:r>
            <a:r>
              <a:rPr sz="1600" b="1">
                <a:solidFill>
                  <a:srgbClr val="003366"/>
                </a:solidFill>
              </a:rPr>
              <a:t>YouTube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Stratégie</a:t>
            </a:r>
            <a:r>
              <a:rPr sz="1600">
                <a:solidFill>
                  <a:srgbClr val="333333"/>
                </a:solidFill>
              </a:rPr>
              <a:t> : Éducation, tutoriels, publicités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Formats</a:t>
            </a:r>
            <a:r>
              <a:rPr sz="1600">
                <a:solidFill>
                  <a:srgbClr val="333333"/>
                </a:solidFill>
              </a:rPr>
              <a:t> : Vidéos longues, shorts, publicités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2026</a:t>
            </a:r>
            <a:r>
              <a:rPr sz="1600">
                <a:solidFill>
                  <a:srgbClr val="333333"/>
                </a:solidFill>
              </a:rPr>
              <a:t> : 60 millions FCFA- </a:t>
            </a:r>
            <a:r>
              <a:rPr sz="1600" b="1">
                <a:solidFill>
                  <a:srgbClr val="003366"/>
                </a:solidFill>
              </a:rPr>
              <a:t>Budget 2027</a:t>
            </a:r>
            <a:r>
              <a:rPr sz="1600">
                <a:solidFill>
                  <a:srgbClr val="333333"/>
                </a:solidFill>
              </a:rPr>
              <a:t> : 180 millions FCFA#### Publicité Recherche (Google)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Recherche</a:t>
            </a:r>
            <a:r>
              <a:rPr sz="1600">
                <a:solidFill>
                  <a:srgbClr val="333333"/>
                </a:solidFill>
              </a:rPr>
              <a:t> : Mots-clés "livraison", "services", "achats"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Display</a:t>
            </a:r>
            <a:r>
              <a:rPr sz="1600">
                <a:solidFill>
                  <a:srgbClr val="333333"/>
                </a:solidFill>
              </a:rPr>
              <a:t> : Sites partenaires, retargeting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YouTube</a:t>
            </a:r>
            <a:r>
              <a:rPr sz="1600">
                <a:solidFill>
                  <a:srgbClr val="333333"/>
                </a:solidFill>
              </a:rPr>
              <a:t> : Publicités vidéo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2026</a:t>
            </a:r>
            <a:r>
              <a:rPr sz="1600">
                <a:solidFill>
                  <a:srgbClr val="333333"/>
                </a:solidFill>
              </a:rPr>
              <a:t> : 180 millions FCFA- </a:t>
            </a:r>
            <a:r>
              <a:rPr sz="1600" b="1">
                <a:solidFill>
                  <a:srgbClr val="003366"/>
                </a:solidFill>
              </a:rPr>
              <a:t>Budget 2027</a:t>
            </a:r>
            <a:r>
              <a:rPr sz="1600">
                <a:solidFill>
                  <a:srgbClr val="333333"/>
                </a:solidFill>
              </a:rPr>
              <a:t> : 540 millions FCFA#### Email Marketing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Onboarding</a:t>
            </a:r>
            <a:r>
              <a:rPr sz="1600">
                <a:solidFill>
                  <a:srgbClr val="333333"/>
                </a:solidFill>
              </a:rPr>
              <a:t> : Séries emails nouveaux utilisateurs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Engagement</a:t>
            </a:r>
            <a:r>
              <a:rPr sz="1600">
                <a:solidFill>
                  <a:srgbClr val="333333"/>
                </a:solidFill>
              </a:rPr>
              <a:t> : Newsletters hebdomadaires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Promotions</a:t>
            </a:r>
            <a:r>
              <a:rPr sz="1600">
                <a:solidFill>
                  <a:srgbClr val="333333"/>
                </a:solidFill>
              </a:rPr>
              <a:t> : Offres personnalisées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Rétention</a:t>
            </a:r>
            <a:r>
              <a:rPr sz="1600">
                <a:solidFill>
                  <a:srgbClr val="333333"/>
                </a:solidFill>
              </a:rPr>
              <a:t> : Reactivation utilisateurs inactifs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Articles</a:t>
            </a:r>
            <a:r>
              <a:rPr sz="1600">
                <a:solidFill>
                  <a:srgbClr val="333333"/>
                </a:solidFill>
              </a:rPr>
              <a:t> : Guides, actualités, tips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SEO</a:t>
            </a:r>
            <a:r>
              <a:rPr sz="1600">
                <a:solidFill>
                  <a:srgbClr val="333333"/>
                </a:solidFill>
              </a:rPr>
              <a:t> : Optimisation mots-clés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2-3 articles/semaine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YouTube</a:t>
            </a:r>
            <a:r>
              <a:rPr sz="1600">
                <a:solidFill>
                  <a:srgbClr val="333333"/>
                </a:solidFill>
              </a:rPr>
              <a:t> : Tutoriels, démos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TikTok</a:t>
            </a:r>
            <a:r>
              <a:rPr sz="1600">
                <a:solidFill>
                  <a:srgbClr val="333333"/>
                </a:solidFill>
              </a:rPr>
              <a:t> : Tips rapides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2. MARKETING OFFLINE (20-25% du budget)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Radio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Stations</a:t>
            </a:r>
            <a:r>
              <a:rPr sz="1600">
                <a:solidFill>
                  <a:srgbClr val="333333"/>
                </a:solidFill>
              </a:rPr>
              <a:t> : Top stations chaque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Formats</a:t>
            </a:r>
            <a:r>
              <a:rPr sz="1600">
                <a:solidFill>
                  <a:srgbClr val="333333"/>
                </a:solidFill>
              </a:rPr>
              <a:t> : Spots 30s, émissions sponsorisées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Horaires</a:t>
            </a:r>
            <a:r>
              <a:rPr sz="1600">
                <a:solidFill>
                  <a:srgbClr val="333333"/>
                </a:solidFill>
              </a:rPr>
              <a:t> : Rush hours (matin, soir)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2026</a:t>
            </a:r>
            <a:r>
              <a:rPr sz="1600">
                <a:solidFill>
                  <a:srgbClr val="333333"/>
                </a:solidFill>
              </a:rPr>
              <a:t> : 72 millions FCFA- </a:t>
            </a:r>
            <a:r>
              <a:rPr sz="1600" b="1">
                <a:solidFill>
                  <a:srgbClr val="003366"/>
                </a:solidFill>
              </a:rPr>
              <a:t>Budget 2027</a:t>
            </a:r>
            <a:r>
              <a:rPr sz="1600">
                <a:solidFill>
                  <a:srgbClr val="333333"/>
                </a:solidFill>
              </a:rPr>
              <a:t> : 180 millions FCFA#### Affichage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Lieux</a:t>
            </a:r>
            <a:r>
              <a:rPr sz="1600">
                <a:solidFill>
                  <a:srgbClr val="333333"/>
                </a:solidFill>
              </a:rPr>
              <a:t> : Bus, taxis, panneaux stratégiques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Zones</a:t>
            </a:r>
            <a:r>
              <a:rPr sz="1600">
                <a:solidFill>
                  <a:srgbClr val="333333"/>
                </a:solidFill>
              </a:rPr>
              <a:t> : Centres-villes, universités, commerces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Durée</a:t>
            </a:r>
            <a:r>
              <a:rPr sz="1600">
                <a:solidFill>
                  <a:srgbClr val="333333"/>
                </a:solidFill>
              </a:rPr>
              <a:t> : Campagnes 3-6 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2026</a:t>
            </a:r>
            <a:r>
              <a:rPr sz="1600">
                <a:solidFill>
                  <a:srgbClr val="333333"/>
                </a:solidFill>
              </a:rPr>
              <a:t> : 60 millions FCFA- </a:t>
            </a:r>
            <a:r>
              <a:rPr sz="1600" b="1">
                <a:solidFill>
                  <a:srgbClr val="003366"/>
                </a:solidFill>
              </a:rPr>
              <a:t>Budget 2027</a:t>
            </a:r>
            <a:r>
              <a:rPr sz="1600">
                <a:solidFill>
                  <a:srgbClr val="333333"/>
                </a:solidFill>
              </a:rPr>
              <a:t> : 150 millions FCFA#### Marketing de Rue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Équipes</a:t>
            </a:r>
            <a:r>
              <a:rPr sz="1600">
                <a:solidFill>
                  <a:srgbClr val="333333"/>
                </a:solidFill>
              </a:rPr>
              <a:t> : 20-50 personnes selon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 Distribution flyers, démos, inscriptions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Zones</a:t>
            </a:r>
            <a:r>
              <a:rPr sz="1600">
                <a:solidFill>
                  <a:srgbClr val="333333"/>
                </a:solidFill>
              </a:rPr>
              <a:t> : Marchés, universités, événements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2026</a:t>
            </a:r>
            <a:r>
              <a:rPr sz="1600">
                <a:solidFill>
                  <a:srgbClr val="333333"/>
                </a:solidFill>
              </a:rPr>
              <a:t> : 48 millions FCFA- </a:t>
            </a:r>
            <a:r>
              <a:rPr sz="1600" b="1">
                <a:solidFill>
                  <a:srgbClr val="003366"/>
                </a:solidFill>
              </a:rPr>
              <a:t>Budget 2027</a:t>
            </a:r>
            <a:r>
              <a:rPr sz="1600">
                <a:solidFill>
                  <a:srgbClr val="333333"/>
                </a:solidFill>
              </a:rPr>
              <a:t> : 120 millions FCFA#### Événements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Salons</a:t>
            </a:r>
            <a:r>
              <a:rPr sz="1600">
                <a:solidFill>
                  <a:srgbClr val="333333"/>
                </a:solidFill>
              </a:rPr>
              <a:t> : Tech, commerce, entrepreneuriat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Conférences</a:t>
            </a:r>
            <a:r>
              <a:rPr sz="1600">
                <a:solidFill>
                  <a:srgbClr val="333333"/>
                </a:solidFill>
              </a:rPr>
              <a:t> : Sponsoring, stands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Événements propres</a:t>
            </a:r>
            <a:r>
              <a:rPr sz="1600">
                <a:solidFill>
                  <a:srgbClr val="333333"/>
                </a:solidFill>
              </a:rPr>
              <a:t> : Lancements, meetups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2026</a:t>
            </a:r>
            <a:r>
              <a:rPr sz="1600">
                <a:solidFill>
                  <a:srgbClr val="333333"/>
                </a:solidFill>
              </a:rPr>
              <a:t> : 60 millions FCFA- </a:t>
            </a:r>
            <a:r>
              <a:rPr sz="1600" b="1">
                <a:solidFill>
                  <a:srgbClr val="003366"/>
                </a:solidFill>
              </a:rPr>
              <a:t>Budget 2027</a:t>
            </a:r>
            <a:r>
              <a:rPr sz="1600">
                <a:solidFill>
                  <a:srgbClr val="333333"/>
                </a:solidFill>
              </a:rPr>
              <a:t> : 150 millions FCFA---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3. INFLUENCEURS &amp; PARTENARIATS (10-15% du budget)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Programme Influenceurs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50-100 par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Contenu</a:t>
            </a:r>
            <a:r>
              <a:rPr sz="1600">
                <a:solidFill>
                  <a:srgbClr val="333333"/>
                </a:solidFill>
              </a:rPr>
              <a:t> : Unboxing, tests, tutoriels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Récompense</a:t>
            </a:r>
            <a:r>
              <a:rPr sz="1600">
                <a:solidFill>
                  <a:srgbClr val="333333"/>
                </a:solidFill>
              </a:rPr>
              <a:t> : 120K FCFA-300K FCFApar post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2026</a:t>
            </a:r>
            <a:r>
              <a:rPr sz="1600">
                <a:solidFill>
                  <a:srgbClr val="333333"/>
                </a:solidFill>
              </a:rPr>
              <a:t> : 48 millions FCFA</a:t>
            </a:r>
            <a:r>
              <a:rPr sz="1600" b="1">
                <a:solidFill>
                  <a:srgbClr val="003366"/>
                </a:solidFill>
              </a:rPr>
              <a:t>Macro-influenceurs (100K+)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10-20 par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Contenu</a:t>
            </a:r>
            <a:r>
              <a:rPr sz="1600">
                <a:solidFill>
                  <a:srgbClr val="333333"/>
                </a:solidFill>
              </a:rPr>
              <a:t> : Sponsoring, collaborations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Récompense</a:t>
            </a:r>
            <a:r>
              <a:rPr sz="1600">
                <a:solidFill>
                  <a:srgbClr val="333333"/>
                </a:solidFill>
              </a:rPr>
              <a:t> : 600K FCFA-3 millions FCFApar post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2026</a:t>
            </a:r>
            <a:r>
              <a:rPr sz="1600">
                <a:solidFill>
                  <a:srgbClr val="333333"/>
                </a:solidFill>
              </a:rPr>
              <a:t> : 36 millions FCFA</a:t>
            </a:r>
            <a:r>
              <a:rPr sz="1600" b="1">
                <a:solidFill>
                  <a:srgbClr val="003366"/>
                </a:solidFill>
              </a:rPr>
              <a:t>Total Influenceurs 2026</a:t>
            </a:r>
            <a:r>
              <a:rPr sz="1600">
                <a:solidFill>
                  <a:srgbClr val="333333"/>
                </a:solidFill>
              </a:rPr>
              <a:t> : 84 millions FCFA</a:t>
            </a:r>
            <a:r>
              <a:rPr sz="1600" b="1">
                <a:solidFill>
                  <a:srgbClr val="003366"/>
                </a:solidFill>
              </a:rPr>
              <a:t>Total Influenceurs 2027</a:t>
            </a:r>
            <a:r>
              <a:rPr sz="1600">
                <a:solidFill>
                  <a:srgbClr val="333333"/>
                </a:solidFill>
              </a:rPr>
              <a:t> : 240 millions FCFA#### Partenariats Stratégiques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Supermarkets</a:t>
            </a:r>
            <a:r>
              <a:rPr sz="1600">
                <a:solidFill>
                  <a:srgbClr val="333333"/>
                </a:solidFill>
              </a:rPr>
              <a:t> : Intégrations, co-marketing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Pharmacies</a:t>
            </a:r>
            <a:r>
              <a:rPr sz="1600">
                <a:solidFill>
                  <a:srgbClr val="333333"/>
                </a:solidFill>
              </a:rPr>
              <a:t> : Partenariats exclusifs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Fintech</a:t>
            </a:r>
            <a:r>
              <a:rPr sz="1600">
                <a:solidFill>
                  <a:srgbClr val="333333"/>
                </a:solidFill>
              </a:rPr>
              <a:t> : Intégrations paiements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Telecoms</a:t>
            </a:r>
            <a:r>
              <a:rPr sz="1600">
                <a:solidFill>
                  <a:srgbClr val="333333"/>
                </a:solidFill>
              </a:rPr>
              <a:t> : Co-branding, bundles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4. PROGRAMME DE PARRAINAGE (10-15% du budget)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Récompense parrain</a:t>
            </a:r>
            <a:r>
              <a:rPr sz="1600">
                <a:solidFill>
                  <a:srgbClr val="333333"/>
                </a:solidFill>
              </a:rPr>
              <a:t> : 3K FCFA-10 par nouveau utilisateur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Récompense filleul</a:t>
            </a:r>
            <a:r>
              <a:rPr sz="1600">
                <a:solidFill>
                  <a:srgbClr val="333333"/>
                </a:solidFill>
              </a:rPr>
              <a:t> : 1K FCFA-5 crédit app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Gamification</a:t>
            </a:r>
            <a:r>
              <a:rPr sz="1600">
                <a:solidFill>
                  <a:srgbClr val="333333"/>
                </a:solidFill>
              </a:rPr>
              <a:t> : Classements, badges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Tracking</a:t>
            </a:r>
            <a:r>
              <a:rPr sz="1600">
                <a:solidFill>
                  <a:srgbClr val="333333"/>
                </a:solidFill>
              </a:rPr>
              <a:t> : Codes uniques, liens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STRATÉGIE DE BRANDING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Positionnement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Innovation</a:t>
            </a:r>
            <a:r>
              <a:rPr sz="1600">
                <a:solidFill>
                  <a:srgbClr val="333333"/>
                </a:solidFill>
              </a:rPr>
              <a:t> : Technologie de pointe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Accessibilité</a:t>
            </a:r>
            <a:r>
              <a:rPr sz="1600">
                <a:solidFill>
                  <a:srgbClr val="333333"/>
                </a:solidFill>
              </a:rPr>
              <a:t> : Services pour tous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Fiabilité</a:t>
            </a:r>
            <a:r>
              <a:rPr sz="1600">
                <a:solidFill>
                  <a:srgbClr val="333333"/>
                </a:solidFill>
              </a:rPr>
              <a:t> : Qualité, sécurité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Impact Social</a:t>
            </a:r>
            <a:r>
              <a:rPr sz="1600">
                <a:solidFill>
                  <a:srgbClr val="333333"/>
                </a:solidFill>
              </a:rPr>
              <a:t> : Amélioration des vies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Identité Visuelle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Primaire</a:t>
            </a:r>
            <a:r>
              <a:rPr sz="1600">
                <a:solidFill>
                  <a:srgbClr val="333333"/>
                </a:solidFill>
              </a:rPr>
              <a:t> : Bleu moderne (#6366F1)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Secondaire</a:t>
            </a:r>
            <a:r>
              <a:rPr sz="1600">
                <a:solidFill>
                  <a:srgbClr val="333333"/>
                </a:solidFill>
              </a:rPr>
              <a:t> : Vert (#10B981)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Accent</a:t>
            </a:r>
            <a:r>
              <a:rPr sz="1600">
                <a:solidFill>
                  <a:srgbClr val="333333"/>
                </a:solidFill>
              </a:rPr>
              <a:t> : Orange (#F59E0B)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Moderne</a:t>
            </a:r>
            <a:r>
              <a:rPr sz="1600">
                <a:solidFill>
                  <a:srgbClr val="333333"/>
                </a:solidFill>
              </a:rPr>
              <a:t> : Sans-serif, lisible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Multilingue</a:t>
            </a:r>
            <a:r>
              <a:rPr sz="1600">
                <a:solidFill>
                  <a:srgbClr val="333333"/>
                </a:solidFill>
              </a:rPr>
              <a:t> : Support FR, EN, PT, AR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Logo</a:t>
            </a:r>
            <a:r>
              <a:rPr sz="1600">
                <a:solidFill>
                  <a:srgbClr val="333333"/>
                </a:solidFill>
              </a:rPr>
              <a:t> : Moderne, mémorable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Icônes</a:t>
            </a:r>
            <a:r>
              <a:rPr sz="1600">
                <a:solidFill>
                  <a:srgbClr val="333333"/>
                </a:solidFill>
              </a:rPr>
              <a:t> : Style cohérent, intuitif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Voice &amp; Tone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Friendly</a:t>
            </a:r>
            <a:r>
              <a:rPr sz="1600">
                <a:solidFill>
                  <a:srgbClr val="333333"/>
                </a:solidFill>
              </a:rPr>
              <a:t> : Accessible, chaleureux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Professional</a:t>
            </a:r>
            <a:r>
              <a:rPr sz="1600">
                <a:solidFill>
                  <a:srgbClr val="333333"/>
                </a:solidFill>
              </a:rPr>
              <a:t> : Fiable, compétent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Innovative</a:t>
            </a:r>
            <a:r>
              <a:rPr sz="1600">
                <a:solidFill>
                  <a:srgbClr val="333333"/>
                </a:solidFill>
              </a:rPr>
              <a:t> : Avant-gardiste, tech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Local</a:t>
            </a:r>
            <a:r>
              <a:rPr sz="1600">
                <a:solidFill>
                  <a:srgbClr val="333333"/>
                </a:solidFill>
              </a:rPr>
              <a:t> : Adapté à chaque marché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MÉTRIQUES ET KPIs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Métriques d'Acquisition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CAC (Customer Acquisition Cost)</a:t>
            </a:r>
            <a:r>
              <a:rPr sz="1600">
                <a:solidFill>
                  <a:srgbClr val="333333"/>
                </a:solidFill>
              </a:rPr>
              <a:t> : &lt;4K FCFA(2026), &lt;4K FCFA(2027)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Taux d'adoption</a:t>
            </a:r>
            <a:r>
              <a:rPr sz="1600">
                <a:solidFill>
                  <a:srgbClr val="333333"/>
                </a:solidFill>
              </a:rPr>
              <a:t> : 15-20% croissance mensuelle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Sources trafic</a:t>
            </a:r>
            <a:r>
              <a:rPr sz="1600">
                <a:solidFill>
                  <a:srgbClr val="333333"/>
                </a:solidFill>
              </a:rPr>
              <a:t> : Répartition par canal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Taux de conversion</a:t>
            </a:r>
            <a:r>
              <a:rPr sz="1600">
                <a:solidFill>
                  <a:srgbClr val="333333"/>
                </a:solidFill>
              </a:rPr>
              <a:t> : Install → Inscription → Première transaction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Métriques d'Engagement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DAU/MAU</a:t>
            </a:r>
            <a:r>
              <a:rPr sz="1600">
                <a:solidFill>
                  <a:srgbClr val="333333"/>
                </a:solidFill>
              </a:rPr>
              <a:t> : 40-50% (Daily Active Users / Monthly)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Sessions/mois</a:t>
            </a:r>
            <a:r>
              <a:rPr sz="1600">
                <a:solidFill>
                  <a:srgbClr val="333333"/>
                </a:solidFill>
              </a:rPr>
              <a:t> : 8-12 par utilisateur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Temps dans app</a:t>
            </a:r>
            <a:r>
              <a:rPr sz="1600">
                <a:solidFill>
                  <a:srgbClr val="333333"/>
                </a:solidFill>
              </a:rPr>
              <a:t> : 15-20 minutes/session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Taux de rétention</a:t>
            </a:r>
            <a:r>
              <a:rPr sz="1600">
                <a:solidFill>
                  <a:srgbClr val="333333"/>
                </a:solidFill>
              </a:rPr>
              <a:t> : 60% (30j), 40% (90j)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Métriques Business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ARPU (Average Revenue Per User)</a:t>
            </a:r>
            <a:r>
              <a:rPr sz="1600">
                <a:solidFill>
                  <a:srgbClr val="333333"/>
                </a:solidFill>
              </a:rPr>
              <a:t> : 240 FCFA-300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LTV (Lifetime Value)</a:t>
            </a:r>
            <a:r>
              <a:rPr sz="1600">
                <a:solidFill>
                  <a:srgbClr val="333333"/>
                </a:solidFill>
              </a:rPr>
              <a:t> : 48K FCFA-72K FCFA- </a:t>
            </a:r>
            <a:r>
              <a:rPr sz="1600" b="1">
                <a:solidFill>
                  <a:srgbClr val="003366"/>
                </a:solidFill>
              </a:rPr>
              <a:t>LTV/CAC Ratio</a:t>
            </a:r>
            <a:r>
              <a:rPr sz="1600">
                <a:solidFill>
                  <a:srgbClr val="333333"/>
                </a:solidFill>
              </a:rPr>
              <a:t> : &gt;10x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Taux de conversion</a:t>
            </a:r>
            <a:r>
              <a:rPr sz="1600">
                <a:solidFill>
                  <a:srgbClr val="333333"/>
                </a:solidFill>
              </a:rPr>
              <a:t> : 15-25% (visiteurs → transactions)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Métriques Brand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Brand Awareness</a:t>
            </a:r>
            <a:r>
              <a:rPr sz="1600">
                <a:solidFill>
                  <a:srgbClr val="333333"/>
                </a:solidFill>
              </a:rPr>
              <a:t> : 40% (2026), 60% (2027)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Net Promoter Score (NPS)</a:t>
            </a:r>
            <a:r>
              <a:rPr sz="1600">
                <a:solidFill>
                  <a:srgbClr val="333333"/>
                </a:solidFill>
              </a:rPr>
              <a:t> : &gt;50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Satisfaction client</a:t>
            </a:r>
            <a:r>
              <a:rPr sz="1600">
                <a:solidFill>
                  <a:srgbClr val="333333"/>
                </a:solidFill>
              </a:rPr>
              <a:t> : &gt;4.5/5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Mentions sociales</a:t>
            </a:r>
            <a:r>
              <a:rPr sz="1600">
                <a:solidFill>
                  <a:srgbClr val="333333"/>
                </a:solidFill>
              </a:rPr>
              <a:t> : Volume, sentiment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STRATÉGIE DE RÉTENTION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Programmes Fidélité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 point = 6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Gains</a:t>
            </a:r>
            <a:r>
              <a:rPr sz="1600">
                <a:solidFill>
                  <a:srgbClr val="333333"/>
                </a:solidFill>
              </a:rPr>
              <a:t> : Transactions, parrainage, engagement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Utilisation</a:t>
            </a:r>
            <a:r>
              <a:rPr sz="1600">
                <a:solidFill>
                  <a:srgbClr val="333333"/>
                </a:solidFill>
              </a:rPr>
              <a:t> : Réductions, livraisons gratuites, produits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Bronze</a:t>
            </a:r>
            <a:r>
              <a:rPr sz="1600">
                <a:solidFill>
                  <a:srgbClr val="333333"/>
                </a:solidFill>
              </a:rPr>
              <a:t> : Débutant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Argent</a:t>
            </a:r>
            <a:r>
              <a:rPr sz="1600">
                <a:solidFill>
                  <a:srgbClr val="333333"/>
                </a:solidFill>
              </a:rPr>
              <a:t> : 10+ transactions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Or</a:t>
            </a:r>
            <a:r>
              <a:rPr sz="1600">
                <a:solidFill>
                  <a:srgbClr val="333333"/>
                </a:solidFill>
              </a:rPr>
              <a:t> : 50+ transactions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Platine</a:t>
            </a:r>
            <a:r>
              <a:rPr sz="1600">
                <a:solidFill>
                  <a:srgbClr val="333333"/>
                </a:solidFill>
              </a:rPr>
              <a:t> : 200+ transactions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Réductions progressives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Livraisons gratuites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Support prioritaire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Accès exclusifs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Engagement Continu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Personnalisées</a:t>
            </a:r>
            <a:r>
              <a:rPr sz="1600">
                <a:solidFill>
                  <a:srgbClr val="333333"/>
                </a:solidFill>
              </a:rPr>
              <a:t> : Offres selon préférences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Temps réel</a:t>
            </a:r>
            <a:r>
              <a:rPr sz="1600">
                <a:solidFill>
                  <a:srgbClr val="333333"/>
                </a:solidFill>
              </a:rPr>
              <a:t> : Livraisons, promotions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2-3 par semaine max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Newsletters</a:t>
            </a:r>
            <a:r>
              <a:rPr sz="1600">
                <a:solidFill>
                  <a:srgbClr val="333333"/>
                </a:solidFill>
              </a:rPr>
              <a:t> : Hebdomadaires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Promotions</a:t>
            </a:r>
            <a:r>
              <a:rPr sz="1600">
                <a:solidFill>
                  <a:srgbClr val="333333"/>
                </a:solidFill>
              </a:rPr>
              <a:t> : Mensuelles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Réactivation</a:t>
            </a:r>
            <a:r>
              <a:rPr sz="1600">
                <a:solidFill>
                  <a:srgbClr val="333333"/>
                </a:solidFill>
              </a:rPr>
              <a:t> : Utilisateurs inactifs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Badges</a:t>
            </a:r>
            <a:r>
              <a:rPr sz="1600">
                <a:solidFill>
                  <a:srgbClr val="333333"/>
                </a:solidFill>
              </a:rPr>
              <a:t> : Accomplissements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Défis</a:t>
            </a:r>
            <a:r>
              <a:rPr sz="1600">
                <a:solidFill>
                  <a:srgbClr val="333333"/>
                </a:solidFill>
              </a:rPr>
              <a:t> : Objectifs mensuels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Classements</a:t>
            </a:r>
            <a:r>
              <a:rPr sz="1600">
                <a:solidFill>
                  <a:srgbClr val="333333"/>
                </a:solidFill>
              </a:rPr>
              <a:t> : Leaderboards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ADAPTATION LOCALE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Stratégie par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Langues</a:t>
            </a:r>
            <a:r>
              <a:rPr sz="1600">
                <a:solidFill>
                  <a:srgbClr val="333333"/>
                </a:solidFill>
              </a:rPr>
              <a:t> : Français, Anglais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Focus</a:t>
            </a:r>
            <a:r>
              <a:rPr sz="1600">
                <a:solidFill>
                  <a:srgbClr val="333333"/>
                </a:solidFill>
              </a:rPr>
              <a:t> : Yaoundé, Douala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Partenaires</a:t>
            </a:r>
            <a:r>
              <a:rPr sz="1600">
                <a:solidFill>
                  <a:srgbClr val="333333"/>
                </a:solidFill>
              </a:rPr>
              <a:t> : Locaux, régionaux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Langues</a:t>
            </a:r>
            <a:r>
              <a:rPr sz="1600">
                <a:solidFill>
                  <a:srgbClr val="333333"/>
                </a:solidFill>
              </a:rPr>
              <a:t> : Français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Focus</a:t>
            </a:r>
            <a:r>
              <a:rPr sz="1600">
                <a:solidFill>
                  <a:srgbClr val="333333"/>
                </a:solidFill>
              </a:rPr>
              <a:t> : Abidjan, Bouaké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Partenaires</a:t>
            </a:r>
            <a:r>
              <a:rPr sz="1600">
                <a:solidFill>
                  <a:srgbClr val="333333"/>
                </a:solidFill>
              </a:rPr>
              <a:t> : Locaux, internationaux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Langues</a:t>
            </a:r>
            <a:r>
              <a:rPr sz="1600">
                <a:solidFill>
                  <a:srgbClr val="333333"/>
                </a:solidFill>
              </a:rPr>
              <a:t> : Français, Wolof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Focus</a:t>
            </a:r>
            <a:r>
              <a:rPr sz="1600">
                <a:solidFill>
                  <a:srgbClr val="333333"/>
                </a:solidFill>
              </a:rPr>
              <a:t> : Dakar, Thiès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Partenaires</a:t>
            </a:r>
            <a:r>
              <a:rPr sz="1600">
                <a:solidFill>
                  <a:srgbClr val="333333"/>
                </a:solidFill>
              </a:rPr>
              <a:t> : Locaux, régionaux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Adaptation Culturelle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Références locales</a:t>
            </a:r>
            <a:r>
              <a:rPr sz="1600">
                <a:solidFill>
                  <a:srgbClr val="333333"/>
                </a:solidFill>
              </a:rPr>
              <a:t> : Culture, traditions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Langues</a:t>
            </a:r>
            <a:r>
              <a:rPr sz="1600">
                <a:solidFill>
                  <a:srgbClr val="333333"/>
                </a:solidFill>
              </a:rPr>
              <a:t> : Traduction, adaptation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Exemples</a:t>
            </a:r>
            <a:r>
              <a:rPr sz="1600">
                <a:solidFill>
                  <a:srgbClr val="333333"/>
                </a:solidFill>
              </a:rPr>
              <a:t> : Contextes locaux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Tone</a:t>
            </a:r>
            <a:r>
              <a:rPr sz="1600">
                <a:solidFill>
                  <a:srgbClr val="333333"/>
                </a:solidFill>
              </a:rPr>
              <a:t> : Adapté à chaque culture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Canaux</a:t>
            </a:r>
            <a:r>
              <a:rPr sz="1600">
                <a:solidFill>
                  <a:srgbClr val="333333"/>
                </a:solidFill>
              </a:rPr>
              <a:t> : Préférences locales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Timing</a:t>
            </a:r>
            <a:r>
              <a:rPr sz="1600">
                <a:solidFill>
                  <a:srgbClr val="333333"/>
                </a:solidFill>
              </a:rPr>
              <a:t> : Fuseaux horaires, habitudes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MÉCANISMES MARKETING DÉTAILLÉS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1. MÉCANISME CAMPAGNES DIGITALES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Facebook &amp; Instagram Ads - Mécanisme Opérationnel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Digital + Agence Media (si externalisée)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Création brief créatif (messages, visuels, vidéos)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Définition audiences cibles (Lookalike, Custom, Interest-based)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Setup comptes publicitaires Facebook Business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Configuration pixels de tracking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Assets créatifs, audiences configurées, comptes prêts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Media Buyer + Créatif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Création campagnes (Awareness, Consideration, Conversion)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Setup A/B tests (3-5 variantes par campagne)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Budget initial : 20% du budget total (test)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Activation tracking conversions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Lancement quotidien, optimisation quotidienne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Media Buyer + Analyste Data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Analyse performance quotidienne (CPM, CPC, CTR, CPA)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Pause variantes sous-performantes (&lt; 2x ROI)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Augmentation budget variantes performantes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Ajustement audiences selon données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Révision quotidienne, ajustements 2-3x/semaine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+ Agence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Augmentation budget campagnes performantes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Expansion audiences similaires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Test nouveaux formats (Reels, Stories, Carrousels)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Optimisation landing pages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Scaling hebdomadaire, tests mensuels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Agence Media</a:t>
            </a:r>
            <a:r>
              <a:rPr sz="1600">
                <a:solidFill>
                  <a:srgbClr val="333333"/>
                </a:solidFill>
              </a:rPr>
              <a:t> : Gestion campagnes (optionnel, 15-20% commission)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Créatif In-house</a:t>
            </a:r>
            <a:r>
              <a:rPr sz="1600">
                <a:solidFill>
                  <a:srgbClr val="333333"/>
                </a:solidFill>
              </a:rPr>
              <a:t> : Design assets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Media Buyer</a:t>
            </a:r>
            <a:r>
              <a:rPr sz="1600">
                <a:solidFill>
                  <a:srgbClr val="333333"/>
                </a:solidFill>
              </a:rPr>
              <a:t> : Optimisation campagnes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Data Analyst</a:t>
            </a:r>
            <a:r>
              <a:rPr sz="1600">
                <a:solidFill>
                  <a:srgbClr val="333333"/>
                </a:solidFill>
              </a:rPr>
              <a:t> : Analyse performance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Quotidien</a:t>
            </a:r>
            <a:r>
              <a:rPr sz="1600">
                <a:solidFill>
                  <a:srgbClr val="333333"/>
                </a:solidFill>
              </a:rPr>
              <a:t> : Monitoring performance, ajustements mineurs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Hebdomadaire</a:t>
            </a:r>
            <a:r>
              <a:rPr sz="1600">
                <a:solidFill>
                  <a:srgbClr val="333333"/>
                </a:solidFill>
              </a:rPr>
              <a:t> : Revue complète, optimisation budgets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Mensuel</a:t>
            </a:r>
            <a:r>
              <a:rPr sz="1600">
                <a:solidFill>
                  <a:srgbClr val="333333"/>
                </a:solidFill>
              </a:rPr>
              <a:t> : Analyse approfondie, nouveaux tests, scaling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TikTok Ads - Mécanisme Opérationnel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Créatif Vidéo + Community Manager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Création 10-15 vidéos courtes (15-30 secondes)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Format : Challenges, tutos, démos, témoignages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Musique tendance, hashtags populaires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Test différents hooks (premières 3 secondes)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Bibliothèque vidéos prêtes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Community Manager + Influenceurs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Publication organique sur compte TikTok Yukpomnang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Collaboration micro-influenceurs (boost organique)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Monitoring engagement (likes, shares, comments)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Identification vidéos performantes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1-2 posts/jour organique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Media Buyer TikTok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Promotion vidéos organiques performantes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Création Spark Ads (promotion contenu organique)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Targeting : Intérêts, comportements, lookalike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Budget initial : Test 50,000-100,000 FCFA/jour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Ajustements quotidiens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+ Créatifs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Duplication formats performants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Collaboration créateurs TikTok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Challenges brandés (#YukpomnangChallenge)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User-generated content (UGC)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Nouveaux contenus 3-5x/semaine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Créatif Vidéo</a:t>
            </a:r>
            <a:r>
              <a:rPr sz="1600">
                <a:solidFill>
                  <a:srgbClr val="333333"/>
                </a:solidFill>
              </a:rPr>
              <a:t> : Production contenu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Community Manager</a:t>
            </a:r>
            <a:r>
              <a:rPr sz="1600">
                <a:solidFill>
                  <a:srgbClr val="333333"/>
                </a:solidFill>
              </a:rPr>
              <a:t> : Gestion compte, engagement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Influenceurs TikTok</a:t>
            </a:r>
            <a:r>
              <a:rPr sz="1600">
                <a:solidFill>
                  <a:srgbClr val="333333"/>
                </a:solidFill>
              </a:rPr>
              <a:t> : Création et promotion contenu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Media Buyer</a:t>
            </a:r>
            <a:r>
              <a:rPr sz="1600">
                <a:solidFill>
                  <a:srgbClr val="333333"/>
                </a:solidFill>
              </a:rPr>
              <a:t> : Promotion payante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Quotidien</a:t>
            </a:r>
            <a:r>
              <a:rPr sz="1600">
                <a:solidFill>
                  <a:srgbClr val="333333"/>
                </a:solidFill>
              </a:rPr>
              <a:t> : Publication organique, monitoring engagement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Hebdomadaire</a:t>
            </a:r>
            <a:r>
              <a:rPr sz="1600">
                <a:solidFill>
                  <a:srgbClr val="333333"/>
                </a:solidFill>
              </a:rPr>
              <a:t> : Analyse performance, nouveaux contenus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Mensuel</a:t>
            </a:r>
            <a:r>
              <a:rPr sz="1600">
                <a:solidFill>
                  <a:srgbClr val="333333"/>
                </a:solidFill>
              </a:rPr>
              <a:t> : Challenges, collaborations, scaling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Google Ads - Mécanisme Opérationnel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SEO Specialist + Media Buyer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Recherche mots-clés (Google Keyword Planner)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Analyse concurrence (outils : SEMrush, Ahrefs)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Groupement mots-clés par intention (recherche, navigation, transaction)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Estimation trafic et coûts (CPC)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Liste mots-clés prioritaires, structure campagnes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Media Buyer Google Ads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Création campagnes Search (mots-clés)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Création campagnes Display (sites partenaires)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Setup campagnes YouTube (vidéos publicitaires)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Configuration conversion tracking (Google Analytics)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Setup initial, puis optimisation continue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Media Buyer + Analyste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Ajustement enchères (CPC, CPA, ROAS)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Ajout mots-clés négatifs (réduction coûts)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Optimisation annonces (A/B tests)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Amélioration Quality Score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Optimisation 2-3x/semaine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SEO Specialist</a:t>
            </a:r>
            <a:r>
              <a:rPr sz="1600">
                <a:solidFill>
                  <a:srgbClr val="333333"/>
                </a:solidFill>
              </a:rPr>
              <a:t> : Recherche mots-clés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Media Buyer Google</a:t>
            </a:r>
            <a:r>
              <a:rPr sz="1600">
                <a:solidFill>
                  <a:srgbClr val="333333"/>
                </a:solidFill>
              </a:rPr>
              <a:t> : Gestion campagnes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Créatif</a:t>
            </a:r>
            <a:r>
              <a:rPr sz="1600">
                <a:solidFill>
                  <a:srgbClr val="333333"/>
                </a:solidFill>
              </a:rPr>
              <a:t> : Rédaction annonces, landing pages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Web Analyst</a:t>
            </a:r>
            <a:r>
              <a:rPr sz="1600">
                <a:solidFill>
                  <a:srgbClr val="333333"/>
                </a:solidFill>
              </a:rPr>
              <a:t> : Tracking et analyse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Quotidien</a:t>
            </a:r>
            <a:r>
              <a:rPr sz="1600">
                <a:solidFill>
                  <a:srgbClr val="333333"/>
                </a:solidFill>
              </a:rPr>
              <a:t> : Monitoring performance, ajustements enchères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Hebdomadaire</a:t>
            </a:r>
            <a:r>
              <a:rPr sz="1600">
                <a:solidFill>
                  <a:srgbClr val="333333"/>
                </a:solidFill>
              </a:rPr>
              <a:t> : Optimisation annonces, nouveaux mots-clés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Mensuel</a:t>
            </a:r>
            <a:r>
              <a:rPr sz="1600">
                <a:solidFill>
                  <a:srgbClr val="333333"/>
                </a:solidFill>
              </a:rPr>
              <a:t> : Revue stratégie, nouveaux tests, scaling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2. MÉCANISME MARKETING OFFLINE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Radio - Mécanisme Opérationnel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Responsable Marketing Local + Agence Media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Audit stations radio (audience, zones couverture)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Analyse audiences cibles (âge, CSP, zones)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Négociation tarifs (spots, émissions sponsorisées)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Sélection top 5 stations par ville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Plan média radio, contrats stations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Créatif Audio + Studio Enregistrement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Écriture scripts spots (30 secondes)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Enregistrement voix (locuteurs professionnels)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Production jingles, musique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Adaptation langues locales (français, anglais, langues locales)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Spots radio prêts (versions multiples)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Stations Radio + Agence Media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Planification horaires (rush hours : 7-9h, 17-19h)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Diffusion spots (10-15 spots/jour/station)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Émissions sponsorisées (1-2/semaine/station)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Suivi diffusion (rapports stations)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Diffusion quotidienne, rapports hebdomadaires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Analyste Marketing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Tracking codes promotionnels (mentionnés dans spots)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Enquêtes brand awareness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Corrélation avec téléchargements app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Mesure mensuelle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Agence Media</a:t>
            </a:r>
            <a:r>
              <a:rPr sz="1600">
                <a:solidFill>
                  <a:srgbClr val="333333"/>
                </a:solidFill>
              </a:rPr>
              <a:t> : Négociation, planification (optionnel)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Stations Radio</a:t>
            </a:r>
            <a:r>
              <a:rPr sz="1600">
                <a:solidFill>
                  <a:srgbClr val="333333"/>
                </a:solidFill>
              </a:rPr>
              <a:t> : Diffusion (Radio Yaoundé, Sweet FM, etc.)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Studio Enregistrement</a:t>
            </a:r>
            <a:r>
              <a:rPr sz="1600">
                <a:solidFill>
                  <a:srgbClr val="333333"/>
                </a:solidFill>
              </a:rPr>
              <a:t> : Production audio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Locuteurs</a:t>
            </a:r>
            <a:r>
              <a:rPr sz="1600">
                <a:solidFill>
                  <a:srgbClr val="333333"/>
                </a:solidFill>
              </a:rPr>
              <a:t> : Voix spots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Mensuel</a:t>
            </a:r>
            <a:r>
              <a:rPr sz="1600">
                <a:solidFill>
                  <a:srgbClr val="333333"/>
                </a:solidFill>
              </a:rPr>
              <a:t> : Renouvellement contrats, nouveaux spots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Trimestriel</a:t>
            </a:r>
            <a:r>
              <a:rPr sz="1600">
                <a:solidFill>
                  <a:srgbClr val="333333"/>
                </a:solidFill>
              </a:rPr>
              <a:t> : Évaluation performance, ajustement stations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Ponctuel</a:t>
            </a:r>
            <a:r>
              <a:rPr sz="1600">
                <a:solidFill>
                  <a:srgbClr val="333333"/>
                </a:solidFill>
              </a:rPr>
              <a:t> : Émissions sponsorisées événements spéciaux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Affichage - Mécanisme Opérationnel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Responsable Marketing Local + Régie Publicitaire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Audit emplacements (bus, taxis, panneaux, murs)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Analyse trafic, visibilité, coûts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Sélection emplacements stratégiques (centres-villes, universités, commerces)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Négociation contrats (3-6 mois)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Plan emplacements, contrats signés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Graphiste + Directeur Artistique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Design affiches (formats multiples : bus, panneaux, taxis)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Adaptation formats (taille, orientation)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Messages clairs, visuels impactants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QR codes pour téléchargement app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Fichiers prêts impression (haute résolution)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Imprimeur + Installateurs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Impression affiches (quantités selon emplacements)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Installation sur supports (bus, taxis, panneaux)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Vérification qualité installation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Installation initiale, puis maintenance mensuelle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Régie Publicitaire + Équipe Marketing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Vérification état affiches (remplacement si nécessaire)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Rotation messages (nouveaux visuels)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Nettoyage supports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Maintenance mensuelle, rotation trimestrielle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Régie Publicitaire</a:t>
            </a:r>
            <a:r>
              <a:rPr sz="1600">
                <a:solidFill>
                  <a:srgbClr val="333333"/>
                </a:solidFill>
              </a:rPr>
              <a:t> : Gestion emplacements (ex: JCDecaux, régies locales)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Imprimeur</a:t>
            </a:r>
            <a:r>
              <a:rPr sz="1600">
                <a:solidFill>
                  <a:srgbClr val="333333"/>
                </a:solidFill>
              </a:rPr>
              <a:t> : Impression affiches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Installateurs</a:t>
            </a:r>
            <a:r>
              <a:rPr sz="1600">
                <a:solidFill>
                  <a:srgbClr val="333333"/>
                </a:solidFill>
              </a:rPr>
              <a:t> : Pose affiches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Graphiste</a:t>
            </a:r>
            <a:r>
              <a:rPr sz="1600">
                <a:solidFill>
                  <a:srgbClr val="333333"/>
                </a:solidFill>
              </a:rPr>
              <a:t> : Design visuels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Mensuel</a:t>
            </a:r>
            <a:r>
              <a:rPr sz="1600">
                <a:solidFill>
                  <a:srgbClr val="333333"/>
                </a:solidFill>
              </a:rPr>
              <a:t> : Maintenance, vérification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Trimestriel</a:t>
            </a:r>
            <a:r>
              <a:rPr sz="1600">
                <a:solidFill>
                  <a:srgbClr val="333333"/>
                </a:solidFill>
              </a:rPr>
              <a:t> : Rotation messages, nouveaux visuels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Semestriel</a:t>
            </a:r>
            <a:r>
              <a:rPr sz="1600">
                <a:solidFill>
                  <a:srgbClr val="333333"/>
                </a:solidFill>
              </a:rPr>
              <a:t> : Renouvellement contrats, nouveaux emplacements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Marketing de Rue - Mécanisme Opérationnel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Responsable Marketing Local + RH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Recrutement équipes terrain (20-30 personnes)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Profil : Jeunes, dynamiques, locuteurs français/anglais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Formation produit et techniques vente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Attribution zones (marchés, universités, centres commerciaux)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Équipes formées et opérationnelles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+ Logistique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Impression flyers (50,000-100,000 exemplaires)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Création goodies (stylos, sacs, t-shirts brandés)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Tablettes pour démos app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Codes promotionnels uniques par équipe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Matériel distribué aux équipes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Équipes Marketing de Rue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Distribution flyers (zones stratégiques)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Démonstrations app (tablettes)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Inscriptions directes (codes promotionnels)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Collecte contacts (lead generation)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Opérations 5 jours/semaine, 6-8h/jour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Responsable Marketing Local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Tracking inscriptions par code promotionnel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Analyse performance par zone/équipe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Ajustement zones selon résultats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Motivation équipes (bonus performance)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Revue hebdomadaire, ajustements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Équipes Terrain</a:t>
            </a:r>
            <a:r>
              <a:rPr sz="1600">
                <a:solidFill>
                  <a:srgbClr val="333333"/>
                </a:solidFill>
              </a:rPr>
              <a:t> : 20-30 personnes (distribution, démos)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Superviseurs</a:t>
            </a:r>
            <a:r>
              <a:rPr sz="1600">
                <a:solidFill>
                  <a:srgbClr val="333333"/>
                </a:solidFill>
              </a:rPr>
              <a:t> : 3-5 personnes (coordination, suivi)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Logistique</a:t>
            </a:r>
            <a:r>
              <a:rPr sz="1600">
                <a:solidFill>
                  <a:srgbClr val="333333"/>
                </a:solidFill>
              </a:rPr>
              <a:t> : Gestion matériel, stocks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Imprimeur</a:t>
            </a:r>
            <a:r>
              <a:rPr sz="1600">
                <a:solidFill>
                  <a:srgbClr val="333333"/>
                </a:solidFill>
              </a:rPr>
              <a:t> : Impression flyers, goodies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Quotidien</a:t>
            </a:r>
            <a:r>
              <a:rPr sz="1600">
                <a:solidFill>
                  <a:srgbClr val="333333"/>
                </a:solidFill>
              </a:rPr>
              <a:t> : Opérations terrain (lundi-vendredi)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Hebdomadaire</a:t>
            </a:r>
            <a:r>
              <a:rPr sz="1600">
                <a:solidFill>
                  <a:srgbClr val="333333"/>
                </a:solidFill>
              </a:rPr>
              <a:t> : Revue performance, ajustements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Mensuel</a:t>
            </a:r>
            <a:r>
              <a:rPr sz="1600">
                <a:solidFill>
                  <a:srgbClr val="333333"/>
                </a:solidFill>
              </a:rPr>
              <a:t> : Rotation zones, nouveaux matériels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Trimestriel</a:t>
            </a:r>
            <a:r>
              <a:rPr sz="1600">
                <a:solidFill>
                  <a:srgbClr val="333333"/>
                </a:solidFill>
              </a:rPr>
              <a:t> : Évaluation, recrutement complémentaire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3. MÉCANISME INFLUENCEURS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Programme Influenceurs - Mécanisme Opérationnel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Community Manager + Agence Influenceurs (optionnel)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Recherche influenceurs (Instagram, TikTok, YouTube, Facebook)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Analyse audiences (âge, localisation, engagement)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Vérification authenticité (fake followers, engagement rate)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Sélection micro (10K-100K) et macro (100K+) influenceurs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Contact initial, négociation tarifs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Liste influenceurs sélectionnés, contrats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Community Manager + Influenceurs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Briefing influenceurs (messages clés, ton, format)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Fourniture assets (logo, visuels, codes promo)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Validation concepts créatifs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Planning publication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Contenus validés, planning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Influenceurs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Publication contenu (posts, stories, reels, vidéos)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Utilisation hashtags brandés (#Yukpomnang)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Mentions compte officiel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Codes promotionnels uniques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1-3 posts par influenceur selon contrat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Analyste Marketing + Community Manager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Tracking engagement (likes, comments, shares)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Mesure conversions (codes promo, installations)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Calcul ROI par influenceur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Identification influenceurs performants pour renouvellement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Analyse post-publication, revue mensuelle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Agence Influenceurs</a:t>
            </a:r>
            <a:r>
              <a:rPr sz="1600">
                <a:solidFill>
                  <a:srgbClr val="333333"/>
                </a:solidFill>
              </a:rPr>
              <a:t> : Identification, négociation (optionnel, 20-30% commission)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Influenceurs Micro</a:t>
            </a:r>
            <a:r>
              <a:rPr sz="1600">
                <a:solidFill>
                  <a:srgbClr val="333333"/>
                </a:solidFill>
              </a:rPr>
              <a:t> : 50-100 personnes (10K-100K followers)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Influenceurs Macro</a:t>
            </a:r>
            <a:r>
              <a:rPr sz="1600">
                <a:solidFill>
                  <a:srgbClr val="333333"/>
                </a:solidFill>
              </a:rPr>
              <a:t> : 10-20 personnes (100K+ followers)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Community Manager</a:t>
            </a:r>
            <a:r>
              <a:rPr sz="1600">
                <a:solidFill>
                  <a:srgbClr val="333333"/>
                </a:solidFill>
              </a:rPr>
              <a:t> : Coordination, suivi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Mensuel</a:t>
            </a:r>
            <a:r>
              <a:rPr sz="1600">
                <a:solidFill>
                  <a:srgbClr val="333333"/>
                </a:solidFill>
              </a:rPr>
              <a:t> : Nouveaux influenceurs, campagnes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Trimestriel</a:t>
            </a:r>
            <a:r>
              <a:rPr sz="1600">
                <a:solidFill>
                  <a:srgbClr val="333333"/>
                </a:solidFill>
              </a:rPr>
              <a:t> : Évaluation performance, renouvellement contrats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Ponctuel</a:t>
            </a:r>
            <a:r>
              <a:rPr sz="1600">
                <a:solidFill>
                  <a:srgbClr val="333333"/>
                </a:solidFill>
              </a:rPr>
              <a:t> : Collaborations événements spéciaux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4. MÉCANISME PROGRAMME PARRAINAGE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Programme de Parrainage - Mécanisme Opérationnel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Technique + Marketing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Développement fonctionnalité parrainage (app)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Génération codes uniques par utilisateur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Système tracking (parrain → filleul)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Interface récompenses (points, crédits)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Fonctionnalité opérationnelle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+ Communication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Communication lancement (email, push, in-app)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Tutoriel utilisation (vidéo, guide)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Promotion initiale (bonus lancement)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Communication ponctuelle, puis continue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Utilisateurs + Système Automatique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Partage codes parrainage (réseaux sociaux, WhatsApp, SMS)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Inscription filleuls avec code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Attribution récompenses automatiques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Notifications parrain et filleul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Automatique, temps réel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Classements parrains (leaderboard)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Défis mensuels (objectifs parrainage)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Récompenses exclusives top parrains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Communication succès stories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Défis mensuels, classements hebdomadaires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 Technique</a:t>
            </a:r>
            <a:r>
              <a:rPr sz="1600">
                <a:solidFill>
                  <a:srgbClr val="333333"/>
                </a:solidFill>
              </a:rPr>
              <a:t> : Développement système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Utilisateurs</a:t>
            </a:r>
            <a:r>
              <a:rPr sz="1600">
                <a:solidFill>
                  <a:srgbClr val="333333"/>
                </a:solidFill>
              </a:rPr>
              <a:t> : Acteurs principaux (parrains)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Système Automatique</a:t>
            </a:r>
            <a:r>
              <a:rPr sz="1600">
                <a:solidFill>
                  <a:srgbClr val="333333"/>
                </a:solidFill>
              </a:rPr>
              <a:t> : Tracking, attribution récompenses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 Marketing</a:t>
            </a:r>
            <a:r>
              <a:rPr sz="1600">
                <a:solidFill>
                  <a:srgbClr val="333333"/>
                </a:solidFill>
              </a:rPr>
              <a:t> : Animation, communication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Quotidien</a:t>
            </a:r>
            <a:r>
              <a:rPr sz="1600">
                <a:solidFill>
                  <a:srgbClr val="333333"/>
                </a:solidFill>
              </a:rPr>
              <a:t> : Attribution récompenses automatique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Hebdomadaire</a:t>
            </a:r>
            <a:r>
              <a:rPr sz="1600">
                <a:solidFill>
                  <a:srgbClr val="333333"/>
                </a:solidFill>
              </a:rPr>
              <a:t> : Classements, communication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Mensuel</a:t>
            </a:r>
            <a:r>
              <a:rPr sz="1600">
                <a:solidFill>
                  <a:srgbClr val="333333"/>
                </a:solidFill>
              </a:rPr>
              <a:t> : Défis, récompenses exclusives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Trimestriel</a:t>
            </a:r>
            <a:r>
              <a:rPr sz="1600">
                <a:solidFill>
                  <a:srgbClr val="333333"/>
                </a:solidFill>
              </a:rPr>
              <a:t> : Évaluation programme, améliorations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ACTEURS MARKETING DÉTAILLÉS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Acteurs Internes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Équipe Marketing (10-15 personnes en 2026)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CMO (Chief Marketing Officer)</a:t>
            </a:r>
            <a:r>
              <a:rPr sz="1600">
                <a:solidFill>
                  <a:srgbClr val="333333"/>
                </a:solidFill>
              </a:rPr>
              <a:t> : 1 personne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Rôle : Stratégie globale, budget, équipe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Salaire : 90K-120K FCFA/an (54M-72M FCFA/an)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Responsable Marketing Digital</a:t>
            </a:r>
            <a:r>
              <a:rPr sz="1600">
                <a:solidFill>
                  <a:srgbClr val="333333"/>
                </a:solidFill>
              </a:rPr>
              <a:t> : 1 personne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Rôle : Coordination campagnes digitales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Salaire : 40K-60K FCFA/an (24M-36M FCFA/an)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Media Buyers</a:t>
            </a:r>
            <a:r>
              <a:rPr sz="1600">
                <a:solidFill>
                  <a:srgbClr val="333333"/>
                </a:solidFill>
              </a:rPr>
              <a:t> : 2-3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Rôle : Gestion campagnes Facebook, Google, TikTok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Salaire : 25K-40K FCFA/an (15M-24M FCFA/an)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Créatifs Digital</a:t>
            </a:r>
            <a:r>
              <a:rPr sz="1600">
                <a:solidFill>
                  <a:srgbClr val="333333"/>
                </a:solidFill>
              </a:rPr>
              <a:t> : 2-3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Rôle : Design assets, vidéos, contenus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Salaire : 20K-35K FCFA/an (12M-21M FCFA/an)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Responsable Marketing Local</a:t>
            </a:r>
            <a:r>
              <a:rPr sz="1600">
                <a:solidFill>
                  <a:srgbClr val="333333"/>
                </a:solidFill>
              </a:rPr>
              <a:t> : 1 personne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Rôle : Coordination marketing offline, événements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Salaire : 30K-50K FCFA/an (18M-30M FCFA/an)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Coordonnateurs Terrain</a:t>
            </a:r>
            <a:r>
              <a:rPr sz="1600">
                <a:solidFill>
                  <a:srgbClr val="333333"/>
                </a:solidFill>
              </a:rPr>
              <a:t> : 2-3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Rôle : Supervision équipes marketing de rue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Salaire : 15K-25K FCFA/an (9M-15M FCFA/an)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Community Manager</a:t>
            </a:r>
            <a:r>
              <a:rPr sz="1600">
                <a:solidFill>
                  <a:srgbClr val="333333"/>
                </a:solidFill>
              </a:rPr>
              <a:t> : 2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Rôle : Gestion réseaux sociaux, influenceurs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Salaire : 20K-30K FCFA/an (12M-18M FCFA/an)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Content Creators</a:t>
            </a:r>
            <a:r>
              <a:rPr sz="1600">
                <a:solidFill>
                  <a:srgbClr val="333333"/>
                </a:solidFill>
              </a:rPr>
              <a:t> : 2-3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Rôle : Création contenu blog, vidéos, articles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Salaire : 18K-28K FCFA/an (10.8M-16.8M FCFA/an)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Marketing Analyst</a:t>
            </a:r>
            <a:r>
              <a:rPr sz="1600">
                <a:solidFill>
                  <a:srgbClr val="333333"/>
                </a:solidFill>
              </a:rPr>
              <a:t> : 1-2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Rôle : Analyse performance, reporting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Salaire : 25K-40K FCFA/an (15M-24M FCFA/an)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Acteurs Externes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Agences Media (Optionnel)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</a:t>
            </a:r>
            <a:r>
              <a:rPr sz="1600">
                <a:solidFill>
                  <a:srgbClr val="333333"/>
                </a:solidFill>
              </a:rPr>
              <a:t> : Gestion campagnes Facebook, Google, TikTok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</a:t>
            </a:r>
            <a:r>
              <a:rPr sz="1600">
                <a:solidFill>
                  <a:srgbClr val="333333"/>
                </a:solidFill>
              </a:rPr>
              <a:t> : 15-20% du budget publicitaire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Avantages</a:t>
            </a:r>
            <a:r>
              <a:rPr sz="1600">
                <a:solidFill>
                  <a:srgbClr val="333333"/>
                </a:solidFill>
              </a:rPr>
              <a:t> : Expertise, optimisation, économies d'échelle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2026</a:t>
            </a:r>
            <a:r>
              <a:rPr sz="1600">
                <a:solidFill>
                  <a:srgbClr val="333333"/>
                </a:solidFill>
              </a:rPr>
              <a:t> : 60M-80M FCFA (si 400M FCFA budget digital)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</a:t>
            </a:r>
            <a:r>
              <a:rPr sz="1600">
                <a:solidFill>
                  <a:srgbClr val="333333"/>
                </a:solidFill>
              </a:rPr>
              <a:t> : Identification, négociation, coordination influenceurs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</a:t>
            </a:r>
            <a:r>
              <a:rPr sz="1600">
                <a:solidFill>
                  <a:srgbClr val="333333"/>
                </a:solidFill>
              </a:rPr>
              <a:t> : 20-30% du budget influenceurs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Avantages</a:t>
            </a:r>
            <a:r>
              <a:rPr sz="1600">
                <a:solidFill>
                  <a:srgbClr val="333333"/>
                </a:solidFill>
              </a:rPr>
              <a:t> : Réseau, négociation, suivi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2026</a:t>
            </a:r>
            <a:r>
              <a:rPr sz="1600">
                <a:solidFill>
                  <a:srgbClr val="333333"/>
                </a:solidFill>
              </a:rPr>
              <a:t> : 20M-30M FCFA (si 100M FCFA budget influenceurs)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</a:t>
            </a:r>
            <a:r>
              <a:rPr sz="1600">
                <a:solidFill>
                  <a:srgbClr val="333333"/>
                </a:solidFill>
              </a:rPr>
              <a:t> : Relations presse, événements, communication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Frais</a:t>
            </a:r>
            <a:r>
              <a:rPr sz="1600">
                <a:solidFill>
                  <a:srgbClr val="333333"/>
                </a:solidFill>
              </a:rPr>
              <a:t> : 50K-100K FCFA/an (30M-60M FCFA/an)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Avantages</a:t>
            </a:r>
            <a:r>
              <a:rPr sz="1600">
                <a:solidFill>
                  <a:srgbClr val="333333"/>
                </a:solidFill>
              </a:rPr>
              <a:t> : Réseau médias, expertise communication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Prestataires Services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</a:t>
            </a:r>
            <a:r>
              <a:rPr sz="1600">
                <a:solidFill>
                  <a:srgbClr val="333333"/>
                </a:solidFill>
              </a:rPr>
              <a:t> : Production spots radio, podcasts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</a:t>
            </a:r>
            <a:r>
              <a:rPr sz="1600">
                <a:solidFill>
                  <a:srgbClr val="333333"/>
                </a:solidFill>
              </a:rPr>
              <a:t> : 500K-1M FCFA/production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4-6 productions/an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</a:t>
            </a:r>
            <a:r>
              <a:rPr sz="1600">
                <a:solidFill>
                  <a:srgbClr val="333333"/>
                </a:solidFill>
              </a:rPr>
              <a:t> : Impression flyers, affiches, goodies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</a:t>
            </a:r>
            <a:r>
              <a:rPr sz="1600">
                <a:solidFill>
                  <a:srgbClr val="333333"/>
                </a:solidFill>
              </a:rPr>
              <a:t> : Variable selon quantités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Mensuelle (flyers), trimestrielle (affiches)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</a:t>
            </a:r>
            <a:r>
              <a:rPr sz="1600">
                <a:solidFill>
                  <a:srgbClr val="333333"/>
                </a:solidFill>
              </a:rPr>
              <a:t> : Gestion emplacements affichage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</a:t>
            </a:r>
            <a:r>
              <a:rPr sz="1600">
                <a:solidFill>
                  <a:srgbClr val="333333"/>
                </a:solidFill>
              </a:rPr>
              <a:t> : 10M-20M FCFA/mois (emplacements)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Contrats 3-6 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</a:t>
            </a:r>
            <a:r>
              <a:rPr sz="1600">
                <a:solidFill>
                  <a:srgbClr val="333333"/>
                </a:solidFill>
              </a:rPr>
              <a:t> : Distribution, démos, inscriptions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</a:t>
            </a:r>
            <a:r>
              <a:rPr sz="1600">
                <a:solidFill>
                  <a:srgbClr val="333333"/>
                </a:solidFill>
              </a:rPr>
              <a:t> : 50K-100K FCFA/personne/mois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Effectif</a:t>
            </a:r>
            <a:r>
              <a:rPr sz="1600">
                <a:solidFill>
                  <a:srgbClr val="333333"/>
                </a:solidFill>
              </a:rPr>
              <a:t> : 20-30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Médias et Partenaires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</a:t>
            </a:r>
            <a:r>
              <a:rPr sz="1600">
                <a:solidFill>
                  <a:srgbClr val="333333"/>
                </a:solidFill>
              </a:rPr>
              <a:t> : Diffusion spots, émissions sponsorisées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</a:t>
            </a:r>
            <a:r>
              <a:rPr sz="1600">
                <a:solidFill>
                  <a:srgbClr val="333333"/>
                </a:solidFill>
              </a:rPr>
              <a:t> : 200K-500K FCFA/mois/station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5-10 stations par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</a:t>
            </a:r>
            <a:r>
              <a:rPr sz="1600">
                <a:solidFill>
                  <a:srgbClr val="333333"/>
                </a:solidFill>
              </a:rPr>
              <a:t> : Articles, interviews, communiqués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</a:t>
            </a:r>
            <a:r>
              <a:rPr sz="1600">
                <a:solidFill>
                  <a:srgbClr val="333333"/>
                </a:solidFill>
              </a:rPr>
              <a:t> : 100K-500K FCFA/article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2-4 articles/mois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Micro (10K-100K)</a:t>
            </a:r>
            <a:r>
              <a:rPr sz="1600">
                <a:solidFill>
                  <a:srgbClr val="333333"/>
                </a:solidFill>
              </a:rPr>
              <a:t> : 30,000-150,000 FCFA/post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Macro (100K+)</a:t>
            </a:r>
            <a:r>
              <a:rPr sz="1600">
                <a:solidFill>
                  <a:srgbClr val="333333"/>
                </a:solidFill>
              </a:rPr>
              <a:t> : 600,000-3,000,000 FCFA/post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50-100 micro, 10-20 macro par marché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SÉQUENCES PÉRIODIQUES DÉTAILLÉES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Calendrier Marketing Mensuel 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JANVIER 2026 - Préparation Lancement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+ Agences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Finalisation stratégie marketing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Sélection agences (si externalisation)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Briefing équipe marketing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Démarrage création assets (visuels, vidéos)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Plan marketing validé, équipe opérationnelle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Créatifs + Agence Media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Création assets campagnes digitales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Production spots radio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Design affiches marketing de rue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Préparation événement lancement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Assets créatifs prêts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+ Partenaires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Recrutement beta testeurs (réseaux sociaux)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Contact partenaires stratégiques (supermarkets, pharmacies)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Identification influenceurs locaux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Setup comptes publicitaires (Facebook, Google)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Partenaires identifiés, comptes prêts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Complète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Tests campagnes digitales (petits budgets)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Finalisation événement lancement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Formation équipes marketing de rue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Préparation matériel distribution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Livrables</a:t>
            </a:r>
            <a:r>
              <a:rPr sz="1600">
                <a:solidFill>
                  <a:srgbClr val="333333"/>
                </a:solidFill>
              </a:rPr>
              <a:t> : Tout prêt pour lancement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FÉVRIER 2026 - Pré-Lancement Intensif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+ Beta Testeurs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Lancement programme beta (1,000 testeurs)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Activation marketing de rue (zones pilotes)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Publication premiers contenus réseaux sociaux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Démarrage relations presse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Actions quotidiennes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+ Influenceurs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Collaboration premiers influenceurs (micro)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Expansion marketing de rue (nouvelles zones)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Optimisation campagnes digitales (tests)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Collecte feedback beta testeurs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Actions quotidiennes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+ Partenaires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Finalisation partenariats commerçants (50 partenaires)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Préparation événement lancement (logistique)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Communication pré-lancement (teasing)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Recrutement coursiers (100 coursiers)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Actions quotidiennes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Complète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Finalisation tous préparatifs lancement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Tests finaux application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Communication presse (communiqués)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Invitations événement lancement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Actions quotidiennes, intensification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MARS 2026 - Finalisation Pré-Lancement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+ Technique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Tests finaux campagnes (petits budgets)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Finalisation événement lancement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Préparation équipes support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Formation équipe opérations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Actions quotidiennes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+ Communication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Communication teasing finale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Activation réseaux sociaux (contenus préparatoires)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Préparation médias (dossiers presse)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Répétition événement lancement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Actions quotidiennes, intensification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Complète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Finalisation tous détails lancement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Tests application (charges, performance)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Préparation support client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Communication dernière ligne droite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Actions quotidiennes, monitoring 24/7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Toute Équipe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Derniers préparatifs lancement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Activation campagnes pré-lancement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Communication finale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Préparation équipes pour 01 avril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Actions quotidiennes, monitoring intensif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AVRIL 2026 - LANCEMENT OFFICIEL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Toute Équipe + Partenaires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Matin (9h-12h)</a:t>
            </a:r>
            <a:r>
              <a:rPr sz="1600">
                <a:solidFill>
                  <a:srgbClr val="333333"/>
                </a:solidFill>
              </a:rPr>
              <a:t> : Événement lancement Yaoundé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Après-midi (14h-17h)</a:t>
            </a:r>
            <a:r>
              <a:rPr sz="1600">
                <a:solidFill>
                  <a:srgbClr val="333333"/>
                </a:solidFill>
              </a:rPr>
              <a:t> : Événement lancement Douala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Activation toutes campagnes digitales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Activation marketing de rue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Communication presse (communiqués)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Monitoring performance temps réel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Actions continues, monitoring 24/7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+ Support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Suivi performance campagnes (quotidien)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Optimisation campagnes digitales (2x/jour)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Support utilisateurs nouveaux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Communication succès (premiers utilisateurs)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Actions quotidiennes, optimisations 2x/jour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Analyse première semaine (performance complète)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Ajustements campagnes (scaling performantes)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Expansion marketing de rue (nouvelles zones)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Collaboration influenceurs (premiers posts)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Actions quotidiennes, revue hebdomadaire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Scaling campagnes performantes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Nouveaux contenus réseaux sociaux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Expansion géographique (nouvelles villes)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Optimisation conversion (landing pages)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Actions quotidiennes, scaling hebdomadaire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Revue mensuelle complète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Analyse performance (objectifs atteints ?)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Ajustements stratégie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Préparation mois suivant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Actions quotidiennes, revue mensuelle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Calendrier Marketing Trimestriel 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Q2 2026 (Avril-Juin) - Croissance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Focus : Acquisition massive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Budget : 270M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Objectif : 25,000 utilisateurs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Focus : Scaling, optimisation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Budget : 300M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Objectif : 50,000 utilisateurs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Focus : Rétention, fidélité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Budget : 300M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Objectif : 75,000 utilisateurs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Analyse performance complète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Ajustements stratégie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Préparation Q3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Q3 2026 (Juillet-Septembre) - Expansion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Focus : Expansion géographique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Budget : 400M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Objectif : 100,000 utilisateurs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Focus : Croissance continue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Budget : 400M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Objectif : 130,000 utilisateurs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Focus : Performance, efficacité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Budget : 400M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Objectif : 160,000 utilisateurs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Q4 2026 (Octobre-Décembre) - Consolidation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Focus : CAC, rétention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Budget : 400M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Objectif : 180,000 utilisateurs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Focus : Black Friday, promotions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Budget : 450M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Objectif : 190,000 utilisateurs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Focus : Campagnes fêtes, rétention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Budget : 450M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Objectif : 200,000 utilisateurs actifs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PROCESSUS OPÉRATIONNELS RÉCURRENTS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Processus Quotidiens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Marketing Analyst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Revue métriques campagnes digitales (CPM, CPC, CTR, CPA)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Identification anomalies (coûts élevés, faible performance)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Alertes équipe si nécessaire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Durée</a:t>
            </a:r>
            <a:r>
              <a:rPr sz="1600">
                <a:solidFill>
                  <a:srgbClr val="333333"/>
                </a:solidFill>
              </a:rPr>
              <a:t> : 30-60 minutes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Outils</a:t>
            </a:r>
            <a:r>
              <a:rPr sz="1600">
                <a:solidFill>
                  <a:srgbClr val="333333"/>
                </a:solidFill>
              </a:rPr>
              <a:t> : Facebook Ads Manager, Google Ads, Analytics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Media Buyers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Ajustements budgets campagnes performantes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Pause variantes sous-performantes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Ajustement enchères (Google Ads)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Test nouveaux audiences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Durée</a:t>
            </a:r>
            <a:r>
              <a:rPr sz="1600">
                <a:solidFill>
                  <a:srgbClr val="333333"/>
                </a:solidFill>
              </a:rPr>
              <a:t> : 1-2 heures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1-2x/jour selon performance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Community Managers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Publication contenu (1-2 posts/jour)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Réponses commentaires, messages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Monitoring mentions, hashtags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Engagement avec communauté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Durée</a:t>
            </a:r>
            <a:r>
              <a:rPr sz="1600">
                <a:solidFill>
                  <a:srgbClr val="333333"/>
                </a:solidFill>
              </a:rPr>
              <a:t> : 4-6 heures/jour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Continu, monitoring 24/7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Processus Hebdomadaires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Complète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Analyse performance semaine précédente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Revue objectifs vs réalisations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Identification opportunités, problèmes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Planification semaine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Durée</a:t>
            </a:r>
            <a:r>
              <a:rPr sz="1600">
                <a:solidFill>
                  <a:srgbClr val="333333"/>
                </a:solidFill>
              </a:rPr>
              <a:t> : 2-3 heures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Hebdomadaire (lundi matin)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CMO + Responsables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Ajustements stratégie selon performance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Décisions scaling/pause campagnes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Allocation budgets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Nouveaux tests à lancer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Durée</a:t>
            </a:r>
            <a:r>
              <a:rPr sz="1600">
                <a:solidFill>
                  <a:srgbClr val="333333"/>
                </a:solidFill>
              </a:rPr>
              <a:t> : 1-2 heures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Hebdomadaire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Content Team + Community Managers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Planification contenu semaine suivante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Validation créatifs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Coordination influenceurs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Préparation assets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Durée</a:t>
            </a:r>
            <a:r>
              <a:rPr sz="1600">
                <a:solidFill>
                  <a:srgbClr val="333333"/>
                </a:solidFill>
              </a:rPr>
              <a:t> : 2-3 heures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Hebdomadaire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Processus Mensuels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Équipe Marketing + Direction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Analyse performance mois précédent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Revue objectifs vs réalisations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Analyse ROI par canal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Ajustements stratégie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Planification mois suivant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Durée</a:t>
            </a:r>
            <a:r>
              <a:rPr sz="1600">
                <a:solidFill>
                  <a:srgbClr val="333333"/>
                </a:solidFill>
              </a:rPr>
              <a:t> : 4-6 heures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Mensuel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CMO + Analyste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Préparation rapport marketing mensuel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Métriques clés, KPIs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Analyse tendances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Projections mois suivant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Durée</a:t>
            </a:r>
            <a:r>
              <a:rPr sz="1600">
                <a:solidFill>
                  <a:srgbClr val="333333"/>
                </a:solidFill>
              </a:rPr>
              <a:t> : 2-3 heures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Mensuel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Acteur</a:t>
            </a:r>
            <a:r>
              <a:rPr sz="1600">
                <a:solidFill>
                  <a:srgbClr val="333333"/>
                </a:solidFill>
              </a:rPr>
              <a:t> : Responsable Marketing Local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Actions</a:t>
            </a:r>
            <a:r>
              <a:rPr sz="1600">
                <a:solidFill>
                  <a:srgbClr val="333333"/>
                </a:solidFill>
              </a:rPr>
              <a:t>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Renouvellement contrats médias (radio, affichage)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Négociation nouveaux contrats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Évaluation prestataires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Durée</a:t>
            </a:r>
            <a:r>
              <a:rPr sz="1600">
                <a:solidFill>
                  <a:srgbClr val="333333"/>
                </a:solidFill>
              </a:rPr>
              <a:t> : Variable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Fréquence</a:t>
            </a:r>
            <a:r>
              <a:rPr sz="1600">
                <a:solidFill>
                  <a:srgbClr val="333333"/>
                </a:solidFill>
              </a:rPr>
              <a:t> : Mensuel (selon contrats)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TABLEAU DE BORD MARKETING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KPIs Quotidiens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Métrique</a:t>
            </a:r>
            <a:r>
              <a:rPr sz="1600">
                <a:solidFill>
                  <a:srgbClr val="333333"/>
                </a:solidFill>
              </a:rPr>
              <a:t> : Cible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Nouveaux utilisateurs</a:t>
            </a:r>
            <a:r>
              <a:rPr sz="1600">
                <a:solidFill>
                  <a:srgbClr val="333333"/>
                </a:solidFill>
              </a:rPr>
              <a:t>** : 500-1,000/jour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CAC</a:t>
            </a:r>
            <a:r>
              <a:rPr sz="1600">
                <a:solidFill>
                  <a:srgbClr val="333333"/>
                </a:solidFill>
              </a:rPr>
              <a:t>** : &lt; 5,000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Taux conversion</a:t>
            </a:r>
            <a:r>
              <a:rPr sz="1600">
                <a:solidFill>
                  <a:srgbClr val="333333"/>
                </a:solidFill>
              </a:rPr>
              <a:t>** : &gt; 15%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Coût installation</a:t>
            </a:r>
            <a:r>
              <a:rPr sz="1600">
                <a:solidFill>
                  <a:srgbClr val="333333"/>
                </a:solidFill>
              </a:rPr>
              <a:t>** : &lt; 3,000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Engagement réseaux sociaux</a:t>
            </a:r>
            <a:r>
              <a:rPr sz="1600">
                <a:solidFill>
                  <a:srgbClr val="333333"/>
                </a:solidFill>
              </a:rPr>
              <a:t>** : &gt; 5%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KPIs Hebdomadaires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Métrique</a:t>
            </a:r>
            <a:r>
              <a:rPr sz="1600">
                <a:solidFill>
                  <a:srgbClr val="333333"/>
                </a:solidFill>
              </a:rPr>
              <a:t> : Cible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Utilisateurs actifs</a:t>
            </a:r>
            <a:r>
              <a:rPr sz="1600">
                <a:solidFill>
                  <a:srgbClr val="333333"/>
                </a:solidFill>
              </a:rPr>
              <a:t>** : +15-20%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Rétention 7 jours</a:t>
            </a:r>
            <a:r>
              <a:rPr sz="1600">
                <a:solidFill>
                  <a:srgbClr val="333333"/>
                </a:solidFill>
              </a:rPr>
              <a:t>** : &gt; 50%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ROI campagnes</a:t>
            </a:r>
            <a:r>
              <a:rPr sz="1600">
                <a:solidFill>
                  <a:srgbClr val="333333"/>
                </a:solidFill>
              </a:rPr>
              <a:t>** : &gt; 3x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Brand awareness</a:t>
            </a:r>
            <a:r>
              <a:rPr sz="1600">
                <a:solidFill>
                  <a:srgbClr val="333333"/>
                </a:solidFill>
              </a:rPr>
              <a:t>** : +2-3%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KPIs Mensuels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Métrique</a:t>
            </a:r>
            <a:r>
              <a:rPr sz="1600">
                <a:solidFill>
                  <a:srgbClr val="333333"/>
                </a:solidFill>
              </a:rPr>
              <a:t> : Cible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Utilisateurs actifs</a:t>
            </a:r>
            <a:r>
              <a:rPr sz="1600">
                <a:solidFill>
                  <a:srgbClr val="333333"/>
                </a:solidFill>
              </a:rPr>
              <a:t>** : Objectif mensuel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Rétention 30 jours</a:t>
            </a:r>
            <a:r>
              <a:rPr sz="1600">
                <a:solidFill>
                  <a:srgbClr val="333333"/>
                </a:solidFill>
              </a:rPr>
              <a:t>** : &gt; 60%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LTV</a:t>
            </a:r>
            <a:r>
              <a:rPr sz="1600">
                <a:solidFill>
                  <a:srgbClr val="333333"/>
                </a:solidFill>
              </a:rPr>
              <a:t>** : &gt; 48,000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NPS</a:t>
            </a:r>
            <a:r>
              <a:rPr sz="1600">
                <a:solidFill>
                  <a:srgbClr val="333333"/>
                </a:solidFill>
              </a:rPr>
              <a:t>** : &gt; 50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Brand awareness</a:t>
            </a:r>
            <a:r>
              <a:rPr sz="1600">
                <a:solidFill>
                  <a:srgbClr val="333333"/>
                </a:solidFill>
              </a:rPr>
              <a:t>** : Objectif mensuel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MÉCANISMES SPÉCIFIQUES PAR CANAL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Mécanisme Facebook/Instagram Ads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1. Création compte Facebook Business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2. Installation Facebook Pixel (tracking)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3. Configuration audiences (Lookalike, Custom, Interest)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4. Création campagnes (Awareness → Consideration → Conversion)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Jour 1-3</a:t>
            </a:r>
            <a:r>
              <a:rPr sz="1600">
                <a:solidFill>
                  <a:srgbClr val="333333"/>
                </a:solidFill>
              </a:rPr>
              <a:t> : Test petites audiences, identification performantes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Jour 4-7</a:t>
            </a:r>
            <a:r>
              <a:rPr sz="1600">
                <a:solidFill>
                  <a:srgbClr val="333333"/>
                </a:solidFill>
              </a:rPr>
              <a:t> : Scaling audiences performantes, pause sous-performantes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Semaine 2+</a:t>
            </a:r>
            <a:r>
              <a:rPr sz="1600">
                <a:solidFill>
                  <a:srgbClr val="333333"/>
                </a:solidFill>
              </a:rPr>
              <a:t> : Expansion audiences similaires, nouveaux tests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Mécanisme TikTok Ads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1. Création compte TikTok Ads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2. Production 10-15 vidéos courtes (15-30s)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3. Publication organique, identification performantes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4. Promotion vidéos performantes (Spark Ads)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Semaine 1</a:t>
            </a:r>
            <a:r>
              <a:rPr sz="1600">
                <a:solidFill>
                  <a:srgbClr val="333333"/>
                </a:solidFill>
              </a:rPr>
              <a:t> : Publication organique, monitoring engagement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Semaine 2</a:t>
            </a:r>
            <a:r>
              <a:rPr sz="1600">
                <a:solidFill>
                  <a:srgbClr val="333333"/>
                </a:solidFill>
              </a:rPr>
              <a:t> : Promotion vidéos performantes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Semaine 3+</a:t>
            </a:r>
            <a:r>
              <a:rPr sz="1600">
                <a:solidFill>
                  <a:srgbClr val="333333"/>
                </a:solidFill>
              </a:rPr>
              <a:t> : Scaling, nouveaux contenus, collaborations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Mécanisme Google Ads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1. Recherche mots-clés (Google Keyword Planner)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2. Création campagnes Search, Display, YouTube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3. Configuration conversion tracking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4. Setup annonces (A/B tests)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Semaine 1</a:t>
            </a:r>
            <a:r>
              <a:rPr sz="1600">
                <a:solidFill>
                  <a:srgbClr val="333333"/>
                </a:solidFill>
              </a:rPr>
              <a:t> : Test mots-clés, ajustement enchères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Semaine 2+</a:t>
            </a:r>
            <a:r>
              <a:rPr sz="1600">
                <a:solidFill>
                  <a:srgbClr val="333333"/>
                </a:solidFill>
              </a:rPr>
              <a:t> : Optimisation Quality Score, nouveaux mots-clés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Mensuel</a:t>
            </a:r>
            <a:r>
              <a:rPr sz="1600">
                <a:solidFill>
                  <a:srgbClr val="333333"/>
                </a:solidFill>
              </a:rPr>
              <a:t> : Revue stratégie, nouveaux tests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Mécanisme Marketing de Rue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1. Recrutement équipes (20-30 personnes)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2. Formation produit et techniques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3. Attribution zones (marchés, universités, commerces)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4. Préparation matériel (flyers, goodies, tablettes)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Lundi-Vendredi</a:t>
            </a:r>
            <a:r>
              <a:rPr sz="1600">
                <a:solidFill>
                  <a:srgbClr val="333333"/>
                </a:solidFill>
              </a:rPr>
              <a:t> : Opérations terrain (6-8h/jour)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Samedi</a:t>
            </a:r>
            <a:r>
              <a:rPr sz="1600">
                <a:solidFill>
                  <a:srgbClr val="333333"/>
                </a:solidFill>
              </a:rPr>
              <a:t> : Zones spéciales (marchés, événements)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Dimanche</a:t>
            </a:r>
            <a:r>
              <a:rPr sz="1600">
                <a:solidFill>
                  <a:srgbClr val="333333"/>
                </a:solidFill>
              </a:rPr>
              <a:t> : Repos, préparation semaine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Quotidien</a:t>
            </a:r>
            <a:r>
              <a:rPr sz="1600">
                <a:solidFill>
                  <a:srgbClr val="333333"/>
                </a:solidFill>
              </a:rPr>
              <a:t> : Tracking inscriptions par code promo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Hebdomadaire</a:t>
            </a:r>
            <a:r>
              <a:rPr sz="1600">
                <a:solidFill>
                  <a:srgbClr val="333333"/>
                </a:solidFill>
              </a:rPr>
              <a:t> : Revue performance par zone/équipe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Mensuel</a:t>
            </a:r>
            <a:r>
              <a:rPr sz="1600">
                <a:solidFill>
                  <a:srgbClr val="333333"/>
                </a:solidFill>
              </a:rPr>
              <a:t> : Rotation zones, nouveaux matériels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Mécanisme Influenceurs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1. </a:t>
            </a:r>
            <a:r>
              <a:rPr sz="1600" b="1">
                <a:solidFill>
                  <a:srgbClr val="003366"/>
                </a:solidFill>
              </a:rPr>
              <a:t>Semaine 1</a:t>
            </a:r>
            <a:r>
              <a:rPr sz="1600">
                <a:solidFill>
                  <a:srgbClr val="333333"/>
                </a:solidFill>
              </a:rPr>
              <a:t> : Identification nouveaux influenceurs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2. </a:t>
            </a:r>
            <a:r>
              <a:rPr sz="1600" b="1">
                <a:solidFill>
                  <a:srgbClr val="003366"/>
                </a:solidFill>
              </a:rPr>
              <a:t>Semaine 2</a:t>
            </a:r>
            <a:r>
              <a:rPr sz="1600">
                <a:solidFill>
                  <a:srgbClr val="333333"/>
                </a:solidFill>
              </a:rPr>
              <a:t> : Contact, négociation, briefing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3. </a:t>
            </a:r>
            <a:r>
              <a:rPr sz="1600" b="1">
                <a:solidFill>
                  <a:srgbClr val="003366"/>
                </a:solidFill>
              </a:rPr>
              <a:t>Semaine 3</a:t>
            </a:r>
            <a:r>
              <a:rPr sz="1600">
                <a:solidFill>
                  <a:srgbClr val="333333"/>
                </a:solidFill>
              </a:rPr>
              <a:t> : Création contenu, validation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4. </a:t>
            </a:r>
            <a:r>
              <a:rPr sz="1600" b="1">
                <a:solidFill>
                  <a:srgbClr val="003366"/>
                </a:solidFill>
              </a:rPr>
              <a:t>Semaine 4</a:t>
            </a:r>
            <a:r>
              <a:rPr sz="1600">
                <a:solidFill>
                  <a:srgbClr val="333333"/>
                </a:solidFill>
              </a:rPr>
              <a:t> : Publication, promotion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Post-publication</a:t>
            </a:r>
            <a:r>
              <a:rPr sz="1600">
                <a:solidFill>
                  <a:srgbClr val="333333"/>
                </a:solidFill>
              </a:rPr>
              <a:t> : Tracking engagement, conversions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Mensuel</a:t>
            </a:r>
            <a:r>
              <a:rPr sz="1600">
                <a:solidFill>
                  <a:srgbClr val="333333"/>
                </a:solidFill>
              </a:rPr>
              <a:t> : Analyse ROI, renouvellement contrats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CHECKLIST OPÉRATIONNELLE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Checklist Quotidienne Marketing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Revue métriques campagnes (Facebook, Google, TikTok)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Identification anomalies, alertes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Publication contenu réseaux sociaux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Réponses commentaires, messages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Monitoring mentions, hashtags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Optimisation campagnes (ajustements budgets, enchères)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Création nouveaux contenus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Coordination équipes terrain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Suivi influenceurs, partenaires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Revue performance journée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Préparation jour suivant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Monitoring réseaux sociaux (si nécessaire)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Checklist Hebdomadaire Marketing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Revue performance semaine précédente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Planification semaine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Réunion équipe marketing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Optimisation stratégique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Décisions scaling/pause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Nouveaux tests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Content planning semaine suivante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Revue objectifs semaine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Préparation week-end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Checklist Mensuelle Marketing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Revue mensuelle complète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Analyse performance mois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Ajustements stratégie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Planification mois suivant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Reporting investisseurs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Métriques clés, KPIs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Projections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Renouvellement contrats médias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Évaluation prestataires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Négociations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Revue finale mois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Préparation mois suivant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[ ] Communication équipe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