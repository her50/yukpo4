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08 Plan Financier 3 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Document Investisseurs - Janvier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VUE D'ENSEMBLE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Objectifs Financiers 3 Ans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Année</a:t>
            </a:r>
            <a:r>
              <a:rPr sz="1600">
                <a:solidFill>
                  <a:srgbClr val="333333"/>
                </a:solidFill>
              </a:rPr>
              <a:t> : Revenus (FCFA)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2026</a:t>
            </a:r>
            <a:r>
              <a:rPr sz="1600">
                <a:solidFill>
                  <a:srgbClr val="333333"/>
                </a:solidFill>
              </a:rPr>
              <a:t>** : 1,2 milliard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2027</a:t>
            </a:r>
            <a:r>
              <a:rPr sz="1600">
                <a:solidFill>
                  <a:srgbClr val="333333"/>
                </a:solidFill>
              </a:rPr>
              <a:t>** : 6,5 milliards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2028</a:t>
            </a:r>
            <a:r>
              <a:rPr sz="1600">
                <a:solidFill>
                  <a:srgbClr val="333333"/>
                </a:solidFill>
              </a:rPr>
              <a:t>** : 18 milliards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Besoins de Financement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Série A (Q1 2026)</a:t>
            </a:r>
            <a:r>
              <a:rPr sz="1600">
                <a:solidFill>
                  <a:srgbClr val="333333"/>
                </a:solidFill>
              </a:rPr>
              <a:t> : 2,1 - 3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Série B (Q3 2027)</a:t>
            </a:r>
            <a:r>
              <a:rPr sz="1600">
                <a:solidFill>
                  <a:srgbClr val="333333"/>
                </a:solidFill>
              </a:rPr>
              <a:t> : 7,2 - 9 milliards FCFA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PRODUCTION/REVENUS DÉTAILLÉS (2026-2028)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2026 - Année 1 : Lancement Cameroun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Production Mensuelle (Croissance Progressive)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Mois</a:t>
            </a:r>
            <a:r>
              <a:rPr sz="1600">
                <a:solidFill>
                  <a:srgbClr val="333333"/>
                </a:solidFill>
              </a:rPr>
              <a:t> : Produits Actifs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Avril</a:t>
            </a:r>
            <a:r>
              <a:rPr sz="1600">
                <a:solidFill>
                  <a:srgbClr val="333333"/>
                </a:solidFill>
              </a:rPr>
              <a:t>** : 5,000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Mai</a:t>
            </a:r>
            <a:r>
              <a:rPr sz="1600">
                <a:solidFill>
                  <a:srgbClr val="333333"/>
                </a:solidFill>
              </a:rPr>
              <a:t>** : 7,000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Juin</a:t>
            </a:r>
            <a:r>
              <a:rPr sz="1600">
                <a:solidFill>
                  <a:srgbClr val="333333"/>
                </a:solidFill>
              </a:rPr>
              <a:t>** : 10,000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Juillet</a:t>
            </a:r>
            <a:r>
              <a:rPr sz="1600">
                <a:solidFill>
                  <a:srgbClr val="333333"/>
                </a:solidFill>
              </a:rPr>
              <a:t>** : 13,000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Août</a:t>
            </a:r>
            <a:r>
              <a:rPr sz="1600">
                <a:solidFill>
                  <a:srgbClr val="333333"/>
                </a:solidFill>
              </a:rPr>
              <a:t>** : 16,000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Septembre</a:t>
            </a:r>
            <a:r>
              <a:rPr sz="1600">
                <a:solidFill>
                  <a:srgbClr val="333333"/>
                </a:solidFill>
              </a:rPr>
              <a:t>** : 20,000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Octobre</a:t>
            </a:r>
            <a:r>
              <a:rPr sz="1600">
                <a:solidFill>
                  <a:srgbClr val="333333"/>
                </a:solidFill>
              </a:rPr>
              <a:t>** : 23,000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Novembre</a:t>
            </a:r>
            <a:r>
              <a:rPr sz="1600">
                <a:solidFill>
                  <a:srgbClr val="333333"/>
                </a:solidFill>
              </a:rPr>
              <a:t>** : 26,000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Décembre</a:t>
            </a:r>
            <a:r>
              <a:rPr sz="1600">
                <a:solidFill>
                  <a:srgbClr val="333333"/>
                </a:solidFill>
              </a:rPr>
              <a:t>** : 30,000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TOTAL</a:t>
            </a:r>
            <a:r>
              <a:rPr sz="1600" b="1">
                <a:solidFill>
                  <a:srgbClr val="003366"/>
                </a:solidFill>
              </a:rPr>
              <a:t> : </a:t>
            </a:r>
            <a:r>
              <a:rPr sz="1600">
                <a:solidFill>
                  <a:srgbClr val="333333"/>
                </a:solidFill>
              </a:rPr>
              <a:t>30,000**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Revenus par Source 2026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Source</a:t>
            </a:r>
            <a:r>
              <a:rPr sz="1600">
                <a:solidFill>
                  <a:srgbClr val="333333"/>
                </a:solidFill>
              </a:rPr>
              <a:t> : Volume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Achat Tokens Produits</a:t>
            </a:r>
            <a:r>
              <a:rPr sz="1600">
                <a:solidFill>
                  <a:srgbClr val="333333"/>
                </a:solidFill>
              </a:rPr>
              <a:t>** : 30,000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Commissions Livraisons</a:t>
            </a:r>
            <a:r>
              <a:rPr sz="1600">
                <a:solidFill>
                  <a:srgbClr val="333333"/>
                </a:solidFill>
              </a:rPr>
              <a:t>** : 800,000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Commissions Ventes</a:t>
            </a:r>
            <a:r>
              <a:rPr sz="1600">
                <a:solidFill>
                  <a:srgbClr val="333333"/>
                </a:solidFill>
              </a:rPr>
              <a:t>** : 600,000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Publicité &amp; Vidéos</a:t>
            </a:r>
            <a:r>
              <a:rPr sz="1600">
                <a:solidFill>
                  <a:srgbClr val="333333"/>
                </a:solidFill>
              </a:rPr>
              <a:t>** : -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Services Spécialisés</a:t>
            </a:r>
            <a:r>
              <a:rPr sz="1600">
                <a:solidFill>
                  <a:srgbClr val="333333"/>
                </a:solidFill>
              </a:rPr>
              <a:t>** : 100,000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TOTAL</a:t>
            </a:r>
            <a:r>
              <a:rPr sz="1600">
                <a:solidFill>
                  <a:srgbClr val="333333"/>
                </a:solidFill>
              </a:rPr>
              <a:t>** : -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2027 - Année 2 : Expansion 3 Pays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Production Mensuelle (Stabilisation)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Mois</a:t>
            </a:r>
            <a:r>
              <a:rPr sz="1600">
                <a:solidFill>
                  <a:srgbClr val="333333"/>
                </a:solidFill>
              </a:rPr>
              <a:t> : Produits Actifs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Janvier</a:t>
            </a:r>
            <a:r>
              <a:rPr sz="1600">
                <a:solidFill>
                  <a:srgbClr val="333333"/>
                </a:solidFill>
              </a:rPr>
              <a:t>** : 35,000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Février</a:t>
            </a:r>
            <a:r>
              <a:rPr sz="1600">
                <a:solidFill>
                  <a:srgbClr val="333333"/>
                </a:solidFill>
              </a:rPr>
              <a:t>** : 40,000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Mars</a:t>
            </a:r>
            <a:r>
              <a:rPr sz="1600">
                <a:solidFill>
                  <a:srgbClr val="333333"/>
                </a:solidFill>
              </a:rPr>
              <a:t>** : 50,000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Avril</a:t>
            </a:r>
            <a:r>
              <a:rPr sz="1600">
                <a:solidFill>
                  <a:srgbClr val="333333"/>
                </a:solidFill>
              </a:rPr>
              <a:t>** : 60,000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Mai</a:t>
            </a:r>
            <a:r>
              <a:rPr sz="1600">
                <a:solidFill>
                  <a:srgbClr val="333333"/>
                </a:solidFill>
              </a:rPr>
              <a:t>** : 70,000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Juin</a:t>
            </a:r>
            <a:r>
              <a:rPr sz="1600">
                <a:solidFill>
                  <a:srgbClr val="333333"/>
                </a:solidFill>
              </a:rPr>
              <a:t>** : 80,000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Juillet</a:t>
            </a:r>
            <a:r>
              <a:rPr sz="1600">
                <a:solidFill>
                  <a:srgbClr val="333333"/>
                </a:solidFill>
              </a:rPr>
              <a:t>** : 90,000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Août</a:t>
            </a:r>
            <a:r>
              <a:rPr sz="1600">
                <a:solidFill>
                  <a:srgbClr val="333333"/>
                </a:solidFill>
              </a:rPr>
              <a:t>** : 100,000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Septembre</a:t>
            </a:r>
            <a:r>
              <a:rPr sz="1600">
                <a:solidFill>
                  <a:srgbClr val="333333"/>
                </a:solidFill>
              </a:rPr>
              <a:t>** : 110,000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Octobre</a:t>
            </a:r>
            <a:r>
              <a:rPr sz="1600">
                <a:solidFill>
                  <a:srgbClr val="333333"/>
                </a:solidFill>
              </a:rPr>
              <a:t>** : 115,000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Novembre</a:t>
            </a:r>
            <a:r>
              <a:rPr sz="1600">
                <a:solidFill>
                  <a:srgbClr val="333333"/>
                </a:solidFill>
              </a:rPr>
              <a:t>** : 118,000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Décembre</a:t>
            </a:r>
            <a:r>
              <a:rPr sz="1600">
                <a:solidFill>
                  <a:srgbClr val="333333"/>
                </a:solidFill>
              </a:rPr>
              <a:t>** : 120,000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TOTAL</a:t>
            </a:r>
            <a:r>
              <a:rPr sz="1600" b="1">
                <a:solidFill>
                  <a:srgbClr val="003366"/>
                </a:solidFill>
              </a:rPr>
              <a:t> : </a:t>
            </a:r>
            <a:r>
              <a:rPr sz="1600">
                <a:solidFill>
                  <a:srgbClr val="333333"/>
                </a:solidFill>
              </a:rPr>
              <a:t>120,000**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Revenus par Source 2027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Source</a:t>
            </a:r>
            <a:r>
              <a:rPr sz="1600">
                <a:solidFill>
                  <a:srgbClr val="333333"/>
                </a:solidFill>
              </a:rPr>
              <a:t> : Volume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Achat Tokens Produits</a:t>
            </a:r>
            <a:r>
              <a:rPr sz="1600">
                <a:solidFill>
                  <a:srgbClr val="333333"/>
                </a:solidFill>
              </a:rPr>
              <a:t>** : 120,000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Commissions Livraisons</a:t>
            </a:r>
            <a:r>
              <a:rPr sz="1600">
                <a:solidFill>
                  <a:srgbClr val="333333"/>
                </a:solidFill>
              </a:rPr>
              <a:t>** : 3,5M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Commissions Ventes</a:t>
            </a:r>
            <a:r>
              <a:rPr sz="1600">
                <a:solidFill>
                  <a:srgbClr val="333333"/>
                </a:solidFill>
              </a:rPr>
              <a:t>** : 2,5M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Publicité &amp; Vidéos</a:t>
            </a:r>
            <a:r>
              <a:rPr sz="1600">
                <a:solidFill>
                  <a:srgbClr val="333333"/>
                </a:solidFill>
              </a:rPr>
              <a:t>** : -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Services Spécialisés</a:t>
            </a:r>
            <a:r>
              <a:rPr sz="1600">
                <a:solidFill>
                  <a:srgbClr val="333333"/>
                </a:solidFill>
              </a:rPr>
              <a:t>** : 500,000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E-Commerce</a:t>
            </a:r>
            <a:r>
              <a:rPr sz="1600">
                <a:solidFill>
                  <a:srgbClr val="333333"/>
                </a:solidFill>
              </a:rPr>
              <a:t>** : 1,2M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TOTAL</a:t>
            </a:r>
            <a:r>
              <a:rPr sz="1600">
                <a:solidFill>
                  <a:srgbClr val="333333"/>
                </a:solidFill>
              </a:rPr>
              <a:t>** : -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2028 - Année 3 : Expansion Francophone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Production Mensuelle (Croissance Continue)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Mois</a:t>
            </a:r>
            <a:r>
              <a:rPr sz="1600">
                <a:solidFill>
                  <a:srgbClr val="333333"/>
                </a:solidFill>
              </a:rPr>
              <a:t> : Produits Actifs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Janvier</a:t>
            </a:r>
            <a:r>
              <a:rPr sz="1600">
                <a:solidFill>
                  <a:srgbClr val="333333"/>
                </a:solidFill>
              </a:rPr>
              <a:t>** : 130,000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Février</a:t>
            </a:r>
            <a:r>
              <a:rPr sz="1600">
                <a:solidFill>
                  <a:srgbClr val="333333"/>
                </a:solidFill>
              </a:rPr>
              <a:t>** : 150,000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Mars</a:t>
            </a:r>
            <a:r>
              <a:rPr sz="1600">
                <a:solidFill>
                  <a:srgbClr val="333333"/>
                </a:solidFill>
              </a:rPr>
              <a:t>** : 170,000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Avril</a:t>
            </a:r>
            <a:r>
              <a:rPr sz="1600">
                <a:solidFill>
                  <a:srgbClr val="333333"/>
                </a:solidFill>
              </a:rPr>
              <a:t>** : 200,000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Mai</a:t>
            </a:r>
            <a:r>
              <a:rPr sz="1600">
                <a:solidFill>
                  <a:srgbClr val="333333"/>
                </a:solidFill>
              </a:rPr>
              <a:t>** : 230,000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Juin</a:t>
            </a:r>
            <a:r>
              <a:rPr sz="1600">
                <a:solidFill>
                  <a:srgbClr val="333333"/>
                </a:solidFill>
              </a:rPr>
              <a:t>** : 260,000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Juillet</a:t>
            </a:r>
            <a:r>
              <a:rPr sz="1600">
                <a:solidFill>
                  <a:srgbClr val="333333"/>
                </a:solidFill>
              </a:rPr>
              <a:t>** : 290,000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Août</a:t>
            </a:r>
            <a:r>
              <a:rPr sz="1600">
                <a:solidFill>
                  <a:srgbClr val="333333"/>
                </a:solidFill>
              </a:rPr>
              <a:t>** : 320,000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Septembre</a:t>
            </a:r>
            <a:r>
              <a:rPr sz="1600">
                <a:solidFill>
                  <a:srgbClr val="333333"/>
                </a:solidFill>
              </a:rPr>
              <a:t>** : 350,000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Octobre</a:t>
            </a:r>
            <a:r>
              <a:rPr sz="1600">
                <a:solidFill>
                  <a:srgbClr val="333333"/>
                </a:solidFill>
              </a:rPr>
              <a:t>** : 370,000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Novembre</a:t>
            </a:r>
            <a:r>
              <a:rPr sz="1600">
                <a:solidFill>
                  <a:srgbClr val="333333"/>
                </a:solidFill>
              </a:rPr>
              <a:t>** : 385,000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Décembre</a:t>
            </a:r>
            <a:r>
              <a:rPr sz="1600">
                <a:solidFill>
                  <a:srgbClr val="333333"/>
                </a:solidFill>
              </a:rPr>
              <a:t>** : 400,000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TOTAL</a:t>
            </a:r>
            <a:r>
              <a:rPr sz="1600" b="1">
                <a:solidFill>
                  <a:srgbClr val="003366"/>
                </a:solidFill>
              </a:rPr>
              <a:t> : </a:t>
            </a:r>
            <a:r>
              <a:rPr sz="1600">
                <a:solidFill>
                  <a:srgbClr val="333333"/>
                </a:solidFill>
              </a:rPr>
              <a:t>400,000**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Revenus par Source 2028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Source</a:t>
            </a:r>
            <a:r>
              <a:rPr sz="1600">
                <a:solidFill>
                  <a:srgbClr val="333333"/>
                </a:solidFill>
              </a:rPr>
              <a:t> : Volume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Achat Tokens Produits</a:t>
            </a:r>
            <a:r>
              <a:rPr sz="1600">
                <a:solidFill>
                  <a:srgbClr val="333333"/>
                </a:solidFill>
              </a:rPr>
              <a:t>** : 400,000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Commissions Livraisons</a:t>
            </a:r>
            <a:r>
              <a:rPr sz="1600">
                <a:solidFill>
                  <a:srgbClr val="333333"/>
                </a:solidFill>
              </a:rPr>
              <a:t>** : 10M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Commissions Ventes</a:t>
            </a:r>
            <a:r>
              <a:rPr sz="1600">
                <a:solidFill>
                  <a:srgbClr val="333333"/>
                </a:solidFill>
              </a:rPr>
              <a:t>** : 8M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Publicité &amp; Vidéos</a:t>
            </a:r>
            <a:r>
              <a:rPr sz="1600">
                <a:solidFill>
                  <a:srgbClr val="333333"/>
                </a:solidFill>
              </a:rPr>
              <a:t>** : -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Services Spécialisés</a:t>
            </a:r>
            <a:r>
              <a:rPr sz="1600">
                <a:solidFill>
                  <a:srgbClr val="333333"/>
                </a:solidFill>
              </a:rPr>
              <a:t>** : 1,5M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TOTAL</a:t>
            </a:r>
            <a:r>
              <a:rPr sz="1600">
                <a:solidFill>
                  <a:srgbClr val="333333"/>
                </a:solidFill>
              </a:rPr>
              <a:t>** : 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CHARGES DÉTAILLÉES (2026-2028)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2026 - Charges Annuelles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Charges Variables (45% des revenus = 540 millions FCFA)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Poste</a:t>
            </a:r>
            <a:r>
              <a:rPr sz="1600">
                <a:solidFill>
                  <a:srgbClr val="333333"/>
                </a:solidFill>
              </a:rPr>
              <a:t> : Montant (FCFA)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Commissions Coursiers</a:t>
            </a:r>
            <a:r>
              <a:rPr sz="1600">
                <a:solidFill>
                  <a:srgbClr val="333333"/>
                </a:solidFill>
              </a:rPr>
              <a:t>** : 72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Coûts IA</a:t>
            </a:r>
            <a:r>
              <a:rPr sz="1600">
                <a:solidFill>
                  <a:srgbClr val="333333"/>
                </a:solidFill>
              </a:rPr>
              <a:t>** : 80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Frais Transaction</a:t>
            </a:r>
            <a:r>
              <a:rPr sz="1600">
                <a:solidFill>
                  <a:srgbClr val="333333"/>
                </a:solidFill>
              </a:rPr>
              <a:t>** : 36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Support Client</a:t>
            </a:r>
            <a:r>
              <a:rPr sz="1600">
                <a:solidFill>
                  <a:srgbClr val="333333"/>
                </a:solidFill>
              </a:rPr>
              <a:t>** : 48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Marketing Performance</a:t>
            </a:r>
            <a:r>
              <a:rPr sz="1600">
                <a:solidFill>
                  <a:srgbClr val="333333"/>
                </a:solidFill>
              </a:rPr>
              <a:t>** : 200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Autres Variables</a:t>
            </a:r>
            <a:r>
              <a:rPr sz="1600">
                <a:solidFill>
                  <a:srgbClr val="333333"/>
                </a:solidFill>
              </a:rPr>
              <a:t>** : 104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TOTAL VARIABLES</a:t>
            </a:r>
            <a:r>
              <a:rPr sz="1600" b="1">
                <a:solidFill>
                  <a:srgbClr val="003366"/>
                </a:solidFill>
              </a:rPr>
              <a:t> : </a:t>
            </a:r>
            <a:r>
              <a:rPr sz="1600">
                <a:solidFill>
                  <a:srgbClr val="333333"/>
                </a:solidFill>
              </a:rPr>
              <a:t>540 millions**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Charges Fixes (71% des revenus = 860 millions FCFA)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Poste</a:t>
            </a:r>
            <a:r>
              <a:rPr sz="1600">
                <a:solidFill>
                  <a:srgbClr val="333333"/>
                </a:solidFill>
              </a:rPr>
              <a:t> : Montant (FCFA)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Personnel</a:t>
            </a:r>
            <a:r>
              <a:rPr sz="1600">
                <a:solidFill>
                  <a:srgbClr val="333333"/>
                </a:solidFill>
              </a:rPr>
              <a:t>** : 60-120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Infrastructure Cloud</a:t>
            </a:r>
            <a:r>
              <a:rPr sz="1600">
                <a:solidFill>
                  <a:srgbClr val="333333"/>
                </a:solidFill>
              </a:rPr>
              <a:t>** : 96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Marketing Fixe</a:t>
            </a:r>
            <a:r>
              <a:rPr sz="1600">
                <a:solidFill>
                  <a:srgbClr val="333333"/>
                </a:solidFill>
              </a:rPr>
              <a:t>** : 72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Bureaux</a:t>
            </a:r>
            <a:r>
              <a:rPr sz="1600">
                <a:solidFill>
                  <a:srgbClr val="333333"/>
                </a:solidFill>
              </a:rPr>
              <a:t>** : 36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Légal &amp; Admin</a:t>
            </a:r>
            <a:r>
              <a:rPr sz="1600">
                <a:solidFill>
                  <a:srgbClr val="333333"/>
                </a:solidFill>
              </a:rPr>
              <a:t>** : 24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Outils &amp; Licences</a:t>
            </a:r>
            <a:r>
              <a:rPr sz="1600">
                <a:solidFill>
                  <a:srgbClr val="333333"/>
                </a:solidFill>
              </a:rPr>
              <a:t>** : 32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TOTAL FIXES</a:t>
            </a:r>
            <a:r>
              <a:rPr sz="1600" b="1">
                <a:solidFill>
                  <a:srgbClr val="003366"/>
                </a:solidFill>
              </a:rPr>
              <a:t> : </a:t>
            </a:r>
            <a:r>
              <a:rPr sz="1600">
                <a:solidFill>
                  <a:srgbClr val="333333"/>
                </a:solidFill>
              </a:rPr>
              <a:t>860 millions**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Total Charges 2026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Charges totaux</a:t>
            </a:r>
            <a:r>
              <a:rPr sz="1600">
                <a:solidFill>
                  <a:srgbClr val="333333"/>
                </a:solidFill>
              </a:rPr>
              <a:t> : 1,4 milliard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EBITDA</a:t>
            </a:r>
            <a:r>
              <a:rPr sz="1600">
                <a:solidFill>
                  <a:srgbClr val="333333"/>
                </a:solidFill>
              </a:rPr>
              <a:t> : -200 millions FCFA (investissement croissance)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Marge brute</a:t>
            </a:r>
            <a:r>
              <a:rPr sz="1600">
                <a:solidFill>
                  <a:srgbClr val="333333"/>
                </a:solidFill>
              </a:rPr>
              <a:t> : 55% (revenus - coûts variables)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Burn rate mensuel</a:t>
            </a:r>
            <a:r>
              <a:rPr sz="1600">
                <a:solidFill>
                  <a:srgbClr val="333333"/>
                </a:solidFill>
              </a:rPr>
              <a:t> : 117 millions FCFA (moyenne)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2027 - Charges Annuelles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Charges Variables (42% des revenus = 2,73 milliards FCFA)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Poste</a:t>
            </a:r>
            <a:r>
              <a:rPr sz="1600">
                <a:solidFill>
                  <a:srgbClr val="333333"/>
                </a:solidFill>
              </a:rPr>
              <a:t> : Montant (FCFA)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Commissions Coursiers</a:t>
            </a:r>
            <a:r>
              <a:rPr sz="1600">
                <a:solidFill>
                  <a:srgbClr val="333333"/>
                </a:solidFill>
              </a:rPr>
              <a:t>** : 315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Coûts IA</a:t>
            </a:r>
            <a:r>
              <a:rPr sz="1600">
                <a:solidFill>
                  <a:srgbClr val="333333"/>
                </a:solidFill>
              </a:rPr>
              <a:t>** : 325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Frais Transaction</a:t>
            </a:r>
            <a:r>
              <a:rPr sz="1600">
                <a:solidFill>
                  <a:srgbClr val="333333"/>
                </a:solidFill>
              </a:rPr>
              <a:t>** : 198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Support Client</a:t>
            </a:r>
            <a:r>
              <a:rPr sz="1600">
                <a:solidFill>
                  <a:srgbClr val="333333"/>
                </a:solidFill>
              </a:rPr>
              <a:t>** : 260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Marketing Performance</a:t>
            </a:r>
            <a:r>
              <a:rPr sz="1600">
                <a:solidFill>
                  <a:srgbClr val="333333"/>
                </a:solidFill>
              </a:rPr>
              <a:t>** : 1,3 milliard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Autres Variables</a:t>
            </a:r>
            <a:r>
              <a:rPr sz="1600">
                <a:solidFill>
                  <a:srgbClr val="333333"/>
                </a:solidFill>
              </a:rPr>
              <a:t>** : 332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TOTAL VARIABLES</a:t>
            </a:r>
            <a:r>
              <a:rPr sz="1600" b="1">
                <a:solidFill>
                  <a:srgbClr val="003366"/>
                </a:solidFill>
              </a:rPr>
              <a:t> : </a:t>
            </a:r>
            <a:r>
              <a:rPr sz="1600">
                <a:solidFill>
                  <a:srgbClr val="333333"/>
                </a:solidFill>
              </a:rPr>
              <a:t>2,73 milliards**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Charges Fixes (48% des revenus = 3,12 milliards FCFA)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Poste</a:t>
            </a:r>
            <a:r>
              <a:rPr sz="1600">
                <a:solidFill>
                  <a:srgbClr val="333333"/>
                </a:solidFill>
              </a:rPr>
              <a:t> : Montant (FCFA)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Personnel</a:t>
            </a:r>
            <a:r>
              <a:rPr sz="1600">
                <a:solidFill>
                  <a:srgbClr val="333333"/>
                </a:solidFill>
              </a:rPr>
              <a:t>** : 1,2-1,8 milliards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Infrastructure Cloud</a:t>
            </a:r>
            <a:r>
              <a:rPr sz="1600">
                <a:solidFill>
                  <a:srgbClr val="333333"/>
                </a:solidFill>
              </a:rPr>
              <a:t>** : 520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Marketing Fixe</a:t>
            </a:r>
            <a:r>
              <a:rPr sz="1600">
                <a:solidFill>
                  <a:srgbClr val="333333"/>
                </a:solidFill>
              </a:rPr>
              <a:t>** : 390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Bureaux</a:t>
            </a:r>
            <a:r>
              <a:rPr sz="1600">
                <a:solidFill>
                  <a:srgbClr val="333333"/>
                </a:solidFill>
              </a:rPr>
              <a:t>** : 195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Légal &amp; Admin</a:t>
            </a:r>
            <a:r>
              <a:rPr sz="1600">
                <a:solidFill>
                  <a:srgbClr val="333333"/>
                </a:solidFill>
              </a:rPr>
              <a:t>** : 130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Outils &amp; Licences</a:t>
            </a:r>
            <a:r>
              <a:rPr sz="1600">
                <a:solidFill>
                  <a:srgbClr val="333333"/>
                </a:solidFill>
              </a:rPr>
              <a:t>** : 485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TOTAL FIXES</a:t>
            </a:r>
            <a:r>
              <a:rPr sz="1600" b="1">
                <a:solidFill>
                  <a:srgbClr val="003366"/>
                </a:solidFill>
              </a:rPr>
              <a:t> : </a:t>
            </a:r>
            <a:r>
              <a:rPr sz="1600">
                <a:solidFill>
                  <a:srgbClr val="333333"/>
                </a:solidFill>
              </a:rPr>
              <a:t>3,12 milliards**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Total Charges 2027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Charges totaux</a:t>
            </a:r>
            <a:r>
              <a:rPr sz="1600">
                <a:solidFill>
                  <a:srgbClr val="333333"/>
                </a:solidFill>
              </a:rPr>
              <a:t> : 5,85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EBITDA</a:t>
            </a:r>
            <a:r>
              <a:rPr sz="1600">
                <a:solidFill>
                  <a:srgbClr val="333333"/>
                </a:solidFill>
              </a:rPr>
              <a:t> : +650 millions FCFA (10% marge)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Marge brute</a:t>
            </a:r>
            <a:r>
              <a:rPr sz="1600">
                <a:solidFill>
                  <a:srgbClr val="333333"/>
                </a:solidFill>
              </a:rPr>
              <a:t> : 58%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Burn rate mensuel</a:t>
            </a:r>
            <a:r>
              <a:rPr sz="1600">
                <a:solidFill>
                  <a:srgbClr val="333333"/>
                </a:solidFill>
              </a:rPr>
              <a:t> : 488 millions FCFA (moyenne)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2028 - Charges Annuelles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Charges Variables (40% des revenus = 7,2 milliards FCFA)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Poste</a:t>
            </a:r>
            <a:r>
              <a:rPr sz="1600">
                <a:solidFill>
                  <a:srgbClr val="333333"/>
                </a:solidFill>
              </a:rPr>
              <a:t> : Montant (FCFA)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Commissions Coursiers</a:t>
            </a:r>
            <a:r>
              <a:rPr sz="1600">
                <a:solidFill>
                  <a:srgbClr val="333333"/>
                </a:solidFill>
              </a:rPr>
              <a:t>** : 900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Coûts IA</a:t>
            </a:r>
            <a:r>
              <a:rPr sz="1600">
                <a:solidFill>
                  <a:srgbClr val="333333"/>
                </a:solidFill>
              </a:rPr>
              <a:t>** : 900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Frais Transaction</a:t>
            </a:r>
            <a:r>
              <a:rPr sz="1600">
                <a:solidFill>
                  <a:srgbClr val="333333"/>
                </a:solidFill>
              </a:rPr>
              <a:t>** : 582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Support Client</a:t>
            </a:r>
            <a:r>
              <a:rPr sz="1600">
                <a:solidFill>
                  <a:srgbClr val="333333"/>
                </a:solidFill>
              </a:rPr>
              <a:t>** : 720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Marketing Performance</a:t>
            </a:r>
            <a:r>
              <a:rPr sz="1600">
                <a:solidFill>
                  <a:srgbClr val="333333"/>
                </a:solidFill>
              </a:rPr>
              <a:t>** : 3,6 milliards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Autres Variables</a:t>
            </a:r>
            <a:r>
              <a:rPr sz="1600">
                <a:solidFill>
                  <a:srgbClr val="333333"/>
                </a:solidFill>
              </a:rPr>
              <a:t>** : 1,098 milliards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TOTAL VARIABLES</a:t>
            </a:r>
            <a:r>
              <a:rPr sz="1600" b="1">
                <a:solidFill>
                  <a:srgbClr val="003366"/>
                </a:solidFill>
              </a:rPr>
              <a:t> : </a:t>
            </a:r>
            <a:r>
              <a:rPr sz="1600">
                <a:solidFill>
                  <a:srgbClr val="333333"/>
                </a:solidFill>
              </a:rPr>
              <a:t>7,2 milliards**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Charges Fixes (40% des revenus = 7,2 milliards FCFA)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Poste</a:t>
            </a:r>
            <a:r>
              <a:rPr sz="1600">
                <a:solidFill>
                  <a:srgbClr val="333333"/>
                </a:solidFill>
              </a:rPr>
              <a:t> : Montant (FCFA)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Personnel</a:t>
            </a:r>
            <a:r>
              <a:rPr sz="1600">
                <a:solidFill>
                  <a:srgbClr val="333333"/>
                </a:solidFill>
              </a:rPr>
              <a:t>** : 4,5-6 milliards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Infrastructure Cloud</a:t>
            </a:r>
            <a:r>
              <a:rPr sz="1600">
                <a:solidFill>
                  <a:srgbClr val="333333"/>
                </a:solidFill>
              </a:rPr>
              <a:t>** : 1,44 milliard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Marketing Fixe</a:t>
            </a:r>
            <a:r>
              <a:rPr sz="1600">
                <a:solidFill>
                  <a:srgbClr val="333333"/>
                </a:solidFill>
              </a:rPr>
              <a:t>** : 1,08 milliard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Bureaux</a:t>
            </a:r>
            <a:r>
              <a:rPr sz="1600">
                <a:solidFill>
                  <a:srgbClr val="333333"/>
                </a:solidFill>
              </a:rPr>
              <a:t>** : 540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Légal &amp; Admin</a:t>
            </a:r>
            <a:r>
              <a:rPr sz="1600">
                <a:solidFill>
                  <a:srgbClr val="333333"/>
                </a:solidFill>
              </a:rPr>
              <a:t>** : 360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Outils &amp; Licences</a:t>
            </a:r>
            <a:r>
              <a:rPr sz="1600">
                <a:solidFill>
                  <a:srgbClr val="333333"/>
                </a:solidFill>
              </a:rPr>
              <a:t>** : 780 millions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TOTAL FIXES</a:t>
            </a:r>
            <a:r>
              <a:rPr sz="1600" b="1">
                <a:solidFill>
                  <a:srgbClr val="003366"/>
                </a:solidFill>
              </a:rPr>
              <a:t> : </a:t>
            </a:r>
            <a:r>
              <a:rPr sz="1600">
                <a:solidFill>
                  <a:srgbClr val="333333"/>
                </a:solidFill>
              </a:rPr>
              <a:t>7,2 milliards**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Total Charges 2028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Charges totaux</a:t>
            </a:r>
            <a:r>
              <a:rPr sz="1600">
                <a:solidFill>
                  <a:srgbClr val="333333"/>
                </a:solidFill>
              </a:rPr>
              <a:t> : 14,4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EBITDA</a:t>
            </a:r>
            <a:r>
              <a:rPr sz="1600">
                <a:solidFill>
                  <a:srgbClr val="333333"/>
                </a:solidFill>
              </a:rPr>
              <a:t> : +3,6 milliards FCFA (20% marge)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Marge brute</a:t>
            </a:r>
            <a:r>
              <a:rPr sz="1600">
                <a:solidFill>
                  <a:srgbClr val="333333"/>
                </a:solidFill>
              </a:rPr>
              <a:t> : 60%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Burn rate mensuel</a:t>
            </a:r>
            <a:r>
              <a:rPr sz="1600">
                <a:solidFill>
                  <a:srgbClr val="333333"/>
                </a:solidFill>
              </a:rPr>
              <a:t> : 1,2 milliard FCFA (moyenne)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CASH FLOW ET TRÉSORERIE (2026-2028)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2026 - Cash Flow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Entrées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Série A</a:t>
            </a:r>
            <a:r>
              <a:rPr sz="1600">
                <a:solidFill>
                  <a:srgbClr val="333333"/>
                </a:solidFill>
              </a:rPr>
              <a:t> : 2,5 milliards FCFA (réception Q1)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Revenus</a:t>
            </a:r>
            <a:r>
              <a:rPr sz="1600">
                <a:solidFill>
                  <a:srgbClr val="333333"/>
                </a:solidFill>
              </a:rPr>
              <a:t> : 1,2 milliard FCFA (répartis sur 9 mois)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Total Entrées</a:t>
            </a:r>
            <a:r>
              <a:rPr sz="1600">
                <a:solidFill>
                  <a:srgbClr val="333333"/>
                </a:solidFill>
              </a:rPr>
              <a:t> : 3,7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Sorties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Charges</a:t>
            </a:r>
            <a:r>
              <a:rPr sz="1600">
                <a:solidFill>
                  <a:srgbClr val="333333"/>
                </a:solidFill>
              </a:rPr>
              <a:t> : 1,4 milliard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Investissements</a:t>
            </a:r>
            <a:r>
              <a:rPr sz="1600">
                <a:solidFill>
                  <a:srgbClr val="333333"/>
                </a:solidFill>
              </a:rPr>
              <a:t> : 500 millions FCFA (équipement, bureaux)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Total Sorties</a:t>
            </a:r>
            <a:r>
              <a:rPr sz="1600">
                <a:solidFill>
                  <a:srgbClr val="333333"/>
                </a:solidFill>
              </a:rPr>
              <a:t> : 1,9 milliard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Cash Flow Net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Cash Flow</a:t>
            </a:r>
            <a:r>
              <a:rPr sz="1600">
                <a:solidFill>
                  <a:srgbClr val="333333"/>
                </a:solidFill>
              </a:rPr>
              <a:t> : +1,8 milliard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Trésorerie fin 2026</a:t>
            </a:r>
            <a:r>
              <a:rPr sz="1600">
                <a:solidFill>
                  <a:srgbClr val="333333"/>
                </a:solidFill>
              </a:rPr>
              <a:t> : 1,8 milliard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Runway</a:t>
            </a:r>
            <a:r>
              <a:rPr sz="1600">
                <a:solidFill>
                  <a:srgbClr val="333333"/>
                </a:solidFill>
              </a:rPr>
              <a:t> : 15-18 mois (jusqu'à Série B)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2027 - Cash Flow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Entrées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Série B</a:t>
            </a:r>
            <a:r>
              <a:rPr sz="1600">
                <a:solidFill>
                  <a:srgbClr val="333333"/>
                </a:solidFill>
              </a:rPr>
              <a:t> : 8 milliards FCFA (réception Q3)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Revenus</a:t>
            </a:r>
            <a:r>
              <a:rPr sz="1600">
                <a:solidFill>
                  <a:srgbClr val="333333"/>
                </a:solidFill>
              </a:rPr>
              <a:t> : 6,5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Total Entrées</a:t>
            </a:r>
            <a:r>
              <a:rPr sz="1600">
                <a:solidFill>
                  <a:srgbClr val="333333"/>
                </a:solidFill>
              </a:rPr>
              <a:t> : 14,5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Sorties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Charges</a:t>
            </a:r>
            <a:r>
              <a:rPr sz="1600">
                <a:solidFill>
                  <a:srgbClr val="333333"/>
                </a:solidFill>
              </a:rPr>
              <a:t> : 5,85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Investissements</a:t>
            </a:r>
            <a:r>
              <a:rPr sz="1600">
                <a:solidFill>
                  <a:srgbClr val="333333"/>
                </a:solidFill>
              </a:rPr>
              <a:t> : 1,5 milliard FCFA (expansion, bureaux)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Total Sorties</a:t>
            </a:r>
            <a:r>
              <a:rPr sz="1600">
                <a:solidFill>
                  <a:srgbClr val="333333"/>
                </a:solidFill>
              </a:rPr>
              <a:t> : 7,35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Cash Flow Net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Cash Flow</a:t>
            </a:r>
            <a:r>
              <a:rPr sz="1600">
                <a:solidFill>
                  <a:srgbClr val="333333"/>
                </a:solidFill>
              </a:rPr>
              <a:t> : +7,15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Trésorerie fin 2027</a:t>
            </a:r>
            <a:r>
              <a:rPr sz="1600">
                <a:solidFill>
                  <a:srgbClr val="333333"/>
                </a:solidFill>
              </a:rPr>
              <a:t> : 8,95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Runway</a:t>
            </a:r>
            <a:r>
              <a:rPr sz="1600">
                <a:solidFill>
                  <a:srgbClr val="333333"/>
                </a:solidFill>
              </a:rPr>
              <a:t> : 12-15 mois (jusqu'à Série C)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2028 - Cash Flow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Entrées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Série C</a:t>
            </a:r>
            <a:r>
              <a:rPr sz="1600">
                <a:solidFill>
                  <a:srgbClr val="333333"/>
                </a:solidFill>
              </a:rPr>
              <a:t> : 21 milliards FCFA (réception Q2)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Revenus</a:t>
            </a:r>
            <a:r>
              <a:rPr sz="1600">
                <a:solidFill>
                  <a:srgbClr val="333333"/>
                </a:solidFill>
              </a:rPr>
              <a:t> : 18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Total Entrées</a:t>
            </a:r>
            <a:r>
              <a:rPr sz="1600">
                <a:solidFill>
                  <a:srgbClr val="333333"/>
                </a:solidFill>
              </a:rPr>
              <a:t> : 39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Sorties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Charges</a:t>
            </a:r>
            <a:r>
              <a:rPr sz="1600">
                <a:solidFill>
                  <a:srgbClr val="333333"/>
                </a:solidFill>
              </a:rPr>
              <a:t> : 14,4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Investissements</a:t>
            </a:r>
            <a:r>
              <a:rPr sz="1600">
                <a:solidFill>
                  <a:srgbClr val="333333"/>
                </a:solidFill>
              </a:rPr>
              <a:t> : 3 milliards FCFA (expansion massive)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Total Sorties</a:t>
            </a:r>
            <a:r>
              <a:rPr sz="1600">
                <a:solidFill>
                  <a:srgbClr val="333333"/>
                </a:solidFill>
              </a:rPr>
              <a:t> : 17,4 milliards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Cash Flow Net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Cash Flow</a:t>
            </a:r>
            <a:r>
              <a:rPr sz="1600">
                <a:solidFill>
                  <a:srgbClr val="333333"/>
                </a:solidFill>
              </a:rPr>
              <a:t> : +21,6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Trésorerie fin 2028</a:t>
            </a:r>
            <a:r>
              <a:rPr sz="1600">
                <a:solidFill>
                  <a:srgbClr val="333333"/>
                </a:solidFill>
              </a:rPr>
              <a:t> : 30,55 milliards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Runway</a:t>
            </a:r>
            <a:r>
              <a:rPr sz="1600">
                <a:solidFill>
                  <a:srgbClr val="333333"/>
                </a:solidFill>
              </a:rPr>
              <a:t> : 18-24 mois (jusqu'à Série 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TABLEAU DE BORD FINANCIER 3 ANS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Synthèse Annuelle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Année</a:t>
            </a:r>
            <a:r>
              <a:rPr sz="1600">
                <a:solidFill>
                  <a:srgbClr val="333333"/>
                </a:solidFill>
              </a:rPr>
              <a:t> : Revenus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2026</a:t>
            </a:r>
            <a:r>
              <a:rPr sz="1600">
                <a:solidFill>
                  <a:srgbClr val="333333"/>
                </a:solidFill>
              </a:rPr>
              <a:t>** : 1,2 milliard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2027</a:t>
            </a:r>
            <a:r>
              <a:rPr sz="1600">
                <a:solidFill>
                  <a:srgbClr val="333333"/>
                </a:solidFill>
              </a:rPr>
              <a:t>** : 6,5 milliards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2028</a:t>
            </a:r>
            <a:r>
              <a:rPr sz="1600">
                <a:solidFill>
                  <a:srgbClr val="333333"/>
                </a:solidFill>
              </a:rPr>
              <a:t>** : 18 milliards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Ratios Clés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Ratio</a:t>
            </a:r>
            <a:r>
              <a:rPr sz="1600">
                <a:solidFill>
                  <a:srgbClr val="333333"/>
                </a:solidFill>
              </a:rPr>
              <a:t> : 2026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Marge Brute</a:t>
            </a:r>
            <a:r>
              <a:rPr sz="1600">
                <a:solidFill>
                  <a:srgbClr val="333333"/>
                </a:solidFill>
              </a:rPr>
              <a:t>** : 55%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Marge EBITDA</a:t>
            </a:r>
            <a:r>
              <a:rPr sz="1600">
                <a:solidFill>
                  <a:srgbClr val="333333"/>
                </a:solidFill>
              </a:rPr>
              <a:t>** : -17%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Charges/Revenus</a:t>
            </a:r>
            <a:r>
              <a:rPr sz="1600">
                <a:solidFill>
                  <a:srgbClr val="333333"/>
                </a:solidFill>
              </a:rPr>
              <a:t>** : 117%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CAC Payback</a:t>
            </a:r>
            <a:r>
              <a:rPr sz="1600">
                <a:solidFill>
                  <a:srgbClr val="333333"/>
                </a:solidFill>
              </a:rPr>
              <a:t>** : 8-10 mois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LTV/CAC</a:t>
            </a:r>
            <a:r>
              <a:rPr sz="1600">
                <a:solidFill>
                  <a:srgbClr val="333333"/>
                </a:solidFill>
              </a:rPr>
              <a:t>** : 8x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POINTS DE VIGILANCE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2026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Burn rate</a:t>
            </a:r>
            <a:r>
              <a:rPr sz="1600">
                <a:solidFill>
                  <a:srgbClr val="333333"/>
                </a:solidFill>
              </a:rPr>
              <a:t> : 117M FCFA/mois - Surveiller trésorerie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Croissance produits</a:t>
            </a:r>
            <a:r>
              <a:rPr sz="1600">
                <a:solidFill>
                  <a:srgbClr val="333333"/>
                </a:solidFill>
              </a:rPr>
              <a:t> : Objectif 30K - Suivi mensuel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CAC</a:t>
            </a:r>
            <a:r>
              <a:rPr sz="1600">
                <a:solidFill>
                  <a:srgbClr val="333333"/>
                </a:solidFill>
              </a:rPr>
              <a:t> : Maintenir &lt; 5,000 FCFA - Optimisation marketing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2027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Rentabilité</a:t>
            </a:r>
            <a:r>
              <a:rPr sz="1600">
                <a:solidFill>
                  <a:srgbClr val="333333"/>
                </a:solidFill>
              </a:rPr>
              <a:t> : Atteindre EBITDA positif - Objectif Q2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Expansion</a:t>
            </a:r>
            <a:r>
              <a:rPr sz="1600">
                <a:solidFill>
                  <a:srgbClr val="333333"/>
                </a:solidFill>
              </a:rPr>
              <a:t> : 3 pays - Gestion opérationnelle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Scaling</a:t>
            </a:r>
            <a:r>
              <a:rPr sz="1600">
                <a:solidFill>
                  <a:srgbClr val="333333"/>
                </a:solidFill>
              </a:rPr>
              <a:t> : Équipe 80 personnes - Recrutement progressif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2028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Profitabilité</a:t>
            </a:r>
            <a:r>
              <a:rPr sz="1600">
                <a:solidFill>
                  <a:srgbClr val="333333"/>
                </a:solidFill>
              </a:rPr>
              <a:t> : Marge 20% - Optimisation coûts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Expansion</a:t>
            </a:r>
            <a:r>
              <a:rPr sz="1600">
                <a:solidFill>
                  <a:srgbClr val="333333"/>
                </a:solidFill>
              </a:rPr>
              <a:t> : 10+ pays - Gestion complexité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Série C</a:t>
            </a:r>
            <a:r>
              <a:rPr sz="1600">
                <a:solidFill>
                  <a:srgbClr val="333333"/>
                </a:solidFill>
              </a:rPr>
              <a:t> : Préparation Q2 - Validation milestones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RÉFÉRENCES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Sources Données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Paramètres économiques</a:t>
            </a:r>
            <a:r>
              <a:rPr sz="1600">
                <a:solidFill>
                  <a:srgbClr val="333333"/>
                </a:solidFill>
              </a:rPr>
              <a:t> : Basés sur analyse marché local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Benchmarks</a:t>
            </a:r>
            <a:r>
              <a:rPr sz="1600">
                <a:solidFill>
                  <a:srgbClr val="333333"/>
                </a:solidFill>
              </a:rPr>
              <a:t> : Jumia, Glovo, Uber (rapports annuels)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Coûts personnel</a:t>
            </a:r>
            <a:r>
              <a:rPr sz="1600">
                <a:solidFill>
                  <a:srgbClr val="333333"/>
                </a:solidFill>
              </a:rPr>
              <a:t> : Marché local Cameroun/Côte d'Ivoire/Sénégal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Infrastructure</a:t>
            </a:r>
            <a:r>
              <a:rPr sz="1600">
                <a:solidFill>
                  <a:srgbClr val="333333"/>
                </a:solidFill>
              </a:rPr>
              <a:t> : AWS/Render pricing, scaling patterns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Hypothèses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Croissance produits</a:t>
            </a:r>
            <a:r>
              <a:rPr sz="1600">
                <a:solidFill>
                  <a:srgbClr val="333333"/>
                </a:solidFill>
              </a:rPr>
              <a:t> : 15-20% mensuel (réaliste)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Taux rétention</a:t>
            </a:r>
            <a:r>
              <a:rPr sz="1600">
                <a:solidFill>
                  <a:srgbClr val="333333"/>
                </a:solidFill>
              </a:rPr>
              <a:t> : 70% produits actifs après 3 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Saisonnalité</a:t>
            </a:r>
            <a:r>
              <a:rPr sz="1600">
                <a:solidFill>
                  <a:srgbClr val="333333"/>
                </a:solidFill>
              </a:rPr>
              <a:t> : Prise en compte (baisse Q1, pic Q4)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Efficacité opérationnelle</a:t>
            </a:r>
            <a:r>
              <a:rPr sz="1600">
                <a:solidFill>
                  <a:srgbClr val="333333"/>
                </a:solidFill>
              </a:rPr>
              <a:t> : Amélioration progressive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Merci pour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