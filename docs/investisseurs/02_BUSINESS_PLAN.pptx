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02 Business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Document Investisseurs - 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 DES MATIÈRES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[Résumé Exécutif](#résumé-exécutif)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[Description de l'Entreprise](#description-de-lentreprise)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[Analyse de Marché](#analyse-de-marché)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[Modèle Économique](#modèle-économique)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5. [Stratégie Marketing et Ventes](#stratégie-marketing-et-ventes)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6. [Stratégie Opérationnelle](#stratégie-opérationnelle)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7. [Gestion et Organisation](#gestion-et-organisation)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8. [Plan Financier](#plan-financier)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9. [Analyse des Risques](#analyse-des-risques)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10. [Appendices](#appendices)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RÉSUMÉ EXÉCUTIF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1.1 Vision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Yukpomnang est la plateforme technologique de référence en Afrique pour l'accès aux services essentiels, combinant intelligence artificielle, géolocalisation et création de contenu automatisée.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1.2 Mission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Faciliter l'accès aux produits, services et solutions essentielles pour les populations africaines grâce à une technologie innovante et une expérience utilisateur exceptionnelle.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1.3 Objectifs Clés (5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 : Leader au Cameroun avec 500K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 : Présence dans 3 pays (Cameroun, Côte d'Ivoire, Sénégal)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 : Expansion dans 10+ pays francophones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 : Leadership panafricain (20+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 : 108+ milliards FCFA de revenus, position de marché dominante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DESCRIPTION DE L'ENTREPRISE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2.1 Historique et Contexte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Yukpomnang a été développé pour répondre aux défis d'accès aux services en Afrique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Fragmentation des services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Manque de visibilité des commerçants locaux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Difficultés de livraison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Accès limité aux services essentiels (santé, éducation, transport)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2.2 Produits et Services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2.2.1 Livraisons Intelligentes (Point d'Entrée)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 de livraison express</a:t>
            </a:r>
            <a:r>
              <a:rPr sz="1600">
                <a:solidFill>
                  <a:srgbClr val="333333"/>
                </a:solidFill>
              </a:rPr>
              <a:t> : 30-60 minutes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Optimisation de routes</a:t>
            </a:r>
            <a:r>
              <a:rPr sz="1600">
                <a:solidFill>
                  <a:srgbClr val="333333"/>
                </a:solidFill>
              </a:rPr>
              <a:t> : IA pour trajets optimaux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Suivi en temps réel</a:t>
            </a:r>
            <a:r>
              <a:rPr sz="1600">
                <a:solidFill>
                  <a:srgbClr val="333333"/>
                </a:solidFill>
              </a:rPr>
              <a:t> : GPS tracking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Gestion coursiers</a:t>
            </a:r>
            <a:r>
              <a:rPr sz="1600">
                <a:solidFill>
                  <a:srgbClr val="333333"/>
                </a:solidFill>
              </a:rPr>
              <a:t> : Profils, véhicules, évaluations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Multi-colis</a:t>
            </a:r>
            <a:r>
              <a:rPr sz="1600">
                <a:solidFill>
                  <a:srgbClr val="333333"/>
                </a:solidFill>
              </a:rPr>
              <a:t> : Gestion de plusieurs livraisons simultanées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2.2.2 Création Intelligente de Produits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IA générative</a:t>
            </a:r>
            <a:r>
              <a:rPr sz="1600">
                <a:solidFill>
                  <a:srgbClr val="333333"/>
                </a:solidFill>
              </a:rPr>
              <a:t> : Création automatique de fiches produits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Suggestions intelligentes</a:t>
            </a:r>
            <a:r>
              <a:rPr sz="1600">
                <a:solidFill>
                  <a:srgbClr val="333333"/>
                </a:solidFill>
              </a:rPr>
              <a:t> : Catégories, caractéristiques, prix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Optimisation SEO</a:t>
            </a:r>
            <a:r>
              <a:rPr sz="1600">
                <a:solidFill>
                  <a:srgbClr val="333333"/>
                </a:solidFill>
              </a:rPr>
              <a:t> : Descriptions optimisées pour recherche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Multi-langues</a:t>
            </a:r>
            <a:r>
              <a:rPr sz="1600">
                <a:solidFill>
                  <a:srgbClr val="333333"/>
                </a:solidFill>
              </a:rPr>
              <a:t> : Support FR, EN, PT, AR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2.2.3 Recherche de Proximité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Géolocalisation avancée</a:t>
            </a:r>
            <a:r>
              <a:rPr sz="1600">
                <a:solidFill>
                  <a:srgbClr val="333333"/>
                </a:solidFill>
              </a:rPr>
              <a:t> : Recherche par GPS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Filtres intelligents</a:t>
            </a:r>
            <a:r>
              <a:rPr sz="1600">
                <a:solidFill>
                  <a:srgbClr val="333333"/>
                </a:solidFill>
              </a:rPr>
              <a:t> : 25+ catégories, 111+ filtres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Recommandations IA</a:t>
            </a:r>
            <a:r>
              <a:rPr sz="1600">
                <a:solidFill>
                  <a:srgbClr val="333333"/>
                </a:solidFill>
              </a:rPr>
              <a:t> : Basées sur historique et préférences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Comparaison de prix</a:t>
            </a:r>
            <a:r>
              <a:rPr sz="1600">
                <a:solidFill>
                  <a:srgbClr val="333333"/>
                </a:solidFill>
              </a:rPr>
              <a:t> : Analyse concurrentielle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2.2.4 Création de Vidéos Publicitaires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Génération automatisée</a:t>
            </a:r>
            <a:r>
              <a:rPr sz="1600">
                <a:solidFill>
                  <a:srgbClr val="333333"/>
                </a:solidFill>
              </a:rPr>
              <a:t> : Vidéos TikTok/Reels-like en minutes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Templates professionnels</a:t>
            </a:r>
            <a:r>
              <a:rPr sz="1600">
                <a:solidFill>
                  <a:srgbClr val="333333"/>
                </a:solidFill>
              </a:rPr>
              <a:t> : 50+ templates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IA audio</a:t>
            </a:r>
            <a:r>
              <a:rPr sz="1600">
                <a:solidFill>
                  <a:srgbClr val="333333"/>
                </a:solidFill>
              </a:rPr>
              <a:t> : Synchronisation musique et beats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Effets avancés</a:t>
            </a:r>
            <a:r>
              <a:rPr sz="1600">
                <a:solidFill>
                  <a:srgbClr val="333333"/>
                </a:solidFill>
              </a:rPr>
              <a:t> : Transitions, stickers, animations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Export multi-formats</a:t>
            </a:r>
            <a:r>
              <a:rPr sz="1600">
                <a:solidFill>
                  <a:srgbClr val="333333"/>
                </a:solidFill>
              </a:rPr>
              <a:t> : Optimisé pour réseaux sociaux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2.2.5 Services Spécialisés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Recherche de pharmacies, hôpitaux, laboratoires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Prise de rendez-vous en ligne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Livraison de médicaments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Téléconsultation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Recherche d'écoles, centres de formation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Inscription en ligne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Ressources éducatives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Tutorat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Taxi et covoiturage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Réservation de billets de bus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Location de véhicules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Planification de trajets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Recherche de logements (vente, location)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Visites virtuelles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Documentation légale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Services de déménagement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Planification hebdomadaire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Réservation de services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Suivi des tâches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Évaluation des prestataires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2.2.6 E-Commerce Supermarchés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Catalogue de produits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Commandes en ligne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Livraison programmée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Gestion de panier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Paiements sécurisés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2.3 Les Deux Problématiques Critiques que Nous Résolvons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PROBLÉMATIQUE #1 : L'INVISIBILITÉ DIGITALE DES COMMERCES LOCAUX AFRICAINS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En Afrique, </a:t>
            </a:r>
            <a:r>
              <a:rPr sz="1600" b="1">
                <a:solidFill>
                  <a:srgbClr val="003366"/>
                </a:solidFill>
              </a:rPr>
              <a:t>85% des commerces locaux</a:t>
            </a:r>
            <a:r>
              <a:rPr sz="1600">
                <a:solidFill>
                  <a:srgbClr val="333333"/>
                </a:solidFill>
              </a:rPr>
              <a:t> (petits commerces, pharmacies, restaurants, services) n'ont </a:t>
            </a:r>
            <a:r>
              <a:rPr sz="1600" b="1">
                <a:solidFill>
                  <a:srgbClr val="003366"/>
                </a:solidFill>
              </a:rPr>
              <a:t>aucune présence digitale</a:t>
            </a:r>
            <a:r>
              <a:rPr sz="1600">
                <a:solidFill>
                  <a:srgbClr val="333333"/>
                </a:solidFill>
              </a:rPr>
              <a:t>. Ces commerces représentent pourtant </a:t>
            </a:r>
            <a:r>
              <a:rPr sz="1600" b="1">
                <a:solidFill>
                  <a:srgbClr val="003366"/>
                </a:solidFill>
              </a:rPr>
              <a:t>70% de l'économie informelle</a:t>
            </a:r>
            <a:r>
              <a:rPr sz="1600">
                <a:solidFill>
                  <a:srgbClr val="333333"/>
                </a:solidFill>
              </a:rPr>
              <a:t> et génèrent des milliards de FCFA, mais restent </a:t>
            </a:r>
            <a:r>
              <a:rPr sz="1600" b="1">
                <a:solidFill>
                  <a:srgbClr val="003366"/>
                </a:solidFill>
              </a:rPr>
              <a:t>invisibles</a:t>
            </a:r>
            <a:r>
              <a:rPr sz="1600">
                <a:solidFill>
                  <a:srgbClr val="333333"/>
                </a:solidFill>
              </a:rPr>
              <a:t> pour les consommateurs qui cherchent leurs produits et services.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Perte de revenus</a:t>
            </a:r>
            <a:r>
              <a:rPr sz="1600">
                <a:solidFill>
                  <a:srgbClr val="333333"/>
                </a:solidFill>
              </a:rPr>
              <a:t> : 30-40% du chiffre d'affaires potentiel perdu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marketing inaccessibles</a:t>
            </a:r>
            <a:r>
              <a:rPr sz="1600">
                <a:solidFill>
                  <a:srgbClr val="333333"/>
                </a:solidFill>
              </a:rPr>
              <a:t> : Site web (500K-2M FCFA), Vidéo (200K-1M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Fracture digitale</a:t>
            </a:r>
            <a:r>
              <a:rPr sz="1600">
                <a:solidFill>
                  <a:srgbClr val="333333"/>
                </a:solidFill>
              </a:rPr>
              <a:t> : Seuls les grands groupes peuvent se permettre une présence digitale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Découverte impossible</a:t>
            </a:r>
            <a:r>
              <a:rPr sz="1600">
                <a:solidFill>
                  <a:srgbClr val="333333"/>
                </a:solidFill>
              </a:rPr>
              <a:t> : Consommateurs ne trouvent pas les commerces, même à proximité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Création Automatique de Présence Digitale</a:t>
            </a:r>
            <a:r>
              <a:rPr sz="1600">
                <a:solidFill>
                  <a:srgbClr val="333333"/>
                </a:solidFill>
              </a:rPr>
              <a:t> : En 5 minutes, fiche complète avec IA - </a:t>
            </a:r>
            <a:r>
              <a:rPr sz="1600" b="1">
                <a:solidFill>
                  <a:srgbClr val="003366"/>
                </a:solidFill>
              </a:rPr>
              <a:t>GRATUIT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Génération Vidéo Publicitaire Automatisée</a:t>
            </a:r>
            <a:r>
              <a:rPr sz="1600">
                <a:solidFill>
                  <a:srgbClr val="333333"/>
                </a:solidFill>
              </a:rPr>
              <a:t> : Vidéos TikTok/Reels-like en 2 minutes - </a:t>
            </a:r>
            <a:r>
              <a:rPr sz="1600" b="1">
                <a:solidFill>
                  <a:srgbClr val="003366"/>
                </a:solidFill>
              </a:rPr>
              <a:t>15K-30K FCFA</a:t>
            </a:r>
            <a:r>
              <a:rPr sz="1600">
                <a:solidFill>
                  <a:srgbClr val="333333"/>
                </a:solidFill>
              </a:rPr>
              <a:t> (vs 200K-1M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Visibilité Géolocalisée</a:t>
            </a:r>
            <a:r>
              <a:rPr sz="1600">
                <a:solidFill>
                  <a:srgbClr val="333333"/>
                </a:solidFill>
              </a:rPr>
              <a:t> : Apparition automatique dans recherches de proximité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Outils Marketing Accessibles</a:t>
            </a:r>
            <a:r>
              <a:rPr sz="1600">
                <a:solidFill>
                  <a:srgbClr val="333333"/>
                </a:solidFill>
              </a:rPr>
              <a:t> : Promotion, offres, analytics à portée de tous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85% des commerces locaux</a:t>
            </a:r>
            <a:r>
              <a:rPr sz="1600">
                <a:solidFill>
                  <a:srgbClr val="333333"/>
                </a:solidFill>
              </a:rPr>
              <a:t> peuvent enfin avoir une présence digitale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Réduction de 90% des coûts marketing</a:t>
            </a:r>
            <a:r>
              <a:rPr sz="1600">
                <a:solidFill>
                  <a:srgbClr val="333333"/>
                </a:solidFill>
              </a:rPr>
              <a:t> (de 1M FCFA à 100K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Augmentation de 25-35% du chiffre d'affaires</a:t>
            </a:r>
            <a:r>
              <a:rPr sz="1600">
                <a:solidFill>
                  <a:srgbClr val="333333"/>
                </a:solidFill>
              </a:rPr>
              <a:t> pour commerces actifs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de millions d'emplois</a:t>
            </a:r>
            <a:r>
              <a:rPr sz="1600">
                <a:solidFill>
                  <a:srgbClr val="333333"/>
                </a:solidFill>
              </a:rPr>
              <a:t> dans l'économie digitale locale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PROBLÉMATIQUE #2 : LA FRACTURE D'ACCÈS AUX SERVICES ESSENTIELS EN AFRIQUE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L'accès aux services essentiels (santé, éducation, transport, immobilier, aide ménagère) est </a:t>
            </a:r>
            <a:r>
              <a:rPr sz="1600" b="1">
                <a:solidFill>
                  <a:srgbClr val="003366"/>
                </a:solidFill>
              </a:rPr>
              <a:t>fragmenté, coûteux et inefficace</a:t>
            </a:r>
            <a:r>
              <a:rPr sz="1600">
                <a:solidFill>
                  <a:srgbClr val="333333"/>
                </a:solidFill>
              </a:rPr>
              <a:t>. Les populations doivent utiliser </a:t>
            </a:r>
            <a:r>
              <a:rPr sz="1600" b="1">
                <a:solidFill>
                  <a:srgbClr val="003366"/>
                </a:solidFill>
              </a:rPr>
              <a:t>5-10 applications différentes</a:t>
            </a:r>
            <a:r>
              <a:rPr sz="1600">
                <a:solidFill>
                  <a:srgbClr val="333333"/>
                </a:solidFill>
              </a:rPr>
              <a:t> pour répondre à leurs besoins quotidiens, avec des </a:t>
            </a:r>
            <a:r>
              <a:rPr sz="1600" b="1">
                <a:solidFill>
                  <a:srgbClr val="003366"/>
                </a:solidFill>
              </a:rPr>
              <a:t>coûts de recherche et déplacement</a:t>
            </a:r>
            <a:r>
              <a:rPr sz="1600">
                <a:solidFill>
                  <a:srgbClr val="333333"/>
                </a:solidFill>
              </a:rPr>
              <a:t> représentant </a:t>
            </a:r>
            <a:r>
              <a:rPr sz="1600" b="1">
                <a:solidFill>
                  <a:srgbClr val="003366"/>
                </a:solidFill>
              </a:rPr>
              <a:t>15-25% de leur budget mensuel</a:t>
            </a:r>
            <a:r>
              <a:rPr sz="1600">
                <a:solidFill>
                  <a:srgbClr val="333333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Fragmentation extrême</a:t>
            </a:r>
            <a:r>
              <a:rPr sz="1600">
                <a:solidFill>
                  <a:srgbClr val="333333"/>
                </a:solidFill>
              </a:rPr>
              <a:t> : Chaque besoin = app différente = perte de temps, confusion, coûts multiples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cachés énormes</a:t>
            </a:r>
            <a:r>
              <a:rPr sz="1600">
                <a:solidFill>
                  <a:srgbClr val="333333"/>
                </a:solidFill>
              </a:rPr>
              <a:t> : Recherche + déplacements = </a:t>
            </a:r>
            <a:r>
              <a:rPr sz="1600" b="1">
                <a:solidFill>
                  <a:srgbClr val="003366"/>
                </a:solidFill>
              </a:rPr>
              <a:t>50K-150K FCFA/mois</a:t>
            </a:r>
            <a:r>
              <a:rPr sz="1600">
                <a:solidFill>
                  <a:srgbClr val="333333"/>
                </a:solidFill>
              </a:rPr>
              <a:t> par ménage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Accessibilité limitée</a:t>
            </a:r>
            <a:r>
              <a:rPr sz="1600">
                <a:solidFill>
                  <a:srgbClr val="333333"/>
                </a:solidFill>
              </a:rPr>
              <a:t> : Services difficiles à trouver, surtout zones périurbaines/rurales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Barrières linguistiques</a:t>
            </a:r>
            <a:r>
              <a:rPr sz="1600">
                <a:solidFill>
                  <a:srgbClr val="333333"/>
                </a:solidFill>
              </a:rPr>
              <a:t> : 60% de la population exclue (langues locales non supportées)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Manque de transparence</a:t>
            </a:r>
            <a:r>
              <a:rPr sz="1600">
                <a:solidFill>
                  <a:srgbClr val="333333"/>
                </a:solidFill>
              </a:rPr>
              <a:t> : Prix, disponibilité, qualité = information opaque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Une Seule App pour Tous les Besoins</a:t>
            </a:r>
            <a:r>
              <a:rPr sz="1600">
                <a:solidFill>
                  <a:srgbClr val="333333"/>
                </a:solidFill>
              </a:rPr>
              <a:t> : Livraisons, santé, éducation, transport, immobilier, aide ménagère, e-commerce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Géolocalisation Intelligente</a:t>
            </a:r>
            <a:r>
              <a:rPr sz="1600">
                <a:solidFill>
                  <a:srgbClr val="333333"/>
                </a:solidFill>
              </a:rPr>
              <a:t> : Trouver les services les plus proches en temps réel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Accessibilité Multilingue</a:t>
            </a:r>
            <a:r>
              <a:rPr sz="1600">
                <a:solidFill>
                  <a:srgbClr val="333333"/>
                </a:solidFill>
              </a:rPr>
              <a:t> : Support de </a:t>
            </a:r>
            <a:r>
              <a:rPr sz="1600" b="1">
                <a:solidFill>
                  <a:srgbClr val="003366"/>
                </a:solidFill>
              </a:rPr>
              <a:t>15+ langues africaines</a:t>
            </a:r>
            <a:r>
              <a:rPr sz="1600">
                <a:solidFill>
                  <a:srgbClr val="333333"/>
                </a:solidFill>
              </a:rPr>
              <a:t> + français, anglais, arabe, portugais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Transparence Totale</a:t>
            </a:r>
            <a:r>
              <a:rPr sz="1600">
                <a:solidFill>
                  <a:srgbClr val="333333"/>
                </a:solidFill>
              </a:rPr>
              <a:t> : Prix, disponibilité, avis, temps d'attente en temps réel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5. </a:t>
            </a:r>
            <a:r>
              <a:rPr sz="1600" b="1">
                <a:solidFill>
                  <a:srgbClr val="003366"/>
                </a:solidFill>
              </a:rPr>
              <a:t>Réduction des Coûts</a:t>
            </a:r>
            <a:r>
              <a:rPr sz="1600">
                <a:solidFill>
                  <a:srgbClr val="333333"/>
                </a:solidFill>
              </a:rPr>
              <a:t> : </a:t>
            </a:r>
            <a:r>
              <a:rPr sz="1600" b="1">
                <a:solidFill>
                  <a:srgbClr val="003366"/>
                </a:solidFill>
              </a:rPr>
              <a:t>Économie de 40-60%</a:t>
            </a:r>
            <a:r>
              <a:rPr sz="1600">
                <a:solidFill>
                  <a:srgbClr val="333333"/>
                </a:solidFill>
              </a:rPr>
              <a:t> sur recherche et déplacement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Réduction de 50% du temps</a:t>
            </a:r>
            <a:r>
              <a:rPr sz="1600">
                <a:solidFill>
                  <a:srgbClr val="333333"/>
                </a:solidFill>
              </a:rPr>
              <a:t> passé à chercher des services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Économie de 40-60%</a:t>
            </a:r>
            <a:r>
              <a:rPr sz="1600">
                <a:solidFill>
                  <a:srgbClr val="333333"/>
                </a:solidFill>
              </a:rPr>
              <a:t> sur coûts recherche/déplacement (50K-90K FCFA/mois économisés)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Accessibilité pour 100% de la population</a:t>
            </a:r>
            <a:r>
              <a:rPr sz="1600">
                <a:solidFill>
                  <a:srgbClr val="333333"/>
                </a:solidFill>
              </a:rPr>
              <a:t> grâce au multilingue et accessibilité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Amélioration qualité de vie</a:t>
            </a:r>
            <a:r>
              <a:rPr sz="1600">
                <a:solidFill>
                  <a:srgbClr val="333333"/>
                </a:solidFill>
              </a:rPr>
              <a:t> : Accès facilité = meilleure santé, éducation, logement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2.4 Différenciation Concurrentielle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Avantages Techniques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IA Propriétaire</a:t>
            </a:r>
            <a:r>
              <a:rPr sz="1600">
                <a:solidFill>
                  <a:srgbClr val="333333"/>
                </a:solidFill>
              </a:rPr>
              <a:t> : Algorithmes de création et recommandation uniques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Performance</a:t>
            </a:r>
            <a:r>
              <a:rPr sz="1600">
                <a:solidFill>
                  <a:srgbClr val="333333"/>
                </a:solidFill>
              </a:rPr>
              <a:t> : Backend Rust (10x plus rapide que Node.js)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Scalabilité</a:t>
            </a:r>
            <a:r>
              <a:rPr sz="1600">
                <a:solidFill>
                  <a:srgbClr val="333333"/>
                </a:solidFill>
              </a:rPr>
              <a:t> : Architecture cloud-native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Multi-plateformes</a:t>
            </a:r>
            <a:r>
              <a:rPr sz="1600">
                <a:solidFill>
                  <a:srgbClr val="333333"/>
                </a:solidFill>
              </a:rPr>
              <a:t> : Web, iOS, Android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Avantages Business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Écosystème Intégré</a:t>
            </a:r>
            <a:r>
              <a:rPr sz="1600">
                <a:solidFill>
                  <a:srgbClr val="333333"/>
                </a:solidFill>
              </a:rPr>
              <a:t> : Tous services dans une app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Network Effects</a:t>
            </a:r>
            <a:r>
              <a:rPr sz="1600">
                <a:solidFill>
                  <a:srgbClr val="333333"/>
                </a:solidFill>
              </a:rPr>
              <a:t> : Plus d'utilisateurs = plus de valeur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Première Mover</a:t>
            </a:r>
            <a:r>
              <a:rPr sz="1600">
                <a:solidFill>
                  <a:srgbClr val="333333"/>
                </a:solidFill>
              </a:rPr>
              <a:t> : Avantage sur géants internationaux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Localisation</a:t>
            </a:r>
            <a:r>
              <a:rPr sz="1600">
                <a:solidFill>
                  <a:srgbClr val="333333"/>
                </a:solidFill>
              </a:rPr>
              <a:t> : Compréhension profonde du marché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ANALYSE DE MARCHÉ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3.1 Taille du Marché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Marché Total Adressable (TAM)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E-commerce Afrique</a:t>
            </a:r>
            <a:r>
              <a:rPr sz="1600">
                <a:solidFill>
                  <a:srgbClr val="333333"/>
                </a:solidFill>
              </a:rPr>
              <a:t> : 45 billions FCFA (2026) → 90 billions FCFA 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 de livraison</a:t>
            </a:r>
            <a:r>
              <a:rPr sz="1600">
                <a:solidFill>
                  <a:srgbClr val="333333"/>
                </a:solidFill>
              </a:rPr>
              <a:t> : 7,2 billions FCFA → 15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 de santé</a:t>
            </a:r>
            <a:r>
              <a:rPr sz="1600">
                <a:solidFill>
                  <a:srgbClr val="333333"/>
                </a:solidFill>
              </a:rPr>
              <a:t> : 15 billions FCFA → 30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Transport</a:t>
            </a:r>
            <a:r>
              <a:rPr sz="1600">
                <a:solidFill>
                  <a:srgbClr val="333333"/>
                </a:solidFill>
              </a:rPr>
              <a:t> : 10,8 billions FCFA → 21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Immobilier</a:t>
            </a:r>
            <a:r>
              <a:rPr sz="1600">
                <a:solidFill>
                  <a:srgbClr val="333333"/>
                </a:solidFill>
              </a:rPr>
              <a:t> : 12 billions FCFA → 24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 TAM</a:t>
            </a:r>
            <a:r>
              <a:rPr sz="1600">
                <a:solidFill>
                  <a:srgbClr val="333333"/>
                </a:solidFill>
              </a:rPr>
              <a:t> : 90+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Marché Adressable Serviceable (SAM)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Cameroun</a:t>
            </a:r>
            <a:r>
              <a:rPr sz="1600">
                <a:solidFill>
                  <a:srgbClr val="333333"/>
                </a:solidFill>
              </a:rPr>
              <a:t> : 4,8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Côte d'Ivoire</a:t>
            </a:r>
            <a:r>
              <a:rPr sz="1600">
                <a:solidFill>
                  <a:srgbClr val="333333"/>
                </a:solidFill>
              </a:rPr>
              <a:t> : 7,2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Sénégal</a:t>
            </a:r>
            <a:r>
              <a:rPr sz="1600">
                <a:solidFill>
                  <a:srgbClr val="333333"/>
                </a:solidFill>
              </a:rPr>
              <a:t> : 3,6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Autres pays francophones</a:t>
            </a:r>
            <a:r>
              <a:rPr sz="1600">
                <a:solidFill>
                  <a:srgbClr val="333333"/>
                </a:solidFill>
              </a:rPr>
              <a:t> : 11,4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 SAM</a:t>
            </a:r>
            <a:r>
              <a:rPr sz="1600">
                <a:solidFill>
                  <a:srgbClr val="333333"/>
                </a:solidFill>
              </a:rPr>
              <a:t> : 27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Marché Obtenable (SOM) - 5 ans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 de marché réaliste</a:t>
            </a:r>
            <a:r>
              <a:rPr sz="1600">
                <a:solidFill>
                  <a:srgbClr val="333333"/>
                </a:solidFill>
              </a:rPr>
              <a:t> : 5-6%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SOM 5 ans</a:t>
            </a:r>
            <a:r>
              <a:rPr sz="1600">
                <a:solidFill>
                  <a:srgbClr val="333333"/>
                </a:solidFill>
              </a:rPr>
              <a:t> : 1,5 billion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 2030</a:t>
            </a:r>
            <a:r>
              <a:rPr sz="1600">
                <a:solidFill>
                  <a:srgbClr val="333333"/>
                </a:solidFill>
              </a:rPr>
              <a:t> : 108+ milliards FCFA de 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3.2 Croissance du Marché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Tendances Clés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Pénétration mobile</a:t>
            </a:r>
            <a:r>
              <a:rPr sz="1600">
                <a:solidFill>
                  <a:srgbClr val="333333"/>
                </a:solidFill>
              </a:rPr>
              <a:t> : 80%+ (croissance 5-8%/an)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Adoption fintech</a:t>
            </a:r>
            <a:r>
              <a:rPr sz="1600">
                <a:solidFill>
                  <a:srgbClr val="333333"/>
                </a:solidFill>
              </a:rPr>
              <a:t> : 25-30% de croissance annuelle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 : 20-25% de croissance annuelle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 on-demand</a:t>
            </a:r>
            <a:r>
              <a:rPr sz="1600">
                <a:solidFill>
                  <a:srgbClr val="333333"/>
                </a:solidFill>
              </a:rPr>
              <a:t> : 30-40% de croissance annuelle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Facteurs de Croissance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Digitalisation accélérée</a:t>
            </a:r>
            <a:r>
              <a:rPr sz="1600">
                <a:solidFill>
                  <a:srgbClr val="333333"/>
                </a:solidFill>
              </a:rPr>
              <a:t> post-COVID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Croissance démographique</a:t>
            </a:r>
            <a:r>
              <a:rPr sz="1600">
                <a:solidFill>
                  <a:srgbClr val="333333"/>
                </a:solidFill>
              </a:rPr>
              <a:t> : 2.5%+/an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Classe moyenne émergente</a:t>
            </a:r>
            <a:r>
              <a:rPr sz="1600">
                <a:solidFill>
                  <a:srgbClr val="333333"/>
                </a:solidFill>
              </a:rPr>
              <a:t> : +15M/an en Afrique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Infrastructure mobile</a:t>
            </a:r>
            <a:r>
              <a:rPr sz="1600">
                <a:solidFill>
                  <a:srgbClr val="333333"/>
                </a:solidFill>
              </a:rPr>
              <a:t> : 4G/5G en expansion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3.3 Analyse Concurrentielle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Concurrents Directs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Jumia</a:t>
            </a:r>
            <a:r>
              <a:rPr sz="1600">
                <a:solidFill>
                  <a:srgbClr val="333333"/>
                </a:solidFill>
              </a:rPr>
              <a:t> (E-commerce)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Forces : Brand, infrastructure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Faiblesses : Focus e-commerce uniquement, pas de services intégrés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Glovo/Uber Eats</a:t>
            </a:r>
            <a:r>
              <a:rPr sz="1600">
                <a:solidFill>
                  <a:srgbClr val="333333"/>
                </a:solidFill>
              </a:rPr>
              <a:t> (Livraison)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Forces : Expérience, capital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Faiblesses : Pas de services multi-secteurs, prix élevés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Bolt/Uber</a:t>
            </a:r>
            <a:r>
              <a:rPr sz="1600">
                <a:solidFill>
                  <a:srgbClr val="333333"/>
                </a:solidFill>
              </a:rPr>
              <a:t> (Transport)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Forces : Réseau établi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Faiblesses : Focus transport uniquement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Concurrents Indirects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Marketplaces locales fragmentées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Services gouvernementaux traditionnels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Commerces physiques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Avantage Concurrentiel Yukpomnang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Intégration multi-secteurs</a:t>
            </a:r>
            <a:r>
              <a:rPr sz="1600">
                <a:solidFill>
                  <a:srgbClr val="333333"/>
                </a:solidFill>
              </a:rPr>
              <a:t> : Unique sur le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IA avancée</a:t>
            </a:r>
            <a:r>
              <a:rPr sz="1600">
                <a:solidFill>
                  <a:srgbClr val="333333"/>
                </a:solidFill>
              </a:rPr>
              <a:t> : Création et recommandation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Prix compétitifs</a:t>
            </a:r>
            <a:r>
              <a:rPr sz="1600">
                <a:solidFill>
                  <a:srgbClr val="333333"/>
                </a:solidFill>
              </a:rPr>
              <a:t> : Modèle optimisé pour Afrique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Localisation</a:t>
            </a:r>
            <a:r>
              <a:rPr sz="1600">
                <a:solidFill>
                  <a:srgbClr val="333333"/>
                </a:solidFill>
              </a:rPr>
              <a:t> : Compréhension marché local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3.4 Segmentation de Marché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Cibles Primaires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18-45 ans</a:t>
            </a:r>
            <a:r>
              <a:rPr sz="1600">
                <a:solidFill>
                  <a:srgbClr val="333333"/>
                </a:solidFill>
              </a:rPr>
              <a:t> : 65%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Urbains</a:t>
            </a:r>
            <a:r>
              <a:rPr sz="1600">
                <a:solidFill>
                  <a:srgbClr val="333333"/>
                </a:solidFill>
              </a:rPr>
              <a:t> : 70% (Yaoundé, Douala, Abidjan, Dakar)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Classe moyenne</a:t>
            </a:r>
            <a:r>
              <a:rPr sz="1600">
                <a:solidFill>
                  <a:srgbClr val="333333"/>
                </a:solidFill>
              </a:rPr>
              <a:t> : Revenus 300,000-1,200,000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Tech-savvy</a:t>
            </a:r>
            <a:r>
              <a:rPr sz="1600">
                <a:solidFill>
                  <a:srgbClr val="333333"/>
                </a:solidFill>
              </a:rPr>
              <a:t> : Utilisateurs smartphones actifs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PME locales</a:t>
            </a:r>
            <a:r>
              <a:rPr sz="1600">
                <a:solidFill>
                  <a:srgbClr val="333333"/>
                </a:solidFill>
              </a:rPr>
              <a:t> : 80% du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Commerces de proximité</a:t>
            </a:r>
            <a:r>
              <a:rPr sz="1600">
                <a:solidFill>
                  <a:srgbClr val="333333"/>
                </a:solidFill>
              </a:rPr>
              <a:t> : Pharmacies, épiceries, restaurants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Prestataires de services</a:t>
            </a:r>
            <a:r>
              <a:rPr sz="1600">
                <a:solidFill>
                  <a:srgbClr val="333333"/>
                </a:solidFill>
              </a:rPr>
              <a:t> : Coursiers, artisans, professionnels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 de visibilité</a:t>
            </a:r>
            <a:r>
              <a:rPr sz="1600">
                <a:solidFill>
                  <a:srgbClr val="333333"/>
                </a:solidFill>
              </a:rPr>
              <a:t> : Digitalisation nécessaire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Cibles Secondaires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Institutions publiques (santé, éducation)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Grandes entreprises (B2B)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Investisseurs et partenaires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MODÈLE ÉCONOMIQUE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4.1 Sources de 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4.1.1 Commissions sur Livraisons (30-35% des revenus)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 transaction</a:t>
            </a:r>
            <a:r>
              <a:rPr sz="1600">
                <a:solidFill>
                  <a:srgbClr val="333333"/>
                </a:solidFill>
              </a:rPr>
              <a:t> : 15-20% du montant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Frais de service coursiers</a:t>
            </a:r>
            <a:r>
              <a:rPr sz="1600">
                <a:solidFill>
                  <a:srgbClr val="333333"/>
                </a:solidFill>
              </a:rPr>
              <a:t> : 10-15% de leur revenu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Frais express</a:t>
            </a:r>
            <a:r>
              <a:rPr sz="1600">
                <a:solidFill>
                  <a:srgbClr val="333333"/>
                </a:solidFill>
              </a:rPr>
              <a:t> : +5-10% pour livraisons &lt;30min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450 millions FCFA-525 millions FCFA- </a:t>
            </a:r>
            <a:r>
              <a:rPr sz="1600" b="1">
                <a:solidFill>
                  <a:srgbClr val="003366"/>
                </a:solidFill>
              </a:rPr>
              <a:t>Projection 2027</a:t>
            </a:r>
            <a:r>
              <a:rPr sz="1600">
                <a:solidFill>
                  <a:srgbClr val="333333"/>
                </a:solidFill>
              </a:rPr>
              <a:t> : 2.2 billions FCFA-2.5 billions FCFA#### 4.1.2 Publicité et Promotion (25-30% des revenus)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vidéos publicitaires</a:t>
            </a:r>
            <a:r>
              <a:rPr sz="1600">
                <a:solidFill>
                  <a:srgbClr val="333333"/>
                </a:solidFill>
              </a:rPr>
              <a:t> : 30K FCFA-120K FCFA/vidéo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Placement publicitaire</a:t>
            </a:r>
            <a:r>
              <a:rPr sz="1600">
                <a:solidFill>
                  <a:srgbClr val="333333"/>
                </a:solidFill>
              </a:rPr>
              <a:t> : 300K FCFA-3 millions FCFA/mois selon visibilité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Promotion produits</a:t>
            </a:r>
            <a:r>
              <a:rPr sz="1600">
                <a:solidFill>
                  <a:srgbClr val="333333"/>
                </a:solidFill>
              </a:rPr>
              <a:t> : 5-10% du montant promotion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375 millions FCFA-450 millions FCFA- </a:t>
            </a:r>
            <a:r>
              <a:rPr sz="1600" b="1">
                <a:solidFill>
                  <a:srgbClr val="003366"/>
                </a:solidFill>
              </a:rPr>
              <a:t>Projection 2027</a:t>
            </a:r>
            <a:r>
              <a:rPr sz="1600">
                <a:solidFill>
                  <a:srgbClr val="333333"/>
                </a:solidFill>
              </a:rPr>
              <a:t> : 1.8 billions FCFA-2.2 billions FCFA#### 4.1.3 Achat de Tokens (15-20% des revenus)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Yukpomnang utilise un </a:t>
            </a:r>
            <a:r>
              <a:rPr sz="1600" b="1">
                <a:solidFill>
                  <a:srgbClr val="003366"/>
                </a:solidFill>
              </a:rPr>
              <a:t>système de tokens</a:t>
            </a:r>
            <a:r>
              <a:rPr sz="1600">
                <a:solidFill>
                  <a:srgbClr val="333333"/>
                </a:solidFill>
              </a:rPr>
              <a:t> où les commerçants achètent des tokens pour utiliser les fonctionnalités de la plateforme :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Modèle</a:t>
            </a:r>
            <a:r>
              <a:rPr sz="1600">
                <a:solidFill>
                  <a:srgbClr val="333333"/>
                </a:solidFill>
              </a:rPr>
              <a:t> : Pay-per-use (pas d'abonnement mensuel)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Achat de tokens</a:t>
            </a:r>
            <a:r>
              <a:rPr sz="1600">
                <a:solidFill>
                  <a:srgbClr val="333333"/>
                </a:solidFill>
              </a:rPr>
              <a:t> : Les commerçants achètent des tokens selon leurs besoins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Utilisation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de produits/services (consommation selon complexité)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Maintien en ligne des produits (débit continu pour visibilité)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Actions supplémentaires (clics, promotions, mises à jour)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Équivalence</a:t>
            </a:r>
            <a:r>
              <a:rPr sz="1600">
                <a:solidFill>
                  <a:srgbClr val="333333"/>
                </a:solidFill>
              </a:rPr>
              <a:t> : 1 FCFA = 1 token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moyen équivalent</a:t>
            </a:r>
            <a:r>
              <a:rPr sz="1600">
                <a:solidFill>
                  <a:srgbClr val="333333"/>
                </a:solidFill>
              </a:rPr>
              <a:t> : ~2,000 FCFA/mois par produit/service actif (basé sur utilisation moyenne)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Avantages</a:t>
            </a:r>
            <a:r>
              <a:rPr sz="1600">
                <a:solidFill>
                  <a:srgbClr val="333333"/>
                </a:solidFill>
              </a:rPr>
              <a:t> : Flexibilité totale, pas d'engagement, paiement selon usage réel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Commerçants</a:t>
            </a:r>
            <a:r>
              <a:rPr sz="1600">
                <a:solidFill>
                  <a:srgbClr val="333333"/>
                </a:solidFill>
              </a:rPr>
              <a:t> : 17K FCFA-59K FCFA/mois selon plan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Fonctionnalités IA avancées</a:t>
            </a:r>
            <a:r>
              <a:rPr sz="1600">
                <a:solidFill>
                  <a:srgbClr val="333333"/>
                </a:solidFill>
              </a:rPr>
              <a:t> : 29K FCFA-119K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Analytics et insights</a:t>
            </a:r>
            <a:r>
              <a:rPr sz="1600">
                <a:solidFill>
                  <a:srgbClr val="333333"/>
                </a:solidFill>
              </a:rPr>
              <a:t> : 59K FCFA-179K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225 millions FCFA-300 millions FCFA- </a:t>
            </a:r>
            <a:r>
              <a:rPr sz="1600" b="1">
                <a:solidFill>
                  <a:srgbClr val="003366"/>
                </a:solidFill>
              </a:rPr>
              <a:t>Projection 2027</a:t>
            </a:r>
            <a:r>
              <a:rPr sz="1600">
                <a:solidFill>
                  <a:srgbClr val="333333"/>
                </a:solidFill>
              </a:rPr>
              <a:t> : 1.1 billions FCFA-1.4 billions FCFA#### 4.1.4 Services Spécialisés (10-15% des revenus)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 santé</a:t>
            </a:r>
            <a:r>
              <a:rPr sz="1600">
                <a:solidFill>
                  <a:srgbClr val="333333"/>
                </a:solidFill>
              </a:rPr>
              <a:t> : 8-12% par transaction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 éducation</a:t>
            </a:r>
            <a:r>
              <a:rPr sz="1600">
                <a:solidFill>
                  <a:srgbClr val="333333"/>
                </a:solidFill>
              </a:rPr>
              <a:t> : 10-15% par inscription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 transport</a:t>
            </a:r>
            <a:r>
              <a:rPr sz="1600">
                <a:solidFill>
                  <a:srgbClr val="333333"/>
                </a:solidFill>
              </a:rPr>
              <a:t> : 12-18% par trajet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 immobilier</a:t>
            </a:r>
            <a:r>
              <a:rPr sz="1600">
                <a:solidFill>
                  <a:srgbClr val="333333"/>
                </a:solidFill>
              </a:rPr>
              <a:t> : 2-5% par transaction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Aide ménagère</a:t>
            </a:r>
            <a:r>
              <a:rPr sz="1600">
                <a:solidFill>
                  <a:srgbClr val="333333"/>
                </a:solidFill>
              </a:rPr>
              <a:t> : 15-20% par service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150 millions FCFA-225 millions FCFA- </a:t>
            </a:r>
            <a:r>
              <a:rPr sz="1600" b="1">
                <a:solidFill>
                  <a:srgbClr val="003366"/>
                </a:solidFill>
              </a:rPr>
              <a:t>Projection 2027</a:t>
            </a:r>
            <a:r>
              <a:rPr sz="1600">
                <a:solidFill>
                  <a:srgbClr val="333333"/>
                </a:solidFill>
              </a:rPr>
              <a:t> : 720 millions FCFA-1.1 billions FCFA#### 4.1.5 E-Commerce (10-15% des revenus)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 supermarchés</a:t>
            </a:r>
            <a:r>
              <a:rPr sz="1600">
                <a:solidFill>
                  <a:srgbClr val="333333"/>
                </a:solidFill>
              </a:rPr>
              <a:t> : 8-12% par vente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Frais de transaction</a:t>
            </a:r>
            <a:r>
              <a:rPr sz="1600">
                <a:solidFill>
                  <a:srgbClr val="333333"/>
                </a:solidFill>
              </a:rPr>
              <a:t> : 2-3% du montant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Achat de tokens pour partenaires</a:t>
            </a:r>
            <a:r>
              <a:rPr sz="1600">
                <a:solidFill>
                  <a:srgbClr val="333333"/>
                </a:solidFill>
              </a:rPr>
              <a:t> : Équivalent 119K FCFA-299K FCFA/mois selon utilisation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150 millions FCFA-225 millions FCFA- </a:t>
            </a:r>
            <a:r>
              <a:rPr sz="1600" b="1">
                <a:solidFill>
                  <a:srgbClr val="003366"/>
                </a:solidFill>
              </a:rPr>
              <a:t>Projection 2027</a:t>
            </a:r>
            <a:r>
              <a:rPr sz="1600">
                <a:solidFill>
                  <a:srgbClr val="333333"/>
                </a:solidFill>
              </a:rPr>
              <a:t> : 720 millions FCFA-1.1 billions FCFA### 4.2 Structure des Coûts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Variables (40-45% des revenus)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 coursiers</a:t>
            </a:r>
            <a:r>
              <a:rPr sz="1600">
                <a:solidFill>
                  <a:srgbClr val="333333"/>
                </a:solidFill>
              </a:rPr>
              <a:t> : 60-70% des revenus livraison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IA</a:t>
            </a:r>
            <a:r>
              <a:rPr sz="1600">
                <a:solidFill>
                  <a:srgbClr val="333333"/>
                </a:solidFill>
              </a:rPr>
              <a:t> : 5-8% des revenus (OpenAI, embeddings)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Frais de transaction</a:t>
            </a:r>
            <a:r>
              <a:rPr sz="1600">
                <a:solidFill>
                  <a:srgbClr val="333333"/>
                </a:solidFill>
              </a:rPr>
              <a:t> : 2-3% (paiements)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 : 3-5% des 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Coûts Fixes (35-40% des revenus)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 : 25-30% des 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 : 5-8% (cloud, serveurs)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</a:t>
            </a:r>
            <a:r>
              <a:rPr sz="1600">
                <a:solidFill>
                  <a:srgbClr val="333333"/>
                </a:solidFill>
              </a:rPr>
              <a:t> : 8-12% des 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 : 2-3% des 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Autres</a:t>
            </a:r>
            <a:r>
              <a:rPr sz="1600">
                <a:solidFill>
                  <a:srgbClr val="333333"/>
                </a:solidFill>
              </a:rPr>
              <a:t> : 2-3% (assurances, légal, etc.)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4.3 Projections de Rentabilité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2026 (Cameroun)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1.5 billions FCFA- </a:t>
            </a:r>
            <a:r>
              <a:rPr sz="1600" b="1">
                <a:solidFill>
                  <a:srgbClr val="003366"/>
                </a:solidFill>
              </a:rPr>
              <a:t>Coûts</a:t>
            </a:r>
            <a:r>
              <a:rPr sz="1600">
                <a:solidFill>
                  <a:srgbClr val="333333"/>
                </a:solidFill>
              </a:rPr>
              <a:t> : 1.7 billions FCFA- </a:t>
            </a: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-180 millions FCFA(investissement croissance)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2027 (3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7.2 billions FCFA- </a:t>
            </a:r>
            <a:r>
              <a:rPr sz="1600" b="1">
                <a:solidFill>
                  <a:srgbClr val="003366"/>
                </a:solidFill>
              </a:rPr>
              <a:t>Coûts</a:t>
            </a:r>
            <a:r>
              <a:rPr sz="1600">
                <a:solidFill>
                  <a:srgbClr val="333333"/>
                </a:solidFill>
              </a:rPr>
              <a:t> : 6.5 billions FCFA- </a:t>
            </a: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+720 millions FCFA(10% marge)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2028 (10+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21.0 billions FCFA- </a:t>
            </a:r>
            <a:r>
              <a:rPr sz="1600" b="1">
                <a:solidFill>
                  <a:srgbClr val="003366"/>
                </a:solidFill>
              </a:rPr>
              <a:t>Coûts</a:t>
            </a:r>
            <a:r>
              <a:rPr sz="1600">
                <a:solidFill>
                  <a:srgbClr val="333333"/>
                </a:solidFill>
              </a:rPr>
              <a:t> : 16.8 billions FCFA- </a:t>
            </a: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+4.2 billions FCFA(20% marge)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2029 (20+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51.0 billions FCFA- </a:t>
            </a:r>
            <a:r>
              <a:rPr sz="1600" b="1">
                <a:solidFill>
                  <a:srgbClr val="003366"/>
                </a:solidFill>
              </a:rPr>
              <a:t>Coûts</a:t>
            </a:r>
            <a:r>
              <a:rPr sz="1600">
                <a:solidFill>
                  <a:srgbClr val="333333"/>
                </a:solidFill>
              </a:rPr>
              <a:t> : 38.2 billions FCFA- </a:t>
            </a: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+12.8 billions FCFA(25% marge)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STRATÉGIE MARKETING ET VENTES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5.1 Stratégie de Lancement (Cameroun 2026)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Phase 1 : Pré-Lancement (Q1 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Beta testeurs</a:t>
            </a:r>
            <a:r>
              <a:rPr sz="1600">
                <a:solidFill>
                  <a:srgbClr val="333333"/>
                </a:solidFill>
              </a:rPr>
              <a:t> : 1000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Partenariats stratégiques</a:t>
            </a:r>
            <a:r>
              <a:rPr sz="1600">
                <a:solidFill>
                  <a:srgbClr val="333333"/>
                </a:solidFill>
              </a:rPr>
              <a:t> : 50 commerçants pilotes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Influenceurs locaux</a:t>
            </a:r>
            <a:r>
              <a:rPr sz="1600">
                <a:solidFill>
                  <a:srgbClr val="333333"/>
                </a:solidFill>
              </a:rPr>
              <a:t> : 20-30 micro-influenceurs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Médias</a:t>
            </a:r>
            <a:r>
              <a:rPr sz="1600">
                <a:solidFill>
                  <a:srgbClr val="333333"/>
                </a:solidFill>
              </a:rPr>
              <a:t> : Relations presse, communiqués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Phase 2 : Lancement Officiel (Q2 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Événement de lancement</a:t>
            </a:r>
            <a:r>
              <a:rPr sz="1600">
                <a:solidFill>
                  <a:srgbClr val="333333"/>
                </a:solidFill>
              </a:rPr>
              <a:t> : Yaoundé et Douala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Campagne digitale</a:t>
            </a:r>
            <a:r>
              <a:rPr sz="1600">
                <a:solidFill>
                  <a:srgbClr val="333333"/>
                </a:solidFill>
              </a:rPr>
              <a:t> : Facebook, Instagram, TikTok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local</a:t>
            </a:r>
            <a:r>
              <a:rPr sz="1600">
                <a:solidFill>
                  <a:srgbClr val="333333"/>
                </a:solidFill>
              </a:rPr>
              <a:t> : Radio, affichage, événements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Programme de parrainage</a:t>
            </a:r>
            <a:r>
              <a:rPr sz="1600">
                <a:solidFill>
                  <a:srgbClr val="333333"/>
                </a:solidFill>
              </a:rPr>
              <a:t> : Récompenses utilisateurs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Phase 3 : Croissance (Q3-Q4 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Expansion géographique</a:t>
            </a:r>
            <a:r>
              <a:rPr sz="1600">
                <a:solidFill>
                  <a:srgbClr val="333333"/>
                </a:solidFill>
              </a:rPr>
              <a:t> : Autres villes camerounaises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performance</a:t>
            </a:r>
            <a:r>
              <a:rPr sz="1600">
                <a:solidFill>
                  <a:srgbClr val="333333"/>
                </a:solidFill>
              </a:rPr>
              <a:t> : Optimisation CAC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Partenariats B2B</a:t>
            </a:r>
            <a:r>
              <a:rPr sz="1600">
                <a:solidFill>
                  <a:srgbClr val="333333"/>
                </a:solidFill>
              </a:rPr>
              <a:t> : Supermarchés, pharmacies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Programmes fidélité</a:t>
            </a:r>
            <a:r>
              <a:rPr sz="1600">
                <a:solidFill>
                  <a:srgbClr val="333333"/>
                </a:solidFill>
              </a:rPr>
              <a:t> : Points, réductions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5.2 Canaux d'Acquisition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Digital (60-70% du budget)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Réseaux sociaux</a:t>
            </a:r>
            <a:r>
              <a:rPr sz="1600">
                <a:solidFill>
                  <a:srgbClr val="333333"/>
                </a:solidFill>
              </a:rPr>
              <a:t> : Facebook Ads, Instagram, TikTok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Google Ads</a:t>
            </a:r>
            <a:r>
              <a:rPr sz="1600">
                <a:solidFill>
                  <a:srgbClr val="333333"/>
                </a:solidFill>
              </a:rPr>
              <a:t> : Recherche, Display, YouTube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Influenceurs</a:t>
            </a:r>
            <a:r>
              <a:rPr sz="1600">
                <a:solidFill>
                  <a:srgbClr val="333333"/>
                </a:solidFill>
              </a:rPr>
              <a:t> : Micro et macro-influenceurs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Content Marketing</a:t>
            </a:r>
            <a:r>
              <a:rPr sz="1600">
                <a:solidFill>
                  <a:srgbClr val="333333"/>
                </a:solidFill>
              </a:rPr>
              <a:t> : Blog, SEO, vidéos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Offline (20-25% du budget)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Événements</a:t>
            </a:r>
            <a:r>
              <a:rPr sz="1600">
                <a:solidFill>
                  <a:srgbClr val="333333"/>
                </a:solidFill>
              </a:rPr>
              <a:t> : Salons, conférences, foires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Partenariats locaux</a:t>
            </a:r>
            <a:r>
              <a:rPr sz="1600">
                <a:solidFill>
                  <a:srgbClr val="333333"/>
                </a:solidFill>
              </a:rPr>
              <a:t> : Commerces, institutions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de rue</a:t>
            </a:r>
            <a:r>
              <a:rPr sz="1600">
                <a:solidFill>
                  <a:srgbClr val="333333"/>
                </a:solidFill>
              </a:rPr>
              <a:t> : Distribution flyers, affichage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Radio/TV</a:t>
            </a:r>
            <a:r>
              <a:rPr sz="1600">
                <a:solidFill>
                  <a:srgbClr val="333333"/>
                </a:solidFill>
              </a:rPr>
              <a:t> : Spots publicitaires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Référencement (10-15% du budget)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Programme de parrainage</a:t>
            </a:r>
            <a:r>
              <a:rPr sz="1600">
                <a:solidFill>
                  <a:srgbClr val="333333"/>
                </a:solidFill>
              </a:rPr>
              <a:t> : 3K FCFA-10 par nouveau utilisateur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Récompenses utilisateurs</a:t>
            </a:r>
            <a:r>
              <a:rPr sz="1600">
                <a:solidFill>
                  <a:srgbClr val="333333"/>
                </a:solidFill>
              </a:rPr>
              <a:t> : Points, réductions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viral</a:t>
            </a:r>
            <a:r>
              <a:rPr sz="1600">
                <a:solidFill>
                  <a:srgbClr val="333333"/>
                </a:solidFill>
              </a:rPr>
              <a:t> : Challenges, concours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5.3 Stratégie de Rétention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Programmes Fidélité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Points de fidélité</a:t>
            </a:r>
            <a:r>
              <a:rPr sz="1600">
                <a:solidFill>
                  <a:srgbClr val="333333"/>
                </a:solidFill>
              </a:rPr>
              <a:t> : 1 point = 6 FCFA- </a:t>
            </a:r>
            <a:r>
              <a:rPr sz="1600" b="1">
                <a:solidFill>
                  <a:srgbClr val="003366"/>
                </a:solidFill>
              </a:rPr>
              <a:t>Niveaux utilisateurs</a:t>
            </a:r>
            <a:r>
              <a:rPr sz="1600">
                <a:solidFill>
                  <a:srgbClr val="333333"/>
                </a:solidFill>
              </a:rPr>
              <a:t> : Bronze, Argent, Or, Platine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Avantages</a:t>
            </a:r>
            <a:r>
              <a:rPr sz="1600">
                <a:solidFill>
                  <a:srgbClr val="333333"/>
                </a:solidFill>
              </a:rPr>
              <a:t> : Réductions, livraisons gratuites, priorité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Engagement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Notifications push</a:t>
            </a:r>
            <a:r>
              <a:rPr sz="1600">
                <a:solidFill>
                  <a:srgbClr val="333333"/>
                </a:solidFill>
              </a:rPr>
              <a:t> : Offres personnalisées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Email marketing</a:t>
            </a:r>
            <a:r>
              <a:rPr sz="1600">
                <a:solidFill>
                  <a:srgbClr val="333333"/>
                </a:solidFill>
              </a:rPr>
              <a:t> : Newsletters, promotions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Gamification</a:t>
            </a:r>
            <a:r>
              <a:rPr sz="1600">
                <a:solidFill>
                  <a:srgbClr val="333333"/>
                </a:solidFill>
              </a:rPr>
              <a:t> : Badges, défis, classements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Support Client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Chat en direct</a:t>
            </a:r>
            <a:r>
              <a:rPr sz="1600">
                <a:solidFill>
                  <a:srgbClr val="333333"/>
                </a:solidFill>
              </a:rPr>
              <a:t> : 24/7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Centre d'aide</a:t>
            </a:r>
            <a:r>
              <a:rPr sz="1600">
                <a:solidFill>
                  <a:srgbClr val="333333"/>
                </a:solidFill>
              </a:rPr>
              <a:t> : FAQ, guides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Communauté</a:t>
            </a:r>
            <a:r>
              <a:rPr sz="1600">
                <a:solidFill>
                  <a:srgbClr val="333333"/>
                </a:solidFill>
              </a:rPr>
              <a:t> : Forums, groupes sociaux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5.4 Stratégie de Pricing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Gratuit</a:t>
            </a:r>
            <a:r>
              <a:rPr sz="1600">
                <a:solidFill>
                  <a:srgbClr val="333333"/>
                </a:solidFill>
              </a:rPr>
              <a:t> : Accès de base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Premium</a:t>
            </a:r>
            <a:r>
              <a:rPr sz="1600">
                <a:solidFill>
                  <a:srgbClr val="333333"/>
                </a:solidFill>
              </a:rPr>
              <a:t> : 2K FCFA/mois (avantages exclusifs)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Commerçants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Starter</a:t>
            </a:r>
            <a:r>
              <a:rPr sz="1600">
                <a:solidFill>
                  <a:srgbClr val="333333"/>
                </a:solidFill>
              </a:rPr>
              <a:t> : Gratuit (commission 20%)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Professional</a:t>
            </a:r>
            <a:r>
              <a:rPr sz="1600">
                <a:solidFill>
                  <a:srgbClr val="333333"/>
                </a:solidFill>
              </a:rPr>
              <a:t> : 17K FCFA/mois (commission 15%)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Enterprise</a:t>
            </a:r>
            <a:r>
              <a:rPr sz="1600">
                <a:solidFill>
                  <a:srgbClr val="333333"/>
                </a:solidFill>
              </a:rPr>
              <a:t> : 59K FCFA/mois (commission 12% + features)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Coursiers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Gratuit</a:t>
            </a:r>
            <a:r>
              <a:rPr sz="1600">
                <a:solidFill>
                  <a:srgbClr val="333333"/>
                </a:solidFill>
              </a:rPr>
              <a:t> : Inscription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</a:t>
            </a:r>
            <a:r>
              <a:rPr sz="1600">
                <a:solidFill>
                  <a:srgbClr val="333333"/>
                </a:solidFill>
              </a:rPr>
              <a:t> : 10-15% selon volume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6. STRATÉGIE OPÉRATIONNELLE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6.1 Infrastructure Technologique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Backend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Langage</a:t>
            </a:r>
            <a:r>
              <a:rPr sz="1600">
                <a:solidFill>
                  <a:srgbClr val="333333"/>
                </a:solidFill>
              </a:rPr>
              <a:t> : Rust (Axum)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Base de données</a:t>
            </a:r>
            <a:r>
              <a:rPr sz="1600">
                <a:solidFill>
                  <a:srgbClr val="333333"/>
                </a:solidFill>
              </a:rPr>
              <a:t> : PostgreSQL (pgvector, imgsmlr)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Cache</a:t>
            </a:r>
            <a:r>
              <a:rPr sz="1600">
                <a:solidFill>
                  <a:srgbClr val="333333"/>
                </a:solidFill>
              </a:rPr>
              <a:t> : Redis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Queue</a:t>
            </a:r>
            <a:r>
              <a:rPr sz="1600">
                <a:solidFill>
                  <a:srgbClr val="333333"/>
                </a:solidFill>
              </a:rPr>
              <a:t> : BullMQ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Cloud</a:t>
            </a:r>
            <a:r>
              <a:rPr sz="1600">
                <a:solidFill>
                  <a:srgbClr val="333333"/>
                </a:solidFill>
              </a:rPr>
              <a:t> : AWS/Render (scalable)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Frontend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Web</a:t>
            </a:r>
            <a:r>
              <a:rPr sz="1600">
                <a:solidFill>
                  <a:srgbClr val="333333"/>
                </a:solidFill>
              </a:rPr>
              <a:t> : React + TypeScript + TailwindCSS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Mobile</a:t>
            </a:r>
            <a:r>
              <a:rPr sz="1600">
                <a:solidFill>
                  <a:srgbClr val="333333"/>
                </a:solidFill>
              </a:rPr>
              <a:t> : React Native (Expo)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IA</a:t>
            </a:r>
            <a:r>
              <a:rPr sz="1600">
                <a:solidFill>
                  <a:srgbClr val="333333"/>
                </a:solidFill>
              </a:rPr>
              <a:t> : OpenAI API, embeddings propriétaires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Vidéo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Génération</a:t>
            </a:r>
            <a:r>
              <a:rPr sz="1600">
                <a:solidFill>
                  <a:srgbClr val="333333"/>
                </a:solidFill>
              </a:rPr>
              <a:t> : Remotion (Docker GPU)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Stockage</a:t>
            </a:r>
            <a:r>
              <a:rPr sz="1600">
                <a:solidFill>
                  <a:srgbClr val="333333"/>
                </a:solidFill>
              </a:rPr>
              <a:t> : S3-compatible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CDN</a:t>
            </a:r>
            <a:r>
              <a:rPr sz="1600">
                <a:solidFill>
                  <a:srgbClr val="333333"/>
                </a:solidFill>
              </a:rPr>
              <a:t> : Cloudflare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6.2 Opérations Livraison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Gestion Coursiers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Recrutement</a:t>
            </a:r>
            <a:r>
              <a:rPr sz="1600">
                <a:solidFill>
                  <a:srgbClr val="333333"/>
                </a:solidFill>
              </a:rPr>
              <a:t> : Processus de vérification (KYC)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Formation</a:t>
            </a:r>
            <a:r>
              <a:rPr sz="1600">
                <a:solidFill>
                  <a:srgbClr val="333333"/>
                </a:solidFill>
              </a:rPr>
              <a:t> : Modules en ligne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Suivi</a:t>
            </a:r>
            <a:r>
              <a:rPr sz="1600">
                <a:solidFill>
                  <a:srgbClr val="333333"/>
                </a:solidFill>
              </a:rPr>
              <a:t> : Dashboard temps réel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Évaluation</a:t>
            </a:r>
            <a:r>
              <a:rPr sz="1600">
                <a:solidFill>
                  <a:srgbClr val="333333"/>
                </a:solidFill>
              </a:rPr>
              <a:t> : Système de ratings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Optimisation Logistique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IA de routing</a:t>
            </a:r>
            <a:r>
              <a:rPr sz="1600">
                <a:solidFill>
                  <a:srgbClr val="333333"/>
                </a:solidFill>
              </a:rPr>
              <a:t> : Trajets optimaux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Groupage</a:t>
            </a:r>
            <a:r>
              <a:rPr sz="1600">
                <a:solidFill>
                  <a:srgbClr val="333333"/>
                </a:solidFill>
              </a:rPr>
              <a:t> : Multi-livraisons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Prédiction</a:t>
            </a:r>
            <a:r>
              <a:rPr sz="1600">
                <a:solidFill>
                  <a:srgbClr val="333333"/>
                </a:solidFill>
              </a:rPr>
              <a:t> : Temps de livraison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6.3 Support Client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Canaux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Chat en app</a:t>
            </a:r>
            <a:r>
              <a:rPr sz="1600">
                <a:solidFill>
                  <a:srgbClr val="333333"/>
                </a:solidFill>
              </a:rPr>
              <a:t> : 24/7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Email</a:t>
            </a:r>
            <a:r>
              <a:rPr sz="1600">
                <a:solidFill>
                  <a:srgbClr val="333333"/>
                </a:solidFill>
              </a:rPr>
              <a:t> : support@yukpomnang.com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Téléphone</a:t>
            </a:r>
            <a:r>
              <a:rPr sz="1600">
                <a:solidFill>
                  <a:srgbClr val="333333"/>
                </a:solidFill>
              </a:rPr>
              <a:t> : Ligne dédiée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Réseaux sociaux</a:t>
            </a:r>
            <a:r>
              <a:rPr sz="1600">
                <a:solidFill>
                  <a:srgbClr val="333333"/>
                </a:solidFill>
              </a:rPr>
              <a:t> : Réponses rapides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Métriques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Temps de réponse</a:t>
            </a:r>
            <a:r>
              <a:rPr sz="1600">
                <a:solidFill>
                  <a:srgbClr val="333333"/>
                </a:solidFill>
              </a:rPr>
              <a:t> : &lt;5 minutes (chat)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résolution</a:t>
            </a:r>
            <a:r>
              <a:rPr sz="1600">
                <a:solidFill>
                  <a:srgbClr val="333333"/>
                </a:solidFill>
              </a:rPr>
              <a:t> : &gt;85% première interaction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Satisfaction</a:t>
            </a:r>
            <a:r>
              <a:rPr sz="1600">
                <a:solidFill>
                  <a:srgbClr val="333333"/>
                </a:solidFill>
              </a:rPr>
              <a:t> : &gt;4.5/5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6.4 Qualité et Sécurité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Sécurité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Authentification</a:t>
            </a:r>
            <a:r>
              <a:rPr sz="1600">
                <a:solidFill>
                  <a:srgbClr val="333333"/>
                </a:solidFill>
              </a:rPr>
              <a:t> : JWT sécurisé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Paiements</a:t>
            </a:r>
            <a:r>
              <a:rPr sz="1600">
                <a:solidFill>
                  <a:srgbClr val="333333"/>
                </a:solidFill>
              </a:rPr>
              <a:t> : PCI-DSS compliant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Données</a:t>
            </a:r>
            <a:r>
              <a:rPr sz="1600">
                <a:solidFill>
                  <a:srgbClr val="333333"/>
                </a:solidFill>
              </a:rPr>
              <a:t> : Chiffrement end-to-end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Conformité</a:t>
            </a:r>
            <a:r>
              <a:rPr sz="1600">
                <a:solidFill>
                  <a:srgbClr val="333333"/>
                </a:solidFill>
              </a:rPr>
              <a:t> : RGPD, lois locales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Qualité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Tests</a:t>
            </a:r>
            <a:r>
              <a:rPr sz="1600">
                <a:solidFill>
                  <a:srgbClr val="333333"/>
                </a:solidFill>
              </a:rPr>
              <a:t> : Automatisés (unitaires, intégration)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Monitoring</a:t>
            </a:r>
            <a:r>
              <a:rPr sz="1600">
                <a:solidFill>
                  <a:srgbClr val="333333"/>
                </a:solidFill>
              </a:rPr>
              <a:t> : 24/7 (logs, métriques)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Backup</a:t>
            </a:r>
            <a:r>
              <a:rPr sz="1600">
                <a:solidFill>
                  <a:srgbClr val="333333"/>
                </a:solidFill>
              </a:rPr>
              <a:t> : Quotidien, réplication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7. GESTION ET ORGANISATION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7.1 Structure Organisationnelle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Direction (2026)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CEO</a:t>
            </a:r>
            <a:r>
              <a:rPr sz="1600">
                <a:solidFill>
                  <a:srgbClr val="333333"/>
                </a:solidFill>
              </a:rPr>
              <a:t> : Vision stratégique, relations investisseurs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CTO</a:t>
            </a:r>
            <a:r>
              <a:rPr sz="1600">
                <a:solidFill>
                  <a:srgbClr val="333333"/>
                </a:solidFill>
              </a:rPr>
              <a:t> : Direction technique, architecture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CFO</a:t>
            </a:r>
            <a:r>
              <a:rPr sz="1600">
                <a:solidFill>
                  <a:srgbClr val="333333"/>
                </a:solidFill>
              </a:rPr>
              <a:t> : Finance, comptabilité, légal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CMO</a:t>
            </a:r>
            <a:r>
              <a:rPr sz="1600">
                <a:solidFill>
                  <a:srgbClr val="333333"/>
                </a:solidFill>
              </a:rPr>
              <a:t> : Marketing, communication, branding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Départements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Fondateur(s)</a:t>
            </a:r>
            <a:r>
              <a:rPr sz="1600">
                <a:solidFill>
                  <a:srgbClr val="333333"/>
                </a:solidFill>
              </a:rPr>
              <a:t> : 1-2 personnes (CTO/CEO)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Agents Commerciaux</a:t>
            </a:r>
            <a:r>
              <a:rPr sz="1600">
                <a:solidFill>
                  <a:srgbClr val="333333"/>
                </a:solidFill>
              </a:rPr>
              <a:t> : 2-3 personnes (PRIORITÉ ABSOLUE)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Acquisition commerçants, onboarding, développement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50-100 commerçants partenaires en Q1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Acquisition commerçants, onboarding, support, expansion géographique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Backend developers (Rust) : 1-2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Frontend developers (React) : 1-2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Mobile developers (React Native) : 1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Chat, email, résolution problèmes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Digital marketing, content creation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client (8-10)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Gestion coursiers (3-4)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Relations partenaires (5-6)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Logistique (2-3)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Backend, Frontend, Mobile, DevOps, QA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Digital, Content, Community, PR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Partenariats B2B, Expansion, Relations commerçants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Comptabilité, RH, Légal, Administration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7.2 Recrutement (2026-2027) - Croissance Progressive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Priorités Q1 2026 (Lancement) - 5 Personnes Maximum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PRIORITÉ ABSOLUE</a:t>
            </a:r>
            <a:r>
              <a:rPr sz="1600">
                <a:solidFill>
                  <a:srgbClr val="333333"/>
                </a:solidFill>
              </a:rPr>
              <a:t> : 2-3 Agents Commerciaux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Acquisition commerçants, onboarding, développement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50-100 commerçants partenaires avant lancement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Fondateur(s) : 1-2 personnes (CTO/CEO)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Développeur essentiel : 1 personne (si nécessaire)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Priorités Q2-Q3 2026 (Extension selon Traction)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PRIORITÉ</a:t>
            </a:r>
            <a:r>
              <a:rPr sz="1600">
                <a:solidFill>
                  <a:srgbClr val="333333"/>
                </a:solidFill>
              </a:rPr>
              <a:t> : Extension Agents Commerciaux (6-8 personnes supplémentaires)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Développeurs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Client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Marketing : 1-2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Priorités Q4 2026 (Croissance)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PRIORITÉ</a:t>
            </a:r>
            <a:r>
              <a:rPr sz="1600">
                <a:solidFill>
                  <a:srgbClr val="333333"/>
                </a:solidFill>
              </a:rPr>
              <a:t> : Agents Commerciaux (total 10-12 personnes)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Développeurs : 2-3 personnes supplémentaires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Client : 2-3 personnes supplémentaires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Marketing : 1-2 personnes supplémentaires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Priorités 2027 (Expansion 3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PRIORITÉ</a:t>
            </a:r>
            <a:r>
              <a:rPr sz="1600">
                <a:solidFill>
                  <a:srgbClr val="333333"/>
                </a:solidFill>
              </a:rPr>
              <a:t> : Agents Commerciaux (20-30 personnes total)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Extension complète tous départements selon besoins expansion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7.3 Culture d'Entreprise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Valeurs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Innovation</a:t>
            </a:r>
            <a:r>
              <a:rPr sz="1600">
                <a:solidFill>
                  <a:srgbClr val="333333"/>
                </a:solidFill>
              </a:rPr>
              <a:t> : Toujours améliorer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</a:t>
            </a:r>
            <a:r>
              <a:rPr sz="1600">
                <a:solidFill>
                  <a:srgbClr val="333333"/>
                </a:solidFill>
              </a:rPr>
              <a:t> : Changer des vies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Excellence</a:t>
            </a:r>
            <a:r>
              <a:rPr sz="1600">
                <a:solidFill>
                  <a:srgbClr val="333333"/>
                </a:solidFill>
              </a:rPr>
              <a:t> : Qualité avant tout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Intégrité</a:t>
            </a:r>
            <a:r>
              <a:rPr sz="1600">
                <a:solidFill>
                  <a:srgbClr val="333333"/>
                </a:solidFill>
              </a:rPr>
              <a:t> : Transparence, éthique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Collaboration</a:t>
            </a:r>
            <a:r>
              <a:rPr sz="1600">
                <a:solidFill>
                  <a:srgbClr val="333333"/>
                </a:solidFill>
              </a:rPr>
              <a:t> : Équipe unie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8. PLAN FINANCIER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8.1 Besoins de Financement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Série A : 2.1 billions FCFA- 3.0 billions FCFA(2026)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40%</a:t>
            </a:r>
            <a:r>
              <a:rPr sz="1600">
                <a:solidFill>
                  <a:srgbClr val="333333"/>
                </a:solidFill>
              </a:rPr>
              <a:t> (840 millions FCFA-1.2 billions FCFA) : Développement produit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30%</a:t>
            </a:r>
            <a:r>
              <a:rPr sz="1600">
                <a:solidFill>
                  <a:srgbClr val="333333"/>
                </a:solidFill>
              </a:rPr>
              <a:t> (630 millions FCFA-900 millions FCFA) : Marketing et acquisition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15%</a:t>
            </a:r>
            <a:r>
              <a:rPr sz="1600">
                <a:solidFill>
                  <a:srgbClr val="333333"/>
                </a:solidFill>
              </a:rPr>
              <a:t> (315 millions FCFA-450 millions FCFA) : Recrutement équipe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10%</a:t>
            </a:r>
            <a:r>
              <a:rPr sz="1600">
                <a:solidFill>
                  <a:srgbClr val="333333"/>
                </a:solidFill>
              </a:rPr>
              <a:t> (210 millions FCFA-300 millions FCFA) : Infrastructure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5%</a:t>
            </a:r>
            <a:r>
              <a:rPr sz="1600">
                <a:solidFill>
                  <a:srgbClr val="333333"/>
                </a:solidFill>
              </a:rPr>
              <a:t> (105 millions FCFA-150 millions FCFA) : Réserve opérationnelle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Roadmap Financement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A</a:t>
            </a:r>
            <a:r>
              <a:rPr sz="1600">
                <a:solidFill>
                  <a:srgbClr val="333333"/>
                </a:solidFill>
              </a:rPr>
              <a:t> (Q1 2026) : 2.1 billions FCFA-3.0 billions FCFA- </a:t>
            </a:r>
            <a:r>
              <a:rPr sz="1600" b="1">
                <a:solidFill>
                  <a:srgbClr val="003366"/>
                </a:solidFill>
              </a:rPr>
              <a:t>Série B</a:t>
            </a:r>
            <a:r>
              <a:rPr sz="1600">
                <a:solidFill>
                  <a:srgbClr val="333333"/>
                </a:solidFill>
              </a:rPr>
              <a:t> (Q3 2027) : 7.2 billions FCFA-9.0 billions FCFA- </a:t>
            </a:r>
            <a:r>
              <a:rPr sz="1600" b="1">
                <a:solidFill>
                  <a:srgbClr val="003366"/>
                </a:solidFill>
              </a:rPr>
              <a:t>Série C</a:t>
            </a:r>
            <a:r>
              <a:rPr sz="1600">
                <a:solidFill>
                  <a:srgbClr val="333333"/>
                </a:solidFill>
              </a:rPr>
              <a:t> (Q2 2028) : 18.0 billions FCFA-24.0 billions FCFA- </a:t>
            </a:r>
            <a:r>
              <a:rPr sz="1600" b="1">
                <a:solidFill>
                  <a:srgbClr val="003366"/>
                </a:solidFill>
              </a:rPr>
              <a:t>Série D</a:t>
            </a:r>
            <a:r>
              <a:rPr sz="1600">
                <a:solidFill>
                  <a:srgbClr val="333333"/>
                </a:solidFill>
              </a:rPr>
              <a:t> (Q1 2029) : 36.0 billions FCFA-48.0 billions FCFA### 8.2 Projections Financières (5 ans)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Voir document détaillé : `03_PROJECTIONS_FINANCIERES.md`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8.3 Utilisation des Fonds Série 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Développement Produit (840 millions FCFA-1.2 billions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Amélioration IA : 180 millions FCFA- Développement mobile : 240 millions FCFA- Infrastructure cloud : 180 millions FCFA- Vidéo génération : 120 millions FCFA- Autres features : 120 millions FCFA-480 millions FCFA#### Marketing (630 millions FCFA-900 millions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Campagnes digitales : 360 millions FCFA-540 millions FCFA- Influenceurs : 120 millions FCFA-180 millions FCFA- Événements : 90 millions FCFA-120 millions FCFA- PR &amp; Communication : 60 millions FCFA#### Recrutement (315 millions FCFA-450 millions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Salaires 6-12 mois : 240 millions FCFA-360 millions FCFA- Recrutement : 30 millions FCFA-45 millions FCFA- Formation : 45 millions FCFA#### Infrastructure (210 millions FCFA-300 millions 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Cloud &amp; serveurs : 120 millions FCFA-180 millions FCFA- Outils &amp; licences : 60 millions FCFA-90 millions FCFA- Bureaux : 30 millions FCFA---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9. ANALYSE DES RISQUES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9.1 Risques Techniques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Dépendance IA</a:t>
            </a:r>
            <a:r>
              <a:rPr sz="1600">
                <a:solidFill>
                  <a:srgbClr val="333333"/>
                </a:solidFill>
              </a:rPr>
              <a:t> : Coûts OpenAI variables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Cache, optimisation, alternatives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Scalabilité</a:t>
            </a:r>
            <a:r>
              <a:rPr sz="1600">
                <a:solidFill>
                  <a:srgbClr val="333333"/>
                </a:solidFill>
              </a:rPr>
              <a:t> : Croissance rapide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Architecture cloud-native, monitoring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Sécurité</a:t>
            </a:r>
            <a:r>
              <a:rPr sz="1600">
                <a:solidFill>
                  <a:srgbClr val="333333"/>
                </a:solidFill>
              </a:rPr>
              <a:t> : Cyberattaques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Best practices, audits réguliers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9.2 Risques Business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Concurrence</a:t>
            </a:r>
            <a:r>
              <a:rPr sz="1600">
                <a:solidFill>
                  <a:srgbClr val="333333"/>
                </a:solidFill>
              </a:rPr>
              <a:t> : Géants internationaux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Avantage première mover, localisation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Adoption</a:t>
            </a:r>
            <a:r>
              <a:rPr sz="1600">
                <a:solidFill>
                  <a:srgbClr val="333333"/>
                </a:solidFill>
              </a:rPr>
              <a:t> : Réticence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Marketing agressif, éducation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Réglementation</a:t>
            </a:r>
            <a:r>
              <a:rPr sz="1600">
                <a:solidFill>
                  <a:srgbClr val="333333"/>
                </a:solidFill>
              </a:rPr>
              <a:t> : Changements légaux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Veille juridique, conformité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9.3 Risques Opérationnels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Coursiers</a:t>
            </a:r>
            <a:r>
              <a:rPr sz="1600">
                <a:solidFill>
                  <a:srgbClr val="333333"/>
                </a:solidFill>
              </a:rPr>
              <a:t> : Disponibilité, qualité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Formation, incitations, évaluation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</a:t>
            </a:r>
            <a:r>
              <a:rPr sz="1600">
                <a:solidFill>
                  <a:srgbClr val="333333"/>
                </a:solidFill>
              </a:rPr>
              <a:t> : Fiabilité commerçants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Vérification, contrats, support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 : Pannes, coupures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Redondance, backup, monitoring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9.4 Risques Financiers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Liquidité</a:t>
            </a:r>
            <a:r>
              <a:rPr sz="1600">
                <a:solidFill>
                  <a:srgbClr val="333333"/>
                </a:solidFill>
              </a:rPr>
              <a:t> : Besoins de trésorerie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Réserve opérationnelle, planning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change</a:t>
            </a:r>
            <a:r>
              <a:rPr sz="1600">
                <a:solidFill>
                  <a:srgbClr val="333333"/>
                </a:solidFill>
              </a:rPr>
              <a:t> : Fluctuations devises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Hedging, diversification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10. APPENDICES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10.1 Glossaire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</a:t>
            </a:r>
            <a:r>
              <a:rPr sz="1600">
                <a:solidFill>
                  <a:srgbClr val="333333"/>
                </a:solidFill>
              </a:rPr>
              <a:t> : Gross Merchandise Value (valeur totale transactions)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Take Rate</a:t>
            </a:r>
            <a:r>
              <a:rPr sz="1600">
                <a:solidFill>
                  <a:srgbClr val="333333"/>
                </a:solidFill>
              </a:rPr>
              <a:t> : Pourcentage commission sur transactions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</a:t>
            </a:r>
            <a:r>
              <a:rPr sz="1600">
                <a:solidFill>
                  <a:srgbClr val="333333"/>
                </a:solidFill>
              </a:rPr>
              <a:t> : Customer Acquisition Cost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LTV</a:t>
            </a:r>
            <a:r>
              <a:rPr sz="1600">
                <a:solidFill>
                  <a:srgbClr val="333333"/>
                </a:solidFill>
              </a:rPr>
              <a:t> : Lifetime Value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Earnings Before Interest, Taxes, Depreciation, Amortization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10.2 Références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Études de marché : GSMA, McKinsey, World Bank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Données démographiques : UN, Banque Mondiale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Tendances tech : TechCrunch, Wired Africa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