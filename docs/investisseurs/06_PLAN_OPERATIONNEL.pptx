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06 Plan Operationnel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Document Investisseurs - Janvier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STRUCTURE ORGANISATIONNELLE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APPROCHE PROGRESSIVE - CROISSANCE ÉCHELONNÉE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Au lancement, Yukpomnang démarre avec un </a:t>
            </a:r>
            <a:r>
              <a:rPr sz="1600" b="1">
                <a:solidFill>
                  <a:srgbClr val="003366"/>
                </a:solidFill>
              </a:rPr>
              <a:t>effectif minimal et réaliste de 5 personnes maximum</a:t>
            </a:r>
            <a:r>
              <a:rPr sz="1600">
                <a:solidFill>
                  <a:srgbClr val="333333"/>
                </a:solidFill>
              </a:rPr>
              <a:t> pour optimiser les coûts et valider le modèle économique. L'équipe s'étendra </a:t>
            </a:r>
            <a:r>
              <a:rPr sz="1600" b="1">
                <a:solidFill>
                  <a:srgbClr val="003366"/>
                </a:solidFill>
              </a:rPr>
              <a:t>progressivement</a:t>
            </a:r>
            <a:r>
              <a:rPr sz="1600">
                <a:solidFill>
                  <a:srgbClr val="333333"/>
                </a:solidFill>
              </a:rPr>
              <a:t> au fur et à mesure de la croissance de l'application et de l'augmentation des revenus.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Q1 2026 (Lancement)</a:t>
            </a:r>
            <a:r>
              <a:rPr sz="1600">
                <a:solidFill>
                  <a:srgbClr val="333333"/>
                </a:solidFill>
              </a:rPr>
              <a:t> : 5 personnes maximum (équipe fondatrice + essentiel)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Q2-Q3 2026</a:t>
            </a:r>
            <a:r>
              <a:rPr sz="1600">
                <a:solidFill>
                  <a:srgbClr val="333333"/>
                </a:solidFill>
              </a:rPr>
              <a:t> : Extension à 15-20 personnes (selon traction)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Q4 2026</a:t>
            </a:r>
            <a:r>
              <a:rPr sz="1600">
                <a:solidFill>
                  <a:srgbClr val="333333"/>
                </a:solidFill>
              </a:rPr>
              <a:t> : Extension à 30-40 personnes (selon croissance)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2027</a:t>
            </a:r>
            <a:r>
              <a:rPr sz="1600">
                <a:solidFill>
                  <a:srgbClr val="333333"/>
                </a:solidFill>
              </a:rPr>
              <a:t> : Extension à 80-100 personnes (expansion 3 pays)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2028</a:t>
            </a:r>
            <a:r>
              <a:rPr sz="1600">
                <a:solidFill>
                  <a:srgbClr val="333333"/>
                </a:solidFill>
              </a:rPr>
              <a:t> : Extension à 200+ personnes (expansion francophone)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Le recrutement prioritaire se concentre sur les </a:t>
            </a:r>
            <a:r>
              <a:rPr sz="1600" b="1">
                <a:solidFill>
                  <a:srgbClr val="003366"/>
                </a:solidFill>
              </a:rPr>
              <a:t>agents commerciaux</a:t>
            </a:r>
            <a:r>
              <a:rPr sz="1600">
                <a:solidFill>
                  <a:srgbClr val="333333"/>
                </a:solidFill>
              </a:rPr>
              <a:t> pour 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Acquisition de commerçants partenaires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Onboarding et support commerçants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Développement du réseau de partenaires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Expansion géographique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Direction (C-Level)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CEO (Chief Executive Officer)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Rôle</a:t>
            </a:r>
            <a:r>
              <a:rPr sz="1600">
                <a:solidFill>
                  <a:srgbClr val="333333"/>
                </a:solidFill>
              </a:rPr>
              <a:t> : Vision stratégique, relations investisseurs, leadership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Profil</a:t>
            </a:r>
            <a:r>
              <a:rPr sz="1600">
                <a:solidFill>
                  <a:srgbClr val="333333"/>
                </a:solidFill>
              </a:rPr>
              <a:t> : Expérience tech/startup, connaissance marché africain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Recrutement</a:t>
            </a:r>
            <a:r>
              <a:rPr sz="1600">
                <a:solidFill>
                  <a:srgbClr val="333333"/>
                </a:solidFill>
              </a:rPr>
              <a:t> : Q1 2026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Salaire</a:t>
            </a:r>
            <a:r>
              <a:rPr sz="1600">
                <a:solidFill>
                  <a:srgbClr val="333333"/>
                </a:solidFill>
              </a:rPr>
              <a:t> : 72 millions FCFA-90 millions FCFA/an + equity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CTO (Chief Technology Officer)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Rôle</a:t>
            </a:r>
            <a:r>
              <a:rPr sz="1600">
                <a:solidFill>
                  <a:srgbClr val="333333"/>
                </a:solidFill>
              </a:rPr>
              <a:t> : Direction technique, architecture, innovation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Profil</a:t>
            </a:r>
            <a:r>
              <a:rPr sz="1600">
                <a:solidFill>
                  <a:srgbClr val="333333"/>
                </a:solidFill>
              </a:rPr>
              <a:t> : Expertise Rust/React, scaling, IA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Statut</a:t>
            </a:r>
            <a:r>
              <a:rPr sz="1600">
                <a:solidFill>
                  <a:srgbClr val="333333"/>
                </a:solidFill>
              </a:rPr>
              <a:t> : Fondateur ou recrutement Q1 2026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Salaire</a:t>
            </a:r>
            <a:r>
              <a:rPr sz="1600">
                <a:solidFill>
                  <a:srgbClr val="333333"/>
                </a:solidFill>
              </a:rPr>
              <a:t> : 60 millions FCFA-78 millions FCFA/an + equity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CFO (Chief Financial Officer)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Rôle</a:t>
            </a:r>
            <a:r>
              <a:rPr sz="1600">
                <a:solidFill>
                  <a:srgbClr val="333333"/>
                </a:solidFill>
              </a:rPr>
              <a:t> : Finance, comptabilité, légal, fundraising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Profil</a:t>
            </a:r>
            <a:r>
              <a:rPr sz="1600">
                <a:solidFill>
                  <a:srgbClr val="333333"/>
                </a:solidFill>
              </a:rPr>
              <a:t> : Expérience startup, financement, Afrique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Recrutement</a:t>
            </a:r>
            <a:r>
              <a:rPr sz="1600">
                <a:solidFill>
                  <a:srgbClr val="333333"/>
                </a:solidFill>
              </a:rPr>
              <a:t> : Q2-Q3 2026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Salaire</a:t>
            </a:r>
            <a:r>
              <a:rPr sz="1600">
                <a:solidFill>
                  <a:srgbClr val="333333"/>
                </a:solidFill>
              </a:rPr>
              <a:t> : 54 millions FCFA-72 millions FCFA/an + equity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CMO (Chief Marketing Officer)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Rôle</a:t>
            </a:r>
            <a:r>
              <a:rPr sz="1600">
                <a:solidFill>
                  <a:srgbClr val="333333"/>
                </a:solidFill>
              </a:rPr>
              <a:t> : Marketing, communication, branding, croissance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Profil</a:t>
            </a:r>
            <a:r>
              <a:rPr sz="1600">
                <a:solidFill>
                  <a:srgbClr val="333333"/>
                </a:solidFill>
              </a:rPr>
              <a:t> : Expérience croissance, marché africain, digital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Recrutement</a:t>
            </a:r>
            <a:r>
              <a:rPr sz="1600">
                <a:solidFill>
                  <a:srgbClr val="333333"/>
                </a:solidFill>
              </a:rPr>
              <a:t> : Q1-Q2 2026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Salaire</a:t>
            </a:r>
            <a:r>
              <a:rPr sz="1600">
                <a:solidFill>
                  <a:srgbClr val="333333"/>
                </a:solidFill>
              </a:rPr>
              <a:t> : 54 millions FCFA-72 millions FCFA/an + equity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Départements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1. TECHNIQUE (Croissance Progressive)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Fondateur Technique</a:t>
            </a:r>
            <a:r>
              <a:rPr sz="1600">
                <a:solidFill>
                  <a:srgbClr val="333333"/>
                </a:solidFill>
              </a:rPr>
              <a:t> : CTO/Lead Developer (1 personne)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Développeur Full-Stack</a:t>
            </a:r>
            <a:r>
              <a:rPr sz="1600">
                <a:solidFill>
                  <a:srgbClr val="333333"/>
                </a:solidFill>
              </a:rPr>
              <a:t> : Backend + Frontend (1 personne)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Développeur Mobile</a:t>
            </a:r>
            <a:r>
              <a:rPr sz="1600">
                <a:solidFill>
                  <a:srgbClr val="333333"/>
                </a:solidFill>
              </a:rPr>
              <a:t> : iOS/Android (1 personne) - Optionnel selon besoin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Backend Developers (Rust) : 2-3 personnes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Frontend Developers (React) : 2-3 personnes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Mobile Developers (React Native) : 2-3 personnes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DevOps Engineer : 1 personne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QA Engineer : 1 personne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Nombre</a:t>
            </a:r>
            <a:r>
              <a:rPr sz="1600">
                <a:solidFill>
                  <a:srgbClr val="333333"/>
                </a:solidFill>
              </a:rPr>
              <a:t> : 5-6 personnes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Rôles</a:t>
            </a:r>
            <a:r>
              <a:rPr sz="1600">
                <a:solidFill>
                  <a:srgbClr val="333333"/>
                </a:solidFill>
              </a:rPr>
              <a:t> : API, services, infrastructure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Profil</a:t>
            </a:r>
            <a:r>
              <a:rPr sz="1600">
                <a:solidFill>
                  <a:srgbClr val="333333"/>
                </a:solidFill>
              </a:rPr>
              <a:t> : Senior (3-5 ans expérience)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Salaire</a:t>
            </a:r>
            <a:r>
              <a:rPr sz="1600">
                <a:solidFill>
                  <a:srgbClr val="333333"/>
                </a:solidFill>
              </a:rPr>
              <a:t> : 30 millions FCFA-48 millions FCFA/an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Nombre</a:t>
            </a:r>
            <a:r>
              <a:rPr sz="1600">
                <a:solidFill>
                  <a:srgbClr val="333333"/>
                </a:solidFill>
              </a:rPr>
              <a:t> : 4-5 personnes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Rôles</a:t>
            </a:r>
            <a:r>
              <a:rPr sz="1600">
                <a:solidFill>
                  <a:srgbClr val="333333"/>
                </a:solidFill>
              </a:rPr>
              <a:t> : Web app, UI/UX, intégrations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Profil</a:t>
            </a:r>
            <a:r>
              <a:rPr sz="1600">
                <a:solidFill>
                  <a:srgbClr val="333333"/>
                </a:solidFill>
              </a:rPr>
              <a:t> : Mid-Senior (2-4 ans)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Salaire</a:t>
            </a:r>
            <a:r>
              <a:rPr sz="1600">
                <a:solidFill>
                  <a:srgbClr val="333333"/>
                </a:solidFill>
              </a:rPr>
              <a:t> : 24 millions FCFA-42 millions FCFA/an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Nombre</a:t>
            </a:r>
            <a:r>
              <a:rPr sz="1600">
                <a:solidFill>
                  <a:srgbClr val="333333"/>
                </a:solidFill>
              </a:rPr>
              <a:t> : 3-4 personnes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Rôles</a:t>
            </a:r>
            <a:r>
              <a:rPr sz="1600">
                <a:solidFill>
                  <a:srgbClr val="333333"/>
                </a:solidFill>
              </a:rPr>
              <a:t> : iOS, Android, Expo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Profil</a:t>
            </a:r>
            <a:r>
              <a:rPr sz="1600">
                <a:solidFill>
                  <a:srgbClr val="333333"/>
                </a:solidFill>
              </a:rPr>
              <a:t> : Mid-Senior (2-4 ans)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Salaire</a:t>
            </a:r>
            <a:r>
              <a:rPr sz="1600">
                <a:solidFill>
                  <a:srgbClr val="333333"/>
                </a:solidFill>
              </a:rPr>
              <a:t> : 27 millions FCFA-45 millions FCFA/an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Nombre</a:t>
            </a:r>
            <a:r>
              <a:rPr sz="1600">
                <a:solidFill>
                  <a:srgbClr val="333333"/>
                </a:solidFill>
              </a:rPr>
              <a:t> : 2-3 personnes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Rôles</a:t>
            </a:r>
            <a:r>
              <a:rPr sz="1600">
                <a:solidFill>
                  <a:srgbClr val="333333"/>
                </a:solidFill>
              </a:rPr>
              <a:t> : Infrastructure, CI/CD, monitoring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Profil</a:t>
            </a:r>
            <a:r>
              <a:rPr sz="1600">
                <a:solidFill>
                  <a:srgbClr val="333333"/>
                </a:solidFill>
              </a:rPr>
              <a:t> : Senior (3-5 ans)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Salaire</a:t>
            </a:r>
            <a:r>
              <a:rPr sz="1600">
                <a:solidFill>
                  <a:srgbClr val="333333"/>
                </a:solidFill>
              </a:rPr>
              <a:t> : 33 millions FCFA-51 millions FCFA/an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Nombre</a:t>
            </a:r>
            <a:r>
              <a:rPr sz="1600">
                <a:solidFill>
                  <a:srgbClr val="333333"/>
                </a:solidFill>
              </a:rPr>
              <a:t> : 1-2 personnes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Rôles</a:t>
            </a:r>
            <a:r>
              <a:rPr sz="1600">
                <a:solidFill>
                  <a:srgbClr val="333333"/>
                </a:solidFill>
              </a:rPr>
              <a:t> : Analytics, data pipeline, IA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Profil</a:t>
            </a:r>
            <a:r>
              <a:rPr sz="1600">
                <a:solidFill>
                  <a:srgbClr val="333333"/>
                </a:solidFill>
              </a:rPr>
              <a:t> : Mid-Senior (2-4 ans)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Salaire</a:t>
            </a:r>
            <a:r>
              <a:rPr sz="1600">
                <a:solidFill>
                  <a:srgbClr val="333333"/>
                </a:solidFill>
              </a:rPr>
              <a:t> : 30 millions FCFA-48 millions FCFA/an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Nombre</a:t>
            </a:r>
            <a:r>
              <a:rPr sz="1600">
                <a:solidFill>
                  <a:srgbClr val="333333"/>
                </a:solidFill>
              </a:rPr>
              <a:t> : 2 personnes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Rôles</a:t>
            </a:r>
            <a:r>
              <a:rPr sz="1600">
                <a:solidFill>
                  <a:srgbClr val="333333"/>
                </a:solidFill>
              </a:rPr>
              <a:t> : Tests, qualité, automation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Profil</a:t>
            </a:r>
            <a:r>
              <a:rPr sz="1600">
                <a:solidFill>
                  <a:srgbClr val="333333"/>
                </a:solidFill>
              </a:rPr>
              <a:t> : Mid (2-3 ans)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Salaire</a:t>
            </a:r>
            <a:r>
              <a:rPr sz="1600">
                <a:solidFill>
                  <a:srgbClr val="333333"/>
                </a:solidFill>
              </a:rPr>
              <a:t> : 21 millions FCFA-36 millions FCFA/an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2. OPÉRATIONS (Croissance Progressive - PRIORITÉ AGENTS COMMERCIAUX)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Rôle</a:t>
            </a:r>
            <a:r>
              <a:rPr sz="1600">
                <a:solidFill>
                  <a:srgbClr val="333333"/>
                </a:solidFill>
              </a:rPr>
              <a:t> : Acquisition commerçants, onboarding, développement partenaires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Profil</a:t>
            </a:r>
            <a:r>
              <a:rPr sz="1600">
                <a:solidFill>
                  <a:srgbClr val="333333"/>
                </a:solidFill>
              </a:rPr>
              <a:t> : Expérience commerciale, relationnel, connaissance marché local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Objectif</a:t>
            </a:r>
            <a:r>
              <a:rPr sz="1600">
                <a:solidFill>
                  <a:srgbClr val="333333"/>
                </a:solidFill>
              </a:rPr>
              <a:t> : Recruter 50-100 commerçants partenaires en Q1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Salaire</a:t>
            </a:r>
            <a:r>
              <a:rPr sz="1600">
                <a:solidFill>
                  <a:srgbClr val="333333"/>
                </a:solidFill>
              </a:rPr>
              <a:t> : 12 millions FCFA-21 millions FCFA/an + commissions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</a:t>
            </a:r>
            <a:r>
              <a:rPr sz="1600">
                <a:solidFill>
                  <a:srgbClr val="333333"/>
                </a:solidFill>
              </a:rPr>
              <a:t> : 30 millions FCFA-48 millions FCFA</a:t>
            </a:r>
            <a:r>
              <a:rPr sz="1600" b="1">
                <a:solidFill>
                  <a:srgbClr val="003366"/>
                </a:solidFill>
              </a:rPr>
              <a:t>Extension Progressive (Q2-Q4 2026) : 15-20 Personnes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Nombre</a:t>
            </a:r>
            <a:r>
              <a:rPr sz="1600">
                <a:solidFill>
                  <a:srgbClr val="333333"/>
                </a:solidFill>
              </a:rPr>
              <a:t> : 8-10 personnes (recrutement prioritaire)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Rôles</a:t>
            </a:r>
            <a:r>
              <a:rPr sz="1600">
                <a:solidFill>
                  <a:srgbClr val="333333"/>
                </a:solidFill>
              </a:rPr>
              <a:t> : Acquisition commerçants, onboarding, support, expansion géographique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Profil</a:t>
            </a:r>
            <a:r>
              <a:rPr sz="1600">
                <a:solidFill>
                  <a:srgbClr val="333333"/>
                </a:solidFill>
              </a:rPr>
              <a:t> : Expérience commerciale, relationnel, multilingue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Salaire</a:t>
            </a:r>
            <a:r>
              <a:rPr sz="1600">
                <a:solidFill>
                  <a:srgbClr val="333333"/>
                </a:solidFill>
              </a:rPr>
              <a:t> : 12 millions FCFA-21 millions FCFA/an + commissions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</a:t>
            </a:r>
            <a:r>
              <a:rPr sz="1600">
                <a:solidFill>
                  <a:srgbClr val="333333"/>
                </a:solidFill>
              </a:rPr>
              <a:t> : 120 millions FCFA-240 millions FCFA</a:t>
            </a:r>
            <a:r>
              <a:rPr sz="1600" b="1">
                <a:solidFill>
                  <a:srgbClr val="003366"/>
                </a:solidFill>
              </a:rPr>
              <a:t>Support Client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Nombre</a:t>
            </a:r>
            <a:r>
              <a:rPr sz="1600">
                <a:solidFill>
                  <a:srgbClr val="333333"/>
                </a:solidFill>
              </a:rPr>
              <a:t> : 3-4 personnes (extension selon volume)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Rôles</a:t>
            </a:r>
            <a:r>
              <a:rPr sz="1600">
                <a:solidFill>
                  <a:srgbClr val="333333"/>
                </a:solidFill>
              </a:rPr>
              <a:t> : Chat, email, résolution problèmes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Profil</a:t>
            </a:r>
            <a:r>
              <a:rPr sz="1600">
                <a:solidFill>
                  <a:srgbClr val="333333"/>
                </a:solidFill>
              </a:rPr>
              <a:t> : Junior-Mid, multilingue (FR, EN)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Salaire</a:t>
            </a:r>
            <a:r>
              <a:rPr sz="1600">
                <a:solidFill>
                  <a:srgbClr val="333333"/>
                </a:solidFill>
              </a:rPr>
              <a:t> : 9 millions FCFA-18 millions FCFA/an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</a:t>
            </a:r>
            <a:r>
              <a:rPr sz="1600">
                <a:solidFill>
                  <a:srgbClr val="333333"/>
                </a:solidFill>
              </a:rPr>
              <a:t> : 36 millions FCFA-90 millions FCFA</a:t>
            </a:r>
            <a:r>
              <a:rPr sz="1600" b="1">
                <a:solidFill>
                  <a:srgbClr val="003366"/>
                </a:solidFill>
              </a:rPr>
              <a:t>Gestion Coursiers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Nombre</a:t>
            </a:r>
            <a:r>
              <a:rPr sz="1600">
                <a:solidFill>
                  <a:srgbClr val="333333"/>
                </a:solidFill>
              </a:rPr>
              <a:t> : 2-3 personnes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Rôles</a:t>
            </a:r>
            <a:r>
              <a:rPr sz="1600">
                <a:solidFill>
                  <a:srgbClr val="333333"/>
                </a:solidFill>
              </a:rPr>
              <a:t> : Recrutement, formation, suivi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Profil</a:t>
            </a:r>
            <a:r>
              <a:rPr sz="1600">
                <a:solidFill>
                  <a:srgbClr val="333333"/>
                </a:solidFill>
              </a:rPr>
              <a:t> : Mid, logistique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Salaire</a:t>
            </a:r>
            <a:r>
              <a:rPr sz="1600">
                <a:solidFill>
                  <a:srgbClr val="333333"/>
                </a:solidFill>
              </a:rPr>
              <a:t> : 15 millions FCFA-24 millions FCFA/an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</a:t>
            </a:r>
            <a:r>
              <a:rPr sz="1600">
                <a:solidFill>
                  <a:srgbClr val="333333"/>
                </a:solidFill>
              </a:rPr>
              <a:t> : 36 millions FCFA-90 millions FCFA</a:t>
            </a:r>
            <a:r>
              <a:rPr sz="1600" b="1">
                <a:solidFill>
                  <a:srgbClr val="003366"/>
                </a:solidFill>
              </a:rPr>
              <a:t>Extension 2027 : 25-30 Personnes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Nombre</a:t>
            </a:r>
            <a:r>
              <a:rPr sz="1600">
                <a:solidFill>
                  <a:srgbClr val="333333"/>
                </a:solidFill>
              </a:rPr>
              <a:t> : 12-15 personnes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Rôles</a:t>
            </a:r>
            <a:r>
              <a:rPr sz="1600">
                <a:solidFill>
                  <a:srgbClr val="333333"/>
                </a:solidFill>
              </a:rPr>
              <a:t> : Chat, email, téléphone, résolution problèmes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Profil</a:t>
            </a:r>
            <a:r>
              <a:rPr sz="1600">
                <a:solidFill>
                  <a:srgbClr val="333333"/>
                </a:solidFill>
              </a:rPr>
              <a:t> : Junior-Mid, multilingue (FR, EN)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Salaire</a:t>
            </a:r>
            <a:r>
              <a:rPr sz="1600">
                <a:solidFill>
                  <a:srgbClr val="333333"/>
                </a:solidFill>
              </a:rPr>
              <a:t> : 9 millions FCFA-18 millions FCFA/an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</a:t>
            </a:r>
            <a:r>
              <a:rPr sz="1600">
                <a:solidFill>
                  <a:srgbClr val="333333"/>
                </a:solidFill>
              </a:rPr>
              <a:t> : 180 millions FCFA-300 millions FCFA</a:t>
            </a:r>
            <a:r>
              <a:rPr sz="1600" b="1">
                <a:solidFill>
                  <a:srgbClr val="003366"/>
                </a:solidFill>
              </a:rPr>
              <a:t>Gestion Coursiers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Nombre</a:t>
            </a:r>
            <a:r>
              <a:rPr sz="1600">
                <a:solidFill>
                  <a:srgbClr val="333333"/>
                </a:solidFill>
              </a:rPr>
              <a:t> : 5-6 personnes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Rôles</a:t>
            </a:r>
            <a:r>
              <a:rPr sz="1600">
                <a:solidFill>
                  <a:srgbClr val="333333"/>
                </a:solidFill>
              </a:rPr>
              <a:t> : Recrutement, formation, suivi, évaluation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Profil</a:t>
            </a:r>
            <a:r>
              <a:rPr sz="1600">
                <a:solidFill>
                  <a:srgbClr val="333333"/>
                </a:solidFill>
              </a:rPr>
              <a:t> : Mid, logistique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Salaire</a:t>
            </a:r>
            <a:r>
              <a:rPr sz="1600">
                <a:solidFill>
                  <a:srgbClr val="333333"/>
                </a:solidFill>
              </a:rPr>
              <a:t> : 15 millions FCFA-24 millions FCFA/an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</a:t>
            </a:r>
            <a:r>
              <a:rPr sz="1600">
                <a:solidFill>
                  <a:srgbClr val="333333"/>
                </a:solidFill>
              </a:rPr>
              <a:t> : 90 millions FCFA-150 millions FCFA</a:t>
            </a:r>
            <a:r>
              <a:rPr sz="1600" b="1">
                <a:solidFill>
                  <a:srgbClr val="003366"/>
                </a:solidFill>
              </a:rPr>
              <a:t>Relations Partenaires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Nombre</a:t>
            </a:r>
            <a:r>
              <a:rPr sz="1600">
                <a:solidFill>
                  <a:srgbClr val="333333"/>
                </a:solidFill>
              </a:rPr>
              <a:t> : 5-6 personnes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Rôles</a:t>
            </a:r>
            <a:r>
              <a:rPr sz="1600">
                <a:solidFill>
                  <a:srgbClr val="333333"/>
                </a:solidFill>
              </a:rPr>
              <a:t> : Onboarding commerçants, support, croissance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Profil</a:t>
            </a:r>
            <a:r>
              <a:rPr sz="1600">
                <a:solidFill>
                  <a:srgbClr val="333333"/>
                </a:solidFill>
              </a:rPr>
              <a:t> : Mid, commercial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Salaire</a:t>
            </a:r>
            <a:r>
              <a:rPr sz="1600">
                <a:solidFill>
                  <a:srgbClr val="333333"/>
                </a:solidFill>
              </a:rPr>
              <a:t> : 18 millions FCFA-30 millions FCFA/an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</a:t>
            </a:r>
            <a:r>
              <a:rPr sz="1600">
                <a:solidFill>
                  <a:srgbClr val="333333"/>
                </a:solidFill>
              </a:rPr>
              <a:t> : 120 millions FCFA-210 millions FCFA</a:t>
            </a:r>
            <a:r>
              <a:rPr sz="1600" b="1">
                <a:solidFill>
                  <a:srgbClr val="003366"/>
                </a:solidFill>
              </a:rPr>
              <a:t>Logistique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Nombre</a:t>
            </a:r>
            <a:r>
              <a:rPr sz="1600">
                <a:solidFill>
                  <a:srgbClr val="333333"/>
                </a:solidFill>
              </a:rPr>
              <a:t> : 3-4 personnes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Rôles</a:t>
            </a:r>
            <a:r>
              <a:rPr sz="1600">
                <a:solidFill>
                  <a:srgbClr val="333333"/>
                </a:solidFill>
              </a:rPr>
              <a:t> : Optimisation routes, suivi livraisons, analytics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Profil</a:t>
            </a:r>
            <a:r>
              <a:rPr sz="1600">
                <a:solidFill>
                  <a:srgbClr val="333333"/>
                </a:solidFill>
              </a:rPr>
              <a:t> : Mid-Senior, logistique/analytics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Salaire</a:t>
            </a:r>
            <a:r>
              <a:rPr sz="1600">
                <a:solidFill>
                  <a:srgbClr val="333333"/>
                </a:solidFill>
              </a:rPr>
              <a:t> : 21 millions FCFA-33 millions FCFA/an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</a:t>
            </a:r>
            <a:r>
              <a:rPr sz="1600">
                <a:solidFill>
                  <a:srgbClr val="333333"/>
                </a:solidFill>
              </a:rPr>
              <a:t> : 72 millions FCFA-120 millions FCFA</a:t>
            </a:r>
            <a:r>
              <a:rPr sz="1600" b="1">
                <a:solidFill>
                  <a:srgbClr val="003366"/>
                </a:solidFill>
              </a:rPr>
              <a:t>Budget Opérations 2026</a:t>
            </a:r>
            <a:r>
              <a:rPr sz="1600">
                <a:solidFill>
                  <a:srgbClr val="333333"/>
                </a:solidFill>
              </a:rPr>
              <a:t> : 462 millions FCFA-780 millions FCFA---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3. MARKETING (Croissance Progressive)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Responsable Marketing</a:t>
            </a:r>
            <a:r>
              <a:rPr sz="1600">
                <a:solidFill>
                  <a:srgbClr val="333333"/>
                </a:solidFill>
              </a:rPr>
              <a:t> : CMO ou Marketing Manager (1 personne)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Rôles</a:t>
            </a:r>
            <a:r>
              <a:rPr sz="1600">
                <a:solidFill>
                  <a:srgbClr val="333333"/>
                </a:solidFill>
              </a:rPr>
              <a:t> : Stratégie, campagnes digitales, contenu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</a:t>
            </a:r>
            <a:r>
              <a:rPr sz="1600">
                <a:solidFill>
                  <a:srgbClr val="333333"/>
                </a:solidFill>
              </a:rPr>
              <a:t> : 30 millions FCFA-48 millions FCFA</a:t>
            </a:r>
            <a:r>
              <a:rPr sz="1600" b="1">
                <a:solidFill>
                  <a:srgbClr val="003366"/>
                </a:solidFill>
              </a:rPr>
              <a:t>Extension Progressive (Q2-Q4 2026) : 5-8 Personnes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Digital Marketing : 2-3 personnes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Content Creation : 1-2 personnes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Community Management : 1-2 personnes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Nombre</a:t>
            </a:r>
            <a:r>
              <a:rPr sz="1600">
                <a:solidFill>
                  <a:srgbClr val="333333"/>
                </a:solidFill>
              </a:rPr>
              <a:t> : 4-5 personnes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Rôles</a:t>
            </a:r>
            <a:r>
              <a:rPr sz="1600">
                <a:solidFill>
                  <a:srgbClr val="333333"/>
                </a:solidFill>
              </a:rPr>
              <a:t> : Campagnes, SEO, social media, analytics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Profil</a:t>
            </a:r>
            <a:r>
              <a:rPr sz="1600">
                <a:solidFill>
                  <a:srgbClr val="333333"/>
                </a:solidFill>
              </a:rPr>
              <a:t> : Mid-Senior (2-4 ans)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Salaire</a:t>
            </a:r>
            <a:r>
              <a:rPr sz="1600">
                <a:solidFill>
                  <a:srgbClr val="333333"/>
                </a:solidFill>
              </a:rPr>
              <a:t> : 21 millions FCFA-36 millions FCFA/an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</a:t>
            </a:r>
            <a:r>
              <a:rPr sz="1600">
                <a:solidFill>
                  <a:srgbClr val="333333"/>
                </a:solidFill>
              </a:rPr>
              <a:t> : 120 millions FCFA-210 millions FCFA</a:t>
            </a:r>
            <a:r>
              <a:rPr sz="1600" b="1">
                <a:solidFill>
                  <a:srgbClr val="003366"/>
                </a:solidFill>
              </a:rPr>
              <a:t>Content Creation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Nombre</a:t>
            </a:r>
            <a:r>
              <a:rPr sz="1600">
                <a:solidFill>
                  <a:srgbClr val="333333"/>
                </a:solidFill>
              </a:rPr>
              <a:t> : 3-4 personnes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Rôles</a:t>
            </a:r>
            <a:r>
              <a:rPr sz="1600">
                <a:solidFill>
                  <a:srgbClr val="333333"/>
                </a:solidFill>
              </a:rPr>
              <a:t> : Vidéos, articles, design, créatif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Profil</a:t>
            </a:r>
            <a:r>
              <a:rPr sz="1600">
                <a:solidFill>
                  <a:srgbClr val="333333"/>
                </a:solidFill>
              </a:rPr>
              <a:t> : Mid, créatif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Salaire</a:t>
            </a:r>
            <a:r>
              <a:rPr sz="1600">
                <a:solidFill>
                  <a:srgbClr val="333333"/>
                </a:solidFill>
              </a:rPr>
              <a:t> : 18 millions FCFA-30 millions FCFA/an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</a:t>
            </a:r>
            <a:r>
              <a:rPr sz="1600">
                <a:solidFill>
                  <a:srgbClr val="333333"/>
                </a:solidFill>
              </a:rPr>
              <a:t> : 72 millions FCFA-132 millions FCFA</a:t>
            </a:r>
            <a:r>
              <a:rPr sz="1600" b="1">
                <a:solidFill>
                  <a:srgbClr val="003366"/>
                </a:solidFill>
              </a:rPr>
              <a:t>Community Management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Nombre</a:t>
            </a:r>
            <a:r>
              <a:rPr sz="1600">
                <a:solidFill>
                  <a:srgbClr val="333333"/>
                </a:solidFill>
              </a:rPr>
              <a:t> : 2-3 personnes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Rôles</a:t>
            </a:r>
            <a:r>
              <a:rPr sz="1600">
                <a:solidFill>
                  <a:srgbClr val="333333"/>
                </a:solidFill>
              </a:rPr>
              <a:t> : Réseaux sociaux, engagement, modération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Profil</a:t>
            </a:r>
            <a:r>
              <a:rPr sz="1600">
                <a:solidFill>
                  <a:srgbClr val="333333"/>
                </a:solidFill>
              </a:rPr>
              <a:t> : Junior-Mid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Salaire</a:t>
            </a:r>
            <a:r>
              <a:rPr sz="1600">
                <a:solidFill>
                  <a:srgbClr val="333333"/>
                </a:solidFill>
              </a:rPr>
              <a:t> : 12 millions FCFA-21 millions FCFA/an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</a:t>
            </a:r>
            <a:r>
              <a:rPr sz="1600">
                <a:solidFill>
                  <a:srgbClr val="333333"/>
                </a:solidFill>
              </a:rPr>
              <a:t> : 36 millions FCFA-72 millions FCFA</a:t>
            </a:r>
            <a:r>
              <a:rPr sz="1600" b="1">
                <a:solidFill>
                  <a:srgbClr val="003366"/>
                </a:solidFill>
              </a:rPr>
              <a:t>PR &amp; Communication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Nombre</a:t>
            </a:r>
            <a:r>
              <a:rPr sz="1600">
                <a:solidFill>
                  <a:srgbClr val="333333"/>
                </a:solidFill>
              </a:rPr>
              <a:t> : 1-2 personnes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Rôles</a:t>
            </a:r>
            <a:r>
              <a:rPr sz="1600">
                <a:solidFill>
                  <a:srgbClr val="333333"/>
                </a:solidFill>
              </a:rPr>
              <a:t> : Relations presse, événements, branding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Profil</a:t>
            </a:r>
            <a:r>
              <a:rPr sz="1600">
                <a:solidFill>
                  <a:srgbClr val="333333"/>
                </a:solidFill>
              </a:rPr>
              <a:t> : Mid-Senior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Salaire</a:t>
            </a:r>
            <a:r>
              <a:rPr sz="1600">
                <a:solidFill>
                  <a:srgbClr val="333333"/>
                </a:solidFill>
              </a:rPr>
              <a:t> : 24 millions FCFA-42 millions FCFA/an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</a:t>
            </a:r>
            <a:r>
              <a:rPr sz="1600">
                <a:solidFill>
                  <a:srgbClr val="333333"/>
                </a:solidFill>
              </a:rPr>
              <a:t> : 30 millions FCFA-90 millions FCFA</a:t>
            </a:r>
            <a:r>
              <a:rPr sz="1600" b="1">
                <a:solidFill>
                  <a:srgbClr val="003366"/>
                </a:solidFill>
              </a:rPr>
              <a:t>Budget Marketing 2026</a:t>
            </a:r>
            <a:r>
              <a:rPr sz="1600">
                <a:solidFill>
                  <a:srgbClr val="333333"/>
                </a:solidFill>
              </a:rPr>
              <a:t> : 258 millions FCFA-504 millions FCFA---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4. BUSINESS DEVELOPMENT (Extension Progressive)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Les agents commerciaux gèrent également les partenariats B2B initiaux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Partenariats B2B : 2-3 personnes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Relations Commerçants : 1-2 personnes (complément agents commerciaux)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Nombre</a:t>
            </a:r>
            <a:r>
              <a:rPr sz="1600">
                <a:solidFill>
                  <a:srgbClr val="333333"/>
                </a:solidFill>
              </a:rPr>
              <a:t> : 4-5 personnes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Rôles</a:t>
            </a:r>
            <a:r>
              <a:rPr sz="1600">
                <a:solidFill>
                  <a:srgbClr val="333333"/>
                </a:solidFill>
              </a:rPr>
              <a:t> : Supermarchés, pharmacies, entreprises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Profil</a:t>
            </a:r>
            <a:r>
              <a:rPr sz="1600">
                <a:solidFill>
                  <a:srgbClr val="333333"/>
                </a:solidFill>
              </a:rPr>
              <a:t> : Senior, commercial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Salaire</a:t>
            </a:r>
            <a:r>
              <a:rPr sz="1600">
                <a:solidFill>
                  <a:srgbClr val="333333"/>
                </a:solidFill>
              </a:rPr>
              <a:t> : 24 millions FCFA-42 millions FCFA/an + commissions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</a:t>
            </a:r>
            <a:r>
              <a:rPr sz="1600">
                <a:solidFill>
                  <a:srgbClr val="333333"/>
                </a:solidFill>
              </a:rPr>
              <a:t> : 150 millions FCFA-270 millions FCFA</a:t>
            </a:r>
            <a:r>
              <a:rPr sz="1600" b="1">
                <a:solidFill>
                  <a:srgbClr val="003366"/>
                </a:solidFill>
              </a:rPr>
              <a:t>Expansion Géographique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Nombre</a:t>
            </a:r>
            <a:r>
              <a:rPr sz="1600">
                <a:solidFill>
                  <a:srgbClr val="333333"/>
                </a:solidFill>
              </a:rPr>
              <a:t> : 2-3 personnes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Rôles</a:t>
            </a:r>
            <a:r>
              <a:rPr sz="1600">
                <a:solidFill>
                  <a:srgbClr val="333333"/>
                </a:solidFill>
              </a:rPr>
              <a:t> : Recherche marché, lancement nouveaux pays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Profil</a:t>
            </a:r>
            <a:r>
              <a:rPr sz="1600">
                <a:solidFill>
                  <a:srgbClr val="333333"/>
                </a:solidFill>
              </a:rPr>
              <a:t> : Senior, stratégie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Salaire</a:t>
            </a:r>
            <a:r>
              <a:rPr sz="1600">
                <a:solidFill>
                  <a:srgbClr val="333333"/>
                </a:solidFill>
              </a:rPr>
              <a:t> : 30 millions FCFA-48 millions FCFA/an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</a:t>
            </a:r>
            <a:r>
              <a:rPr sz="1600">
                <a:solidFill>
                  <a:srgbClr val="333333"/>
                </a:solidFill>
              </a:rPr>
              <a:t> : 72 millions FCFA-150 millions FCFA</a:t>
            </a:r>
            <a:r>
              <a:rPr sz="1600" b="1">
                <a:solidFill>
                  <a:srgbClr val="003366"/>
                </a:solidFill>
              </a:rPr>
              <a:t>Relations Commerçants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Nombre</a:t>
            </a:r>
            <a:r>
              <a:rPr sz="1600">
                <a:solidFill>
                  <a:srgbClr val="333333"/>
                </a:solidFill>
              </a:rPr>
              <a:t> : 2-4 personnes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Rôles</a:t>
            </a:r>
            <a:r>
              <a:rPr sz="1600">
                <a:solidFill>
                  <a:srgbClr val="333333"/>
                </a:solidFill>
              </a:rPr>
              <a:t> : Onboarding, support, croissance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Profil</a:t>
            </a:r>
            <a:r>
              <a:rPr sz="1600">
                <a:solidFill>
                  <a:srgbClr val="333333"/>
                </a:solidFill>
              </a:rPr>
              <a:t> : Mid, commercial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Salaire</a:t>
            </a:r>
            <a:r>
              <a:rPr sz="1600">
                <a:solidFill>
                  <a:srgbClr val="333333"/>
                </a:solidFill>
              </a:rPr>
              <a:t> : 18 millions FCFA-30 millions FCFA/an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</a:t>
            </a:r>
            <a:r>
              <a:rPr sz="1600">
                <a:solidFill>
                  <a:srgbClr val="333333"/>
                </a:solidFill>
              </a:rPr>
              <a:t> : 48 millions FCFA-120 millions FCFA</a:t>
            </a:r>
            <a:r>
              <a:rPr sz="1600" b="1">
                <a:solidFill>
                  <a:srgbClr val="003366"/>
                </a:solidFill>
              </a:rPr>
              <a:t>Budget Business Development 2026</a:t>
            </a:r>
            <a:r>
              <a:rPr sz="1600">
                <a:solidFill>
                  <a:srgbClr val="333333"/>
                </a:solidFill>
              </a:rPr>
              <a:t> : 270 millions FCFA-540 millions FCFA---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5. FINANCE &amp; ADMIN (Extension Progressive)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Comptabilité externalisée ou part-time (1 personne)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Budget : 12 millions FCFA-24 millions FCFA</a:t>
            </a:r>
            <a:r>
              <a:rPr sz="1600" b="1">
                <a:solidFill>
                  <a:srgbClr val="003366"/>
                </a:solidFill>
              </a:rPr>
              <a:t>Extension Progressive (Q2-Q4 2026) : 2-3 Personnes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Comptabilité : 1 personne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Administration : 1 personne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RH : 1 personne (part-time)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Nombre</a:t>
            </a:r>
            <a:r>
              <a:rPr sz="1600">
                <a:solidFill>
                  <a:srgbClr val="333333"/>
                </a:solidFill>
              </a:rPr>
              <a:t> : 2 personnes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Rôles</a:t>
            </a:r>
            <a:r>
              <a:rPr sz="1600">
                <a:solidFill>
                  <a:srgbClr val="333333"/>
                </a:solidFill>
              </a:rPr>
              <a:t> : Comptabilité, reporting, fiscalité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Profil</a:t>
            </a:r>
            <a:r>
              <a:rPr sz="1600">
                <a:solidFill>
                  <a:srgbClr val="333333"/>
                </a:solidFill>
              </a:rPr>
              <a:t> : Mid-Senior, comptable certifié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Salaire</a:t>
            </a:r>
            <a:r>
              <a:rPr sz="1600">
                <a:solidFill>
                  <a:srgbClr val="333333"/>
                </a:solidFill>
              </a:rPr>
              <a:t> : 21 millions FCFA-33 millions FCFA/an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</a:t>
            </a:r>
            <a:r>
              <a:rPr sz="1600">
                <a:solidFill>
                  <a:srgbClr val="333333"/>
                </a:solidFill>
              </a:rPr>
              <a:t> : 48 millions FCFA-72 millions FCFA</a:t>
            </a:r>
            <a:r>
              <a:rPr sz="1600" b="1">
                <a:solidFill>
                  <a:srgbClr val="003366"/>
                </a:solidFill>
              </a:rPr>
              <a:t>RH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Nombre</a:t>
            </a:r>
            <a:r>
              <a:rPr sz="1600">
                <a:solidFill>
                  <a:srgbClr val="333333"/>
                </a:solidFill>
              </a:rPr>
              <a:t> : 2 personnes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Rôles</a:t>
            </a:r>
            <a:r>
              <a:rPr sz="1600">
                <a:solidFill>
                  <a:srgbClr val="333333"/>
                </a:solidFill>
              </a:rPr>
              <a:t> : Recrutement, onboarding, administration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Profil</a:t>
            </a:r>
            <a:r>
              <a:rPr sz="1600">
                <a:solidFill>
                  <a:srgbClr val="333333"/>
                </a:solidFill>
              </a:rPr>
              <a:t> : Mid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Salaire</a:t>
            </a:r>
            <a:r>
              <a:rPr sz="1600">
                <a:solidFill>
                  <a:srgbClr val="333333"/>
                </a:solidFill>
              </a:rPr>
              <a:t> : 18 millions FCFA-30 millions FCFA/an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</a:t>
            </a:r>
            <a:r>
              <a:rPr sz="1600">
                <a:solidFill>
                  <a:srgbClr val="333333"/>
                </a:solidFill>
              </a:rPr>
              <a:t> : 42 millions FCFA-66 millions FCFA</a:t>
            </a:r>
            <a:r>
              <a:rPr sz="1600" b="1">
                <a:solidFill>
                  <a:srgbClr val="003366"/>
                </a:solidFill>
              </a:rPr>
              <a:t>Légal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Nombre</a:t>
            </a:r>
            <a:r>
              <a:rPr sz="1600">
                <a:solidFill>
                  <a:srgbClr val="333333"/>
                </a:solidFill>
              </a:rPr>
              <a:t> : 1 personne (part-time ou consultant)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Rôles</a:t>
            </a:r>
            <a:r>
              <a:rPr sz="1600">
                <a:solidFill>
                  <a:srgbClr val="333333"/>
                </a:solidFill>
              </a:rPr>
              <a:t> : Contrats, conformité, réglementation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Profil</a:t>
            </a:r>
            <a:r>
              <a:rPr sz="1600">
                <a:solidFill>
                  <a:srgbClr val="333333"/>
                </a:solidFill>
              </a:rPr>
              <a:t> : Senior, avocat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Salaire</a:t>
            </a:r>
            <a:r>
              <a:rPr sz="1600">
                <a:solidFill>
                  <a:srgbClr val="333333"/>
                </a:solidFill>
              </a:rPr>
              <a:t> : 24 millions FCFA-36 millions FCFA/an (part-time)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</a:t>
            </a:r>
            <a:r>
              <a:rPr sz="1600">
                <a:solidFill>
                  <a:srgbClr val="333333"/>
                </a:solidFill>
              </a:rPr>
              <a:t> : 30 millions FCFA-42 millions FCFA</a:t>
            </a:r>
            <a:r>
              <a:rPr sz="1600" b="1">
                <a:solidFill>
                  <a:srgbClr val="003366"/>
                </a:solidFill>
              </a:rPr>
              <a:t>Administration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Nombre</a:t>
            </a:r>
            <a:r>
              <a:rPr sz="1600">
                <a:solidFill>
                  <a:srgbClr val="333333"/>
                </a:solidFill>
              </a:rPr>
              <a:t> : 1-2 personnes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Rôles</a:t>
            </a:r>
            <a:r>
              <a:rPr sz="1600">
                <a:solidFill>
                  <a:srgbClr val="333333"/>
                </a:solidFill>
              </a:rPr>
              <a:t> : Administration générale, bureaux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Profil</a:t>
            </a:r>
            <a:r>
              <a:rPr sz="1600">
                <a:solidFill>
                  <a:srgbClr val="333333"/>
                </a:solidFill>
              </a:rPr>
              <a:t> : Junior-Mid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Salaire</a:t>
            </a:r>
            <a:r>
              <a:rPr sz="1600">
                <a:solidFill>
                  <a:srgbClr val="333333"/>
                </a:solidFill>
              </a:rPr>
              <a:t> : 12 millions FCFA-21 millions FCFA/an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</a:t>
            </a:r>
            <a:r>
              <a:rPr sz="1600">
                <a:solidFill>
                  <a:srgbClr val="333333"/>
                </a:solidFill>
              </a:rPr>
              <a:t> : 18 millions FCFA-48 millions FCFA</a:t>
            </a:r>
            <a:r>
              <a:rPr sz="1600" b="1">
                <a:solidFill>
                  <a:srgbClr val="003366"/>
                </a:solidFill>
              </a:rPr>
              <a:t>Budget Finance &amp; Admin 2026</a:t>
            </a:r>
            <a:r>
              <a:rPr sz="1600">
                <a:solidFill>
                  <a:srgbClr val="333333"/>
                </a:solidFill>
              </a:rPr>
              <a:t> : 138 millions FCFA-228 millions FCFA---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BUREAUX ET INFRASTRUCTURE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Bureau Principal - Cameroun (Yaoundé ou Douala)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Q1 2026 (Phase Initiale)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Surface</a:t>
            </a:r>
            <a:r>
              <a:rPr sz="1600">
                <a:solidFill>
                  <a:srgbClr val="333333"/>
                </a:solidFill>
              </a:rPr>
              <a:t> : 50-100 m² (bureau minimal)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Capacité</a:t>
            </a:r>
            <a:r>
              <a:rPr sz="1600">
                <a:solidFill>
                  <a:srgbClr val="333333"/>
                </a:solidFill>
              </a:rPr>
              <a:t> : 5-10 personnes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Coût location</a:t>
            </a:r>
            <a:r>
              <a:rPr sz="1600">
                <a:solidFill>
                  <a:srgbClr val="333333"/>
                </a:solidFill>
              </a:rPr>
              <a:t> : 300K FCFA-600K FCFA/mois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Équipement</a:t>
            </a:r>
            <a:r>
              <a:rPr sz="1600">
                <a:solidFill>
                  <a:srgbClr val="333333"/>
                </a:solidFill>
              </a:rPr>
              <a:t> : 6 millions FCFA-12 millions FCFA(meubles, tech essentiel)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 annuel</a:t>
            </a:r>
            <a:r>
              <a:rPr sz="1600">
                <a:solidFill>
                  <a:srgbClr val="333333"/>
                </a:solidFill>
              </a:rPr>
              <a:t> : 9 millions FCFA-19 millions FCFA#### Q2-Q3 2026 (Extension selon Croissance)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Surface</a:t>
            </a:r>
            <a:r>
              <a:rPr sz="1600">
                <a:solidFill>
                  <a:srgbClr val="333333"/>
                </a:solidFill>
              </a:rPr>
              <a:t> : 150-200 m²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Capacité</a:t>
            </a:r>
            <a:r>
              <a:rPr sz="1600">
                <a:solidFill>
                  <a:srgbClr val="333333"/>
                </a:solidFill>
              </a:rPr>
              <a:t> : 15-25 personnes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Coût location</a:t>
            </a:r>
            <a:r>
              <a:rPr sz="1600">
                <a:solidFill>
                  <a:srgbClr val="333333"/>
                </a:solidFill>
              </a:rPr>
              <a:t> : 900K FCFA-1 millions FCFA/mois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Équipement</a:t>
            </a:r>
            <a:r>
              <a:rPr sz="1600">
                <a:solidFill>
                  <a:srgbClr val="333333"/>
                </a:solidFill>
              </a:rPr>
              <a:t> : 12 millions FCFA-24 millions FCFA- </a:t>
            </a:r>
            <a:r>
              <a:rPr sz="1600" b="1">
                <a:solidFill>
                  <a:srgbClr val="003366"/>
                </a:solidFill>
              </a:rPr>
              <a:t>Budget annuel</a:t>
            </a:r>
            <a:r>
              <a:rPr sz="1600">
                <a:solidFill>
                  <a:srgbClr val="333333"/>
                </a:solidFill>
              </a:rPr>
              <a:t> : 22 millions FCFA-42 millions FCFA#### Q3-Q4 2026 (Expansion)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Surface</a:t>
            </a:r>
            <a:r>
              <a:rPr sz="1600">
                <a:solidFill>
                  <a:srgbClr val="333333"/>
                </a:solidFill>
              </a:rPr>
              <a:t> : 400-500 m²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Capacité</a:t>
            </a:r>
            <a:r>
              <a:rPr sz="1600">
                <a:solidFill>
                  <a:srgbClr val="333333"/>
                </a:solidFill>
              </a:rPr>
              <a:t> : 60-80 personnes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Coût location</a:t>
            </a:r>
            <a:r>
              <a:rPr sz="1600">
                <a:solidFill>
                  <a:srgbClr val="333333"/>
                </a:solidFill>
              </a:rPr>
              <a:t> : 2 millions FCFA-3 millions FCFA/mois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Équipement</a:t>
            </a:r>
            <a:r>
              <a:rPr sz="1600">
                <a:solidFill>
                  <a:srgbClr val="333333"/>
                </a:solidFill>
              </a:rPr>
              <a:t> : 30 millions FCFA-48 millions FCFA- </a:t>
            </a:r>
            <a:r>
              <a:rPr sz="1600" b="1">
                <a:solidFill>
                  <a:srgbClr val="003366"/>
                </a:solidFill>
              </a:rPr>
              <a:t>Budget annuel</a:t>
            </a:r>
            <a:r>
              <a:rPr sz="1600">
                <a:solidFill>
                  <a:srgbClr val="333333"/>
                </a:solidFill>
              </a:rPr>
              <a:t> : 58 millions FCFA-91 millions FCFA---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Bureaux Régionaux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Côte d'Ivoire (Abidjan) - Q1 2027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Surface</a:t>
            </a:r>
            <a:r>
              <a:rPr sz="1600">
                <a:solidFill>
                  <a:srgbClr val="333333"/>
                </a:solidFill>
              </a:rPr>
              <a:t> : 300-400 m²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Capacité</a:t>
            </a:r>
            <a:r>
              <a:rPr sz="1600">
                <a:solidFill>
                  <a:srgbClr val="333333"/>
                </a:solidFill>
              </a:rPr>
              <a:t> : 40-50 personnes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Coût location</a:t>
            </a:r>
            <a:r>
              <a:rPr sz="1600">
                <a:solidFill>
                  <a:srgbClr val="333333"/>
                </a:solidFill>
              </a:rPr>
              <a:t> : 1 millions FCFA-2 millions FCFA/mois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Équipement</a:t>
            </a:r>
            <a:r>
              <a:rPr sz="1600">
                <a:solidFill>
                  <a:srgbClr val="333333"/>
                </a:solidFill>
              </a:rPr>
              <a:t> : 24 millions FCFA-36 millions FCFA- </a:t>
            </a:r>
            <a:r>
              <a:rPr sz="1600" b="1">
                <a:solidFill>
                  <a:srgbClr val="003366"/>
                </a:solidFill>
              </a:rPr>
              <a:t>Budget annuel</a:t>
            </a:r>
            <a:r>
              <a:rPr sz="1600">
                <a:solidFill>
                  <a:srgbClr val="333333"/>
                </a:solidFill>
              </a:rPr>
              <a:t> : 45 millions FCFA-68 millions FCFA#### Sénégal (Dakar) - Q3 2027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Surface</a:t>
            </a:r>
            <a:r>
              <a:rPr sz="1600">
                <a:solidFill>
                  <a:srgbClr val="333333"/>
                </a:solidFill>
              </a:rPr>
              <a:t> : 250-350 m²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Capacité</a:t>
            </a:r>
            <a:r>
              <a:rPr sz="1600">
                <a:solidFill>
                  <a:srgbClr val="333333"/>
                </a:solidFill>
              </a:rPr>
              <a:t> : 30-40 personnes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Coût location</a:t>
            </a:r>
            <a:r>
              <a:rPr sz="1600">
                <a:solidFill>
                  <a:srgbClr val="333333"/>
                </a:solidFill>
              </a:rPr>
              <a:t> : 1 millions FCFA-2 millions FCFA/mois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Équipement</a:t>
            </a:r>
            <a:r>
              <a:rPr sz="1600">
                <a:solidFill>
                  <a:srgbClr val="333333"/>
                </a:solidFill>
              </a:rPr>
              <a:t> : 21 millions FCFA-30 millions FCFA- </a:t>
            </a:r>
            <a:r>
              <a:rPr sz="1600" b="1">
                <a:solidFill>
                  <a:srgbClr val="003366"/>
                </a:solidFill>
              </a:rPr>
              <a:t>Budget annuel</a:t>
            </a:r>
            <a:r>
              <a:rPr sz="1600">
                <a:solidFill>
                  <a:srgbClr val="333333"/>
                </a:solidFill>
              </a:rPr>
              <a:t> : 39 millions FCFA-55 millions FCFA#### Autres Pays (2028-2029)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 par bureau</a:t>
            </a:r>
            <a:r>
              <a:rPr sz="1600">
                <a:solidFill>
                  <a:srgbClr val="333333"/>
                </a:solidFill>
              </a:rPr>
              <a:t> : 30 millions FCFA-60 millions FCFA/an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Nombre</a:t>
            </a:r>
            <a:r>
              <a:rPr sz="1600">
                <a:solidFill>
                  <a:srgbClr val="333333"/>
                </a:solidFill>
              </a:rPr>
              <a:t> : 5-10 bureaux selon expansion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💻 INFRASTRUCTURE TECHNOLOGIQUE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Cloud &amp; Serveurs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2026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Cloud Provider</a:t>
            </a:r>
            <a:r>
              <a:rPr sz="1600">
                <a:solidFill>
                  <a:srgbClr val="333333"/>
                </a:solidFill>
              </a:rPr>
              <a:t> : AWS / Render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Services</a:t>
            </a:r>
            <a:r>
              <a:rPr sz="1600">
                <a:solidFill>
                  <a:srgbClr val="333333"/>
                </a:solidFill>
              </a:rPr>
              <a:t> : Compute, storage, database, CDN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 mensuel</a:t>
            </a:r>
            <a:r>
              <a:rPr sz="1600">
                <a:solidFill>
                  <a:srgbClr val="333333"/>
                </a:solidFill>
              </a:rPr>
              <a:t> : 4 millions FCFA-7 millions FCFA- </a:t>
            </a:r>
            <a:r>
              <a:rPr sz="1600" b="1">
                <a:solidFill>
                  <a:srgbClr val="003366"/>
                </a:solidFill>
              </a:rPr>
              <a:t>Budget annuel</a:t>
            </a:r>
            <a:r>
              <a:rPr sz="1600">
                <a:solidFill>
                  <a:srgbClr val="333333"/>
                </a:solidFill>
              </a:rPr>
              <a:t> : 57 millions FCFA-86 millions FCFA#### 2027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 mensuel</a:t>
            </a:r>
            <a:r>
              <a:rPr sz="1600">
                <a:solidFill>
                  <a:srgbClr val="333333"/>
                </a:solidFill>
              </a:rPr>
              <a:t> : 12 millions FCFA-18 millions FCFA- </a:t>
            </a:r>
            <a:r>
              <a:rPr sz="1600" b="1">
                <a:solidFill>
                  <a:srgbClr val="003366"/>
                </a:solidFill>
              </a:rPr>
              <a:t>Budget annuel</a:t>
            </a:r>
            <a:r>
              <a:rPr sz="1600">
                <a:solidFill>
                  <a:srgbClr val="333333"/>
                </a:solidFill>
              </a:rPr>
              <a:t> : 144 millions FCFA-216 millions FCFA#### 2028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 mensuel</a:t>
            </a:r>
            <a:r>
              <a:rPr sz="1600">
                <a:solidFill>
                  <a:srgbClr val="333333"/>
                </a:solidFill>
              </a:rPr>
              <a:t> : 30 millions FCFA-45 millions FCFA- </a:t>
            </a:r>
            <a:r>
              <a:rPr sz="1600" b="1">
                <a:solidFill>
                  <a:srgbClr val="003366"/>
                </a:solidFill>
              </a:rPr>
              <a:t>Budget annuel</a:t>
            </a:r>
            <a:r>
              <a:rPr sz="1600">
                <a:solidFill>
                  <a:srgbClr val="333333"/>
                </a:solidFill>
              </a:rPr>
              <a:t> : 360 millions FCFA-540 millions FCFA#### 2029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 mensuel</a:t>
            </a:r>
            <a:r>
              <a:rPr sz="1600">
                <a:solidFill>
                  <a:srgbClr val="333333"/>
                </a:solidFill>
              </a:rPr>
              <a:t> : 72 millions FCFA-108 millions FCFA- </a:t>
            </a:r>
            <a:r>
              <a:rPr sz="1600" b="1">
                <a:solidFill>
                  <a:srgbClr val="003366"/>
                </a:solidFill>
              </a:rPr>
              <a:t>Budget annuel</a:t>
            </a:r>
            <a:r>
              <a:rPr sz="1600">
                <a:solidFill>
                  <a:srgbClr val="333333"/>
                </a:solidFill>
              </a:rPr>
              <a:t> : 864 millions FCFA-1.3 billions FCFA---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Outils &amp; Licences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Développement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GitHub/GitLab</a:t>
            </a:r>
            <a:r>
              <a:rPr sz="1600">
                <a:solidFill>
                  <a:srgbClr val="333333"/>
                </a:solidFill>
              </a:rPr>
              <a:t> : 30K FCFA-120K FCFA/mois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CI/CD</a:t>
            </a:r>
            <a:r>
              <a:rPr sz="1600">
                <a:solidFill>
                  <a:srgbClr val="333333"/>
                </a:solidFill>
              </a:rPr>
              <a:t> : 60K FCFA-300K FCFA/mois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Monitoring</a:t>
            </a:r>
            <a:r>
              <a:rPr sz="1600">
                <a:solidFill>
                  <a:srgbClr val="333333"/>
                </a:solidFill>
              </a:rPr>
              <a:t> : 120K FCFA-600K FCFA/mois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Total</a:t>
            </a:r>
            <a:r>
              <a:rPr sz="1600">
                <a:solidFill>
                  <a:srgbClr val="333333"/>
                </a:solidFill>
              </a:rPr>
              <a:t> : 2 millions FCFA-12 millions FCFA/an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Communication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Slack</a:t>
            </a:r>
            <a:r>
              <a:rPr sz="1600">
                <a:solidFill>
                  <a:srgbClr val="333333"/>
                </a:solidFill>
              </a:rPr>
              <a:t> : 60K FCFA-300K FCFA/mois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Zoom</a:t>
            </a:r>
            <a:r>
              <a:rPr sz="1600">
                <a:solidFill>
                  <a:srgbClr val="333333"/>
                </a:solidFill>
              </a:rPr>
              <a:t> : 30K FCFA-120K FCFA/mois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Email</a:t>
            </a:r>
            <a:r>
              <a:rPr sz="1600">
                <a:solidFill>
                  <a:srgbClr val="333333"/>
                </a:solidFill>
              </a:rPr>
              <a:t> : 30K FCFA-120K FCFA/mois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Total</a:t>
            </a:r>
            <a:r>
              <a:rPr sz="1600">
                <a:solidFill>
                  <a:srgbClr val="333333"/>
                </a:solidFill>
              </a:rPr>
              <a:t> : 1 millions FCFA-6 millions FCFA/an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Productivité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Google Workspace</a:t>
            </a:r>
            <a:r>
              <a:rPr sz="1600">
                <a:solidFill>
                  <a:srgbClr val="333333"/>
                </a:solidFill>
              </a:rPr>
              <a:t> : 60K FCFA-300K FCFA/mois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Notion/Confluence</a:t>
            </a:r>
            <a:r>
              <a:rPr sz="1600">
                <a:solidFill>
                  <a:srgbClr val="333333"/>
                </a:solidFill>
              </a:rPr>
              <a:t> : 30K FCFA-180K FCFA/mois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Design</a:t>
            </a:r>
            <a:r>
              <a:rPr sz="1600">
                <a:solidFill>
                  <a:srgbClr val="333333"/>
                </a:solidFill>
              </a:rPr>
              <a:t> : 30K FCFA-120K FCFA/mois (Figma, etc.)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Total</a:t>
            </a:r>
            <a:r>
              <a:rPr sz="1600">
                <a:solidFill>
                  <a:srgbClr val="333333"/>
                </a:solidFill>
              </a:rPr>
              <a:t> : 1 millions FCFA-7 millions FCFA/an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Analytics &amp; Marketing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Google Analytics</a:t>
            </a:r>
            <a:r>
              <a:rPr sz="1600">
                <a:solidFill>
                  <a:srgbClr val="333333"/>
                </a:solidFill>
              </a:rPr>
              <a:t> : Gratuit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Mixpanel/Amplitude</a:t>
            </a:r>
            <a:r>
              <a:rPr sz="1600">
                <a:solidFill>
                  <a:srgbClr val="333333"/>
                </a:solidFill>
              </a:rPr>
              <a:t> : 120K FCFA-1 millions FCFA/mois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Email marketing</a:t>
            </a:r>
            <a:r>
              <a:rPr sz="1600">
                <a:solidFill>
                  <a:srgbClr val="333333"/>
                </a:solidFill>
              </a:rPr>
              <a:t> : 60K FCFA-300K FCFA/mois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Total</a:t>
            </a:r>
            <a:r>
              <a:rPr sz="1600">
                <a:solidFill>
                  <a:srgbClr val="333333"/>
                </a:solidFill>
              </a:rPr>
              <a:t> : 2 millions FCFA-18 millions FCFA/an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🚚 OPÉRATIONS LIVRAISON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Gestion Coursiers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Recrutement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Processus</a:t>
            </a:r>
            <a:r>
              <a:rPr sz="1600">
                <a:solidFill>
                  <a:srgbClr val="333333"/>
                </a:solidFill>
              </a:rPr>
              <a:t> : Application → Vérification (KYC) → Formation → Activation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Coût par coursier</a:t>
            </a:r>
            <a:r>
              <a:rPr sz="1600">
                <a:solidFill>
                  <a:srgbClr val="333333"/>
                </a:solidFill>
              </a:rPr>
              <a:t> : 30K FCFA-60K FCFA(vérification, formation)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Objectif 2026</a:t>
            </a:r>
            <a:r>
              <a:rPr sz="1600">
                <a:solidFill>
                  <a:srgbClr val="333333"/>
                </a:solidFill>
              </a:rPr>
              <a:t> : 2,500 coursiers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</a:t>
            </a:r>
            <a:r>
              <a:rPr sz="1600">
                <a:solidFill>
                  <a:srgbClr val="333333"/>
                </a:solidFill>
              </a:rPr>
              <a:t> : 75 millions FCFA-150 millions FCFA#### Formation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Modules</a:t>
            </a:r>
            <a:r>
              <a:rPr sz="1600">
                <a:solidFill>
                  <a:srgbClr val="333333"/>
                </a:solidFill>
              </a:rPr>
              <a:t> : En ligne, vidéos, quiz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Coût</a:t>
            </a:r>
            <a:r>
              <a:rPr sz="1600">
                <a:solidFill>
                  <a:srgbClr val="333333"/>
                </a:solidFill>
              </a:rPr>
              <a:t> : Intégré dans recrutement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Suivi</a:t>
            </a:r>
            <a:r>
              <a:rPr sz="1600">
                <a:solidFill>
                  <a:srgbClr val="333333"/>
                </a:solidFill>
              </a:rPr>
              <a:t> : Évaluations régulières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Support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Équipe</a:t>
            </a:r>
            <a:r>
              <a:rPr sz="1600">
                <a:solidFill>
                  <a:srgbClr val="333333"/>
                </a:solidFill>
              </a:rPr>
              <a:t> : 5-6 personnes (département opérations)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Canaux</a:t>
            </a:r>
            <a:r>
              <a:rPr sz="1600">
                <a:solidFill>
                  <a:srgbClr val="333333"/>
                </a:solidFill>
              </a:rPr>
              <a:t> : Chat, téléphone, email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</a:t>
            </a:r>
            <a:r>
              <a:rPr sz="1600">
                <a:solidFill>
                  <a:srgbClr val="333333"/>
                </a:solidFill>
              </a:rPr>
              <a:t> : Intégré dans opérations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Optimisation Logistique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IA de Routing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Développement</a:t>
            </a:r>
            <a:r>
              <a:rPr sz="1600">
                <a:solidFill>
                  <a:srgbClr val="333333"/>
                </a:solidFill>
              </a:rPr>
              <a:t> : Intégré dans technique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Maintenance</a:t>
            </a:r>
            <a:r>
              <a:rPr sz="1600">
                <a:solidFill>
                  <a:srgbClr val="333333"/>
                </a:solidFill>
              </a:rPr>
              <a:t> : 12 millions FCFA-24 millions FCFA/an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Amélioration continue</a:t>
            </a:r>
            <a:r>
              <a:rPr sz="1600">
                <a:solidFill>
                  <a:srgbClr val="333333"/>
                </a:solidFill>
              </a:rPr>
              <a:t> : 18 millions FCFA-36 millions FCFA/an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Suivi Temps Réel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GPS Tracking</a:t>
            </a:r>
            <a:r>
              <a:rPr sz="1600">
                <a:solidFill>
                  <a:srgbClr val="333333"/>
                </a:solidFill>
              </a:rPr>
              <a:t> : Intégré dans app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Infrastructure</a:t>
            </a:r>
            <a:r>
              <a:rPr sz="1600">
                <a:solidFill>
                  <a:srgbClr val="333333"/>
                </a:solidFill>
              </a:rPr>
              <a:t> : Intégré dans cloud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Coûts</a:t>
            </a:r>
            <a:r>
              <a:rPr sz="1600">
                <a:solidFill>
                  <a:srgbClr val="333333"/>
                </a:solidFill>
              </a:rPr>
              <a:t> : Négligeables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📞 SUPPORT CLIENT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Canaux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Chat en App (24/7)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Équipe</a:t>
            </a:r>
            <a:r>
              <a:rPr sz="1600">
                <a:solidFill>
                  <a:srgbClr val="333333"/>
                </a:solidFill>
              </a:rPr>
              <a:t> : 8-10 personnes (rotation)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Outils</a:t>
            </a:r>
            <a:r>
              <a:rPr sz="1600">
                <a:solidFill>
                  <a:srgbClr val="333333"/>
                </a:solidFill>
              </a:rPr>
              <a:t> : Intercom, Zendesk, ou custom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Coût outils</a:t>
            </a:r>
            <a:r>
              <a:rPr sz="1600">
                <a:solidFill>
                  <a:srgbClr val="333333"/>
                </a:solidFill>
              </a:rPr>
              <a:t> : 120K FCFA-600K FCFA/mois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 personnel</a:t>
            </a:r>
            <a:r>
              <a:rPr sz="1600">
                <a:solidFill>
                  <a:srgbClr val="333333"/>
                </a:solidFill>
              </a:rPr>
              <a:t> : Intégré dans opérations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Email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Équipe</a:t>
            </a:r>
            <a:r>
              <a:rPr sz="1600">
                <a:solidFill>
                  <a:srgbClr val="333333"/>
                </a:solidFill>
              </a:rPr>
              <a:t> : 2-3 personnes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Outils</a:t>
            </a:r>
            <a:r>
              <a:rPr sz="1600">
                <a:solidFill>
                  <a:srgbClr val="333333"/>
                </a:solidFill>
              </a:rPr>
              <a:t> : Intégré dans workspace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 personnel</a:t>
            </a:r>
            <a:r>
              <a:rPr sz="1600">
                <a:solidFill>
                  <a:srgbClr val="333333"/>
                </a:solidFill>
              </a:rPr>
              <a:t> : Intégré dans opérations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Téléphone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Ligne dédiée</a:t>
            </a:r>
            <a:r>
              <a:rPr sz="1600">
                <a:solidFill>
                  <a:srgbClr val="333333"/>
                </a:solidFill>
              </a:rPr>
              <a:t> : 60K FCFA-180K FCFA/mois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Équipe</a:t>
            </a:r>
            <a:r>
              <a:rPr sz="1600">
                <a:solidFill>
                  <a:srgbClr val="333333"/>
                </a:solidFill>
              </a:rPr>
              <a:t> : 2-3 personnes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 personnel</a:t>
            </a:r>
            <a:r>
              <a:rPr sz="1600">
                <a:solidFill>
                  <a:srgbClr val="333333"/>
                </a:solidFill>
              </a:rPr>
              <a:t> : Intégré dans opérations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Réseaux Sociaux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Équipe</a:t>
            </a:r>
            <a:r>
              <a:rPr sz="1600">
                <a:solidFill>
                  <a:srgbClr val="333333"/>
                </a:solidFill>
              </a:rPr>
              <a:t> : 2 personnes (community management)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 personnel</a:t>
            </a:r>
            <a:r>
              <a:rPr sz="1600">
                <a:solidFill>
                  <a:srgbClr val="333333"/>
                </a:solidFill>
              </a:rPr>
              <a:t> : Intégré dans marketing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🔒 SÉCURITÉ ET CONFORMITÉ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Sécurité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Infrastructure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SSL/TLS</a:t>
            </a:r>
            <a:r>
              <a:rPr sz="1600">
                <a:solidFill>
                  <a:srgbClr val="333333"/>
                </a:solidFill>
              </a:rPr>
              <a:t> : Intégré cloud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Firewall</a:t>
            </a:r>
            <a:r>
              <a:rPr sz="1600">
                <a:solidFill>
                  <a:srgbClr val="333333"/>
                </a:solidFill>
              </a:rPr>
              <a:t> : Intégré cloud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DDoS Protection</a:t>
            </a:r>
            <a:r>
              <a:rPr sz="1600">
                <a:solidFill>
                  <a:srgbClr val="333333"/>
                </a:solidFill>
              </a:rPr>
              <a:t> : Cloudflare, 12K FCFA-120K FCFA/mois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</a:t>
            </a:r>
            <a:r>
              <a:rPr sz="1600">
                <a:solidFill>
                  <a:srgbClr val="333333"/>
                </a:solidFill>
              </a:rPr>
              <a:t> : 144K FCFA-1 millions FCFA/an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Authentification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JWT sécurisé</a:t>
            </a:r>
            <a:r>
              <a:rPr sz="1600">
                <a:solidFill>
                  <a:srgbClr val="333333"/>
                </a:solidFill>
              </a:rPr>
              <a:t> : Développement interne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2FA</a:t>
            </a:r>
            <a:r>
              <a:rPr sz="1600">
                <a:solidFill>
                  <a:srgbClr val="333333"/>
                </a:solidFill>
              </a:rPr>
              <a:t> : Développement interne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</a:t>
            </a:r>
            <a:r>
              <a:rPr sz="1600">
                <a:solidFill>
                  <a:srgbClr val="333333"/>
                </a:solidFill>
              </a:rPr>
              <a:t> : Intégré dans développement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Données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Chiffrement</a:t>
            </a:r>
            <a:r>
              <a:rPr sz="1600">
                <a:solidFill>
                  <a:srgbClr val="333333"/>
                </a:solidFill>
              </a:rPr>
              <a:t> : End-to-end, intégré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Backup</a:t>
            </a:r>
            <a:r>
              <a:rPr sz="1600">
                <a:solidFill>
                  <a:srgbClr val="333333"/>
                </a:solidFill>
              </a:rPr>
              <a:t> : Quotidien, intégré cloud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</a:t>
            </a:r>
            <a:r>
              <a:rPr sz="1600">
                <a:solidFill>
                  <a:srgbClr val="333333"/>
                </a:solidFill>
              </a:rPr>
              <a:t> : Intégré dans cloud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Conformité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RGPD / Lois Locales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Veille juridique</a:t>
            </a:r>
            <a:r>
              <a:rPr sz="1600">
                <a:solidFill>
                  <a:srgbClr val="333333"/>
                </a:solidFill>
              </a:rPr>
              <a:t> : Consultant légal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Audits</a:t>
            </a:r>
            <a:r>
              <a:rPr sz="1600">
                <a:solidFill>
                  <a:srgbClr val="333333"/>
                </a:solidFill>
              </a:rPr>
              <a:t> : Annuels, 6 millions FCFA-12 millions FCFA- </a:t>
            </a:r>
            <a:r>
              <a:rPr sz="1600" b="1">
                <a:solidFill>
                  <a:srgbClr val="003366"/>
                </a:solidFill>
              </a:rPr>
              <a:t>Budget</a:t>
            </a:r>
            <a:r>
              <a:rPr sz="1600">
                <a:solidFill>
                  <a:srgbClr val="333333"/>
                </a:solidFill>
              </a:rPr>
              <a:t> : 9 millions FCFA-18 millions FCFA/an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Paiements (PCI-DSS)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Compliance</a:t>
            </a:r>
            <a:r>
              <a:rPr sz="1600">
                <a:solidFill>
                  <a:srgbClr val="333333"/>
                </a:solidFill>
              </a:rPr>
              <a:t> : Via processeur paiement (Stripe, etc.)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Audits</a:t>
            </a:r>
            <a:r>
              <a:rPr sz="1600">
                <a:solidFill>
                  <a:srgbClr val="333333"/>
                </a:solidFill>
              </a:rPr>
              <a:t> : Intégrés processeur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</a:t>
            </a:r>
            <a:r>
              <a:rPr sz="1600">
                <a:solidFill>
                  <a:srgbClr val="333333"/>
                </a:solidFill>
              </a:rPr>
              <a:t> : Intégré dans frais transaction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QUALITÉ ET MONITORING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Tests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Automatisation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Unitaires</a:t>
            </a:r>
            <a:r>
              <a:rPr sz="1600">
                <a:solidFill>
                  <a:srgbClr val="333333"/>
                </a:solidFill>
              </a:rPr>
              <a:t> : Intégrés développement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Intégration</a:t>
            </a:r>
            <a:r>
              <a:rPr sz="1600">
                <a:solidFill>
                  <a:srgbClr val="333333"/>
                </a:solidFill>
              </a:rPr>
              <a:t> : CI/CD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E2E</a:t>
            </a:r>
            <a:r>
              <a:rPr sz="1600">
                <a:solidFill>
                  <a:srgbClr val="333333"/>
                </a:solidFill>
              </a:rPr>
              <a:t> : Playwright, Detox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</a:t>
            </a:r>
            <a:r>
              <a:rPr sz="1600">
                <a:solidFill>
                  <a:srgbClr val="333333"/>
                </a:solidFill>
              </a:rPr>
              <a:t> : Intégré dans développement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Tests Manuels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QA Team</a:t>
            </a:r>
            <a:r>
              <a:rPr sz="1600">
                <a:solidFill>
                  <a:srgbClr val="333333"/>
                </a:solidFill>
              </a:rPr>
              <a:t> : 2 personnes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</a:t>
            </a:r>
            <a:r>
              <a:rPr sz="1600">
                <a:solidFill>
                  <a:srgbClr val="333333"/>
                </a:solidFill>
              </a:rPr>
              <a:t> : Intégré dans technique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Monitoring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Infrastructure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Logs</a:t>
            </a:r>
            <a:r>
              <a:rPr sz="1600">
                <a:solidFill>
                  <a:srgbClr val="333333"/>
                </a:solidFill>
              </a:rPr>
              <a:t> : CloudWatch, Datadog, etc.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Métriques</a:t>
            </a:r>
            <a:r>
              <a:rPr sz="1600">
                <a:solidFill>
                  <a:srgbClr val="333333"/>
                </a:solidFill>
              </a:rPr>
              <a:t> : Prometheus, Grafana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Alertes</a:t>
            </a:r>
            <a:r>
              <a:rPr sz="1600">
                <a:solidFill>
                  <a:srgbClr val="333333"/>
                </a:solidFill>
              </a:rPr>
              <a:t> : PagerDuty, 12K FCFA-60K FCFA/mois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</a:t>
            </a:r>
            <a:r>
              <a:rPr sz="1600">
                <a:solidFill>
                  <a:srgbClr val="333333"/>
                </a:solidFill>
              </a:rPr>
              <a:t> : 300K FCFA-1 millions FCFA/mois = 3 millions FCFA-14 millions FCFA/an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Application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APM</a:t>
            </a:r>
            <a:r>
              <a:rPr sz="1600">
                <a:solidFill>
                  <a:srgbClr val="333333"/>
                </a:solidFill>
              </a:rPr>
              <a:t> : New Relic, Datadog, 120K FCFA-1 millions FCFA/mois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Error Tracking</a:t>
            </a:r>
            <a:r>
              <a:rPr sz="1600">
                <a:solidFill>
                  <a:srgbClr val="333333"/>
                </a:solidFill>
              </a:rPr>
              <a:t> : Sentry, 30K FCFA-300K FCFA/mois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Budget</a:t>
            </a:r>
            <a:r>
              <a:rPr sz="1600">
                <a:solidFill>
                  <a:srgbClr val="333333"/>
                </a:solidFill>
              </a:rPr>
              <a:t> : 1 millions FCFA-18 millions FCFA/an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CROISSANCE ÉQUIPE (2026-2029)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2026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Total</a:t>
            </a:r>
            <a:r>
              <a:rPr sz="1600">
                <a:solidFill>
                  <a:srgbClr val="333333"/>
                </a:solidFill>
              </a:rPr>
              <a:t> : 60-85 personnes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Répartition</a:t>
            </a:r>
            <a:r>
              <a:rPr sz="1600">
                <a:solidFill>
                  <a:srgbClr val="333333"/>
                </a:solidFill>
              </a:rPr>
              <a:t> : Technique (20), Opérations (30), Marketing (15), BD (10), Finance (8)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2027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Total</a:t>
            </a:r>
            <a:r>
              <a:rPr sz="1600">
                <a:solidFill>
                  <a:srgbClr val="333333"/>
                </a:solidFill>
              </a:rPr>
              <a:t> : 150-200 personnes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Répartition</a:t>
            </a:r>
            <a:r>
              <a:rPr sz="1600">
                <a:solidFill>
                  <a:srgbClr val="333333"/>
                </a:solidFill>
              </a:rPr>
              <a:t> : Technique (40), Opérations (80), Marketing (30), BD (25), Finance (15)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2028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Total</a:t>
            </a:r>
            <a:r>
              <a:rPr sz="1600">
                <a:solidFill>
                  <a:srgbClr val="333333"/>
                </a:solidFill>
              </a:rPr>
              <a:t> : 350-450 personnes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Répartition</a:t>
            </a:r>
            <a:r>
              <a:rPr sz="1600">
                <a:solidFill>
                  <a:srgbClr val="333333"/>
                </a:solidFill>
              </a:rPr>
              <a:t> : Technique (80), Opérations (180), Marketing (70), BD (50), Finance (30)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2029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Total</a:t>
            </a:r>
            <a:r>
              <a:rPr sz="1600">
                <a:solidFill>
                  <a:srgbClr val="333333"/>
                </a:solidFill>
              </a:rPr>
              <a:t> : 700-900 personnes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Répartition</a:t>
            </a:r>
            <a:r>
              <a:rPr sz="1600">
                <a:solidFill>
                  <a:srgbClr val="333333"/>
                </a:solidFill>
              </a:rPr>
              <a:t> : Technique (150), Opérations (400), Marketing (150), BD (100), Finance (50)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BUDGET OPÉRATIONNEL TOTAL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2026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Personnel</a:t>
            </a:r>
            <a:r>
              <a:rPr sz="1600">
                <a:solidFill>
                  <a:srgbClr val="333333"/>
                </a:solidFill>
              </a:rPr>
              <a:t> : 1.5 billions FCFA-2.7 billions FCFA- </a:t>
            </a:r>
            <a:r>
              <a:rPr sz="1600" b="1">
                <a:solidFill>
                  <a:srgbClr val="003366"/>
                </a:solidFill>
              </a:rPr>
              <a:t>Bureaux</a:t>
            </a:r>
            <a:r>
              <a:rPr sz="1600">
                <a:solidFill>
                  <a:srgbClr val="333333"/>
                </a:solidFill>
              </a:rPr>
              <a:t> : 45 millions FCFA- </a:t>
            </a:r>
            <a:r>
              <a:rPr sz="1600" b="1">
                <a:solidFill>
                  <a:srgbClr val="003366"/>
                </a:solidFill>
              </a:rPr>
              <a:t>Infrastructure Cloud</a:t>
            </a:r>
            <a:r>
              <a:rPr sz="1600">
                <a:solidFill>
                  <a:srgbClr val="333333"/>
                </a:solidFill>
              </a:rPr>
              <a:t> : 60 millions FCFA-90 millions FCFA- </a:t>
            </a:r>
            <a:r>
              <a:rPr sz="1600" b="1">
                <a:solidFill>
                  <a:srgbClr val="003366"/>
                </a:solidFill>
              </a:rPr>
              <a:t>Outils &amp; Licences</a:t>
            </a:r>
            <a:r>
              <a:rPr sz="1600">
                <a:solidFill>
                  <a:srgbClr val="333333"/>
                </a:solidFill>
              </a:rPr>
              <a:t> : 9 millions FCFA-45 millions FCFA- </a:t>
            </a:r>
            <a:r>
              <a:rPr sz="1600" b="1">
                <a:solidFill>
                  <a:srgbClr val="003366"/>
                </a:solidFill>
              </a:rPr>
              <a:t>Support Client</a:t>
            </a:r>
            <a:r>
              <a:rPr sz="1600">
                <a:solidFill>
                  <a:srgbClr val="333333"/>
                </a:solidFill>
              </a:rPr>
              <a:t> : 180 millions FCFA-300 millions FCFA- </a:t>
            </a:r>
            <a:r>
              <a:rPr sz="1600" b="1">
                <a:solidFill>
                  <a:srgbClr val="003366"/>
                </a:solidFill>
              </a:rPr>
              <a:t>Sécurité &amp; Conformité</a:t>
            </a:r>
            <a:r>
              <a:rPr sz="1600">
                <a:solidFill>
                  <a:srgbClr val="333333"/>
                </a:solidFill>
              </a:rPr>
              <a:t> : 12 millions FCFA-21 millions FCFA- </a:t>
            </a:r>
            <a:r>
              <a:rPr sz="1600" b="1">
                <a:solidFill>
                  <a:srgbClr val="003366"/>
                </a:solidFill>
              </a:rPr>
              <a:t>Monitoring</a:t>
            </a:r>
            <a:r>
              <a:rPr sz="1600">
                <a:solidFill>
                  <a:srgbClr val="333333"/>
                </a:solidFill>
              </a:rPr>
              <a:t> : 6 millions FCFA-33 millions FCFA- </a:t>
            </a:r>
            <a:r>
              <a:rPr sz="1600" b="1">
                <a:solidFill>
                  <a:srgbClr val="003366"/>
                </a:solidFill>
              </a:rPr>
              <a:t>TOTAL</a:t>
            </a:r>
            <a:r>
              <a:rPr sz="1600">
                <a:solidFill>
                  <a:srgbClr val="333333"/>
                </a:solidFill>
              </a:rPr>
              <a:t> : </a:t>
            </a:r>
            <a:r>
              <a:rPr sz="1600" b="1">
                <a:solidFill>
                  <a:srgbClr val="003366"/>
                </a:solidFill>
              </a:rPr>
              <a:t>1.8 billions FCFA-3.2 billions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2027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Personnel</a:t>
            </a:r>
            <a:r>
              <a:rPr sz="1600">
                <a:solidFill>
                  <a:srgbClr val="333333"/>
                </a:solidFill>
              </a:rPr>
              <a:t> : 3.6 billions FCFA-6.0 billions FCFA- </a:t>
            </a:r>
            <a:r>
              <a:rPr sz="1600" b="1">
                <a:solidFill>
                  <a:srgbClr val="003366"/>
                </a:solidFill>
              </a:rPr>
              <a:t>Bureaux</a:t>
            </a:r>
            <a:r>
              <a:rPr sz="1600">
                <a:solidFill>
                  <a:srgbClr val="333333"/>
                </a:solidFill>
              </a:rPr>
              <a:t> : 120 millions FCFA- </a:t>
            </a:r>
            <a:r>
              <a:rPr sz="1600" b="1">
                <a:solidFill>
                  <a:srgbClr val="003366"/>
                </a:solidFill>
              </a:rPr>
              <a:t>Infrastructure Cloud</a:t>
            </a:r>
            <a:r>
              <a:rPr sz="1600">
                <a:solidFill>
                  <a:srgbClr val="333333"/>
                </a:solidFill>
              </a:rPr>
              <a:t> : 150 millions FCFA-240 millions FCFA- </a:t>
            </a:r>
            <a:r>
              <a:rPr sz="1600" b="1">
                <a:solidFill>
                  <a:srgbClr val="003366"/>
                </a:solidFill>
              </a:rPr>
              <a:t>Outils &amp; Licences</a:t>
            </a:r>
            <a:r>
              <a:rPr sz="1600">
                <a:solidFill>
                  <a:srgbClr val="333333"/>
                </a:solidFill>
              </a:rPr>
              <a:t> : 18 millions FCFA-120 millions FCFA- </a:t>
            </a:r>
            <a:r>
              <a:rPr sz="1600" b="1">
                <a:solidFill>
                  <a:srgbClr val="003366"/>
                </a:solidFill>
              </a:rPr>
              <a:t>Support Client</a:t>
            </a:r>
            <a:r>
              <a:rPr sz="1600">
                <a:solidFill>
                  <a:srgbClr val="333333"/>
                </a:solidFill>
              </a:rPr>
              <a:t> : 480 millions FCFA-720 millions FCFA- </a:t>
            </a:r>
            <a:r>
              <a:rPr sz="1600" b="1">
                <a:solidFill>
                  <a:srgbClr val="003366"/>
                </a:solidFill>
              </a:rPr>
              <a:t>Sécurité &amp; Conformité</a:t>
            </a:r>
            <a:r>
              <a:rPr sz="1600">
                <a:solidFill>
                  <a:srgbClr val="333333"/>
                </a:solidFill>
              </a:rPr>
              <a:t> : 24 millions FCFA-42 millions FCFA- </a:t>
            </a:r>
            <a:r>
              <a:rPr sz="1600" b="1">
                <a:solidFill>
                  <a:srgbClr val="003366"/>
                </a:solidFill>
              </a:rPr>
              <a:t>Monitoring</a:t>
            </a:r>
            <a:r>
              <a:rPr sz="1600">
                <a:solidFill>
                  <a:srgbClr val="333333"/>
                </a:solidFill>
              </a:rPr>
              <a:t> : 15 millions FCFA-60 millions FCFA- </a:t>
            </a:r>
            <a:r>
              <a:rPr sz="1600" b="1">
                <a:solidFill>
                  <a:srgbClr val="003366"/>
                </a:solidFill>
              </a:rPr>
              <a:t>TOTAL</a:t>
            </a:r>
            <a:r>
              <a:rPr sz="1600">
                <a:solidFill>
                  <a:srgbClr val="333333"/>
                </a:solidFill>
              </a:rPr>
              <a:t> : </a:t>
            </a:r>
            <a:r>
              <a:rPr sz="1600" b="1">
                <a:solidFill>
                  <a:srgbClr val="003366"/>
                </a:solidFill>
              </a:rPr>
              <a:t>4.4 billions FCFA-7.2 billions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2028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Personnel</a:t>
            </a:r>
            <a:r>
              <a:rPr sz="1600">
                <a:solidFill>
                  <a:srgbClr val="333333"/>
                </a:solidFill>
              </a:rPr>
              <a:t> : 9.0 billions FCFA-15.0 billions FCFA- </a:t>
            </a:r>
            <a:r>
              <a:rPr sz="1600" b="1">
                <a:solidFill>
                  <a:srgbClr val="003366"/>
                </a:solidFill>
              </a:rPr>
              <a:t>Bureaux</a:t>
            </a:r>
            <a:r>
              <a:rPr sz="1600">
                <a:solidFill>
                  <a:srgbClr val="333333"/>
                </a:solidFill>
              </a:rPr>
              <a:t> : 300 millions FCFA- </a:t>
            </a:r>
            <a:r>
              <a:rPr sz="1600" b="1">
                <a:solidFill>
                  <a:srgbClr val="003366"/>
                </a:solidFill>
              </a:rPr>
              <a:t>Infrastructure Cloud</a:t>
            </a:r>
            <a:r>
              <a:rPr sz="1600">
                <a:solidFill>
                  <a:srgbClr val="333333"/>
                </a:solidFill>
              </a:rPr>
              <a:t> : 390 millions FCFA-600 millions FCFA- </a:t>
            </a:r>
            <a:r>
              <a:rPr sz="1600" b="1">
                <a:solidFill>
                  <a:srgbClr val="003366"/>
                </a:solidFill>
              </a:rPr>
              <a:t>Outils &amp; Licences</a:t>
            </a:r>
            <a:r>
              <a:rPr sz="1600">
                <a:solidFill>
                  <a:srgbClr val="333333"/>
                </a:solidFill>
              </a:rPr>
              <a:t> : 42 millions FCFA-240 millions FCFA- </a:t>
            </a:r>
            <a:r>
              <a:rPr sz="1600" b="1">
                <a:solidFill>
                  <a:srgbClr val="003366"/>
                </a:solidFill>
              </a:rPr>
              <a:t>Support Client</a:t>
            </a:r>
            <a:r>
              <a:rPr sz="1600">
                <a:solidFill>
                  <a:srgbClr val="333333"/>
                </a:solidFill>
              </a:rPr>
              <a:t> : 1.2 billions FCFA-1.8 billions FCFA- </a:t>
            </a:r>
            <a:r>
              <a:rPr sz="1600" b="1">
                <a:solidFill>
                  <a:srgbClr val="003366"/>
                </a:solidFill>
              </a:rPr>
              <a:t>Sécurité &amp; Conformité</a:t>
            </a:r>
            <a:r>
              <a:rPr sz="1600">
                <a:solidFill>
                  <a:srgbClr val="333333"/>
                </a:solidFill>
              </a:rPr>
              <a:t> : 48 millions FCFA-90 millions FCFA- </a:t>
            </a:r>
            <a:r>
              <a:rPr sz="1600" b="1">
                <a:solidFill>
                  <a:srgbClr val="003366"/>
                </a:solidFill>
              </a:rPr>
              <a:t>Monitoring</a:t>
            </a:r>
            <a:r>
              <a:rPr sz="1600">
                <a:solidFill>
                  <a:srgbClr val="333333"/>
                </a:solidFill>
              </a:rPr>
              <a:t> : 36 millions FCFA-150 millions FCFA- </a:t>
            </a:r>
            <a:r>
              <a:rPr sz="1600" b="1">
                <a:solidFill>
                  <a:srgbClr val="003366"/>
                </a:solidFill>
              </a:rPr>
              <a:t>TOTAL</a:t>
            </a:r>
            <a:r>
              <a:rPr sz="1600">
                <a:solidFill>
                  <a:srgbClr val="333333"/>
                </a:solidFill>
              </a:rPr>
              <a:t> : </a:t>
            </a:r>
            <a:r>
              <a:rPr sz="1600" b="1">
                <a:solidFill>
                  <a:srgbClr val="003366"/>
                </a:solidFill>
              </a:rPr>
              <a:t>11.0 billions FCFA-18.0 billions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2029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Personnel</a:t>
            </a:r>
            <a:r>
              <a:rPr sz="1600">
                <a:solidFill>
                  <a:srgbClr val="333333"/>
                </a:solidFill>
              </a:rPr>
              <a:t> : 21.0 billions FCFA-33.0 billions FCFA- </a:t>
            </a:r>
            <a:r>
              <a:rPr sz="1600" b="1">
                <a:solidFill>
                  <a:srgbClr val="003366"/>
                </a:solidFill>
              </a:rPr>
              <a:t>Bureaux</a:t>
            </a:r>
            <a:r>
              <a:rPr sz="1600">
                <a:solidFill>
                  <a:srgbClr val="333333"/>
                </a:solidFill>
              </a:rPr>
              <a:t> : 720 millions FCFA- </a:t>
            </a:r>
            <a:r>
              <a:rPr sz="1600" b="1">
                <a:solidFill>
                  <a:srgbClr val="003366"/>
                </a:solidFill>
              </a:rPr>
              <a:t>Infrastructure Cloud</a:t>
            </a:r>
            <a:r>
              <a:rPr sz="1600">
                <a:solidFill>
                  <a:srgbClr val="333333"/>
                </a:solidFill>
              </a:rPr>
              <a:t> : 900 millions FCFA-1.5 billions FCFA- </a:t>
            </a:r>
            <a:r>
              <a:rPr sz="1600" b="1">
                <a:solidFill>
                  <a:srgbClr val="003366"/>
                </a:solidFill>
              </a:rPr>
              <a:t>Outils &amp; Licences</a:t>
            </a:r>
            <a:r>
              <a:rPr sz="1600">
                <a:solidFill>
                  <a:srgbClr val="333333"/>
                </a:solidFill>
              </a:rPr>
              <a:t> : 120 millions FCFA-540 millions FCFA- </a:t>
            </a:r>
            <a:r>
              <a:rPr sz="1600" b="1">
                <a:solidFill>
                  <a:srgbClr val="003366"/>
                </a:solidFill>
              </a:rPr>
              <a:t>Support Client</a:t>
            </a:r>
            <a:r>
              <a:rPr sz="1600">
                <a:solidFill>
                  <a:srgbClr val="333333"/>
                </a:solidFill>
              </a:rPr>
              <a:t> : 3.0 billions FCFA-4.8 billions FCFA- </a:t>
            </a:r>
            <a:r>
              <a:rPr sz="1600" b="1">
                <a:solidFill>
                  <a:srgbClr val="003366"/>
                </a:solidFill>
              </a:rPr>
              <a:t>Sécurité &amp; Conformité</a:t>
            </a:r>
            <a:r>
              <a:rPr sz="1600">
                <a:solidFill>
                  <a:srgbClr val="333333"/>
                </a:solidFill>
              </a:rPr>
              <a:t> : 120 millions FCFA-240 millions FCFA- </a:t>
            </a:r>
            <a:r>
              <a:rPr sz="1600" b="1">
                <a:solidFill>
                  <a:srgbClr val="003366"/>
                </a:solidFill>
              </a:rPr>
              <a:t>Monitoring</a:t>
            </a:r>
            <a:r>
              <a:rPr sz="1600">
                <a:solidFill>
                  <a:srgbClr val="333333"/>
                </a:solidFill>
              </a:rPr>
              <a:t> : 90 millions FCFA-360 millions FCFA- </a:t>
            </a:r>
            <a:r>
              <a:rPr sz="1600" b="1">
                <a:solidFill>
                  <a:srgbClr val="003366"/>
                </a:solidFill>
              </a:rPr>
              <a:t>TOTAL</a:t>
            </a:r>
            <a:r>
              <a:rPr sz="1600">
                <a:solidFill>
                  <a:srgbClr val="333333"/>
                </a:solidFill>
              </a:rPr>
              <a:t> : </a:t>
            </a:r>
            <a:r>
              <a:rPr sz="1600" b="1">
                <a:solidFill>
                  <a:srgbClr val="003366"/>
                </a:solidFill>
              </a:rPr>
              <a:t>25.8 billions FCFA-40.8 billions FCFA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7432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Merci pour votre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