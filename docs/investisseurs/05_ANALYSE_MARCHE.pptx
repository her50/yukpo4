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05 Analyse 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Document Investisseurs - Janvier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CONTEXTE DU MARCHÉ AFRICAIN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Dynamiques Macro-économiques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Croissance Démographique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Population Afrique</a:t>
            </a:r>
            <a:r>
              <a:rPr sz="1600">
                <a:solidFill>
                  <a:srgbClr val="333333"/>
                </a:solidFill>
              </a:rPr>
              <a:t> : 1.4 milliards (2026) → 1.7 milliards 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 annuelle</a:t>
            </a:r>
            <a:r>
              <a:rPr sz="1600">
                <a:solidFill>
                  <a:srgbClr val="333333"/>
                </a:solidFill>
              </a:rPr>
              <a:t> : 2.5%+ (plus rapide au monde)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Urbanisation</a:t>
            </a:r>
            <a:r>
              <a:rPr sz="1600">
                <a:solidFill>
                  <a:srgbClr val="333333"/>
                </a:solidFill>
              </a:rPr>
              <a:t> : 45% (2026) → 55% 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Classe moyenne</a:t>
            </a:r>
            <a:r>
              <a:rPr sz="1600">
                <a:solidFill>
                  <a:srgbClr val="333333"/>
                </a:solidFill>
              </a:rPr>
              <a:t> : +15 millions/an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Croissance Économique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PIB Afrique</a:t>
            </a:r>
            <a:r>
              <a:rPr sz="1600">
                <a:solidFill>
                  <a:srgbClr val="333333"/>
                </a:solidFill>
              </a:rPr>
              <a:t> : 2K FCFAtrillions (2026)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 moyenne</a:t>
            </a:r>
            <a:r>
              <a:rPr sz="1600">
                <a:solidFill>
                  <a:srgbClr val="333333"/>
                </a:solidFill>
              </a:rPr>
              <a:t> : 4-5% par 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Secteurs en croissance</a:t>
            </a:r>
            <a:r>
              <a:rPr sz="1600">
                <a:solidFill>
                  <a:srgbClr val="333333"/>
                </a:solidFill>
              </a:rPr>
              <a:t> : Tech, services, e-commerce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Digitalisation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Pénétration mobile</a:t>
            </a:r>
            <a:r>
              <a:rPr sz="1600">
                <a:solidFill>
                  <a:srgbClr val="333333"/>
                </a:solidFill>
              </a:rPr>
              <a:t> : 80%+ (croissance 5-8%/an)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Pénétration internet</a:t>
            </a:r>
            <a:r>
              <a:rPr sz="1600">
                <a:solidFill>
                  <a:srgbClr val="333333"/>
                </a:solidFill>
              </a:rPr>
              <a:t> : 50%+ (croissance 10-15%/an)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Smartphones</a:t>
            </a:r>
            <a:r>
              <a:rPr sz="1600">
                <a:solidFill>
                  <a:srgbClr val="333333"/>
                </a:solidFill>
              </a:rPr>
              <a:t> : 60%+ des mobiles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4G/5G</a:t>
            </a:r>
            <a:r>
              <a:rPr sz="1600">
                <a:solidFill>
                  <a:srgbClr val="333333"/>
                </a:solidFill>
              </a:rPr>
              <a:t> : Expansion rapide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TAILLE DU MARCHÉ (TAM/SAM/SOM)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TAM (Total Addressable Market) : 90K FCFA+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E-Commerce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total</a:t>
            </a:r>
            <a:r>
              <a:rPr sz="1600">
                <a:solidFill>
                  <a:srgbClr val="333333"/>
                </a:solidFill>
              </a:rPr>
              <a:t> : 45K FCFA (2026) → 90K FCFA 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</a:t>
            </a:r>
            <a:r>
              <a:rPr sz="1600">
                <a:solidFill>
                  <a:srgbClr val="333333"/>
                </a:solidFill>
              </a:rPr>
              <a:t> : 20-25% CAGR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Facteurs</a:t>
            </a:r>
            <a:r>
              <a:rPr sz="1600">
                <a:solidFill>
                  <a:srgbClr val="333333"/>
                </a:solidFill>
              </a:rPr>
              <a:t> : Digitalisation, classe moyenne, infrastructure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Services de Livraison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total</a:t>
            </a:r>
            <a:r>
              <a:rPr sz="1600">
                <a:solidFill>
                  <a:srgbClr val="333333"/>
                </a:solidFill>
              </a:rPr>
              <a:t> : 7K FCFA (2026) → 15K FCFA 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</a:t>
            </a:r>
            <a:r>
              <a:rPr sz="1600">
                <a:solidFill>
                  <a:srgbClr val="333333"/>
                </a:solidFill>
              </a:rPr>
              <a:t> : 25-30% CAGR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Facteurs</a:t>
            </a:r>
            <a:r>
              <a:rPr sz="1600">
                <a:solidFill>
                  <a:srgbClr val="333333"/>
                </a:solidFill>
              </a:rPr>
              <a:t> : E-commerce, demande express, urbanisation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Services de Santé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total</a:t>
            </a:r>
            <a:r>
              <a:rPr sz="1600">
                <a:solidFill>
                  <a:srgbClr val="333333"/>
                </a:solidFill>
              </a:rPr>
              <a:t> : 15K FCFA (2026) → 30K FCFA 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</a:t>
            </a:r>
            <a:r>
              <a:rPr sz="1600">
                <a:solidFill>
                  <a:srgbClr val="333333"/>
                </a:solidFill>
              </a:rPr>
              <a:t> : 8-10% CAGR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Facteurs</a:t>
            </a:r>
            <a:r>
              <a:rPr sz="1600">
                <a:solidFill>
                  <a:srgbClr val="333333"/>
                </a:solidFill>
              </a:rPr>
              <a:t> : Population, accès, digitalisation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Transport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total</a:t>
            </a:r>
            <a:r>
              <a:rPr sz="1600">
                <a:solidFill>
                  <a:srgbClr val="333333"/>
                </a:solidFill>
              </a:rPr>
              <a:t> : 10K FCFA (2026) → 21K FCFA 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</a:t>
            </a:r>
            <a:r>
              <a:rPr sz="1600">
                <a:solidFill>
                  <a:srgbClr val="333333"/>
                </a:solidFill>
              </a:rPr>
              <a:t> : 12-15% CAGR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Facteurs</a:t>
            </a:r>
            <a:r>
              <a:rPr sz="1600">
                <a:solidFill>
                  <a:srgbClr val="333333"/>
                </a:solidFill>
              </a:rPr>
              <a:t> : Urbanisation, mobilité, on-demand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Immobilier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total</a:t>
            </a:r>
            <a:r>
              <a:rPr sz="1600">
                <a:solidFill>
                  <a:srgbClr val="333333"/>
                </a:solidFill>
              </a:rPr>
              <a:t> : 12K FCFA (2026) → 24K FCFA 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</a:t>
            </a:r>
            <a:r>
              <a:rPr sz="1600">
                <a:solidFill>
                  <a:srgbClr val="333333"/>
                </a:solidFill>
              </a:rPr>
              <a:t> : 10-12% CAGR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Facteurs</a:t>
            </a:r>
            <a:r>
              <a:rPr sz="1600">
                <a:solidFill>
                  <a:srgbClr val="333333"/>
                </a:solidFill>
              </a:rPr>
              <a:t> : Urbanisation, classe moyenne, digitalisation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SAM (Serviceable Addressable Market) : 27K FCFAMilliards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Cameroun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Population</a:t>
            </a:r>
            <a:r>
              <a:rPr sz="1600">
                <a:solidFill>
                  <a:srgbClr val="333333"/>
                </a:solidFill>
              </a:rPr>
              <a:t> : 28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PIB</a:t>
            </a:r>
            <a:r>
              <a:rPr sz="1600">
                <a:solidFill>
                  <a:srgbClr val="333333"/>
                </a:solidFill>
              </a:rPr>
              <a:t> : 27K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adressable</a:t>
            </a:r>
            <a:r>
              <a:rPr sz="1600">
                <a:solidFill>
                  <a:srgbClr val="333333"/>
                </a:solidFill>
              </a:rPr>
              <a:t> : 4K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Facteurs</a:t>
            </a:r>
            <a:r>
              <a:rPr sz="1600">
                <a:solidFill>
                  <a:srgbClr val="333333"/>
                </a:solidFill>
              </a:rPr>
              <a:t> : Bilingue (FR/EN), économie diversifiée, urbanisation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Côte d'Ivoire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Population</a:t>
            </a:r>
            <a:r>
              <a:rPr sz="1600">
                <a:solidFill>
                  <a:srgbClr val="333333"/>
                </a:solidFill>
              </a:rPr>
              <a:t> : 28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PIB</a:t>
            </a:r>
            <a:r>
              <a:rPr sz="1600">
                <a:solidFill>
                  <a:srgbClr val="333333"/>
                </a:solidFill>
              </a:rPr>
              <a:t> : 42K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adressable</a:t>
            </a:r>
            <a:r>
              <a:rPr sz="1600">
                <a:solidFill>
                  <a:srgbClr val="333333"/>
                </a:solidFill>
              </a:rPr>
              <a:t> : 7K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Facteurs</a:t>
            </a:r>
            <a:r>
              <a:rPr sz="1600">
                <a:solidFill>
                  <a:srgbClr val="333333"/>
                </a:solidFill>
              </a:rPr>
              <a:t> : Hub économique, croissance rapide, Abidjan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Sénégal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Population</a:t>
            </a:r>
            <a:r>
              <a:rPr sz="1600">
                <a:solidFill>
                  <a:srgbClr val="333333"/>
                </a:solidFill>
              </a:rPr>
              <a:t> : 17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PIB</a:t>
            </a:r>
            <a:r>
              <a:rPr sz="1600">
                <a:solidFill>
                  <a:srgbClr val="333333"/>
                </a:solidFill>
              </a:rPr>
              <a:t> : 16K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adressable</a:t>
            </a:r>
            <a:r>
              <a:rPr sz="1600">
                <a:solidFill>
                  <a:srgbClr val="333333"/>
                </a:solidFill>
              </a:rPr>
              <a:t> : 3K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Facteurs</a:t>
            </a:r>
            <a:r>
              <a:rPr sz="1600">
                <a:solidFill>
                  <a:srgbClr val="333333"/>
                </a:solidFill>
              </a:rPr>
              <a:t> : Stabilité, digitalisation, Dakar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Autres Pays Francophones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Gabon, Bénin, Togo, Mali, Burkina Faso, etc.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Population totale</a:t>
            </a:r>
            <a:r>
              <a:rPr sz="1600">
                <a:solidFill>
                  <a:srgbClr val="333333"/>
                </a:solidFill>
              </a:rPr>
              <a:t> : 50+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adressable</a:t>
            </a:r>
            <a:r>
              <a:rPr sz="1600">
                <a:solidFill>
                  <a:srgbClr val="333333"/>
                </a:solidFill>
              </a:rPr>
              <a:t> : 11K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SOM (Serviceable Obtainable Market) : 1K FCFAMilliards (5 ans)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Hypothèses Conservatrices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 de marché</a:t>
            </a:r>
            <a:r>
              <a:rPr sz="1600">
                <a:solidFill>
                  <a:srgbClr val="333333"/>
                </a:solidFill>
              </a:rPr>
              <a:t> : 5-6% dans pays cibles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Pénétration utilisateurs</a:t>
            </a:r>
            <a:r>
              <a:rPr sz="1600">
                <a:solidFill>
                  <a:srgbClr val="333333"/>
                </a:solidFill>
              </a:rPr>
              <a:t> : 10-15% population urbaine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Adoption progressive</a:t>
            </a:r>
            <a:r>
              <a:rPr sz="1600">
                <a:solidFill>
                  <a:srgbClr val="333333"/>
                </a:solidFill>
              </a:rPr>
              <a:t> : 5 ans pour atteindre objectif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Projection 5 Ans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 : 12.0 billions FCFAGMV → 1.5 billions FCFArevenus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 : 60.0 billions FCFAGMV → 7.2 billions FCFArevenus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 : 180.0 billions FCFAGMV → 21.0 billions FCFArevenus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2029</a:t>
            </a:r>
            <a:r>
              <a:rPr sz="1600">
                <a:solidFill>
                  <a:srgbClr val="333333"/>
                </a:solidFill>
              </a:rPr>
              <a:t> : 450.0 billions FCFAGMV → 51.0 billions FCFArevenus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2030</a:t>
            </a:r>
            <a:r>
              <a:rPr sz="1600">
                <a:solidFill>
                  <a:srgbClr val="333333"/>
                </a:solidFill>
              </a:rPr>
              <a:t> : 960.0 billions FCFAGMV → 108.0 billions FCFArevenus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SEGMENTATION DE MARCHÉ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Consommateurs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Segment 1 : Jeunes Professionnels (25-35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Taille</a:t>
            </a:r>
            <a:r>
              <a:rPr sz="1600">
                <a:solidFill>
                  <a:srgbClr val="333333"/>
                </a:solidFill>
              </a:rPr>
              <a:t> : 30% du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Caractéristiques</a:t>
            </a:r>
            <a:r>
              <a:rPr sz="1600">
                <a:solidFill>
                  <a:srgbClr val="333333"/>
                </a:solidFill>
              </a:rPr>
              <a:t> : Tech-savvy, revenus moyens, urbains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</a:t>
            </a:r>
            <a:r>
              <a:rPr sz="1600">
                <a:solidFill>
                  <a:srgbClr val="333333"/>
                </a:solidFill>
              </a:rPr>
              <a:t> : Rapidité, qualité, prix compétitifs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Valeur</a:t>
            </a:r>
            <a:r>
              <a:rPr sz="1600">
                <a:solidFill>
                  <a:srgbClr val="333333"/>
                </a:solidFill>
              </a:rPr>
              <a:t> : 60K FCFA-150 LTV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Segment 2 : Familles (30-45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Taille</a:t>
            </a:r>
            <a:r>
              <a:rPr sz="1600">
                <a:solidFill>
                  <a:srgbClr val="333333"/>
                </a:solidFill>
              </a:rPr>
              <a:t> : 35% du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Caractéristiques</a:t>
            </a:r>
            <a:r>
              <a:rPr sz="1600">
                <a:solidFill>
                  <a:srgbClr val="333333"/>
                </a:solidFill>
              </a:rPr>
              <a:t> : Stabilité, revenus moyens-élevés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</a:t>
            </a:r>
            <a:r>
              <a:rPr sz="1600">
                <a:solidFill>
                  <a:srgbClr val="333333"/>
                </a:solidFill>
              </a:rPr>
              <a:t> : Fiabilité, sécurité, services complets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Valeur</a:t>
            </a:r>
            <a:r>
              <a:rPr sz="1600">
                <a:solidFill>
                  <a:srgbClr val="333333"/>
                </a:solidFill>
              </a:rPr>
              <a:t> : 72K FCFA-180 LTV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Segment 3 : Étudiants (18-25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Taille</a:t>
            </a:r>
            <a:r>
              <a:rPr sz="1600">
                <a:solidFill>
                  <a:srgbClr val="333333"/>
                </a:solidFill>
              </a:rPr>
              <a:t> : 20% du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Caractéristiques</a:t>
            </a:r>
            <a:r>
              <a:rPr sz="1600">
                <a:solidFill>
                  <a:srgbClr val="333333"/>
                </a:solidFill>
              </a:rPr>
              <a:t> : Budget limité, très tech-savvy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</a:t>
            </a:r>
            <a:r>
              <a:rPr sz="1600">
                <a:solidFill>
                  <a:srgbClr val="333333"/>
                </a:solidFill>
              </a:rPr>
              <a:t> : Prix bas, promotions, rapidité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Valeur</a:t>
            </a:r>
            <a:r>
              <a:rPr sz="1600">
                <a:solidFill>
                  <a:srgbClr val="333333"/>
                </a:solidFill>
              </a:rPr>
              <a:t> : 36K FCFA-90 LTV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Segment 4 : Seniors (45+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Taille</a:t>
            </a:r>
            <a:r>
              <a:rPr sz="1600">
                <a:solidFill>
                  <a:srgbClr val="333333"/>
                </a:solidFill>
              </a:rPr>
              <a:t> : 15% du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Caractéristiques</a:t>
            </a:r>
            <a:r>
              <a:rPr sz="1600">
                <a:solidFill>
                  <a:srgbClr val="333333"/>
                </a:solidFill>
              </a:rPr>
              <a:t> : Revenus stables, moins tech-savvy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</a:t>
            </a:r>
            <a:r>
              <a:rPr sz="1600">
                <a:solidFill>
                  <a:srgbClr val="333333"/>
                </a:solidFill>
              </a:rPr>
              <a:t> : Simplicité, support, fiabilité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Valeur</a:t>
            </a:r>
            <a:r>
              <a:rPr sz="1600">
                <a:solidFill>
                  <a:srgbClr val="333333"/>
                </a:solidFill>
              </a:rPr>
              <a:t> : 48K FCFA-120 LTV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Commerçants/Prestataires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Segment 1 : PME Locales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Taille</a:t>
            </a:r>
            <a:r>
              <a:rPr sz="1600">
                <a:solidFill>
                  <a:srgbClr val="333333"/>
                </a:solidFill>
              </a:rPr>
              <a:t> : 70% du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Caractéristiques</a:t>
            </a:r>
            <a:r>
              <a:rPr sz="1600">
                <a:solidFill>
                  <a:srgbClr val="333333"/>
                </a:solidFill>
              </a:rPr>
              <a:t> : Petits commerces, besoin visibilité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</a:t>
            </a:r>
            <a:r>
              <a:rPr sz="1600">
                <a:solidFill>
                  <a:srgbClr val="333333"/>
                </a:solidFill>
              </a:rPr>
              <a:t> : Accès marché, outils simples, coûts bas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Valeur</a:t>
            </a:r>
            <a:r>
              <a:rPr sz="1600">
                <a:solidFill>
                  <a:srgbClr val="333333"/>
                </a:solidFill>
              </a:rPr>
              <a:t> : 300K FCFA-2000/an par commerçant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Segment 2 : Chaînes Régionales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Taille</a:t>
            </a:r>
            <a:r>
              <a:rPr sz="1600">
                <a:solidFill>
                  <a:srgbClr val="333333"/>
                </a:solidFill>
              </a:rPr>
              <a:t> : 20% du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Caractéristiques</a:t>
            </a:r>
            <a:r>
              <a:rPr sz="1600">
                <a:solidFill>
                  <a:srgbClr val="333333"/>
                </a:solidFill>
              </a:rPr>
              <a:t> : Multi-points, structurés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</a:t>
            </a:r>
            <a:r>
              <a:rPr sz="1600">
                <a:solidFill>
                  <a:srgbClr val="333333"/>
                </a:solidFill>
              </a:rPr>
              <a:t> : Solutions enterprise, analytics, intégration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Valeur</a:t>
            </a:r>
            <a:r>
              <a:rPr sz="1600">
                <a:solidFill>
                  <a:srgbClr val="333333"/>
                </a:solidFill>
              </a:rPr>
              <a:t> : 3 millions FCFA-15000/an par chaîne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Segment 3 : Grandes Entreprises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Taille</a:t>
            </a:r>
            <a:r>
              <a:rPr sz="1600">
                <a:solidFill>
                  <a:srgbClr val="333333"/>
                </a:solidFill>
              </a:rPr>
              <a:t> : 10% du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Caractéristiques</a:t>
            </a:r>
            <a:r>
              <a:rPr sz="1600">
                <a:solidFill>
                  <a:srgbClr val="333333"/>
                </a:solidFill>
              </a:rPr>
              <a:t> : Multinationales, budgets importants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</a:t>
            </a:r>
            <a:r>
              <a:rPr sz="1600">
                <a:solidFill>
                  <a:srgbClr val="333333"/>
                </a:solidFill>
              </a:rPr>
              <a:t> : Solutions sur-mesure, support dédié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Valeur</a:t>
            </a:r>
            <a:r>
              <a:rPr sz="1600">
                <a:solidFill>
                  <a:srgbClr val="333333"/>
                </a:solidFill>
              </a:rPr>
              <a:t> : 12 millions FCFA-50000/an par entreprise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🏆 ANALYSE CONCURRENTIELLE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Concurrents Directs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1. Jumia (E-Commerce)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Brand</a:t>
            </a:r>
            <a:r>
              <a:rPr sz="1600">
                <a:solidFill>
                  <a:srgbClr val="333333"/>
                </a:solidFill>
              </a:rPr>
              <a:t> : Leader e-commerce Afrique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Infrastructure</a:t>
            </a:r>
            <a:r>
              <a:rPr sz="1600">
                <a:solidFill>
                  <a:srgbClr val="333333"/>
                </a:solidFill>
              </a:rPr>
              <a:t> : Réseau logistique établi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Capital</a:t>
            </a:r>
            <a:r>
              <a:rPr sz="1600">
                <a:solidFill>
                  <a:srgbClr val="333333"/>
                </a:solidFill>
              </a:rPr>
              <a:t> : 600 FCFA+ milliard levé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Présence</a:t>
            </a:r>
            <a:r>
              <a:rPr sz="1600">
                <a:solidFill>
                  <a:srgbClr val="333333"/>
                </a:solidFill>
              </a:rPr>
              <a:t> : 11 pays africains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Focus</a:t>
            </a:r>
            <a:r>
              <a:rPr sz="1600">
                <a:solidFill>
                  <a:srgbClr val="333333"/>
                </a:solidFill>
              </a:rPr>
              <a:t> : E-commerce uniquement (pas services intégrés)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Prix</a:t>
            </a:r>
            <a:r>
              <a:rPr sz="1600">
                <a:solidFill>
                  <a:srgbClr val="333333"/>
                </a:solidFill>
              </a:rPr>
              <a:t> : Souvent élevés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Expérience</a:t>
            </a:r>
            <a:r>
              <a:rPr sz="1600">
                <a:solidFill>
                  <a:srgbClr val="333333"/>
                </a:solidFill>
              </a:rPr>
              <a:t> : Complexe, moins intuitive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Services</a:t>
            </a:r>
            <a:r>
              <a:rPr sz="1600">
                <a:solidFill>
                  <a:srgbClr val="333333"/>
                </a:solidFill>
              </a:rPr>
              <a:t> : Pas de livraison express, pas de services spécialisés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Avantage</a:t>
            </a:r>
            <a:r>
              <a:rPr sz="1600">
                <a:solidFill>
                  <a:srgbClr val="333333"/>
                </a:solidFill>
              </a:rPr>
              <a:t> : Multi-secteurs intégrés, IA avancée, services spécialisés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Différenciation</a:t>
            </a:r>
            <a:r>
              <a:rPr sz="1600">
                <a:solidFill>
                  <a:srgbClr val="333333"/>
                </a:solidFill>
              </a:rPr>
              <a:t> : Création vidéo, géolocalisation intelligente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 Glovo / Uber Eats (Livraison)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Expérience</a:t>
            </a:r>
            <a:r>
              <a:rPr sz="1600">
                <a:solidFill>
                  <a:srgbClr val="333333"/>
                </a:solidFill>
              </a:rPr>
              <a:t> : Modèle éprouvé globalement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Capital</a:t>
            </a:r>
            <a:r>
              <a:rPr sz="1600">
                <a:solidFill>
                  <a:srgbClr val="333333"/>
                </a:solidFill>
              </a:rPr>
              <a:t> : Financements importants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Brand</a:t>
            </a:r>
            <a:r>
              <a:rPr sz="1600">
                <a:solidFill>
                  <a:srgbClr val="333333"/>
                </a:solidFill>
              </a:rPr>
              <a:t> : Reconnaissance internationale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Technologie</a:t>
            </a:r>
            <a:r>
              <a:rPr sz="1600">
                <a:solidFill>
                  <a:srgbClr val="333333"/>
                </a:solidFill>
              </a:rPr>
              <a:t> : Plateformes matures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Focus</a:t>
            </a:r>
            <a:r>
              <a:rPr sz="1600">
                <a:solidFill>
                  <a:srgbClr val="333333"/>
                </a:solidFill>
              </a:rPr>
              <a:t> : Livraison uniquement (restaurants, courses)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Prix</a:t>
            </a:r>
            <a:r>
              <a:rPr sz="1600">
                <a:solidFill>
                  <a:srgbClr val="333333"/>
                </a:solidFill>
              </a:rPr>
              <a:t> : Commissions élevées (25-30%)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Services</a:t>
            </a:r>
            <a:r>
              <a:rPr sz="1600">
                <a:solidFill>
                  <a:srgbClr val="333333"/>
                </a:solidFill>
              </a:rPr>
              <a:t> : Pas de création produits, pas de services spécialisés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Localisation</a:t>
            </a:r>
            <a:r>
              <a:rPr sz="1600">
                <a:solidFill>
                  <a:srgbClr val="333333"/>
                </a:solidFill>
              </a:rPr>
              <a:t> : Moins adapté aux besoins locaux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Avantage</a:t>
            </a:r>
            <a:r>
              <a:rPr sz="1600">
                <a:solidFill>
                  <a:srgbClr val="333333"/>
                </a:solidFill>
              </a:rPr>
              <a:t> : Services multi-secteurs, prix compétitifs, IA création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Différenciation</a:t>
            </a:r>
            <a:r>
              <a:rPr sz="1600">
                <a:solidFill>
                  <a:srgbClr val="333333"/>
                </a:solidFill>
              </a:rPr>
              <a:t> : Écosystème complet, services spécialisés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3. Bolt / Uber (Transport)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Réseau</a:t>
            </a:r>
            <a:r>
              <a:rPr sz="1600">
                <a:solidFill>
                  <a:srgbClr val="333333"/>
                </a:solidFill>
              </a:rPr>
              <a:t> : Coursiers/drivers établis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Technologie</a:t>
            </a:r>
            <a:r>
              <a:rPr sz="1600">
                <a:solidFill>
                  <a:srgbClr val="333333"/>
                </a:solidFill>
              </a:rPr>
              <a:t> : Apps matures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Brand</a:t>
            </a:r>
            <a:r>
              <a:rPr sz="1600">
                <a:solidFill>
                  <a:srgbClr val="333333"/>
                </a:solidFill>
              </a:rPr>
              <a:t> : Reconnaissance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Focus</a:t>
            </a:r>
            <a:r>
              <a:rPr sz="1600">
                <a:solidFill>
                  <a:srgbClr val="333333"/>
                </a:solidFill>
              </a:rPr>
              <a:t> : Transport uniquement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Services</a:t>
            </a:r>
            <a:r>
              <a:rPr sz="1600">
                <a:solidFill>
                  <a:srgbClr val="333333"/>
                </a:solidFill>
              </a:rPr>
              <a:t> : Pas d'intégration e-commerce, services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Prix</a:t>
            </a:r>
            <a:r>
              <a:rPr sz="1600">
                <a:solidFill>
                  <a:srgbClr val="333333"/>
                </a:solidFill>
              </a:rPr>
              <a:t> : Commissions élevées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Avantage</a:t>
            </a:r>
            <a:r>
              <a:rPr sz="1600">
                <a:solidFill>
                  <a:srgbClr val="333333"/>
                </a:solidFill>
              </a:rPr>
              <a:t> : Intégration transport + livraison + services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Différenciation</a:t>
            </a:r>
            <a:r>
              <a:rPr sz="1600">
                <a:solidFill>
                  <a:srgbClr val="333333"/>
                </a:solidFill>
              </a:rPr>
              <a:t> : Écosystème unifié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Concurrents Indirects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Marketplaces Locales Fragmentées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Caractéristiques</a:t>
            </a:r>
            <a:r>
              <a:rPr sz="1600">
                <a:solidFill>
                  <a:srgbClr val="333333"/>
                </a:solidFill>
              </a:rPr>
              <a:t> : Petites plateformes locales, spécialisées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Forces</a:t>
            </a:r>
            <a:r>
              <a:rPr sz="1600">
                <a:solidFill>
                  <a:srgbClr val="333333"/>
                </a:solidFill>
              </a:rPr>
              <a:t> : Connaissance locale, prix bas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Faiblesses</a:t>
            </a:r>
            <a:r>
              <a:rPr sz="1600">
                <a:solidFill>
                  <a:srgbClr val="333333"/>
                </a:solidFill>
              </a:rPr>
              <a:t> : Manque de scale, technologie limitée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Positionnement</a:t>
            </a:r>
            <a:r>
              <a:rPr sz="1600">
                <a:solidFill>
                  <a:srgbClr val="333333"/>
                </a:solidFill>
              </a:rPr>
              <a:t> : Yukpomnang offre scale + technologie + localisation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Services Gouvernementaux Traditionnels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Caractéristiques</a:t>
            </a:r>
            <a:r>
              <a:rPr sz="1600">
                <a:solidFill>
                  <a:srgbClr val="333333"/>
                </a:solidFill>
              </a:rPr>
              <a:t> : Services publics, processus lents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Forces</a:t>
            </a:r>
            <a:r>
              <a:rPr sz="1600">
                <a:solidFill>
                  <a:srgbClr val="333333"/>
                </a:solidFill>
              </a:rPr>
              <a:t> : Gratuits, officiels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Faiblesses</a:t>
            </a:r>
            <a:r>
              <a:rPr sz="1600">
                <a:solidFill>
                  <a:srgbClr val="333333"/>
                </a:solidFill>
              </a:rPr>
              <a:t> : Inefficacité, manque digitalisation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Positionnement</a:t>
            </a:r>
            <a:r>
              <a:rPr sz="1600">
                <a:solidFill>
                  <a:srgbClr val="333333"/>
                </a:solidFill>
              </a:rPr>
              <a:t> : Yukpomnang offre efficacité + digitalisation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Commerces Physiques Traditionnels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Caractéristiques</a:t>
            </a:r>
            <a:r>
              <a:rPr sz="1600">
                <a:solidFill>
                  <a:srgbClr val="333333"/>
                </a:solidFill>
              </a:rPr>
              <a:t> : Boutiques physiques, pas d'online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Forces</a:t>
            </a:r>
            <a:r>
              <a:rPr sz="1600">
                <a:solidFill>
                  <a:srgbClr val="333333"/>
                </a:solidFill>
              </a:rPr>
              <a:t> : Contact humain, confiance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Faiblesses</a:t>
            </a:r>
            <a:r>
              <a:rPr sz="1600">
                <a:solidFill>
                  <a:srgbClr val="333333"/>
                </a:solidFill>
              </a:rPr>
              <a:t> : Pas de visibilité, pas de livraison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Positionnement</a:t>
            </a:r>
            <a:r>
              <a:rPr sz="1600">
                <a:solidFill>
                  <a:srgbClr val="333333"/>
                </a:solidFill>
              </a:rPr>
              <a:t> : Yukpomnang connecte commerces physiques au digital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AVANTAGES CONCURRENTIELS YUKPOMNANG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1. Technologie Propriétaire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IA Avancée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Création intelligente produits</a:t>
            </a:r>
            <a:r>
              <a:rPr sz="1600">
                <a:solidFill>
                  <a:srgbClr val="333333"/>
                </a:solidFill>
              </a:rPr>
              <a:t> : Unique sur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Recommandations personnalisées</a:t>
            </a:r>
            <a:r>
              <a:rPr sz="1600">
                <a:solidFill>
                  <a:srgbClr val="333333"/>
                </a:solidFill>
              </a:rPr>
              <a:t> : Algorithmes propriétaires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Génération vidéo</a:t>
            </a:r>
            <a:r>
              <a:rPr sz="1600">
                <a:solidFill>
                  <a:srgbClr val="333333"/>
                </a:solidFill>
              </a:rPr>
              <a:t> : Automatisation publicités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Performance Technique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Backend Rust</a:t>
            </a:r>
            <a:r>
              <a:rPr sz="1600">
                <a:solidFill>
                  <a:srgbClr val="333333"/>
                </a:solidFill>
              </a:rPr>
              <a:t> : 10x plus rapide que Node.js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Scalabilité</a:t>
            </a:r>
            <a:r>
              <a:rPr sz="1600">
                <a:solidFill>
                  <a:srgbClr val="333333"/>
                </a:solidFill>
              </a:rPr>
              <a:t> : Architecture cloud-native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Fiabilité</a:t>
            </a:r>
            <a:r>
              <a:rPr sz="1600">
                <a:solidFill>
                  <a:srgbClr val="333333"/>
                </a:solidFill>
              </a:rPr>
              <a:t> : 99.9% uptime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2. Écosystème Intégré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Multi-Secteurs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Une seule app</a:t>
            </a:r>
            <a:r>
              <a:rPr sz="1600">
                <a:solidFill>
                  <a:srgbClr val="333333"/>
                </a:solidFill>
              </a:rPr>
              <a:t> : Tous services essentiels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Expérience unifiée</a:t>
            </a:r>
            <a:r>
              <a:rPr sz="1600">
                <a:solidFill>
                  <a:srgbClr val="333333"/>
                </a:solidFill>
              </a:rPr>
              <a:t> : Navigation fluide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Network effects</a:t>
            </a:r>
            <a:r>
              <a:rPr sz="1600">
                <a:solidFill>
                  <a:srgbClr val="333333"/>
                </a:solidFill>
              </a:rPr>
              <a:t> : Plus d'utilisateurs = plus de valeur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Services Spécialisés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Santé, éducation, transport, immobilier, aide ménagère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Différenciation</a:t>
            </a:r>
            <a:r>
              <a:rPr sz="1600">
                <a:solidFill>
                  <a:srgbClr val="333333"/>
                </a:solidFill>
              </a:rPr>
              <a:t> : Concurrents n'offrent pas cette intégration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3. Première Mover Advantage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Timing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émergent</a:t>
            </a:r>
            <a:r>
              <a:rPr sz="1600">
                <a:solidFill>
                  <a:srgbClr val="333333"/>
                </a:solidFill>
              </a:rPr>
              <a:t> : Opportunité avant géants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Digitalisation</a:t>
            </a:r>
            <a:r>
              <a:rPr sz="1600">
                <a:solidFill>
                  <a:srgbClr val="333333"/>
                </a:solidFill>
              </a:rPr>
              <a:t> : Vague de transformation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</a:t>
            </a:r>
            <a:r>
              <a:rPr sz="1600">
                <a:solidFill>
                  <a:srgbClr val="333333"/>
                </a:solidFill>
              </a:rPr>
              <a:t> : Non satisfaits par solutions existantes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Localisation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Compréhension marché</a:t>
            </a:r>
            <a:r>
              <a:rPr sz="1600">
                <a:solidFill>
                  <a:srgbClr val="333333"/>
                </a:solidFill>
              </a:rPr>
              <a:t> : Équipe locale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Adaptation</a:t>
            </a:r>
            <a:r>
              <a:rPr sz="1600">
                <a:solidFill>
                  <a:srgbClr val="333333"/>
                </a:solidFill>
              </a:rPr>
              <a:t> : Culture, langues, besoins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Partenariats</a:t>
            </a:r>
            <a:r>
              <a:rPr sz="1600">
                <a:solidFill>
                  <a:srgbClr val="333333"/>
                </a:solidFill>
              </a:rPr>
              <a:t> : Relations établies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4. Modèle Économique Optimisé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Multi-Sources 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Diversification</a:t>
            </a:r>
            <a:r>
              <a:rPr sz="1600">
                <a:solidFill>
                  <a:srgbClr val="333333"/>
                </a:solidFill>
              </a:rPr>
              <a:t> : Réduction risques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Scalabilité</a:t>
            </a:r>
            <a:r>
              <a:rPr sz="1600">
                <a:solidFill>
                  <a:srgbClr val="333333"/>
                </a:solidFill>
              </a:rPr>
              <a:t> : Croissance multiple canaux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Rentabilité</a:t>
            </a:r>
            <a:r>
              <a:rPr sz="1600">
                <a:solidFill>
                  <a:srgbClr val="333333"/>
                </a:solidFill>
              </a:rPr>
              <a:t> : Marges variées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Pricing Compétitif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Commissions</a:t>
            </a:r>
            <a:r>
              <a:rPr sz="1600">
                <a:solidFill>
                  <a:srgbClr val="333333"/>
                </a:solidFill>
              </a:rPr>
              <a:t> : 12-18% (vs 25-30% concurrents)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Valeur</a:t>
            </a:r>
            <a:r>
              <a:rPr sz="1600">
                <a:solidFill>
                  <a:srgbClr val="333333"/>
                </a:solidFill>
              </a:rPr>
              <a:t> : Services supplémentaires inclus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Accessibilité</a:t>
            </a:r>
            <a:r>
              <a:rPr sz="1600">
                <a:solidFill>
                  <a:srgbClr val="333333"/>
                </a:solidFill>
              </a:rPr>
              <a:t> : Prix adaptés marché local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TENDANCES DU MARCHÉ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Tendances Favorables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1. Digitalisation Accélérée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Post-COVID</a:t>
            </a:r>
            <a:r>
              <a:rPr sz="1600">
                <a:solidFill>
                  <a:srgbClr val="333333"/>
                </a:solidFill>
              </a:rPr>
              <a:t> : Adoption accélérée services digitaux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Infrastructure</a:t>
            </a:r>
            <a:r>
              <a:rPr sz="1600">
                <a:solidFill>
                  <a:srgbClr val="333333"/>
                </a:solidFill>
              </a:rPr>
              <a:t> : 4G/5G expansion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Comportements</a:t>
            </a:r>
            <a:r>
              <a:rPr sz="1600">
                <a:solidFill>
                  <a:srgbClr val="333333"/>
                </a:solidFill>
              </a:rPr>
              <a:t> : Changement habitudes consommateurs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 Croissance Classe Moyenne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Croissance 5-8%/an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Pouvoir d'achat</a:t>
            </a:r>
            <a:r>
              <a:rPr sz="1600">
                <a:solidFill>
                  <a:srgbClr val="333333"/>
                </a:solidFill>
              </a:rPr>
              <a:t> : Augmentation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</a:t>
            </a:r>
            <a:r>
              <a:rPr sz="1600">
                <a:solidFill>
                  <a:srgbClr val="333333"/>
                </a:solidFill>
              </a:rPr>
              <a:t> : Services premium accessibles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3. Urbanisation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Migration</a:t>
            </a:r>
            <a:r>
              <a:rPr sz="1600">
                <a:solidFill>
                  <a:srgbClr val="333333"/>
                </a:solidFill>
              </a:rPr>
              <a:t> : Vers villes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Densité</a:t>
            </a:r>
            <a:r>
              <a:rPr sz="1600">
                <a:solidFill>
                  <a:srgbClr val="333333"/>
                </a:solidFill>
              </a:rPr>
              <a:t> : Concentration populations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</a:t>
            </a:r>
            <a:r>
              <a:rPr sz="1600">
                <a:solidFill>
                  <a:srgbClr val="333333"/>
                </a:solidFill>
              </a:rPr>
              <a:t> : Services on-demand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4. Fintech Adoption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Paiements mobiles</a:t>
            </a:r>
            <a:r>
              <a:rPr sz="1600">
                <a:solidFill>
                  <a:srgbClr val="333333"/>
                </a:solidFill>
              </a:rPr>
              <a:t> : M-Pesa, Orange Money, MTN Mobile Money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Confiance</a:t>
            </a:r>
            <a:r>
              <a:rPr sz="1600">
                <a:solidFill>
                  <a:srgbClr val="333333"/>
                </a:solidFill>
              </a:rPr>
              <a:t> : Croissance transactions digitales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Infrastructure</a:t>
            </a:r>
            <a:r>
              <a:rPr sz="1600">
                <a:solidFill>
                  <a:srgbClr val="333333"/>
                </a:solidFill>
              </a:rPr>
              <a:t> : APIs, intégrations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5. IA et Automatisation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Adoption</a:t>
            </a:r>
            <a:r>
              <a:rPr sz="1600">
                <a:solidFill>
                  <a:srgbClr val="333333"/>
                </a:solidFill>
              </a:rPr>
              <a:t> : Croissance solutions IA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Efficacité</a:t>
            </a:r>
            <a:r>
              <a:rPr sz="1600">
                <a:solidFill>
                  <a:srgbClr val="333333"/>
                </a:solidFill>
              </a:rPr>
              <a:t> : Automatisation processus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Expérience</a:t>
            </a:r>
            <a:r>
              <a:rPr sz="1600">
                <a:solidFill>
                  <a:srgbClr val="333333"/>
                </a:solidFill>
              </a:rPr>
              <a:t> : Personnalisation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Tendances Défavorables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1. Réglementation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</a:t>
            </a:r>
            <a:r>
              <a:rPr sz="1600">
                <a:solidFill>
                  <a:srgbClr val="333333"/>
                </a:solidFill>
              </a:rPr>
              <a:t> : Changements légaux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Veille juridique, conformité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 Concurrence Internationale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</a:t>
            </a:r>
            <a:r>
              <a:rPr sz="1600">
                <a:solidFill>
                  <a:srgbClr val="333333"/>
                </a:solidFill>
              </a:rPr>
              <a:t> : Géants tech entrent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Avantage première mover, localisation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3. Infrastructure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</a:t>
            </a:r>
            <a:r>
              <a:rPr sz="1600">
                <a:solidFill>
                  <a:srgbClr val="333333"/>
                </a:solidFill>
              </a:rPr>
              <a:t> : Coupures internet, pannes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Redondance, backup,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POSITIONNEMENT STRATÉGIQUE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Proposition de Valeur Unique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"Tous vos services essentiels dans une seule app"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Rapidité, qualité, prix compétitifs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Services spécialisés (santé, éducation, transport, etc.)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"Augmentez vos ventes avec notre plateforme intelligente"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Visibilité, outils IA, analytics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Accès à large base utilisateurs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"Gagnez plus avec notre plateforme optimisée"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Revenus stables, outils, support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Flexibilité, autonomie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Différenciation Clé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</a:t>
            </a:r>
            <a:r>
              <a:rPr sz="1600" b="1">
                <a:solidFill>
                  <a:srgbClr val="003366"/>
                </a:solidFill>
              </a:rPr>
              <a:t>Multi-Secteurs Intégrés</a:t>
            </a:r>
            <a:r>
              <a:rPr sz="1600">
                <a:solidFill>
                  <a:srgbClr val="333333"/>
                </a:solidFill>
              </a:rPr>
              <a:t> : Unique sur marché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</a:t>
            </a:r>
            <a:r>
              <a:rPr sz="1600" b="1">
                <a:solidFill>
                  <a:srgbClr val="003366"/>
                </a:solidFill>
              </a:rPr>
              <a:t>IA Avancée</a:t>
            </a:r>
            <a:r>
              <a:rPr sz="1600">
                <a:solidFill>
                  <a:srgbClr val="333333"/>
                </a:solidFill>
              </a:rPr>
              <a:t> : Création, recommandation, automatisation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</a:t>
            </a:r>
            <a:r>
              <a:rPr sz="1600" b="1">
                <a:solidFill>
                  <a:srgbClr val="003366"/>
                </a:solidFill>
              </a:rPr>
              <a:t>Services Spécialisés</a:t>
            </a:r>
            <a:r>
              <a:rPr sz="1600">
                <a:solidFill>
                  <a:srgbClr val="333333"/>
                </a:solidFill>
              </a:rPr>
              <a:t> : Santé, éducation, transport, immobilier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</a:t>
            </a:r>
            <a:r>
              <a:rPr sz="1600" b="1">
                <a:solidFill>
                  <a:srgbClr val="003366"/>
                </a:solidFill>
              </a:rPr>
              <a:t>Prix Compétitifs</a:t>
            </a:r>
            <a:r>
              <a:rPr sz="1600">
                <a:solidFill>
                  <a:srgbClr val="333333"/>
                </a:solidFill>
              </a:rPr>
              <a:t> : Adaptés marché local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5. </a:t>
            </a:r>
            <a:r>
              <a:rPr sz="1600" b="1">
                <a:solidFill>
                  <a:srgbClr val="003366"/>
                </a:solidFill>
              </a:rPr>
              <a:t>Localisation</a:t>
            </a:r>
            <a:r>
              <a:rPr sz="1600">
                <a:solidFill>
                  <a:srgbClr val="333333"/>
                </a:solidFill>
              </a:rPr>
              <a:t> : Compréhension profonde besoins locaux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OPPORTUNITÉS DE CROISSANCE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Court Terme (2026-2027)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Expansion Géographique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Côte d'Ivoire</a:t>
            </a:r>
            <a:r>
              <a:rPr sz="1600">
                <a:solidFill>
                  <a:srgbClr val="333333"/>
                </a:solidFill>
              </a:rPr>
              <a:t> : Hub économique, croissance rapide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Sénégal</a:t>
            </a:r>
            <a:r>
              <a:rPr sz="1600">
                <a:solidFill>
                  <a:srgbClr val="333333"/>
                </a:solidFill>
              </a:rPr>
              <a:t> : Stabilité, digitalisation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Autres pays</a:t>
            </a:r>
            <a:r>
              <a:rPr sz="1600">
                <a:solidFill>
                  <a:srgbClr val="333333"/>
                </a:solidFill>
              </a:rPr>
              <a:t> : Gabon, Bénin, Togo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Nouvelles Fonctionnalités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Services additionnels</a:t>
            </a:r>
            <a:r>
              <a:rPr sz="1600">
                <a:solidFill>
                  <a:srgbClr val="333333"/>
                </a:solidFill>
              </a:rPr>
              <a:t> : Élargissement offre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Amélioration IA</a:t>
            </a:r>
            <a:r>
              <a:rPr sz="1600">
                <a:solidFill>
                  <a:srgbClr val="333333"/>
                </a:solidFill>
              </a:rPr>
              <a:t> : Meilleures recommandations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Expérience utilisateur</a:t>
            </a:r>
            <a:r>
              <a:rPr sz="1600">
                <a:solidFill>
                  <a:srgbClr val="333333"/>
                </a:solidFill>
              </a:rPr>
              <a:t> : Optimisation 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Moyen Terme (2028-2029)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Expansion Panafricaine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Pays francophones</a:t>
            </a:r>
            <a:r>
              <a:rPr sz="1600">
                <a:solidFill>
                  <a:srgbClr val="333333"/>
                </a:solidFill>
              </a:rPr>
              <a:t> : 10+ pays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Pays anglophones</a:t>
            </a:r>
            <a:r>
              <a:rPr sz="1600">
                <a:solidFill>
                  <a:srgbClr val="333333"/>
                </a:solidFill>
              </a:rPr>
              <a:t> : Nigeria, Ghana, Kenya, etc.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Pays lusophones</a:t>
            </a:r>
            <a:r>
              <a:rPr sz="1600">
                <a:solidFill>
                  <a:srgbClr val="333333"/>
                </a:solidFill>
              </a:rPr>
              <a:t> : Angola, Mozambique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B2B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Solutions enterprise</a:t>
            </a:r>
            <a:r>
              <a:rPr sz="1600">
                <a:solidFill>
                  <a:srgbClr val="333333"/>
                </a:solidFill>
              </a:rPr>
              <a:t> : Grandes entreprises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API</a:t>
            </a:r>
            <a:r>
              <a:rPr sz="1600">
                <a:solidFill>
                  <a:srgbClr val="333333"/>
                </a:solidFill>
              </a:rPr>
              <a:t> : Intégrations partenaires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White label</a:t>
            </a:r>
            <a:r>
              <a:rPr sz="1600">
                <a:solidFill>
                  <a:srgbClr val="333333"/>
                </a:solidFill>
              </a:rPr>
              <a:t> : Solutions sur-mesure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Long Terme (2030+)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Leadership Panafricain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Position dominante</a:t>
            </a:r>
            <a:r>
              <a:rPr sz="1600">
                <a:solidFill>
                  <a:srgbClr val="333333"/>
                </a:solidFill>
              </a:rPr>
              <a:t> : 20+ pays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Brand</a:t>
            </a:r>
            <a:r>
              <a:rPr sz="1600">
                <a:solidFill>
                  <a:srgbClr val="333333"/>
                </a:solidFill>
              </a:rPr>
              <a:t> : Leader catégorie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Écosystème</a:t>
            </a:r>
            <a:r>
              <a:rPr sz="1600">
                <a:solidFill>
                  <a:srgbClr val="333333"/>
                </a:solidFill>
              </a:rPr>
              <a:t> : Plateforme de référence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Diversification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Nouveaux secteurs</a:t>
            </a:r>
            <a:r>
              <a:rPr sz="1600">
                <a:solidFill>
                  <a:srgbClr val="333333"/>
                </a:solidFill>
              </a:rPr>
              <a:t> : Expansion services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Technologies</a:t>
            </a:r>
            <a:r>
              <a:rPr sz="1600">
                <a:solidFill>
                  <a:srgbClr val="333333"/>
                </a:solidFill>
              </a:rPr>
              <a:t> : IA, blockchain, etc.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Modèles</a:t>
            </a:r>
            <a:r>
              <a:rPr sz="1600">
                <a:solidFill>
                  <a:srgbClr val="333333"/>
                </a:solidFill>
              </a:rPr>
              <a:t> : B2B2C, marketplace,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RISQUES MARCHÉ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Risques Identifiés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1. Concurrence Internationale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Probabilité</a:t>
            </a:r>
            <a:r>
              <a:rPr sz="1600">
                <a:solidFill>
                  <a:srgbClr val="333333"/>
                </a:solidFill>
              </a:rPr>
              <a:t> : Moyenne-Élevée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Impact</a:t>
            </a:r>
            <a:r>
              <a:rPr sz="1600">
                <a:solidFill>
                  <a:srgbClr val="333333"/>
                </a:solidFill>
              </a:rPr>
              <a:t> : Élevé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Avantage première mover, localisation, technologie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 Changements Réglementaires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Probabilité</a:t>
            </a:r>
            <a:r>
              <a:rPr sz="1600">
                <a:solidFill>
                  <a:srgbClr val="333333"/>
                </a:solidFill>
              </a:rPr>
              <a:t> : Moyenne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Impact</a:t>
            </a:r>
            <a:r>
              <a:rPr sz="1600">
                <a:solidFill>
                  <a:srgbClr val="333333"/>
                </a:solidFill>
              </a:rPr>
              <a:t> : Moyen-Élevé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Veille juridique, conformité, relations régulateurs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3. Infrastructure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Probabilité</a:t>
            </a:r>
            <a:r>
              <a:rPr sz="1600">
                <a:solidFill>
                  <a:srgbClr val="333333"/>
                </a:solidFill>
              </a:rPr>
              <a:t> : Moyenne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Impact</a:t>
            </a:r>
            <a:r>
              <a:rPr sz="1600">
                <a:solidFill>
                  <a:srgbClr val="333333"/>
                </a:solidFill>
              </a:rPr>
              <a:t> : Moyen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Redondance, backup, monitoring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4. Adoption Utilisateurs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Probabilité</a:t>
            </a:r>
            <a:r>
              <a:rPr sz="1600">
                <a:solidFill>
                  <a:srgbClr val="333333"/>
                </a:solidFill>
              </a:rPr>
              <a:t> : Faible-Moyenne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Impact</a:t>
            </a:r>
            <a:r>
              <a:rPr sz="1600">
                <a:solidFill>
                  <a:srgbClr val="333333"/>
                </a:solidFill>
              </a:rPr>
              <a:t> : Élevé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Marketing agressif, éducation, prix compétitifs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5. Économique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Probabilité</a:t>
            </a:r>
            <a:r>
              <a:rPr sz="1600">
                <a:solidFill>
                  <a:srgbClr val="333333"/>
                </a:solidFill>
              </a:rPr>
              <a:t> : Faible-Moyenne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Impact</a:t>
            </a:r>
            <a:r>
              <a:rPr sz="1600">
                <a:solidFill>
                  <a:srgbClr val="333333"/>
                </a:solidFill>
              </a:rPr>
              <a:t> : Moyen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Diversification, résilience, pricing adaptatif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Opportunité de Marché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Yukpomnang opère dans un </a:t>
            </a:r>
            <a:r>
              <a:rPr sz="1600" b="1">
                <a:solidFill>
                  <a:srgbClr val="003366"/>
                </a:solidFill>
              </a:rPr>
              <a:t>marché en croissance exponentielle</a:t>
            </a:r>
            <a:r>
              <a:rPr sz="1600">
                <a:solidFill>
                  <a:srgbClr val="333333"/>
                </a:solidFill>
              </a:rPr>
              <a:t> (90K FCFA+ milliards TAM) avec :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Digitalisation accélérée</a:t>
            </a:r>
            <a:r>
              <a:rPr sz="1600">
                <a:solidFill>
                  <a:srgbClr val="333333"/>
                </a:solidFill>
              </a:rPr>
              <a:t> : Adoption services digitaux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 démographique</a:t>
            </a:r>
            <a:r>
              <a:rPr sz="1600">
                <a:solidFill>
                  <a:srgbClr val="333333"/>
                </a:solidFill>
              </a:rPr>
              <a:t> : Population jeune, urbaine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Classe moyenne émergente</a:t>
            </a:r>
            <a:r>
              <a:rPr sz="1600">
                <a:solidFill>
                  <a:srgbClr val="333333"/>
                </a:solidFill>
              </a:rPr>
              <a:t> : Pouvoir d'achat croissant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Infrastructure</a:t>
            </a:r>
            <a:r>
              <a:rPr sz="1600">
                <a:solidFill>
                  <a:srgbClr val="333333"/>
                </a:solidFill>
              </a:rPr>
              <a:t> : 4G/5G, fintech, smartphones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Positionnement Concurrentiel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Technologie propriétaire</a:t>
            </a:r>
            <a:r>
              <a:rPr sz="1600">
                <a:solidFill>
                  <a:srgbClr val="333333"/>
                </a:solidFill>
              </a:rPr>
              <a:t> : IA, performance, scalabilité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Écosystème intégré</a:t>
            </a:r>
            <a:r>
              <a:rPr sz="1600">
                <a:solidFill>
                  <a:srgbClr val="333333"/>
                </a:solidFill>
              </a:rPr>
              <a:t> : Multi-secteurs unique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Première mover</a:t>
            </a:r>
            <a:r>
              <a:rPr sz="1600">
                <a:solidFill>
                  <a:srgbClr val="333333"/>
                </a:solidFill>
              </a:rPr>
              <a:t> : Avantage timing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Localisation</a:t>
            </a:r>
            <a:r>
              <a:rPr sz="1600">
                <a:solidFill>
                  <a:srgbClr val="333333"/>
                </a:solidFill>
              </a:rPr>
              <a:t> : Compréhension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Potentiel de Croissance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 : 1.5 billions FCFArevenus (Cameroun)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 : 7.2 billions FCFArevenus (3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 : 21.0 billions FCFArevenus (10+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2029</a:t>
            </a:r>
            <a:r>
              <a:rPr sz="1600">
                <a:solidFill>
                  <a:srgbClr val="333333"/>
                </a:solidFill>
              </a:rPr>
              <a:t> : 51.0 billions FCFArevenus (20+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2030</a:t>
            </a:r>
            <a:r>
              <a:rPr sz="1600">
                <a:solidFill>
                  <a:srgbClr val="333333"/>
                </a:solidFill>
              </a:rPr>
              <a:t> : 108.0 billions FCFA+ revenus (Leader)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RÉFÉRENCES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United Nations, Department of Economic and Social Affairs, Population Division (2023). "World Population Prospects 2022"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United Nations, Department of Economic and Social Affairs (2022). "World Urbanization Prospects"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African Development Bank (2023). "African Economic Outlook 2023"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International Monetary Fund (2024). "World Economic Outlook Database"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African Development Bank (2024). "African Economic Outlook 2024"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GSMA (2024). "The Mobile Economy Sub-Saharan Africa 2024"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ITU (2023). "Measuring Digital Development: Facts and Figures" ; World Bank (2024). "Digital Development in Africa"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Statista (2024). "E-commerce in Africa - Statistics &amp; Facts" ; McKinsey &amp; Company (2023). "The Future of Work in Africa" ; UNCTAD (2023). "Digital Economy Report 2023"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Research and Markets (2024). "Africa Last-Mile Delivery Market Report" ; McKinsey &amp; Company (2023). "The Future of African Logistics"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World Health Organization (2023). "Global Health Expenditure Database" ; McKinsey &amp; Company (2023). "Healthcare in Africa: Opportunities and Challenges"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World Bank (2024). "Transport in Africa: Challenges and Opportunities" ; African Development Bank (2023). "Infrastructure Development in Africa"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World Bank (2024). "Housing Finance in Africa" ; African Development Bank (2023). "Urban Development in Africa"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World Bank (2024). "World Development Indicators" - Données par pays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: Projection basée sur PIB et part de marché réaliste (5-6%) dans secteurs cibles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