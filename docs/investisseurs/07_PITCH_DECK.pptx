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07 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Document Investisseurs - Janvier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SLIDE 2 : PROBLÈME #1 - L'INVISIBILITÉ DIGITALE DES COMMERCES LOCAUX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85% des Commerces Locaux Africains sont Invisibles Numériquement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85% des commerces locaux</a:t>
            </a:r>
            <a:r>
              <a:rPr sz="1600">
                <a:solidFill>
                  <a:srgbClr val="333333"/>
                </a:solidFill>
              </a:rPr>
              <a:t> (petits commerces, pharmacies, restaurants) = </a:t>
            </a:r>
            <a:r>
              <a:rPr sz="1600" b="1">
                <a:solidFill>
                  <a:srgbClr val="003366"/>
                </a:solidFill>
              </a:rPr>
              <a:t>AUCUNE présence digitale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70% de l'économie informelle</a:t>
            </a:r>
            <a:r>
              <a:rPr sz="1600">
                <a:solidFill>
                  <a:srgbClr val="333333"/>
                </a:solidFill>
              </a:rPr>
              <a:t> = </a:t>
            </a:r>
            <a:r>
              <a:rPr sz="1600" b="1">
                <a:solidFill>
                  <a:srgbClr val="003366"/>
                </a:solidFill>
              </a:rPr>
              <a:t>Invisible</a:t>
            </a:r>
            <a:r>
              <a:rPr sz="1600">
                <a:solidFill>
                  <a:srgbClr val="333333"/>
                </a:solidFill>
              </a:rPr>
              <a:t> pour les consommateurs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Perte de 30-40% du chiffre d'affaires potentiel</a:t>
            </a:r>
            <a:r>
              <a:rPr sz="1600">
                <a:solidFill>
                  <a:srgbClr val="333333"/>
                </a:solidFill>
              </a:rPr>
              <a:t> faute de visibilité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Coûts marketing inaccessibles</a:t>
            </a:r>
            <a:r>
              <a:rPr sz="1600">
                <a:solidFill>
                  <a:srgbClr val="333333"/>
                </a:solidFill>
              </a:rPr>
              <a:t> : Site web = 500K-2M FCFA, Vidéo = 200K-1M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Complexité technique</a:t>
            </a:r>
            <a:r>
              <a:rPr sz="1600">
                <a:solidFill>
                  <a:srgbClr val="333333"/>
                </a:solidFill>
              </a:rPr>
              <a:t> : Créer une présence digitale = expertise + temps + argent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Fracture digitale</a:t>
            </a:r>
            <a:r>
              <a:rPr sz="1600">
                <a:solidFill>
                  <a:srgbClr val="333333"/>
                </a:solidFill>
              </a:rPr>
              <a:t> : Seuls les grands groupes peuvent se le permettre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Milliards de FCFA perdus</a:t>
            </a:r>
            <a:r>
              <a:rPr sz="1600">
                <a:solidFill>
                  <a:srgbClr val="333333"/>
                </a:solidFill>
              </a:rPr>
              <a:t> chaque année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Inégalité économique massive</a:t>
            </a:r>
            <a:r>
              <a:rPr sz="1600">
                <a:solidFill>
                  <a:srgbClr val="333333"/>
                </a:solidFill>
              </a:rPr>
              <a:t> : Grands groupes vs petits commerces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Découverte impossible</a:t>
            </a:r>
            <a:r>
              <a:rPr sz="1600">
                <a:solidFill>
                  <a:srgbClr val="333333"/>
                </a:solidFill>
              </a:rPr>
              <a:t> : Consommateurs ne trouvent pas les commerces, même à proximité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SLIDE 3 : PROBLÈME #2 - LA FRACTURE D'ACCÈS AUX SERVICES ESSENTIELS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Services Fragmentés, Coûteux et Inaccessibles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5-10 applications différentes</a:t>
            </a:r>
            <a:r>
              <a:rPr sz="1600">
                <a:solidFill>
                  <a:srgbClr val="333333"/>
                </a:solidFill>
              </a:rPr>
              <a:t> pour répondre aux besoins quotidiens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Coûts cachés énormes</a:t>
            </a:r>
            <a:r>
              <a:rPr sz="1600">
                <a:solidFill>
                  <a:srgbClr val="333333"/>
                </a:solidFill>
              </a:rPr>
              <a:t> : Recherche + déplacements = 50K-150K FCFA/mois par ménage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Accessibilité limitée</a:t>
            </a:r>
            <a:r>
              <a:rPr sz="1600">
                <a:solidFill>
                  <a:srgbClr val="333333"/>
                </a:solidFill>
              </a:rPr>
              <a:t> : Services difficiles à trouver, surtout zones périurbaines/rurales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Barrières linguistiques</a:t>
            </a:r>
            <a:r>
              <a:rPr sz="1600">
                <a:solidFill>
                  <a:srgbClr val="333333"/>
                </a:solidFill>
              </a:rPr>
              <a:t> : 60% de la population exclue (langues locales non supportées)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Manque de transparence</a:t>
            </a:r>
            <a:r>
              <a:rPr sz="1600">
                <a:solidFill>
                  <a:srgbClr val="333333"/>
                </a:solidFill>
              </a:rPr>
              <a:t> : Prix, disponibilité, qualité = information opaque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Perte de temps</a:t>
            </a:r>
            <a:r>
              <a:rPr sz="1600">
                <a:solidFill>
                  <a:srgbClr val="333333"/>
                </a:solidFill>
              </a:rPr>
              <a:t> : 2-3 heures/jour à chercher des services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Coûts élevés</a:t>
            </a:r>
            <a:r>
              <a:rPr sz="1600">
                <a:solidFill>
                  <a:srgbClr val="333333"/>
                </a:solidFill>
              </a:rPr>
              <a:t> : 15-25% du budget mensuel en recherche/déplacement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Exclusion sociale</a:t>
            </a:r>
            <a:r>
              <a:rPr sz="1600">
                <a:solidFill>
                  <a:srgbClr val="333333"/>
                </a:solidFill>
              </a:rPr>
              <a:t> : Populations rurales, analphabètes, handicapées exclues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Qualité de vie dégradée</a:t>
            </a:r>
            <a:r>
              <a:rPr sz="1600">
                <a:solidFill>
                  <a:srgbClr val="333333"/>
                </a:solidFill>
              </a:rPr>
              <a:t> : Accès difficile = santé, éducation, logement compromis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Marché 90K FCFA+ milliards</a:t>
            </a:r>
            <a:r>
              <a:rPr sz="1600">
                <a:solidFill>
                  <a:srgbClr val="333333"/>
                </a:solidFill>
              </a:rPr>
              <a:t> : Croissance 15-20%/an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1,4 milliard d'habitants</a:t>
            </a:r>
            <a:r>
              <a:rPr sz="1600">
                <a:solidFill>
                  <a:srgbClr val="333333"/>
                </a:solidFill>
              </a:rPr>
              <a:t> → </a:t>
            </a:r>
            <a:r>
              <a:rPr sz="1600" b="1">
                <a:solidFill>
                  <a:srgbClr val="003366"/>
                </a:solidFill>
              </a:rPr>
              <a:t>2,5 milliards en 2050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70% pénétration smartphone</a:t>
            </a:r>
            <a:r>
              <a:rPr sz="1600">
                <a:solidFill>
                  <a:srgbClr val="333333"/>
                </a:solidFill>
              </a:rPr>
              <a:t>, </a:t>
            </a:r>
            <a:r>
              <a:rPr sz="1600" b="1">
                <a:solidFill>
                  <a:srgbClr val="003366"/>
                </a:solidFill>
              </a:rPr>
              <a:t>85% couverture 4G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Timing parfait</a:t>
            </a:r>
            <a:r>
              <a:rPr sz="1600">
                <a:solidFill>
                  <a:srgbClr val="333333"/>
                </a:solidFill>
              </a:rPr>
              <a:t> : Infrastructure prête, adoption mobile, demande croissante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SLIDE 4 : SOLUTION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Yukpomnang : L'Écosystème Complet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Une Seule App pour Tous les Services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Express 30-60 minutes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Optimisation routes IA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Suivi temps réel GPS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IA générative : Fiches produits automatiques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Suggestions intelligentes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Optimisation SEO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Géolocalisation avancée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25+ catégories, 111+ filtres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Recommandations IA personnalisées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Génération automatisée TikTok/Reels-like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Templates professionnels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IA audio, effets avancés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🏥 Santé : Pharmacies, hôpitaux, téléconsultation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Éducation : Écoles, formations, tutorat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🚗 Transport : Taxi, covoiturage, bus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🏠 Immobilier : Recherche, visites, documentation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🧹 Aide Ménagère : Planning hebdomadaire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Catalogue produits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Commandes en ligne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Livraison programmée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SLIDE 5 : MARCHÉ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Opportunité Massive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TAM : 90K FCFA+ Milliards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E-commerce</a:t>
            </a:r>
            <a:r>
              <a:rPr sz="1600">
                <a:solidFill>
                  <a:srgbClr val="333333"/>
                </a:solidFill>
              </a:rPr>
              <a:t> : 45000.0 billions FCFA→ 90000.0 billions FCFA(2030)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Livraison</a:t>
            </a:r>
            <a:r>
              <a:rPr sz="1600">
                <a:solidFill>
                  <a:srgbClr val="333333"/>
                </a:solidFill>
              </a:rPr>
              <a:t> : 7200.0 billions FCFA→ 15000.0 billions FCFA- </a:t>
            </a:r>
            <a:r>
              <a:rPr sz="1600" b="1">
                <a:solidFill>
                  <a:srgbClr val="003366"/>
                </a:solidFill>
              </a:rPr>
              <a:t>Santé</a:t>
            </a:r>
            <a:r>
              <a:rPr sz="1600">
                <a:solidFill>
                  <a:srgbClr val="333333"/>
                </a:solidFill>
              </a:rPr>
              <a:t> : 15000.0 billions FCFA→ 30000.0 billions FCFA- </a:t>
            </a:r>
            <a:r>
              <a:rPr sz="1600" b="1">
                <a:solidFill>
                  <a:srgbClr val="003366"/>
                </a:solidFill>
              </a:rPr>
              <a:t>Transport</a:t>
            </a:r>
            <a:r>
              <a:rPr sz="1600">
                <a:solidFill>
                  <a:srgbClr val="333333"/>
                </a:solidFill>
              </a:rPr>
              <a:t> : 10800.0 billions FCFA→ 21000.0 billions FCFA- </a:t>
            </a:r>
            <a:r>
              <a:rPr sz="1600" b="1">
                <a:solidFill>
                  <a:srgbClr val="003366"/>
                </a:solidFill>
              </a:rPr>
              <a:t>Immobilier</a:t>
            </a:r>
            <a:r>
              <a:rPr sz="1600">
                <a:solidFill>
                  <a:srgbClr val="333333"/>
                </a:solidFill>
              </a:rPr>
              <a:t> : 12000.0 billions FCFA→ 24000.0 billions FCFA#### SAM : 27K FCFAMilliards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Cameroun</a:t>
            </a:r>
            <a:r>
              <a:rPr sz="1600">
                <a:solidFill>
                  <a:srgbClr val="333333"/>
                </a:solidFill>
              </a:rPr>
              <a:t> : 4800.0 billions FCFA- </a:t>
            </a:r>
            <a:r>
              <a:rPr sz="1600" b="1">
                <a:solidFill>
                  <a:srgbClr val="003366"/>
                </a:solidFill>
              </a:rPr>
              <a:t>Côte d'Ivoire</a:t>
            </a:r>
            <a:r>
              <a:rPr sz="1600">
                <a:solidFill>
                  <a:srgbClr val="333333"/>
                </a:solidFill>
              </a:rPr>
              <a:t> : 7200.0 billions FCFA- </a:t>
            </a:r>
            <a:r>
              <a:rPr sz="1600" b="1">
                <a:solidFill>
                  <a:srgbClr val="003366"/>
                </a:solidFill>
              </a:rPr>
              <a:t>Sénégal</a:t>
            </a:r>
            <a:r>
              <a:rPr sz="1600">
                <a:solidFill>
                  <a:srgbClr val="333333"/>
                </a:solidFill>
              </a:rPr>
              <a:t> : 3600.0 billions FCFA- </a:t>
            </a:r>
            <a:r>
              <a:rPr sz="1600" b="1">
                <a:solidFill>
                  <a:srgbClr val="003366"/>
                </a:solidFill>
              </a:rPr>
              <a:t>Autres francophones</a:t>
            </a:r>
            <a:r>
              <a:rPr sz="1600">
                <a:solidFill>
                  <a:srgbClr val="333333"/>
                </a:solidFill>
              </a:rPr>
              <a:t> : 11400.0 billions FCFA#### SOM : 1K FCFAMilliards (5 ans)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Part de marché réaliste</a:t>
            </a:r>
            <a:r>
              <a:rPr sz="1600">
                <a:solidFill>
                  <a:srgbClr val="333333"/>
                </a:solidFill>
              </a:rPr>
              <a:t> : 5-6%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Objectif 2030</a:t>
            </a:r>
            <a:r>
              <a:rPr sz="1600">
                <a:solidFill>
                  <a:srgbClr val="333333"/>
                </a:solidFill>
              </a:rPr>
              <a:t> : 108.0 billions FCFA+ revenus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Croissance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Pénétration mobile</a:t>
            </a:r>
            <a:r>
              <a:rPr sz="1600">
                <a:solidFill>
                  <a:srgbClr val="333333"/>
                </a:solidFill>
              </a:rPr>
              <a:t> : 80%+ (croissance 5-8%/an)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Adoption fintech</a:t>
            </a:r>
            <a:r>
              <a:rPr sz="1600">
                <a:solidFill>
                  <a:srgbClr val="333333"/>
                </a:solidFill>
              </a:rPr>
              <a:t> : 25-30% CAGR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E-commerce</a:t>
            </a:r>
            <a:r>
              <a:rPr sz="1600">
                <a:solidFill>
                  <a:srgbClr val="333333"/>
                </a:solidFill>
              </a:rPr>
              <a:t> : 20-25% CAGR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Services on-demand</a:t>
            </a:r>
            <a:r>
              <a:rPr sz="1600">
                <a:solidFill>
                  <a:srgbClr val="333333"/>
                </a:solidFill>
              </a:rPr>
              <a:t> : 30-40% CAGR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SLIDE 5 : MODÈLE ÉCONOMIQUE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Multi-Sources de Revenus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1. Commissions Livraisons (35%)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15-20%</a:t>
            </a:r>
            <a:r>
              <a:rPr sz="1600">
                <a:solidFill>
                  <a:srgbClr val="333333"/>
                </a:solidFill>
              </a:rPr>
              <a:t> par transaction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Frais coursiers</a:t>
            </a:r>
            <a:r>
              <a:rPr sz="1600">
                <a:solidFill>
                  <a:srgbClr val="333333"/>
                </a:solidFill>
              </a:rPr>
              <a:t> : 10-15%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Projection 2026</a:t>
            </a:r>
            <a:r>
              <a:rPr sz="1600">
                <a:solidFill>
                  <a:srgbClr val="333333"/>
                </a:solidFill>
              </a:rPr>
              <a:t> : 525 millions FCFA#### 2. Publicité &amp; Promotion (30%)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Création vidéos</a:t>
            </a:r>
            <a:r>
              <a:rPr sz="1600">
                <a:solidFill>
                  <a:srgbClr val="333333"/>
                </a:solidFill>
              </a:rPr>
              <a:t> : 30K FCFA-120K FCFA/vidéo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Placement pub</a:t>
            </a:r>
            <a:r>
              <a:rPr sz="1600">
                <a:solidFill>
                  <a:srgbClr val="333333"/>
                </a:solidFill>
              </a:rPr>
              <a:t> : 300K FCFA-3 millions FCFA/mois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Projection 2026</a:t>
            </a:r>
            <a:r>
              <a:rPr sz="1600">
                <a:solidFill>
                  <a:srgbClr val="333333"/>
                </a:solidFill>
              </a:rPr>
              <a:t> : 450 millions FCFA#### 3. Achat de Tokens (20%)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Commerçants</a:t>
            </a:r>
            <a:r>
              <a:rPr sz="1600">
                <a:solidFill>
                  <a:srgbClr val="333333"/>
                </a:solidFill>
              </a:rPr>
              <a:t> : 17K FCFA-59K FCFA/mois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IA avancée</a:t>
            </a:r>
            <a:r>
              <a:rPr sz="1600">
                <a:solidFill>
                  <a:srgbClr val="333333"/>
                </a:solidFill>
              </a:rPr>
              <a:t> : 29K FCFA-119K FCFA/mois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Projection 2026</a:t>
            </a:r>
            <a:r>
              <a:rPr sz="1600">
                <a:solidFill>
                  <a:srgbClr val="333333"/>
                </a:solidFill>
              </a:rPr>
              <a:t> : 300 millions FCFA#### 4. Services Spécialisés (10%)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Commissions</a:t>
            </a:r>
            <a:r>
              <a:rPr sz="1600">
                <a:solidFill>
                  <a:srgbClr val="333333"/>
                </a:solidFill>
              </a:rPr>
              <a:t> : 8-18% selon service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Projection 2026</a:t>
            </a:r>
            <a:r>
              <a:rPr sz="1600">
                <a:solidFill>
                  <a:srgbClr val="333333"/>
                </a:solidFill>
              </a:rPr>
              <a:t> : 150 millions FCFA#### 5. E-Commerce (5%)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Commissions</a:t>
            </a:r>
            <a:r>
              <a:rPr sz="1600">
                <a:solidFill>
                  <a:srgbClr val="333333"/>
                </a:solidFill>
              </a:rPr>
              <a:t> : 8-12% par vente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Projection 2026</a:t>
            </a:r>
            <a:r>
              <a:rPr sz="1600">
                <a:solidFill>
                  <a:srgbClr val="333333"/>
                </a:solidFill>
              </a:rPr>
              <a:t> : 75 millions FCFA</a:t>
            </a:r>
            <a:r>
              <a:rPr sz="1600" b="1">
                <a:solidFill>
                  <a:srgbClr val="003366"/>
                </a:solidFill>
              </a:rPr>
              <a:t>TOTAL REVENUS 2026</a:t>
            </a:r>
            <a:r>
              <a:rPr sz="1600">
                <a:solidFill>
                  <a:srgbClr val="333333"/>
                </a:solidFill>
              </a:rPr>
              <a:t> : </a:t>
            </a:r>
            <a:r>
              <a:rPr sz="1600" b="1">
                <a:solidFill>
                  <a:srgbClr val="003366"/>
                </a:solidFill>
              </a:rPr>
              <a:t>1.5 billions FCFA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SLIDE 6 : TRACTION &amp; MÉTRIQUES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Progrès Actuels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Produit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Backend Rust</a:t>
            </a:r>
            <a:r>
              <a:rPr sz="1600">
                <a:solidFill>
                  <a:srgbClr val="333333"/>
                </a:solidFill>
              </a:rPr>
              <a:t> : Performance 10x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Frontend React</a:t>
            </a:r>
            <a:r>
              <a:rPr sz="1600">
                <a:solidFill>
                  <a:srgbClr val="333333"/>
                </a:solidFill>
              </a:rPr>
              <a:t> : Web + Mobile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IA Intégrée</a:t>
            </a:r>
            <a:r>
              <a:rPr sz="1600">
                <a:solidFill>
                  <a:srgbClr val="333333"/>
                </a:solidFill>
              </a:rPr>
              <a:t> : Création, recommandation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Génération Vidéo</a:t>
            </a:r>
            <a:r>
              <a:rPr sz="1600">
                <a:solidFill>
                  <a:srgbClr val="333333"/>
                </a:solidFill>
              </a:rPr>
              <a:t> : Remotion automatisée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25+ Catégories</a:t>
            </a:r>
            <a:r>
              <a:rPr sz="1600">
                <a:solidFill>
                  <a:srgbClr val="333333"/>
                </a:solidFill>
              </a:rPr>
              <a:t> : Services configurés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Technologie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Architecture scalable</a:t>
            </a:r>
            <a:r>
              <a:rPr sz="1600">
                <a:solidFill>
                  <a:srgbClr val="333333"/>
                </a:solidFill>
              </a:rPr>
              <a:t> : Cloud-native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Base de données</a:t>
            </a:r>
            <a:r>
              <a:rPr sz="1600">
                <a:solidFill>
                  <a:srgbClr val="333333"/>
                </a:solidFill>
              </a:rPr>
              <a:t> : PostgreSQL + pgvector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Multi-plateformes</a:t>
            </a:r>
            <a:r>
              <a:rPr sz="1600">
                <a:solidFill>
                  <a:srgbClr val="333333"/>
                </a:solidFill>
              </a:rPr>
              <a:t> : Web, iOS, Android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Sécurité</a:t>
            </a:r>
            <a:r>
              <a:rPr sz="1600">
                <a:solidFill>
                  <a:srgbClr val="333333"/>
                </a:solidFill>
              </a:rPr>
              <a:t> : JWT, chiffrement, conformité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Partenariats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En cours</a:t>
            </a:r>
            <a:r>
              <a:rPr sz="1600">
                <a:solidFill>
                  <a:srgbClr val="333333"/>
                </a:solidFill>
              </a:rPr>
              <a:t> : 50+ commerçants pilotes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En cours</a:t>
            </a:r>
            <a:r>
              <a:rPr sz="1600">
                <a:solidFill>
                  <a:srgbClr val="333333"/>
                </a:solidFill>
              </a:rPr>
              <a:t> : 100+ coursiers vérifiés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En cours</a:t>
            </a:r>
            <a:r>
              <a:rPr sz="1600">
                <a:solidFill>
                  <a:srgbClr val="333333"/>
                </a:solidFill>
              </a:rPr>
              <a:t> : Supermarchés, pharmacies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Objectifs 2026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500K utilisateurs</a:t>
            </a:r>
            <a:r>
              <a:rPr sz="1600">
                <a:solidFill>
                  <a:srgbClr val="333333"/>
                </a:solidFill>
              </a:rPr>
              <a:t> actifs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50K partenaires</a:t>
            </a:r>
            <a:r>
              <a:rPr sz="1600">
                <a:solidFill>
                  <a:srgbClr val="333333"/>
                </a:solidFill>
              </a:rPr>
              <a:t> (commerçants + coursiers)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1.5 billions FCFArevenus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150K transactions/mois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SLIDE 7 : AVANTAGES CONCURRENTIELS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Pourquoi Yukpomnang Gagnera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1. Technologie Propriétaire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IA avancée</a:t>
            </a:r>
            <a:r>
              <a:rPr sz="1600">
                <a:solidFill>
                  <a:srgbClr val="333333"/>
                </a:solidFill>
              </a:rPr>
              <a:t> : Création, recommandation unique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Performance</a:t>
            </a:r>
            <a:r>
              <a:rPr sz="1600">
                <a:solidFill>
                  <a:srgbClr val="333333"/>
                </a:solidFill>
              </a:rPr>
              <a:t> : Backend Rust 10x plus rapide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Scalabilité</a:t>
            </a:r>
            <a:r>
              <a:rPr sz="1600">
                <a:solidFill>
                  <a:srgbClr val="333333"/>
                </a:solidFill>
              </a:rPr>
              <a:t> : Architecture cloud-native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Innovation</a:t>
            </a:r>
            <a:r>
              <a:rPr sz="1600">
                <a:solidFill>
                  <a:srgbClr val="333333"/>
                </a:solidFill>
              </a:rPr>
              <a:t> : Génération vidéo automatisée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2. Écosystème Intégré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Multi-secteurs</a:t>
            </a:r>
            <a:r>
              <a:rPr sz="1600">
                <a:solidFill>
                  <a:srgbClr val="333333"/>
                </a:solidFill>
              </a:rPr>
              <a:t> : Unique sur marché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Expérience unifiée</a:t>
            </a:r>
            <a:r>
              <a:rPr sz="1600">
                <a:solidFill>
                  <a:srgbClr val="333333"/>
                </a:solidFill>
              </a:rPr>
              <a:t> : Une seule app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Network effects</a:t>
            </a:r>
            <a:r>
              <a:rPr sz="1600">
                <a:solidFill>
                  <a:srgbClr val="333333"/>
                </a:solidFill>
              </a:rPr>
              <a:t> : Plus d'utilisateurs = plus de valeur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3. Première Mover Advantage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Timing</a:t>
            </a:r>
            <a:r>
              <a:rPr sz="1600">
                <a:solidFill>
                  <a:srgbClr val="333333"/>
                </a:solidFill>
              </a:rPr>
              <a:t> : Avant géants internationaux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Localisation</a:t>
            </a:r>
            <a:r>
              <a:rPr sz="1600">
                <a:solidFill>
                  <a:srgbClr val="333333"/>
                </a:solidFill>
              </a:rPr>
              <a:t> : Compréhension marché local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Partenariats</a:t>
            </a:r>
            <a:r>
              <a:rPr sz="1600">
                <a:solidFill>
                  <a:srgbClr val="333333"/>
                </a:solidFill>
              </a:rPr>
              <a:t> : Relations établies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4. Modèle Économique Optimisé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Multi-sources revenus</a:t>
            </a:r>
            <a:r>
              <a:rPr sz="1600">
                <a:solidFill>
                  <a:srgbClr val="333333"/>
                </a:solidFill>
              </a:rPr>
              <a:t> : Diversification risques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Prix compétitifs</a:t>
            </a:r>
            <a:r>
              <a:rPr sz="1600">
                <a:solidFill>
                  <a:srgbClr val="333333"/>
                </a:solidFill>
              </a:rPr>
              <a:t> : 12-18% vs 25-30% concurrents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Scalabilité</a:t>
            </a:r>
            <a:r>
              <a:rPr sz="1600">
                <a:solidFill>
                  <a:srgbClr val="333333"/>
                </a:solidFill>
              </a:rPr>
              <a:t> : Croissance multiple canaux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SLIDE 8 : STRATÉGIE DE CROISSANCE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Roadmap 2026-2029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2026 : Lancement Cameroun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Q1</a:t>
            </a:r>
            <a:r>
              <a:rPr sz="1600">
                <a:solidFill>
                  <a:srgbClr val="333333"/>
                </a:solidFill>
              </a:rPr>
              <a:t> : Beta, partenariats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Q2</a:t>
            </a:r>
            <a:r>
              <a:rPr sz="1600">
                <a:solidFill>
                  <a:srgbClr val="333333"/>
                </a:solidFill>
              </a:rPr>
              <a:t> : Lancement officiel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Q3-Q4</a:t>
            </a:r>
            <a:r>
              <a:rPr sz="1600">
                <a:solidFill>
                  <a:srgbClr val="333333"/>
                </a:solidFill>
              </a:rPr>
              <a:t> : Expansion nationale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Objectif</a:t>
            </a:r>
            <a:r>
              <a:rPr sz="1600">
                <a:solidFill>
                  <a:srgbClr val="333333"/>
                </a:solidFill>
              </a:rPr>
              <a:t> : 500K utilisateurs, 1.5 billions FCFArevenus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2027 : Expansion 3 Pays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Q1</a:t>
            </a:r>
            <a:r>
              <a:rPr sz="1600">
                <a:solidFill>
                  <a:srgbClr val="333333"/>
                </a:solidFill>
              </a:rPr>
              <a:t> : Côte d'Ivoire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Q3</a:t>
            </a:r>
            <a:r>
              <a:rPr sz="1600">
                <a:solidFill>
                  <a:srgbClr val="333333"/>
                </a:solidFill>
              </a:rPr>
              <a:t> : Sénégal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Objectif</a:t>
            </a:r>
            <a:r>
              <a:rPr sz="1600">
                <a:solidFill>
                  <a:srgbClr val="333333"/>
                </a:solidFill>
              </a:rPr>
              <a:t> : 2.5M utilisateurs, 7.2 billions FCFArevenus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2028 : Consolidation Francophone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Expansion</a:t>
            </a:r>
            <a:r>
              <a:rPr sz="1600">
                <a:solidFill>
                  <a:srgbClr val="333333"/>
                </a:solidFill>
              </a:rPr>
              <a:t> : 10+ pays francophones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Objectif</a:t>
            </a:r>
            <a:r>
              <a:rPr sz="1600">
                <a:solidFill>
                  <a:srgbClr val="333333"/>
                </a:solidFill>
              </a:rPr>
              <a:t> : 7M utilisateurs, 21.0 billions FCFArevenus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2029 : Leadership Panafricain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Anglophone</a:t>
            </a:r>
            <a:r>
              <a:rPr sz="1600">
                <a:solidFill>
                  <a:srgbClr val="333333"/>
                </a:solidFill>
              </a:rPr>
              <a:t> : Nigeria, Ghana, Kenya, etc.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Lusophone</a:t>
            </a:r>
            <a:r>
              <a:rPr sz="1600">
                <a:solidFill>
                  <a:srgbClr val="333333"/>
                </a:solidFill>
              </a:rPr>
              <a:t> : Angola, Mozambique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Objectif</a:t>
            </a:r>
            <a:r>
              <a:rPr sz="1600">
                <a:solidFill>
                  <a:srgbClr val="333333"/>
                </a:solidFill>
              </a:rPr>
              <a:t> : 18M utilisateurs, 51.0 billions FCFArevenus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2030 : Leader Consolidé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25+ pays</a:t>
            </a:r>
            <a:r>
              <a:rPr sz="1600">
                <a:solidFill>
                  <a:srgbClr val="333333"/>
                </a:solidFill>
              </a:rPr>
              <a:t> : Présence panafricaine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Objectif</a:t>
            </a:r>
            <a:r>
              <a:rPr sz="1600">
                <a:solidFill>
                  <a:srgbClr val="333333"/>
                </a:solidFill>
              </a:rPr>
              <a:t> : 40M utilisateurs, 108.0 billions FCFA+ revenus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SLIDE 9 : ÉQUIPE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Fondateurs &amp; Direction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Équipe Technique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Expertise</a:t>
            </a:r>
            <a:r>
              <a:rPr sz="1600">
                <a:solidFill>
                  <a:srgbClr val="333333"/>
                </a:solidFill>
              </a:rPr>
              <a:t> : Rust, React, IA, scaling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Expérience</a:t>
            </a:r>
            <a:r>
              <a:rPr sz="1600">
                <a:solidFill>
                  <a:srgbClr val="333333"/>
                </a:solidFill>
              </a:rPr>
              <a:t> : Startups, tech, Afrique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Vision</a:t>
            </a:r>
            <a:r>
              <a:rPr sz="1600">
                <a:solidFill>
                  <a:srgbClr val="333333"/>
                </a:solidFill>
              </a:rPr>
              <a:t> : Innovation, impact social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Recrutement Clé (2026)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CEO</a:t>
            </a:r>
            <a:r>
              <a:rPr sz="1600">
                <a:solidFill>
                  <a:srgbClr val="333333"/>
                </a:solidFill>
              </a:rPr>
              <a:t> : Leadership, stratégie, fundraising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CTO</a:t>
            </a:r>
            <a:r>
              <a:rPr sz="1600">
                <a:solidFill>
                  <a:srgbClr val="333333"/>
                </a:solidFill>
              </a:rPr>
              <a:t> : Architecture, innovation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CFO</a:t>
            </a:r>
            <a:r>
              <a:rPr sz="1600">
                <a:solidFill>
                  <a:srgbClr val="333333"/>
                </a:solidFill>
              </a:rPr>
              <a:t> : Finance, légal, opérations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CMO</a:t>
            </a:r>
            <a:r>
              <a:rPr sz="1600">
                <a:solidFill>
                  <a:srgbClr val="333333"/>
                </a:solidFill>
              </a:rPr>
              <a:t> : Marketing, croissance, branding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Équipe (2026)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60-85 personnes</a:t>
            </a:r>
            <a:r>
              <a:rPr sz="1600">
                <a:solidFill>
                  <a:srgbClr val="333333"/>
                </a:solidFill>
              </a:rPr>
              <a:t> : Technique, opérations, marketing, BD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Expertise locale</a:t>
            </a:r>
            <a:r>
              <a:rPr sz="1600">
                <a:solidFill>
                  <a:srgbClr val="333333"/>
                </a:solidFill>
              </a:rPr>
              <a:t> : Connaissance marché africain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Culture</a:t>
            </a:r>
            <a:r>
              <a:rPr sz="1600">
                <a:solidFill>
                  <a:srgbClr val="333333"/>
                </a:solidFill>
              </a:rPr>
              <a:t> : Innovation, excellence, impact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SLIDE 10 : FINANCEMENT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Série A : 2.1 billions FCFA- 3.0 billions FCFA#### Utilisation des Fonds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IA avancée, mobile, infrastructure, vidéo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Campagnes digitales, influenceurs, événements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Équipe clé, développeurs, opérations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Cloud, outils, bureaux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Trésorerie, imprévus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Runway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Durée</a:t>
            </a:r>
            <a:r>
              <a:rPr sz="1600">
                <a:solidFill>
                  <a:srgbClr val="333333"/>
                </a:solidFill>
              </a:rPr>
              <a:t> : 12-18 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Objectif</a:t>
            </a:r>
            <a:r>
              <a:rPr sz="1600">
                <a:solidFill>
                  <a:srgbClr val="333333"/>
                </a:solidFill>
              </a:rPr>
              <a:t> : 1.5 billions FCFArevenus, 500K utilisateurs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Milestone</a:t>
            </a:r>
            <a:r>
              <a:rPr sz="1600">
                <a:solidFill>
                  <a:srgbClr val="333333"/>
                </a:solidFill>
              </a:rPr>
              <a:t> : Préparation Série 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SLIDE 11 : PROJECTIONS FINANCIÈRES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Revenus &amp; Rentabilité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Année</a:t>
            </a:r>
            <a:r>
              <a:rPr sz="1600">
                <a:solidFill>
                  <a:srgbClr val="333333"/>
                </a:solidFill>
              </a:rPr>
              <a:t> : Revenus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2026</a:t>
            </a:r>
            <a:r>
              <a:rPr sz="1600">
                <a:solidFill>
                  <a:srgbClr val="333333"/>
                </a:solidFill>
              </a:rPr>
              <a:t>** : 1.5 billions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2027</a:t>
            </a:r>
            <a:r>
              <a:rPr sz="1600">
                <a:solidFill>
                  <a:srgbClr val="333333"/>
                </a:solidFill>
              </a:rPr>
              <a:t>** : 7.2 billions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2028</a:t>
            </a:r>
            <a:r>
              <a:rPr sz="1600">
                <a:solidFill>
                  <a:srgbClr val="333333"/>
                </a:solidFill>
              </a:rPr>
              <a:t>** : 21.0 billions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2029</a:t>
            </a:r>
            <a:r>
              <a:rPr sz="1600">
                <a:solidFill>
                  <a:srgbClr val="333333"/>
                </a:solidFill>
              </a:rPr>
              <a:t>** : 51.0 billions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2030</a:t>
            </a:r>
            <a:r>
              <a:rPr sz="1600">
                <a:solidFill>
                  <a:srgbClr val="333333"/>
                </a:solidFill>
              </a:rPr>
              <a:t>** : 108.0 billions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Métriques Clés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CAC</a:t>
            </a:r>
            <a:r>
              <a:rPr sz="1600">
                <a:solidFill>
                  <a:srgbClr val="333333"/>
                </a:solidFill>
              </a:rPr>
              <a:t> : &lt;4K FCFA(2026), &lt;3K FCFA(2029)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LTV</a:t>
            </a:r>
            <a:r>
              <a:rPr sz="1600">
                <a:solidFill>
                  <a:srgbClr val="333333"/>
                </a:solidFill>
              </a:rPr>
              <a:t> : 48K FCFA-72K FCFA- </a:t>
            </a:r>
            <a:r>
              <a:rPr sz="1600" b="1">
                <a:solidFill>
                  <a:srgbClr val="003366"/>
                </a:solidFill>
              </a:rPr>
              <a:t>LTV/CAC</a:t>
            </a:r>
            <a:r>
              <a:rPr sz="1600">
                <a:solidFill>
                  <a:srgbClr val="333333"/>
                </a:solidFill>
              </a:rPr>
              <a:t> : &gt;10x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Take Rate</a:t>
            </a:r>
            <a:r>
              <a:rPr sz="1600">
                <a:solidFill>
                  <a:srgbClr val="333333"/>
                </a:solidFill>
              </a:rPr>
              <a:t> : 11-13%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SLIDE 12 : VALORISATION &amp; SORTIE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Valorisation Projetée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Année</a:t>
            </a:r>
            <a:r>
              <a:rPr sz="1600">
                <a:solidFill>
                  <a:srgbClr val="333333"/>
                </a:solidFill>
              </a:rPr>
              <a:t> : Revenus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2026 (Série A)</a:t>
            </a:r>
            <a:r>
              <a:rPr sz="1600">
                <a:solidFill>
                  <a:srgbClr val="333333"/>
                </a:solidFill>
              </a:rPr>
              <a:t>** : 1.5 billions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2027 (Série B)</a:t>
            </a:r>
            <a:r>
              <a:rPr sz="1600">
                <a:solidFill>
                  <a:srgbClr val="333333"/>
                </a:solidFill>
              </a:rPr>
              <a:t>** : 7.2 billions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2028 (Série C)</a:t>
            </a:r>
            <a:r>
              <a:rPr sz="1600">
                <a:solidFill>
                  <a:srgbClr val="333333"/>
                </a:solidFill>
              </a:rPr>
              <a:t>** : 21.0 billions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2029 (Série D)</a:t>
            </a:r>
            <a:r>
              <a:rPr sz="1600">
                <a:solidFill>
                  <a:srgbClr val="333333"/>
                </a:solidFill>
              </a:rPr>
              <a:t>** : 51.0 billions FCFA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**</a:t>
            </a:r>
            <a:r>
              <a:rPr sz="1600" b="1">
                <a:solidFill>
                  <a:srgbClr val="003366"/>
                </a:solidFill>
              </a:rPr>
              <a:t>2030 (Exit)</a:t>
            </a:r>
            <a:r>
              <a:rPr sz="1600">
                <a:solidFill>
                  <a:srgbClr val="333333"/>
                </a:solidFill>
              </a:rPr>
              <a:t>** : 108.0 billions FCFA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Retour sur Investissement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Scénario Conservateur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ROI Série A</a:t>
            </a:r>
            <a:r>
              <a:rPr sz="1600">
                <a:solidFill>
                  <a:srgbClr val="333333"/>
                </a:solidFill>
              </a:rPr>
              <a:t> : 10-15x sur 5 ans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Valorisation 2030</a:t>
            </a:r>
            <a:r>
              <a:rPr sz="1600">
                <a:solidFill>
                  <a:srgbClr val="333333"/>
                </a:solidFill>
              </a:rPr>
              <a:t> : 300.0 billions FCFA-360.0 billions FCFA#### Scénario Optimiste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ROI Série A</a:t>
            </a:r>
            <a:r>
              <a:rPr sz="1600">
                <a:solidFill>
                  <a:srgbClr val="333333"/>
                </a:solidFill>
              </a:rPr>
              <a:t> : 20-30x sur 5 ans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Valorisation 2030</a:t>
            </a:r>
            <a:r>
              <a:rPr sz="1600">
                <a:solidFill>
                  <a:srgbClr val="333333"/>
                </a:solidFill>
              </a:rPr>
              <a:t> : 480.0 billions FCFA-600.0 billions FCFA### Options de Sortie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Acquisition</a:t>
            </a:r>
            <a:r>
              <a:rPr sz="1600">
                <a:solidFill>
                  <a:srgbClr val="333333"/>
                </a:solidFill>
              </a:rPr>
              <a:t> : Géants tech (Google, Meta, Amazon, Jumia)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IPO</a:t>
            </a:r>
            <a:r>
              <a:rPr sz="1600">
                <a:solidFill>
                  <a:srgbClr val="333333"/>
                </a:solidFill>
              </a:rPr>
              <a:t> : Introduction en bourse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Merger</a:t>
            </a:r>
            <a:r>
              <a:rPr sz="1600">
                <a:solidFill>
                  <a:srgbClr val="333333"/>
                </a:solidFill>
              </a:rPr>
              <a:t> : Fusion avec autre plateforme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SLIDE 13 : RISQUES &amp; MITIGATION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Risques Identifiés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Concurrence Internationale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Risque</a:t>
            </a:r>
            <a:r>
              <a:rPr sz="1600">
                <a:solidFill>
                  <a:srgbClr val="333333"/>
                </a:solidFill>
              </a:rPr>
              <a:t> : Géants tech entrent marché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Mitigation</a:t>
            </a:r>
            <a:r>
              <a:rPr sz="1600">
                <a:solidFill>
                  <a:srgbClr val="333333"/>
                </a:solidFill>
              </a:rPr>
              <a:t> : Avantage première mover, localisation, technologie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Adoption Utilisateurs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Risque</a:t>
            </a:r>
            <a:r>
              <a:rPr sz="1600">
                <a:solidFill>
                  <a:srgbClr val="333333"/>
                </a:solidFill>
              </a:rPr>
              <a:t> : Réticence adoption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Mitigation</a:t>
            </a:r>
            <a:r>
              <a:rPr sz="1600">
                <a:solidFill>
                  <a:srgbClr val="333333"/>
                </a:solidFill>
              </a:rPr>
              <a:t> : Marketing agressif, éducation, prix compétitifs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Réglementation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Risque</a:t>
            </a:r>
            <a:r>
              <a:rPr sz="1600">
                <a:solidFill>
                  <a:srgbClr val="333333"/>
                </a:solidFill>
              </a:rPr>
              <a:t> : Changements légaux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Mitigation</a:t>
            </a:r>
            <a:r>
              <a:rPr sz="1600">
                <a:solidFill>
                  <a:srgbClr val="333333"/>
                </a:solidFill>
              </a:rPr>
              <a:t> : Veille juridique, conformité, relations régulateurs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Infrastructure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Risque</a:t>
            </a:r>
            <a:r>
              <a:rPr sz="1600">
                <a:solidFill>
                  <a:srgbClr val="333333"/>
                </a:solidFill>
              </a:rPr>
              <a:t> : Pannes, coupures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Mitigation</a:t>
            </a:r>
            <a:r>
              <a:rPr sz="1600">
                <a:solidFill>
                  <a:srgbClr val="333333"/>
                </a:solidFill>
              </a:rPr>
              <a:t> : Redondance, backup, monitoring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Économique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Risque</a:t>
            </a:r>
            <a:r>
              <a:rPr sz="1600">
                <a:solidFill>
                  <a:srgbClr val="333333"/>
                </a:solidFill>
              </a:rPr>
              <a:t> : Récession, inflation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Mitigation</a:t>
            </a:r>
            <a:r>
              <a:rPr sz="1600">
                <a:solidFill>
                  <a:srgbClr val="333333"/>
                </a:solidFill>
              </a:rPr>
              <a:t> : Diversification, résilience, pricing adaptatif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SLIDE 14 : MÉTRIQUES DE SUCCÈS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KPIs Clés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Utilisateurs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Taux d'adoption</a:t>
            </a:r>
            <a:r>
              <a:rPr sz="1600">
                <a:solidFill>
                  <a:srgbClr val="333333"/>
                </a:solidFill>
              </a:rPr>
              <a:t> : 15-20% croissance mensuelle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Rétention</a:t>
            </a:r>
            <a:r>
              <a:rPr sz="1600">
                <a:solidFill>
                  <a:srgbClr val="333333"/>
                </a:solidFill>
              </a:rPr>
              <a:t> : 60% (30j), 40% (90j)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Engagement</a:t>
            </a:r>
            <a:r>
              <a:rPr sz="1600">
                <a:solidFill>
                  <a:srgbClr val="333333"/>
                </a:solidFill>
              </a:rPr>
              <a:t> : 8-12 sessions/mois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ARPU</a:t>
            </a:r>
            <a:r>
              <a:rPr sz="1600">
                <a:solidFill>
                  <a:srgbClr val="333333"/>
                </a:solidFill>
              </a:rPr>
              <a:t> : 240 FCFA-300 FCFA/mois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Business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GMV</a:t>
            </a:r>
            <a:r>
              <a:rPr sz="1600">
                <a:solidFill>
                  <a:srgbClr val="333333"/>
                </a:solidFill>
              </a:rPr>
              <a:t> : 12.0 billions FCFA(2026) → 960.0 billions FCFA(2030)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Take Rate</a:t>
            </a:r>
            <a:r>
              <a:rPr sz="1600">
                <a:solidFill>
                  <a:srgbClr val="333333"/>
                </a:solidFill>
              </a:rPr>
              <a:t> : 11-13%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CAC</a:t>
            </a:r>
            <a:r>
              <a:rPr sz="1600">
                <a:solidFill>
                  <a:srgbClr val="333333"/>
                </a:solidFill>
              </a:rPr>
              <a:t> : &lt;4K FCFA(2026) → &lt;3K FCFA(2029)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LTV/CAC</a:t>
            </a:r>
            <a:r>
              <a:rPr sz="1600">
                <a:solidFill>
                  <a:srgbClr val="333333"/>
                </a:solidFill>
              </a:rPr>
              <a:t> : &gt;10x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Opérationnelles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Temps livraison</a:t>
            </a:r>
            <a:r>
              <a:rPr sz="1600">
                <a:solidFill>
                  <a:srgbClr val="333333"/>
                </a:solidFill>
              </a:rPr>
              <a:t> : &lt;45 minutes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Satisfaction</a:t>
            </a:r>
            <a:r>
              <a:rPr sz="1600">
                <a:solidFill>
                  <a:srgbClr val="333333"/>
                </a:solidFill>
              </a:rPr>
              <a:t> : &gt;4.5/5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Taux conversion</a:t>
            </a:r>
            <a:r>
              <a:rPr sz="1600">
                <a:solidFill>
                  <a:srgbClr val="333333"/>
                </a:solidFill>
              </a:rPr>
              <a:t> : 15-25%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SLIDE 15 : VISION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Notre Mission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Notre Vision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Impact Social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Santé</a:t>
            </a:r>
            <a:r>
              <a:rPr sz="1600">
                <a:solidFill>
                  <a:srgbClr val="333333"/>
                </a:solidFill>
              </a:rPr>
              <a:t> : Accès facilité aux soins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Éducation</a:t>
            </a:r>
            <a:r>
              <a:rPr sz="1600">
                <a:solidFill>
                  <a:srgbClr val="333333"/>
                </a:solidFill>
              </a:rPr>
              <a:t> : Connectivité éducative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Transport</a:t>
            </a:r>
            <a:r>
              <a:rPr sz="1600">
                <a:solidFill>
                  <a:srgbClr val="333333"/>
                </a:solidFill>
              </a:rPr>
              <a:t> : Mobilité améliorée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Immobilier</a:t>
            </a:r>
            <a:r>
              <a:rPr sz="1600">
                <a:solidFill>
                  <a:srgbClr val="333333"/>
                </a:solidFill>
              </a:rPr>
              <a:t> : Accès au logement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E-commerce</a:t>
            </a:r>
            <a:r>
              <a:rPr sz="1600">
                <a:solidFill>
                  <a:srgbClr val="333333"/>
                </a:solidFill>
              </a:rPr>
              <a:t> : Accès aux produits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SLIDE 16 : APPEL À L'ACTION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Rejoignez-Nous dans cette Aventure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Opportunité Unique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Marché en croissance</a:t>
            </a:r>
            <a:r>
              <a:rPr sz="1600">
                <a:solidFill>
                  <a:srgbClr val="333333"/>
                </a:solidFill>
              </a:rPr>
              <a:t> : 90K FCFA+ milliards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Technologie différenciante</a:t>
            </a:r>
            <a:r>
              <a:rPr sz="1600">
                <a:solidFill>
                  <a:srgbClr val="333333"/>
                </a:solidFill>
              </a:rPr>
              <a:t> : IA, performance, innovation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Première mover</a:t>
            </a:r>
            <a:r>
              <a:rPr sz="1600">
                <a:solidFill>
                  <a:srgbClr val="333333"/>
                </a:solidFill>
              </a:rPr>
              <a:t> : Avantage concurrentiel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Impact social</a:t>
            </a:r>
            <a:r>
              <a:rPr sz="1600">
                <a:solidFill>
                  <a:srgbClr val="333333"/>
                </a:solidFill>
              </a:rPr>
              <a:t> : Transformation des vies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Retour sur Investissement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ROI projeté</a:t>
            </a:r>
            <a:r>
              <a:rPr sz="1600">
                <a:solidFill>
                  <a:srgbClr val="333333"/>
                </a:solidFill>
              </a:rPr>
              <a:t> : 10-15x (conservateur), 20-30x (optimiste)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Timing</a:t>
            </a:r>
            <a:r>
              <a:rPr sz="1600">
                <a:solidFill>
                  <a:srgbClr val="333333"/>
                </a:solidFill>
              </a:rPr>
              <a:t> : Marché prêt, technologie mature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Équipe</a:t>
            </a:r>
            <a:r>
              <a:rPr sz="1600">
                <a:solidFill>
                  <a:srgbClr val="333333"/>
                </a:solidFill>
              </a:rPr>
              <a:t> : Expérimentée, passionnée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#### Prochaines Étapes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1. </a:t>
            </a:r>
            <a:r>
              <a:rPr sz="1600" b="1">
                <a:solidFill>
                  <a:srgbClr val="003366"/>
                </a:solidFill>
              </a:rPr>
              <a:t>Présentation détaillée</a:t>
            </a:r>
            <a:r>
              <a:rPr sz="1600">
                <a:solidFill>
                  <a:srgbClr val="333333"/>
                </a:solidFill>
              </a:rPr>
              <a:t> : Business plan, projections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2. </a:t>
            </a:r>
            <a:r>
              <a:rPr sz="1600" b="1">
                <a:solidFill>
                  <a:srgbClr val="003366"/>
                </a:solidFill>
              </a:rPr>
              <a:t>Due diligence</a:t>
            </a:r>
            <a:r>
              <a:rPr sz="1600">
                <a:solidFill>
                  <a:srgbClr val="333333"/>
                </a:solidFill>
              </a:rPr>
              <a:t> : Données, équipe, marché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3. </a:t>
            </a:r>
            <a:r>
              <a:rPr sz="1600" b="1">
                <a:solidFill>
                  <a:srgbClr val="003366"/>
                </a:solidFill>
              </a:rPr>
              <a:t>Négociation</a:t>
            </a:r>
            <a:r>
              <a:rPr sz="1600">
                <a:solidFill>
                  <a:srgbClr val="333333"/>
                </a:solidFill>
              </a:rPr>
              <a:t> : Termes, valorisation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4. </a:t>
            </a:r>
            <a:r>
              <a:rPr sz="1600" b="1">
                <a:solidFill>
                  <a:srgbClr val="003366"/>
                </a:solidFill>
              </a:rPr>
              <a:t>Clôture</a:t>
            </a:r>
            <a:r>
              <a:rPr sz="1600">
                <a:solidFill>
                  <a:srgbClr val="333333"/>
                </a:solidFill>
              </a:rPr>
              <a:t> : Finalisation investissement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SLIDE 17 : CONTACT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772400" cy="41148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Restons en Contact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3366"/>
                </a:solidFill>
              </a:rPr>
              <a:t>Merci pour votre Attention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Merci pour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