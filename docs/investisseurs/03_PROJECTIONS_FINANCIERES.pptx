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03 Projections Financieres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Document Investisseurs - Janvier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PARAMÈTRES ÉCONOMIQUES RÉALISTES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Structure de Revenus par Catégorie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1. Utilisation de Tokens pour Produits/Services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Yukpomnang utilise un </a:t>
            </a:r>
            <a:r>
              <a:rPr sz="1600" b="1">
                <a:solidFill>
                  <a:srgbClr val="003366"/>
                </a:solidFill>
              </a:rPr>
              <a:t>système de tokens</a:t>
            </a:r>
            <a:r>
              <a:rPr sz="1600">
                <a:solidFill>
                  <a:srgbClr val="333333"/>
                </a:solidFill>
              </a:rPr>
              <a:t> (et non un système d'abonnement) où les commerçants achètent des tokens pour utiliser les fonctionnalités de la plateforme :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Achat de tokens</a:t>
            </a:r>
            <a:r>
              <a:rPr sz="1600">
                <a:solidFill>
                  <a:srgbClr val="333333"/>
                </a:solidFill>
              </a:rPr>
              <a:t> : Les commerçants achètent des tokens selon leurs besoins (pas d'engagement mensuel)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Utilisation des tokens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Création de produits/services : Consommation de tokens selon complexité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Maintien en ligne : Tokens débités pour maintenir la visibilité des produits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Actions supplémentaires : Clics, promotions, mises à jour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Équivalence</a:t>
            </a:r>
            <a:r>
              <a:rPr sz="1600">
                <a:solidFill>
                  <a:srgbClr val="333333"/>
                </a:solidFill>
              </a:rPr>
              <a:t> : 1 FCFA = 1 token dans le système de balance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 moyen équivalent</a:t>
            </a:r>
            <a:r>
              <a:rPr sz="1600">
                <a:solidFill>
                  <a:srgbClr val="333333"/>
                </a:solidFill>
              </a:rPr>
              <a:t> : ~2,000 FCFA/mois par produit/service actif (basé sur utilisation moyenne observée)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Avantages</a:t>
            </a:r>
            <a:r>
              <a:rPr sz="1600">
                <a:solidFill>
                  <a:srgbClr val="333333"/>
                </a:solidFill>
              </a:rPr>
              <a:t> : Flexibilité totale, pas d'engagement, paiement selon usage réel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Revenu mensuel moyen</a:t>
            </a:r>
            <a:r>
              <a:rPr sz="1600">
                <a:solidFill>
                  <a:srgbClr val="333333"/>
                </a:solidFill>
              </a:rPr>
              <a:t> : ~2,000 FCFA × nombre de produits actifs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Revenu annuel moyen</a:t>
            </a:r>
            <a:r>
              <a:rPr sz="1600">
                <a:solidFill>
                  <a:srgbClr val="333333"/>
                </a:solidFill>
              </a:rPr>
              <a:t> : ~24,000 FCFA par produit/service actif (basé sur utilisation moyenne)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2. Commissions sur Livraisons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Commission minimum</a:t>
            </a:r>
            <a:r>
              <a:rPr sz="1600">
                <a:solidFill>
                  <a:srgbClr val="333333"/>
                </a:solidFill>
              </a:rPr>
              <a:t> : 100 FCFA par livraison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Commission variable</a:t>
            </a:r>
            <a:r>
              <a:rPr sz="1600">
                <a:solidFill>
                  <a:srgbClr val="333333"/>
                </a:solidFill>
              </a:rPr>
              <a:t> : 5-10% du montant livraison (selon distance)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Panier moyen livraison</a:t>
            </a:r>
            <a:r>
              <a:rPr sz="1600">
                <a:solidFill>
                  <a:srgbClr val="333333"/>
                </a:solidFill>
              </a:rPr>
              <a:t> : 5,000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Commission moyenne</a:t>
            </a:r>
            <a:r>
              <a:rPr sz="1600">
                <a:solidFill>
                  <a:srgbClr val="333333"/>
                </a:solidFill>
              </a:rPr>
              <a:t> : 150-200 FCFA par livraison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3. Commissions sur Ventes Produits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Commission</a:t>
            </a:r>
            <a:r>
              <a:rPr sz="1600">
                <a:solidFill>
                  <a:srgbClr val="333333"/>
                </a:solidFill>
              </a:rPr>
              <a:t> : 5% du montant de vente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Panier moyen e-commerce</a:t>
            </a:r>
            <a:r>
              <a:rPr sz="1600">
                <a:solidFill>
                  <a:srgbClr val="333333"/>
                </a:solidFill>
              </a:rPr>
              <a:t> : 8,000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Commission moyenne</a:t>
            </a:r>
            <a:r>
              <a:rPr sz="1600">
                <a:solidFill>
                  <a:srgbClr val="333333"/>
                </a:solidFill>
              </a:rPr>
              <a:t> : 400 FCFA par vente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4. Publicités et Génération Vidéos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Création vidéo publicitaire</a:t>
            </a:r>
            <a:r>
              <a:rPr sz="1600">
                <a:solidFill>
                  <a:srgbClr val="333333"/>
                </a:solidFill>
              </a:rPr>
              <a:t> : 15,000 - 30,000 FCFA/vidéo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Placement publicitaire</a:t>
            </a:r>
            <a:r>
              <a:rPr sz="1600">
                <a:solidFill>
                  <a:srgbClr val="333333"/>
                </a:solidFill>
              </a:rPr>
              <a:t> : 50,000 - 500,000 FCFA/mois selon visibilité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Promotion produits</a:t>
            </a:r>
            <a:r>
              <a:rPr sz="1600">
                <a:solidFill>
                  <a:srgbClr val="333333"/>
                </a:solidFill>
              </a:rPr>
              <a:t> : 2,000 - 10,000 FCFA par campagne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RÉSUMÉ EXÉCUTIF FINANCIER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Objectifs Clés - Basés sur les Produits/Services (Révisés - Plan 3 Ans)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2026 - Année 1 : Lancement Cameroun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Revenus</a:t>
            </a:r>
            <a:r>
              <a:rPr sz="1600">
                <a:solidFill>
                  <a:srgbClr val="333333"/>
                </a:solidFill>
              </a:rPr>
              <a:t> : 1,2 milliard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Charges</a:t>
            </a:r>
            <a:r>
              <a:rPr sz="1600">
                <a:solidFill>
                  <a:srgbClr val="333333"/>
                </a:solidFill>
              </a:rPr>
              <a:t> : 1,4 milliard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EBITDA</a:t>
            </a:r>
            <a:r>
              <a:rPr sz="1600">
                <a:solidFill>
                  <a:srgbClr val="333333"/>
                </a:solidFill>
              </a:rPr>
              <a:t> : -200 millions FCFA (investissement croissance)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30,000 produits/services actifs</a:t>
            </a:r>
            <a:r>
              <a:rPr sz="1600">
                <a:solidFill>
                  <a:srgbClr val="333333"/>
                </a:solidFill>
              </a:rPr>
              <a:t> (utilisant tokens) - Objectif réaliste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200,000 utilisateurs actifs</a:t>
            </a:r>
            <a:r>
              <a:rPr sz="1600">
                <a:solidFill>
                  <a:srgbClr val="333333"/>
                </a:solidFill>
              </a:rPr>
              <a:t> - Objectif réaliste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800,000 livraisons</a:t>
            </a:r>
            <a:r>
              <a:rPr sz="1600">
                <a:solidFill>
                  <a:srgbClr val="333333"/>
                </a:solidFill>
              </a:rPr>
              <a:t> - Objectif réaliste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600,000 ventes produits</a:t>
            </a:r>
            <a:r>
              <a:rPr sz="1600">
                <a:solidFill>
                  <a:srgbClr val="333333"/>
                </a:solidFill>
              </a:rPr>
              <a:t> - Objectif réaliste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GMV</a:t>
            </a:r>
            <a:r>
              <a:rPr sz="1600">
                <a:solidFill>
                  <a:srgbClr val="333333"/>
                </a:solidFill>
              </a:rPr>
              <a:t> : 12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Trésorerie fin année</a:t>
            </a:r>
            <a:r>
              <a:rPr sz="1600">
                <a:solidFill>
                  <a:srgbClr val="333333"/>
                </a:solidFill>
              </a:rPr>
              <a:t> : 1,8 milliard FCFA (après Série A)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2027 - Année 2 : Expansion 3 Pays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Revenus</a:t>
            </a:r>
            <a:r>
              <a:rPr sz="1600">
                <a:solidFill>
                  <a:srgbClr val="333333"/>
                </a:solidFill>
              </a:rPr>
              <a:t> : 6,5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Charges</a:t>
            </a:r>
            <a:r>
              <a:rPr sz="1600">
                <a:solidFill>
                  <a:srgbClr val="333333"/>
                </a:solidFill>
              </a:rPr>
              <a:t> : 5,85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EBITDA</a:t>
            </a:r>
            <a:r>
              <a:rPr sz="1600">
                <a:solidFill>
                  <a:srgbClr val="333333"/>
                </a:solidFill>
              </a:rPr>
              <a:t> : +650 millions FCFA (10% marge)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120,000 produits/services actifs</a:t>
            </a:r>
            <a:r>
              <a:rPr sz="1600">
                <a:solidFill>
                  <a:srgbClr val="333333"/>
                </a:solidFill>
              </a:rPr>
              <a:t> - Objectif réaliste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800,000 utilisateurs actifs</a:t>
            </a:r>
            <a:r>
              <a:rPr sz="1600">
                <a:solidFill>
                  <a:srgbClr val="333333"/>
                </a:solidFill>
              </a:rPr>
              <a:t> - Objectif réaliste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3,5 millions de livraisons</a:t>
            </a:r>
            <a:r>
              <a:rPr sz="1600">
                <a:solidFill>
                  <a:srgbClr val="333333"/>
                </a:solidFill>
              </a:rPr>
              <a:t> - Objectif réaliste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2,5 millions de ventes produits</a:t>
            </a:r>
            <a:r>
              <a:rPr sz="1600">
                <a:solidFill>
                  <a:srgbClr val="333333"/>
                </a:solidFill>
              </a:rPr>
              <a:t> - Objectif réaliste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GMV</a:t>
            </a:r>
            <a:r>
              <a:rPr sz="1600">
                <a:solidFill>
                  <a:srgbClr val="333333"/>
                </a:solidFill>
              </a:rPr>
              <a:t> : 55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Trésorerie fin année</a:t>
            </a:r>
            <a:r>
              <a:rPr sz="1600">
                <a:solidFill>
                  <a:srgbClr val="333333"/>
                </a:solidFill>
              </a:rPr>
              <a:t> : 8,95 milliards FCFA (après Série B)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2028 - Année 3 : Expansion Francophone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Revenus</a:t>
            </a:r>
            <a:r>
              <a:rPr sz="1600">
                <a:solidFill>
                  <a:srgbClr val="333333"/>
                </a:solidFill>
              </a:rPr>
              <a:t> : 18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Charges</a:t>
            </a:r>
            <a:r>
              <a:rPr sz="1600">
                <a:solidFill>
                  <a:srgbClr val="333333"/>
                </a:solidFill>
              </a:rPr>
              <a:t> : 14,4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EBITDA</a:t>
            </a:r>
            <a:r>
              <a:rPr sz="1600">
                <a:solidFill>
                  <a:srgbClr val="333333"/>
                </a:solidFill>
              </a:rPr>
              <a:t> : +3,6 milliards FCFA (20% marge)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400,000 produits/services actifs</a:t>
            </a:r>
            <a:r>
              <a:rPr sz="1600">
                <a:solidFill>
                  <a:srgbClr val="333333"/>
                </a:solidFill>
              </a:rPr>
              <a:t> - Objectif réaliste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2,500,000 utilisateurs actifs</a:t>
            </a:r>
            <a:r>
              <a:rPr sz="1600">
                <a:solidFill>
                  <a:srgbClr val="333333"/>
                </a:solidFill>
              </a:rPr>
              <a:t> - Objectif réaliste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10 millions de livraisons</a:t>
            </a:r>
            <a:r>
              <a:rPr sz="1600">
                <a:solidFill>
                  <a:srgbClr val="333333"/>
                </a:solidFill>
              </a:rPr>
              <a:t> - Objectif réaliste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8 millions de ventes produits</a:t>
            </a:r>
            <a:r>
              <a:rPr sz="1600">
                <a:solidFill>
                  <a:srgbClr val="333333"/>
                </a:solidFill>
              </a:rPr>
              <a:t> - Objectif réaliste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GMV</a:t>
            </a:r>
            <a:r>
              <a:rPr sz="1600">
                <a:solidFill>
                  <a:srgbClr val="333333"/>
                </a:solidFill>
              </a:rPr>
              <a:t> : 150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Trésorerie fin année</a:t>
            </a:r>
            <a:r>
              <a:rPr sz="1600">
                <a:solidFill>
                  <a:srgbClr val="333333"/>
                </a:solidFill>
              </a:rPr>
              <a:t> : 30,55 milliards FCFA (après Série C)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2029</a:t>
            </a:r>
            <a:r>
              <a:rPr sz="1600">
                <a:solidFill>
                  <a:srgbClr val="333333"/>
                </a:solidFill>
              </a:rPr>
              <a:t> : 60 milliards FCFA revenus, +15 milliards FCFA EBITDA (25% marge)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3,5 millions de produits/services actifs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40 millions de livraisons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30 millions de ventes produits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GMV</a:t>
            </a:r>
            <a:r>
              <a:rPr sz="1600">
                <a:solidFill>
                  <a:srgbClr val="333333"/>
                </a:solidFill>
              </a:rPr>
              <a:t> : 520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2030</a:t>
            </a:r>
            <a:r>
              <a:rPr sz="1600">
                <a:solidFill>
                  <a:srgbClr val="333333"/>
                </a:solidFill>
              </a:rPr>
              <a:t> : 132+ milliards FCFA revenus, +39,6 milliards FCFA EBITDA (30% marge)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7,5 millions de produits/services actifs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85 millions de livraisons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65 millions de ventes produits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GMV</a:t>
            </a:r>
            <a:r>
              <a:rPr sz="1600">
                <a:solidFill>
                  <a:srgbClr val="333333"/>
                </a:solidFill>
              </a:rPr>
              <a:t> : 1,120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Besoins de Financement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Série A (2026)</a:t>
            </a:r>
            <a:r>
              <a:rPr sz="1600">
                <a:solidFill>
                  <a:srgbClr val="333333"/>
                </a:solidFill>
              </a:rPr>
              <a:t> : 2,1 - 3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Série B (2027)</a:t>
            </a:r>
            <a:r>
              <a:rPr sz="1600">
                <a:solidFill>
                  <a:srgbClr val="333333"/>
                </a:solidFill>
              </a:rPr>
              <a:t> : 7,2 - 9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Série C (2028)</a:t>
            </a:r>
            <a:r>
              <a:rPr sz="1600">
                <a:solidFill>
                  <a:srgbClr val="333333"/>
                </a:solidFill>
              </a:rPr>
              <a:t> : 18 - 24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Série D (2029)</a:t>
            </a:r>
            <a:r>
              <a:rPr sz="1600">
                <a:solidFill>
                  <a:srgbClr val="333333"/>
                </a:solidFill>
              </a:rPr>
              <a:t> : 36 - 48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Retour sur Investissement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ROI Série A</a:t>
            </a:r>
            <a:r>
              <a:rPr sz="1600">
                <a:solidFill>
                  <a:srgbClr val="333333"/>
                </a:solidFill>
              </a:rPr>
              <a:t> : 10-15x sur 5 ans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Valuation 2030</a:t>
            </a:r>
            <a:r>
              <a:rPr sz="1600">
                <a:solidFill>
                  <a:srgbClr val="333333"/>
                </a:solidFill>
              </a:rPr>
              <a:t> : 300 - 480 milliards FCFA (projection conservatrice)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PROJECTIONS DE REVENUS DÉTAILLÉES (2026-2030)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2026 - Lancement Cameroun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Volume et Revenus par Source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Source</a:t>
            </a:r>
            <a:r>
              <a:rPr sz="1600">
                <a:solidFill>
                  <a:srgbClr val="333333"/>
                </a:solidFill>
              </a:rPr>
              <a:t> : Volume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Achat Tokens Produits</a:t>
            </a:r>
            <a:r>
              <a:rPr sz="1600">
                <a:solidFill>
                  <a:srgbClr val="333333"/>
                </a:solidFill>
              </a:rPr>
              <a:t>** : 30,000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Commissions Livraisons</a:t>
            </a:r>
            <a:r>
              <a:rPr sz="1600">
                <a:solidFill>
                  <a:srgbClr val="333333"/>
                </a:solidFill>
              </a:rPr>
              <a:t>** : 800,000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Commissions Ventes</a:t>
            </a:r>
            <a:r>
              <a:rPr sz="1600">
                <a:solidFill>
                  <a:srgbClr val="333333"/>
                </a:solidFill>
              </a:rPr>
              <a:t>** : 600,000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Publicité &amp; Vidéos</a:t>
            </a:r>
            <a:r>
              <a:rPr sz="1600">
                <a:solidFill>
                  <a:srgbClr val="333333"/>
                </a:solidFill>
              </a:rPr>
              <a:t>** : -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Services Spécialisés</a:t>
            </a:r>
            <a:r>
              <a:rPr sz="1600">
                <a:solidFill>
                  <a:srgbClr val="333333"/>
                </a:solidFill>
              </a:rPr>
              <a:t>** : 100,000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TOTAL</a:t>
            </a:r>
            <a:r>
              <a:rPr sz="1600">
                <a:solidFill>
                  <a:srgbClr val="333333"/>
                </a:solidFill>
              </a:rPr>
              <a:t>** : -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Détail Publicité &amp; Vidéos 2026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Création vidéos</a:t>
            </a:r>
            <a:r>
              <a:rPr sz="1600">
                <a:solidFill>
                  <a:srgbClr val="333333"/>
                </a:solidFill>
              </a:rPr>
              <a:t> : 3,000 vidéos × 25,000 FCFA = 75 millions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Placement publicitaire</a:t>
            </a:r>
            <a:r>
              <a:rPr sz="1600">
                <a:solidFill>
                  <a:srgbClr val="333333"/>
                </a:solidFill>
              </a:rPr>
              <a:t> : 50 campagnes × 500,000 FCFA = 25 millions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Total</a:t>
            </a:r>
            <a:r>
              <a:rPr sz="1600">
                <a:solidFill>
                  <a:srgbClr val="333333"/>
                </a:solidFill>
              </a:rPr>
              <a:t> : 100 millions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Hypothèses 2026 - Objectifs Réalistes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Produits/services actifs</a:t>
            </a:r>
            <a:r>
              <a:rPr sz="1600">
                <a:solidFill>
                  <a:srgbClr val="333333"/>
                </a:solidFill>
              </a:rPr>
              <a:t> : 30,000 (utilisation tokens, équivalent ~2,000 FCFA/mois) - Objectif atteignable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Utilisateurs actifs</a:t>
            </a:r>
            <a:r>
              <a:rPr sz="1600">
                <a:solidFill>
                  <a:srgbClr val="333333"/>
                </a:solidFill>
              </a:rPr>
              <a:t> : 200,000 - Objectif réaliste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Livraisons</a:t>
            </a:r>
            <a:r>
              <a:rPr sz="1600">
                <a:solidFill>
                  <a:srgbClr val="333333"/>
                </a:solidFill>
              </a:rPr>
              <a:t> : 800,000 (commission moyenne 150 FCFA) - Objectif réaliste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Ventes produits</a:t>
            </a:r>
            <a:r>
              <a:rPr sz="1600">
                <a:solidFill>
                  <a:srgbClr val="333333"/>
                </a:solidFill>
              </a:rPr>
              <a:t> : 600,000 (commission 5% = 400 FCFA en moyenne) - Objectif réaliste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GMV total</a:t>
            </a:r>
            <a:r>
              <a:rPr sz="1600">
                <a:solidFill>
                  <a:srgbClr val="333333"/>
                </a:solidFill>
              </a:rPr>
              <a:t> : 12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Partenaires actifs</a:t>
            </a:r>
            <a:r>
              <a:rPr sz="1600">
                <a:solidFill>
                  <a:srgbClr val="333333"/>
                </a:solidFill>
              </a:rPr>
              <a:t> : 3,000 commerçants + 1,500 coursiers = 4,500 partenaires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Détail par Trimestre 2026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Produits actifs : 5,000 (après lancement 01 avril)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Utilisateurs actifs : 25,000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Livraisons : 50,000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Ventes : 30,000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GMV : 800 millions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Revenus : 100 millions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Produits actifs : 10,000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Utilisateurs actifs : 50,000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Livraisons : 150,000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Ventes : 100,000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GMV : 2,5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Revenus : 300 millions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Produits actifs : 20,000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Utilisateurs actifs : 100,000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Livraisons : 250,000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Ventes : 180,000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GMV : 4,5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Revenus : 400 millions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Produits actifs : 30,000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Utilisateurs actifs : 200,000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Livraisons : 350,000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Ventes : 290,000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GMV : 6,5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Revenus : 400 millions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2027 - Expansion 3 Pays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Volume et Revenus par Source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Source</a:t>
            </a:r>
            <a:r>
              <a:rPr sz="1600">
                <a:solidFill>
                  <a:srgbClr val="333333"/>
                </a:solidFill>
              </a:rPr>
              <a:t> : Volume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Achat Tokens Produits</a:t>
            </a:r>
            <a:r>
              <a:rPr sz="1600">
                <a:solidFill>
                  <a:srgbClr val="333333"/>
                </a:solidFill>
              </a:rPr>
              <a:t>** : 600,000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Commissions Livraisons</a:t>
            </a:r>
            <a:r>
              <a:rPr sz="1600">
                <a:solidFill>
                  <a:srgbClr val="333333"/>
                </a:solidFill>
              </a:rPr>
              <a:t>** : 5,500,000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Commissions Ventes</a:t>
            </a:r>
            <a:r>
              <a:rPr sz="1600">
                <a:solidFill>
                  <a:srgbClr val="333333"/>
                </a:solidFill>
              </a:rPr>
              <a:t>** : 4,200,000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Publicité &amp; Vidéos</a:t>
            </a:r>
            <a:r>
              <a:rPr sz="1600">
                <a:solidFill>
                  <a:srgbClr val="333333"/>
                </a:solidFill>
              </a:rPr>
              <a:t>** : -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Services Spécialisés</a:t>
            </a:r>
            <a:r>
              <a:rPr sz="1600">
                <a:solidFill>
                  <a:srgbClr val="333333"/>
                </a:solidFill>
              </a:rPr>
              <a:t>** : 1,000,000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E-Commerce</a:t>
            </a:r>
            <a:r>
              <a:rPr sz="1600">
                <a:solidFill>
                  <a:srgbClr val="333333"/>
                </a:solidFill>
              </a:rPr>
              <a:t>** : 2,500,000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TOTAL</a:t>
            </a:r>
            <a:r>
              <a:rPr sz="1600">
                <a:solidFill>
                  <a:srgbClr val="333333"/>
                </a:solidFill>
              </a:rPr>
              <a:t>** : -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Détail Publicité &amp; Vidéos 2027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Création vidéos</a:t>
            </a:r>
            <a:r>
              <a:rPr sz="1600">
                <a:solidFill>
                  <a:srgbClr val="333333"/>
                </a:solidFill>
              </a:rPr>
              <a:t> : 100,000 vidéos × 25,000 FCFA = 2,5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Placement publicitaire</a:t>
            </a:r>
            <a:r>
              <a:rPr sz="1600">
                <a:solidFill>
                  <a:srgbClr val="333333"/>
                </a:solidFill>
              </a:rPr>
              <a:t> : 1,000 campagnes × 1 million FCFA = 1 milliard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Total</a:t>
            </a:r>
            <a:r>
              <a:rPr sz="1600">
                <a:solidFill>
                  <a:srgbClr val="333333"/>
                </a:solidFill>
              </a:rPr>
              <a:t> : 3,5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Hypothèses 2027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Produits/services actifs</a:t>
            </a:r>
            <a:r>
              <a:rPr sz="1600">
                <a:solidFill>
                  <a:srgbClr val="333333"/>
                </a:solidFill>
              </a:rPr>
              <a:t> : 600,000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Livraisons</a:t>
            </a:r>
            <a:r>
              <a:rPr sz="1600">
                <a:solidFill>
                  <a:srgbClr val="333333"/>
                </a:solidFill>
              </a:rPr>
              <a:t> : 5,5 millions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Ventes produits</a:t>
            </a:r>
            <a:r>
              <a:rPr sz="1600">
                <a:solidFill>
                  <a:srgbClr val="333333"/>
                </a:solidFill>
              </a:rPr>
              <a:t> : 4,2 millions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GMV total</a:t>
            </a:r>
            <a:r>
              <a:rPr sz="1600">
                <a:solidFill>
                  <a:srgbClr val="333333"/>
                </a:solidFill>
              </a:rPr>
              <a:t> : 72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Pays</a:t>
            </a:r>
            <a:r>
              <a:rPr sz="1600">
                <a:solidFill>
                  <a:srgbClr val="333333"/>
                </a:solidFill>
              </a:rPr>
              <a:t> : Cameroun, Côte d'Ivoire, Sénégal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Partenaires actifs</a:t>
            </a:r>
            <a:r>
              <a:rPr sz="1600">
                <a:solidFill>
                  <a:srgbClr val="333333"/>
                </a:solidFill>
              </a:rPr>
              <a:t> : 250,000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2028 - Expansion Francophone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Volume et Revenus par Source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Source</a:t>
            </a:r>
            <a:r>
              <a:rPr sz="1600">
                <a:solidFill>
                  <a:srgbClr val="333333"/>
                </a:solidFill>
              </a:rPr>
              <a:t> : Volume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Achat Tokens Produits</a:t>
            </a:r>
            <a:r>
              <a:rPr sz="1600">
                <a:solidFill>
                  <a:srgbClr val="333333"/>
                </a:solidFill>
              </a:rPr>
              <a:t>** : 1,500,000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Commissions Livraisons</a:t>
            </a:r>
            <a:r>
              <a:rPr sz="1600">
                <a:solidFill>
                  <a:srgbClr val="333333"/>
                </a:solidFill>
              </a:rPr>
              <a:t>** : 16,000,000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Commissions Ventes</a:t>
            </a:r>
            <a:r>
              <a:rPr sz="1600">
                <a:solidFill>
                  <a:srgbClr val="333333"/>
                </a:solidFill>
              </a:rPr>
              <a:t>** : 12,500,000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Publicité &amp; Vidéos</a:t>
            </a:r>
            <a:r>
              <a:rPr sz="1600">
                <a:solidFill>
                  <a:srgbClr val="333333"/>
                </a:solidFill>
              </a:rPr>
              <a:t>** : -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Services Spécialisés</a:t>
            </a:r>
            <a:r>
              <a:rPr sz="1600">
                <a:solidFill>
                  <a:srgbClr val="333333"/>
                </a:solidFill>
              </a:rPr>
              <a:t>** : 3,000,000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E-Commerce</a:t>
            </a:r>
            <a:r>
              <a:rPr sz="1600">
                <a:solidFill>
                  <a:srgbClr val="333333"/>
                </a:solidFill>
              </a:rPr>
              <a:t>** : 7,500,000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TOTAL</a:t>
            </a:r>
            <a:r>
              <a:rPr sz="1600">
                <a:solidFill>
                  <a:srgbClr val="333333"/>
                </a:solidFill>
              </a:rPr>
              <a:t>** : -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Détail Publicité &amp; Vidéos 2028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Création vidéos</a:t>
            </a:r>
            <a:r>
              <a:rPr sz="1600">
                <a:solidFill>
                  <a:srgbClr val="333333"/>
                </a:solidFill>
              </a:rPr>
              <a:t> : 300,000 vidéos × 25,000 FCFA = 7,5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Placement publicitaire</a:t>
            </a:r>
            <a:r>
              <a:rPr sz="1600">
                <a:solidFill>
                  <a:srgbClr val="333333"/>
                </a:solidFill>
              </a:rPr>
              <a:t> : 2,700 campagnes × 1 million FCFA = 2,7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Total</a:t>
            </a:r>
            <a:r>
              <a:rPr sz="1600">
                <a:solidFill>
                  <a:srgbClr val="333333"/>
                </a:solidFill>
              </a:rPr>
              <a:t> : 10,2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Hypothèses 2028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Produits/services actifs</a:t>
            </a:r>
            <a:r>
              <a:rPr sz="1600">
                <a:solidFill>
                  <a:srgbClr val="333333"/>
                </a:solidFill>
              </a:rPr>
              <a:t> : 1,5 million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Livraisons</a:t>
            </a:r>
            <a:r>
              <a:rPr sz="1600">
                <a:solidFill>
                  <a:srgbClr val="333333"/>
                </a:solidFill>
              </a:rPr>
              <a:t> : 16 millions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Ventes produits</a:t>
            </a:r>
            <a:r>
              <a:rPr sz="1600">
                <a:solidFill>
                  <a:srgbClr val="333333"/>
                </a:solidFill>
              </a:rPr>
              <a:t> : 12,5 millions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GMV total</a:t>
            </a:r>
            <a:r>
              <a:rPr sz="1600">
                <a:solidFill>
                  <a:srgbClr val="333333"/>
                </a:solidFill>
              </a:rPr>
              <a:t> : 210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Pays</a:t>
            </a:r>
            <a:r>
              <a:rPr sz="1600">
                <a:solidFill>
                  <a:srgbClr val="333333"/>
                </a:solidFill>
              </a:rPr>
              <a:t> : 10+ pays francophones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Partenaires actifs</a:t>
            </a:r>
            <a:r>
              <a:rPr sz="1600">
                <a:solidFill>
                  <a:srgbClr val="333333"/>
                </a:solidFill>
              </a:rPr>
              <a:t> : 700,000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2029 - Leadership Panafricain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Volume et Revenus par Source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Source</a:t>
            </a:r>
            <a:r>
              <a:rPr sz="1600">
                <a:solidFill>
                  <a:srgbClr val="333333"/>
                </a:solidFill>
              </a:rPr>
              <a:t> : Volume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Achat Tokens Produits</a:t>
            </a:r>
            <a:r>
              <a:rPr sz="1600">
                <a:solidFill>
                  <a:srgbClr val="333333"/>
                </a:solidFill>
              </a:rPr>
              <a:t>** : 3,500,000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Commissions Livraisons</a:t>
            </a:r>
            <a:r>
              <a:rPr sz="1600">
                <a:solidFill>
                  <a:srgbClr val="333333"/>
                </a:solidFill>
              </a:rPr>
              <a:t>** : 40,000,000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Commissions Ventes</a:t>
            </a:r>
            <a:r>
              <a:rPr sz="1600">
                <a:solidFill>
                  <a:srgbClr val="333333"/>
                </a:solidFill>
              </a:rPr>
              <a:t>** : 30,000,000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Publicité &amp; Vidéos</a:t>
            </a:r>
            <a:r>
              <a:rPr sz="1600">
                <a:solidFill>
                  <a:srgbClr val="333333"/>
                </a:solidFill>
              </a:rPr>
              <a:t>** : -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Services Spécialisés</a:t>
            </a:r>
            <a:r>
              <a:rPr sz="1600">
                <a:solidFill>
                  <a:srgbClr val="333333"/>
                </a:solidFill>
              </a:rPr>
              <a:t>** : 7,500,000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E-Commerce</a:t>
            </a:r>
            <a:r>
              <a:rPr sz="1600">
                <a:solidFill>
                  <a:srgbClr val="333333"/>
                </a:solidFill>
              </a:rPr>
              <a:t>** : 18,000,000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TOTAL</a:t>
            </a:r>
            <a:r>
              <a:rPr sz="1600">
                <a:solidFill>
                  <a:srgbClr val="333333"/>
                </a:solidFill>
              </a:rPr>
              <a:t>** : -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Détail Publicité &amp; Vidéos 2029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Création vidéos</a:t>
            </a:r>
            <a:r>
              <a:rPr sz="1600">
                <a:solidFill>
                  <a:srgbClr val="333333"/>
                </a:solidFill>
              </a:rPr>
              <a:t> : 750,000 vidéos × 25,000 FCFA = 18,75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Placement publicitaire</a:t>
            </a:r>
            <a:r>
              <a:rPr sz="1600">
                <a:solidFill>
                  <a:srgbClr val="333333"/>
                </a:solidFill>
              </a:rPr>
              <a:t> : 5,850 campagnes × 1 million FCFA = 5,85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Total</a:t>
            </a:r>
            <a:r>
              <a:rPr sz="1600">
                <a:solidFill>
                  <a:srgbClr val="333333"/>
                </a:solidFill>
              </a:rPr>
              <a:t> : 24,6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Hypothèses 2029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Produits/services actifs</a:t>
            </a:r>
            <a:r>
              <a:rPr sz="1600">
                <a:solidFill>
                  <a:srgbClr val="333333"/>
                </a:solidFill>
              </a:rPr>
              <a:t> : 3,5 millions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Livraisons</a:t>
            </a:r>
            <a:r>
              <a:rPr sz="1600">
                <a:solidFill>
                  <a:srgbClr val="333333"/>
                </a:solidFill>
              </a:rPr>
              <a:t> : 40 millions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Ventes produits</a:t>
            </a:r>
            <a:r>
              <a:rPr sz="1600">
                <a:solidFill>
                  <a:srgbClr val="333333"/>
                </a:solidFill>
              </a:rPr>
              <a:t> : 30 millions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GMV total</a:t>
            </a:r>
            <a:r>
              <a:rPr sz="1600">
                <a:solidFill>
                  <a:srgbClr val="333333"/>
                </a:solidFill>
              </a:rPr>
              <a:t> : 520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Pays</a:t>
            </a:r>
            <a:r>
              <a:rPr sz="1600">
                <a:solidFill>
                  <a:srgbClr val="333333"/>
                </a:solidFill>
              </a:rPr>
              <a:t> : 20+ pays (francophone + anglophone + lusophone)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Partenaires actifs</a:t>
            </a:r>
            <a:r>
              <a:rPr sz="1600">
                <a:solidFill>
                  <a:srgbClr val="333333"/>
                </a:solidFill>
              </a:rPr>
              <a:t> : 1,800,000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2030 - Consolidation Leader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Volume et Revenus par Source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Source</a:t>
            </a:r>
            <a:r>
              <a:rPr sz="1600">
                <a:solidFill>
                  <a:srgbClr val="333333"/>
                </a:solidFill>
              </a:rPr>
              <a:t> : Volume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Achat Tokens Produits</a:t>
            </a:r>
            <a:r>
              <a:rPr sz="1600">
                <a:solidFill>
                  <a:srgbClr val="333333"/>
                </a:solidFill>
              </a:rPr>
              <a:t>** : 7,500,000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Commissions Livraisons</a:t>
            </a:r>
            <a:r>
              <a:rPr sz="1600">
                <a:solidFill>
                  <a:srgbClr val="333333"/>
                </a:solidFill>
              </a:rPr>
              <a:t>** : 85,000,000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Commissions Ventes</a:t>
            </a:r>
            <a:r>
              <a:rPr sz="1600">
                <a:solidFill>
                  <a:srgbClr val="333333"/>
                </a:solidFill>
              </a:rPr>
              <a:t>** : 65,000,000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Publicité &amp; Vidéos</a:t>
            </a:r>
            <a:r>
              <a:rPr sz="1600">
                <a:solidFill>
                  <a:srgbClr val="333333"/>
                </a:solidFill>
              </a:rPr>
              <a:t>** : -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Services Spécialisés</a:t>
            </a:r>
            <a:r>
              <a:rPr sz="1600">
                <a:solidFill>
                  <a:srgbClr val="333333"/>
                </a:solidFill>
              </a:rPr>
              <a:t>** : 16,000,000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E-Commerce</a:t>
            </a:r>
            <a:r>
              <a:rPr sz="1600">
                <a:solidFill>
                  <a:srgbClr val="333333"/>
                </a:solidFill>
              </a:rPr>
              <a:t>** : 40,000,000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TOTAL</a:t>
            </a:r>
            <a:r>
              <a:rPr sz="1600">
                <a:solidFill>
                  <a:srgbClr val="333333"/>
                </a:solidFill>
              </a:rPr>
              <a:t>** : -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Détail Publicité &amp; Vidéos 2030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Création vidéos</a:t>
            </a:r>
            <a:r>
              <a:rPr sz="1600">
                <a:solidFill>
                  <a:srgbClr val="333333"/>
                </a:solidFill>
              </a:rPr>
              <a:t> : 1,600,000 vidéos × 25,000 FCFA = 40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Placement publicitaire</a:t>
            </a:r>
            <a:r>
              <a:rPr sz="1600">
                <a:solidFill>
                  <a:srgbClr val="333333"/>
                </a:solidFill>
              </a:rPr>
              <a:t> : 14,200 campagnes × 1 million FCFA = 14,2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Total</a:t>
            </a:r>
            <a:r>
              <a:rPr sz="1600">
                <a:solidFill>
                  <a:srgbClr val="333333"/>
                </a:solidFill>
              </a:rPr>
              <a:t> : 54,2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Hypothèses 2030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Produits/services actifs</a:t>
            </a:r>
            <a:r>
              <a:rPr sz="1600">
                <a:solidFill>
                  <a:srgbClr val="333333"/>
                </a:solidFill>
              </a:rPr>
              <a:t> : 7,5 millions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Livraisons</a:t>
            </a:r>
            <a:r>
              <a:rPr sz="1600">
                <a:solidFill>
                  <a:srgbClr val="333333"/>
                </a:solidFill>
              </a:rPr>
              <a:t> : 85 millions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Ventes produits</a:t>
            </a:r>
            <a:r>
              <a:rPr sz="1600">
                <a:solidFill>
                  <a:srgbClr val="333333"/>
                </a:solidFill>
              </a:rPr>
              <a:t> : 65 millions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GMV total</a:t>
            </a:r>
            <a:r>
              <a:rPr sz="1600">
                <a:solidFill>
                  <a:srgbClr val="333333"/>
                </a:solidFill>
              </a:rPr>
              <a:t> : 1,120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Pays</a:t>
            </a:r>
            <a:r>
              <a:rPr sz="1600">
                <a:solidFill>
                  <a:srgbClr val="333333"/>
                </a:solidFill>
              </a:rPr>
              <a:t> : 25+ pays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Partenaires actifs</a:t>
            </a:r>
            <a:r>
              <a:rPr sz="1600">
                <a:solidFill>
                  <a:srgbClr val="333333"/>
                </a:solidFill>
              </a:rPr>
              <a:t> : 4,000,000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STRUCTURE DES COÛTS (2026-2030)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2026 - Coûts Détaillés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Coûts Variables (45% des revenus = 810 millions FCFA)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Poste</a:t>
            </a:r>
            <a:r>
              <a:rPr sz="1600">
                <a:solidFill>
                  <a:srgbClr val="333333"/>
                </a:solidFill>
              </a:rPr>
              <a:t> : Montant (FCFA)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Commissions Coursiers</a:t>
            </a:r>
            <a:r>
              <a:rPr sz="1600">
                <a:solidFill>
                  <a:srgbClr val="333333"/>
                </a:solidFill>
              </a:rPr>
              <a:t>** : 360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Coûts IA</a:t>
            </a:r>
            <a:r>
              <a:rPr sz="1600">
                <a:solidFill>
                  <a:srgbClr val="333333"/>
                </a:solidFill>
              </a:rPr>
              <a:t>** : 120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Frais Transaction</a:t>
            </a:r>
            <a:r>
              <a:rPr sz="1600">
                <a:solidFill>
                  <a:srgbClr val="333333"/>
                </a:solidFill>
              </a:rPr>
              <a:t>** : 54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Support Client</a:t>
            </a:r>
            <a:r>
              <a:rPr sz="1600">
                <a:solidFill>
                  <a:srgbClr val="333333"/>
                </a:solidFill>
              </a:rPr>
              <a:t>** : 72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Autres Variables</a:t>
            </a:r>
            <a:r>
              <a:rPr sz="1600">
                <a:solidFill>
                  <a:srgbClr val="333333"/>
                </a:solidFill>
              </a:rPr>
              <a:t>** : 204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TOTAL VARIABLES</a:t>
            </a:r>
            <a:r>
              <a:rPr sz="1600" b="1">
                <a:solidFill>
                  <a:srgbClr val="003366"/>
                </a:solidFill>
              </a:rPr>
              <a:t> : </a:t>
            </a:r>
            <a:r>
              <a:rPr sz="1600">
                <a:solidFill>
                  <a:srgbClr val="333333"/>
                </a:solidFill>
              </a:rPr>
              <a:t>810 millions**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Coûts Fixes (55% des revenus = 990 millions FCFA)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Poste</a:t>
            </a:r>
            <a:r>
              <a:rPr sz="1600">
                <a:solidFill>
                  <a:srgbClr val="333333"/>
                </a:solidFill>
              </a:rPr>
              <a:t> : Montant (FCFA)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Personnel</a:t>
            </a:r>
            <a:r>
              <a:rPr sz="1600">
                <a:solidFill>
                  <a:srgbClr val="333333"/>
                </a:solidFill>
              </a:rPr>
              <a:t>** : 540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Infrastructure</a:t>
            </a:r>
            <a:r>
              <a:rPr sz="1600">
                <a:solidFill>
                  <a:srgbClr val="333333"/>
                </a:solidFill>
              </a:rPr>
              <a:t>** : 144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Marketing</a:t>
            </a:r>
            <a:r>
              <a:rPr sz="1600">
                <a:solidFill>
                  <a:srgbClr val="333333"/>
                </a:solidFill>
              </a:rPr>
              <a:t>** : 216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Bureaux</a:t>
            </a:r>
            <a:r>
              <a:rPr sz="1600">
                <a:solidFill>
                  <a:srgbClr val="333333"/>
                </a:solidFill>
              </a:rPr>
              <a:t>** : 54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Légal &amp; Admin</a:t>
            </a:r>
            <a:r>
              <a:rPr sz="1600">
                <a:solidFill>
                  <a:srgbClr val="333333"/>
                </a:solidFill>
              </a:rPr>
              <a:t>** : 36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TOTAL FIXES</a:t>
            </a:r>
            <a:r>
              <a:rPr sz="1600" b="1">
                <a:solidFill>
                  <a:srgbClr val="003366"/>
                </a:solidFill>
              </a:rPr>
              <a:t> : </a:t>
            </a:r>
            <a:r>
              <a:rPr sz="1600">
                <a:solidFill>
                  <a:srgbClr val="333333"/>
                </a:solidFill>
              </a:rPr>
              <a:t>990 millions**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Total Coûts 2026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Coûts totaux</a:t>
            </a:r>
            <a:r>
              <a:rPr sz="1600">
                <a:solidFill>
                  <a:srgbClr val="333333"/>
                </a:solidFill>
              </a:rPr>
              <a:t> : 1,4 milliard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EBITDA</a:t>
            </a:r>
            <a:r>
              <a:rPr sz="1600">
                <a:solidFill>
                  <a:srgbClr val="333333"/>
                </a:solidFill>
              </a:rPr>
              <a:t> : -200 millions FCFA (investissement croissance)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Marge brute</a:t>
            </a:r>
            <a:r>
              <a:rPr sz="1600">
                <a:solidFill>
                  <a:srgbClr val="333333"/>
                </a:solidFill>
              </a:rPr>
              <a:t> : 55% (revenus - coûts variables)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 par produit actif</a:t>
            </a:r>
            <a:r>
              <a:rPr sz="1600">
                <a:solidFill>
                  <a:srgbClr val="333333"/>
                </a:solidFill>
              </a:rPr>
              <a:t> : 46,667 FCFA/an (30,000 produits)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2027 - Coûts Détaillés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Coûts Variables (42% des revenus = 3,528 milliards FCFA)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Commissions coursiers : 1,485 millions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Coûts IA : 504 millions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Frais transaction : 216 millions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Support client : 336 millions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Autres : 987 millions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Coûts Fixes (38% des revenus = 3,192 milliards FCFA)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Personnel : 2,52 milliards FCFA (80 personnes)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Infrastructure : 672 millions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Marketing : 1,008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Bureaux : 252 millions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Légal &amp; Admin : 240 millions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Total Coûts 2027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Coûts totaux</a:t>
            </a:r>
            <a:r>
              <a:rPr sz="1600">
                <a:solidFill>
                  <a:srgbClr val="333333"/>
                </a:solidFill>
              </a:rPr>
              <a:t> : 6,72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EBITDA</a:t>
            </a:r>
            <a:r>
              <a:rPr sz="1600">
                <a:solidFill>
                  <a:srgbClr val="333333"/>
                </a:solidFill>
              </a:rPr>
              <a:t> : +1,68 milliard FCFA (20% marge)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Marge brute</a:t>
            </a:r>
            <a:r>
              <a:rPr sz="1600">
                <a:solidFill>
                  <a:srgbClr val="333333"/>
                </a:solidFill>
              </a:rPr>
              <a:t> : 58%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 par produit actif</a:t>
            </a:r>
            <a:r>
              <a:rPr sz="1600">
                <a:solidFill>
                  <a:srgbClr val="333333"/>
                </a:solidFill>
              </a:rPr>
              <a:t> : 11,200 FCFA/an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2028 - Coûts Détaillés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Coûts Variables (40% des revenus = 9,84 milliards FCFA)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Commissions coursiers : 4,2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Coûts IA : 1,476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Frais transaction : 630 millions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Support client : 984 millions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Autres : 2,55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Coûts Fixes (40% des revenus = 9,84 milliards FCFA)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Personnel : 7,38 milliards FCFA (200 personnes)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Infrastructure : 1,968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Marketing : 2,952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Bureaux : 738 millions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Légal &amp; Admin : 690 millions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Total Coûts 2028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Coûts totaux</a:t>
            </a:r>
            <a:r>
              <a:rPr sz="1600">
                <a:solidFill>
                  <a:srgbClr val="333333"/>
                </a:solidFill>
              </a:rPr>
              <a:t> : 19,68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EBITDA</a:t>
            </a:r>
            <a:r>
              <a:rPr sz="1600">
                <a:solidFill>
                  <a:srgbClr val="333333"/>
                </a:solidFill>
              </a:rPr>
              <a:t> : +4,92 milliards FCFA (20% marge)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Marge brute</a:t>
            </a:r>
            <a:r>
              <a:rPr sz="1600">
                <a:solidFill>
                  <a:srgbClr val="333333"/>
                </a:solidFill>
              </a:rPr>
              <a:t> : 60%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 par produit actif</a:t>
            </a:r>
            <a:r>
              <a:rPr sz="1600">
                <a:solidFill>
                  <a:srgbClr val="333333"/>
                </a:solidFill>
              </a:rPr>
              <a:t> : 13,120 FCFA/an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2029 - Coûts Détaillés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Coûts Variables (38% des revenus = 22,8 milliards FCFA)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Commissions coursiers : 9,6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Coûts IA : 3,6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Frais transaction : 1,56 milliard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Support client : 2,4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Autres : 5,64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Coûts Fixes (37% des revenus = 22,2 milliards FCFA)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Personnel : 18 milliards FCFA (400 personnes)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Infrastructure : 4,8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Marketing : 7,2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Bureaux : 1,8 milliard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Légal &amp; Admin : 1,5 milliard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Total Coûts 2029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Coûts totaux</a:t>
            </a:r>
            <a:r>
              <a:rPr sz="1600">
                <a:solidFill>
                  <a:srgbClr val="333333"/>
                </a:solidFill>
              </a:rPr>
              <a:t> : 45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EBITDA</a:t>
            </a:r>
            <a:r>
              <a:rPr sz="1600">
                <a:solidFill>
                  <a:srgbClr val="333333"/>
                </a:solidFill>
              </a:rPr>
              <a:t> : +15 milliards FCFA (25% marge)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Marge brute</a:t>
            </a:r>
            <a:r>
              <a:rPr sz="1600">
                <a:solidFill>
                  <a:srgbClr val="333333"/>
                </a:solidFill>
              </a:rPr>
              <a:t> : 62%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 par produit actif</a:t>
            </a:r>
            <a:r>
              <a:rPr sz="1600">
                <a:solidFill>
                  <a:srgbClr val="333333"/>
                </a:solidFill>
              </a:rPr>
              <a:t> : 12,857 FCFA/an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2030 - Coûts Détaillés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Coûts Variables (35% des revenus = 46,2 milliards FCFA)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Commissions coursiers : 19,125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Coûts IA : 7,92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Frais transaction : 3,36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Support client : 5,28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Autres : 10,515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Coûts Fixes (35% des revenus = 46,2 milliards FCFA)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Personnel : 39,6 milliards FCFA (800 personnes)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Infrastructure : 10,56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Marketing : 15,84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Bureaux : 3,96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Légal &amp; Admin : 3,24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Total Coûts 2030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Coûts totaux</a:t>
            </a:r>
            <a:r>
              <a:rPr sz="1600">
                <a:solidFill>
                  <a:srgbClr val="333333"/>
                </a:solidFill>
              </a:rPr>
              <a:t> : 92,4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EBITDA</a:t>
            </a:r>
            <a:r>
              <a:rPr sz="1600">
                <a:solidFill>
                  <a:srgbClr val="333333"/>
                </a:solidFill>
              </a:rPr>
              <a:t> : +39,6 milliards FCFA (30% marge)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Marge brute</a:t>
            </a:r>
            <a:r>
              <a:rPr sz="1600">
                <a:solidFill>
                  <a:srgbClr val="333333"/>
                </a:solidFill>
              </a:rPr>
              <a:t> : 65%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 par produit actif</a:t>
            </a:r>
            <a:r>
              <a:rPr sz="1600">
                <a:solidFill>
                  <a:srgbClr val="333333"/>
                </a:solidFill>
              </a:rPr>
              <a:t> : 12,320 FCFA/an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BESOINS DE FINANCEMENT DÉTAILLÉS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Série A : 2,1 - 3 milliards FCFA (Q1 2026)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Utilisation des Fonds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Poste</a:t>
            </a:r>
            <a:r>
              <a:rPr sz="1600">
                <a:solidFill>
                  <a:srgbClr val="333333"/>
                </a:solidFill>
              </a:rPr>
              <a:t> : Montant (FCFA)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Développement Produit</a:t>
            </a:r>
            <a:r>
              <a:rPr sz="1600">
                <a:solidFill>
                  <a:srgbClr val="333333"/>
                </a:solidFill>
              </a:rPr>
              <a:t>** : 840M - 1,2 milliard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Marketing &amp; Acquisition</a:t>
            </a:r>
            <a:r>
              <a:rPr sz="1600">
                <a:solidFill>
                  <a:srgbClr val="333333"/>
                </a:solidFill>
              </a:rPr>
              <a:t>** : 630M - 900M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Recrutement</a:t>
            </a:r>
            <a:r>
              <a:rPr sz="1600">
                <a:solidFill>
                  <a:srgbClr val="333333"/>
                </a:solidFill>
              </a:rPr>
              <a:t>** : 315M - 450M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Infrastructure</a:t>
            </a:r>
            <a:r>
              <a:rPr sz="1600">
                <a:solidFill>
                  <a:srgbClr val="333333"/>
                </a:solidFill>
              </a:rPr>
              <a:t>** : 210M - 300M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Réserve Opérationnelle</a:t>
            </a:r>
            <a:r>
              <a:rPr sz="1600">
                <a:solidFill>
                  <a:srgbClr val="333333"/>
                </a:solidFill>
              </a:rPr>
              <a:t>** : 105M - 150M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TOTAL</a:t>
            </a:r>
            <a:r>
              <a:rPr sz="1600" b="1">
                <a:solidFill>
                  <a:srgbClr val="003366"/>
                </a:solidFill>
              </a:rPr>
              <a:t> : </a:t>
            </a:r>
            <a:r>
              <a:rPr sz="1600">
                <a:solidFill>
                  <a:srgbClr val="333333"/>
                </a:solidFill>
              </a:rPr>
              <a:t>2,1 - 3 milliards**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Runway Série 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Durée</a:t>
            </a:r>
            <a:r>
              <a:rPr sz="1600">
                <a:solidFill>
                  <a:srgbClr val="333333"/>
                </a:solidFill>
              </a:rPr>
              <a:t> : 12-18 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Burn rate mensuel</a:t>
            </a:r>
            <a:r>
              <a:rPr sz="1600">
                <a:solidFill>
                  <a:srgbClr val="333333"/>
                </a:solidFill>
              </a:rPr>
              <a:t> : 175M - 250M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Objectif</a:t>
            </a:r>
            <a:r>
              <a:rPr sz="1600">
                <a:solidFill>
                  <a:srgbClr val="333333"/>
                </a:solidFill>
              </a:rPr>
              <a:t> : Atteindre 150,000 produits actifs, 1,8 milliard FCFA revenus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MÉTRIQUES FINANCIÈRES CLÉS - BASÉES SUR LES PRODUITS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Métriques de Croissance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Année</a:t>
            </a:r>
            <a:r>
              <a:rPr sz="1600">
                <a:solidFill>
                  <a:srgbClr val="333333"/>
                </a:solidFill>
              </a:rPr>
              <a:t> : Produits Actifs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2026</a:t>
            </a:r>
            <a:r>
              <a:rPr sz="1600">
                <a:solidFill>
                  <a:srgbClr val="333333"/>
                </a:solidFill>
              </a:rPr>
              <a:t>** : 150K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2027</a:t>
            </a:r>
            <a:r>
              <a:rPr sz="1600">
                <a:solidFill>
                  <a:srgbClr val="333333"/>
                </a:solidFill>
              </a:rPr>
              <a:t>** : 600K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2028</a:t>
            </a:r>
            <a:r>
              <a:rPr sz="1600">
                <a:solidFill>
                  <a:srgbClr val="333333"/>
                </a:solidFill>
              </a:rPr>
              <a:t>** : 1,5M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2029</a:t>
            </a:r>
            <a:r>
              <a:rPr sz="1600">
                <a:solidFill>
                  <a:srgbClr val="333333"/>
                </a:solidFill>
              </a:rPr>
              <a:t>** : 3,5M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2030</a:t>
            </a:r>
            <a:r>
              <a:rPr sz="1600">
                <a:solidFill>
                  <a:srgbClr val="333333"/>
                </a:solidFill>
              </a:rPr>
              <a:t>** : 7,5M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Métriques de Rentabilité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Année</a:t>
            </a:r>
            <a:r>
              <a:rPr sz="1600">
                <a:solidFill>
                  <a:srgbClr val="333333"/>
                </a:solidFill>
              </a:rPr>
              <a:t> : EBITDA (FCFA)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2026</a:t>
            </a:r>
            <a:r>
              <a:rPr sz="1600">
                <a:solidFill>
                  <a:srgbClr val="333333"/>
                </a:solidFill>
              </a:rPr>
              <a:t>** : -150M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2027</a:t>
            </a:r>
            <a:r>
              <a:rPr sz="1600">
                <a:solidFill>
                  <a:srgbClr val="333333"/>
                </a:solidFill>
              </a:rPr>
              <a:t>** : +1,68 milliard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2028</a:t>
            </a:r>
            <a:r>
              <a:rPr sz="1600">
                <a:solidFill>
                  <a:srgbClr val="333333"/>
                </a:solidFill>
              </a:rPr>
              <a:t>** : +4,92 milliards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2029</a:t>
            </a:r>
            <a:r>
              <a:rPr sz="1600">
                <a:solidFill>
                  <a:srgbClr val="333333"/>
                </a:solidFill>
              </a:rPr>
              <a:t>** : +15 milliards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2030</a:t>
            </a:r>
            <a:r>
              <a:rPr sz="1600">
                <a:solidFill>
                  <a:srgbClr val="333333"/>
                </a:solidFill>
              </a:rPr>
              <a:t>** : +39,6 milliards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Métriques Opérationnelles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Année</a:t>
            </a:r>
            <a:r>
              <a:rPr sz="1600">
                <a:solidFill>
                  <a:srgbClr val="333333"/>
                </a:solidFill>
              </a:rPr>
              <a:t> : Transactions/mois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2026</a:t>
            </a:r>
            <a:r>
              <a:rPr sz="1600">
                <a:solidFill>
                  <a:srgbClr val="333333"/>
                </a:solidFill>
              </a:rPr>
              <a:t>** : 200K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2027</a:t>
            </a:r>
            <a:r>
              <a:rPr sz="1600">
                <a:solidFill>
                  <a:srgbClr val="333333"/>
                </a:solidFill>
              </a:rPr>
              <a:t>** : 1M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2028</a:t>
            </a:r>
            <a:r>
              <a:rPr sz="1600">
                <a:solidFill>
                  <a:srgbClr val="333333"/>
                </a:solidFill>
              </a:rPr>
              <a:t>** : 2,9M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2029</a:t>
            </a:r>
            <a:r>
              <a:rPr sz="1600">
                <a:solidFill>
                  <a:srgbClr val="333333"/>
                </a:solidFill>
              </a:rPr>
              <a:t>** : 7,1M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2030</a:t>
            </a:r>
            <a:r>
              <a:rPr sz="1600">
                <a:solidFill>
                  <a:srgbClr val="333333"/>
                </a:solidFill>
              </a:rPr>
              <a:t>** : 15M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VALORISATION ET SORTIE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Valorisation Projetée - Basée sur les Revenus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Année</a:t>
            </a:r>
            <a:r>
              <a:rPr sz="1600">
                <a:solidFill>
                  <a:srgbClr val="333333"/>
                </a:solidFill>
              </a:rPr>
              <a:t> : Revenus (FCFA)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2026 (Série A)</a:t>
            </a:r>
            <a:r>
              <a:rPr sz="1600">
                <a:solidFill>
                  <a:srgbClr val="333333"/>
                </a:solidFill>
              </a:rPr>
              <a:t>** : 1,8 milliard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2027 (Série B)</a:t>
            </a:r>
            <a:r>
              <a:rPr sz="1600">
                <a:solidFill>
                  <a:srgbClr val="333333"/>
                </a:solidFill>
              </a:rPr>
              <a:t>** : 8,4 milliards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2028 (Série C)</a:t>
            </a:r>
            <a:r>
              <a:rPr sz="1600">
                <a:solidFill>
                  <a:srgbClr val="333333"/>
                </a:solidFill>
              </a:rPr>
              <a:t>** : 24,6 milliards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2029 (Série D)</a:t>
            </a:r>
            <a:r>
              <a:rPr sz="1600">
                <a:solidFill>
                  <a:srgbClr val="333333"/>
                </a:solidFill>
              </a:rPr>
              <a:t>** : 60 milliards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2030 (Exit)</a:t>
            </a:r>
            <a:r>
              <a:rPr sz="1600">
                <a:solidFill>
                  <a:srgbClr val="333333"/>
                </a:solidFill>
              </a:rPr>
              <a:t>** : 132 milliards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Scénarios de Sortie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Scénario Conservateur (2030)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Valorisation</a:t>
            </a:r>
            <a:r>
              <a:rPr sz="1600">
                <a:solidFill>
                  <a:srgbClr val="333333"/>
                </a:solidFill>
              </a:rPr>
              <a:t> : 300 - 360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ROI Série A</a:t>
            </a:r>
            <a:r>
              <a:rPr sz="1600">
                <a:solidFill>
                  <a:srgbClr val="333333"/>
                </a:solidFill>
              </a:rPr>
              <a:t> : 100-120x (si investissement 3 milliards à 3 milliards valuation)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ROI Série B</a:t>
            </a:r>
            <a:r>
              <a:rPr sz="1600">
                <a:solidFill>
                  <a:srgbClr val="333333"/>
                </a:solidFill>
              </a:rPr>
              <a:t> : 20-30x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ROI Série C</a:t>
            </a:r>
            <a:r>
              <a:rPr sz="1600">
                <a:solidFill>
                  <a:srgbClr val="333333"/>
                </a:solidFill>
              </a:rPr>
              <a:t> : 8-12x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Scénario Optimiste (2030)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Valorisation</a:t>
            </a:r>
            <a:r>
              <a:rPr sz="1600">
                <a:solidFill>
                  <a:srgbClr val="333333"/>
                </a:solidFill>
              </a:rPr>
              <a:t> : 480 - 600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ROI Série A</a:t>
            </a:r>
            <a:r>
              <a:rPr sz="1600">
                <a:solidFill>
                  <a:srgbClr val="333333"/>
                </a:solidFill>
              </a:rPr>
              <a:t> : 160-200x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ROI Série B</a:t>
            </a:r>
            <a:r>
              <a:rPr sz="1600">
                <a:solidFill>
                  <a:srgbClr val="333333"/>
                </a:solidFill>
              </a:rPr>
              <a:t> : 30-40x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ROI Série C</a:t>
            </a:r>
            <a:r>
              <a:rPr sz="1600">
                <a:solidFill>
                  <a:srgbClr val="333333"/>
                </a:solidFill>
              </a:rPr>
              <a:t> : 12-16x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ANALYSE DE SENSIBILITÉ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Scénario Pessimiste (-30% volume)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Année</a:t>
            </a:r>
            <a:r>
              <a:rPr sz="1600">
                <a:solidFill>
                  <a:srgbClr val="333333"/>
                </a:solidFill>
              </a:rPr>
              <a:t> : Produits Actifs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2026</a:t>
            </a:r>
            <a:r>
              <a:rPr sz="1600">
                <a:solidFill>
                  <a:srgbClr val="333333"/>
                </a:solidFill>
              </a:rPr>
              <a:t>** : 105K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2027</a:t>
            </a:r>
            <a:r>
              <a:rPr sz="1600">
                <a:solidFill>
                  <a:srgbClr val="333333"/>
                </a:solidFill>
              </a:rPr>
              <a:t>** : 420K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2028</a:t>
            </a:r>
            <a:r>
              <a:rPr sz="1600">
                <a:solidFill>
                  <a:srgbClr val="333333"/>
                </a:solidFill>
              </a:rPr>
              <a:t>** : 1,05M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2029</a:t>
            </a:r>
            <a:r>
              <a:rPr sz="1600">
                <a:solidFill>
                  <a:srgbClr val="333333"/>
                </a:solidFill>
              </a:rPr>
              <a:t>** : 2,45M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2030</a:t>
            </a:r>
            <a:r>
              <a:rPr sz="1600">
                <a:solidFill>
                  <a:srgbClr val="333333"/>
                </a:solidFill>
              </a:rPr>
              <a:t>** : 5,25M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Scénario Optimiste (+30% volume)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Année</a:t>
            </a:r>
            <a:r>
              <a:rPr sz="1600">
                <a:solidFill>
                  <a:srgbClr val="333333"/>
                </a:solidFill>
              </a:rPr>
              <a:t> : Produits Actifs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2026</a:t>
            </a:r>
            <a:r>
              <a:rPr sz="1600">
                <a:solidFill>
                  <a:srgbClr val="333333"/>
                </a:solidFill>
              </a:rPr>
              <a:t>** : 195K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2027</a:t>
            </a:r>
            <a:r>
              <a:rPr sz="1600">
                <a:solidFill>
                  <a:srgbClr val="333333"/>
                </a:solidFill>
              </a:rPr>
              <a:t>** : 780K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2028</a:t>
            </a:r>
            <a:r>
              <a:rPr sz="1600">
                <a:solidFill>
                  <a:srgbClr val="333333"/>
                </a:solidFill>
              </a:rPr>
              <a:t>** : 1,95M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2029</a:t>
            </a:r>
            <a:r>
              <a:rPr sz="1600">
                <a:solidFill>
                  <a:srgbClr val="333333"/>
                </a:solidFill>
              </a:rPr>
              <a:t>** : 4,55M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2030</a:t>
            </a:r>
            <a:r>
              <a:rPr sz="1600">
                <a:solidFill>
                  <a:srgbClr val="333333"/>
                </a:solidFill>
              </a:rPr>
              <a:t>** : 9,75M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POINTS CLÉS POUR INVESTISSEURS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Opportunité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Marché en croissance</a:t>
            </a:r>
            <a:r>
              <a:rPr sz="1600">
                <a:solidFill>
                  <a:srgbClr val="333333"/>
                </a:solidFill>
              </a:rPr>
              <a:t> : 15-20% CAGR en Afrique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Première mover</a:t>
            </a:r>
            <a:r>
              <a:rPr sz="1600">
                <a:solidFill>
                  <a:srgbClr val="333333"/>
                </a:solidFill>
              </a:rPr>
              <a:t> : Avantage concurrentiel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Modèle éprouvé</a:t>
            </a:r>
            <a:r>
              <a:rPr sz="1600">
                <a:solidFill>
                  <a:srgbClr val="333333"/>
                </a:solidFill>
              </a:rPr>
              <a:t> : Inspiré des leaders mondiaux, adapté Afrique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Multi-sources revenus</a:t>
            </a:r>
            <a:r>
              <a:rPr sz="1600">
                <a:solidFill>
                  <a:srgbClr val="333333"/>
                </a:solidFill>
              </a:rPr>
              <a:t> : Réduction risques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Évaluation basée produits</a:t>
            </a:r>
            <a:r>
              <a:rPr sz="1600">
                <a:solidFill>
                  <a:srgbClr val="333333"/>
                </a:solidFill>
              </a:rPr>
              <a:t> : Métriques tangibles et scalables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Paramètres réalistes</a:t>
            </a:r>
            <a:r>
              <a:rPr sz="1600">
                <a:solidFill>
                  <a:srgbClr val="333333"/>
                </a:solidFill>
              </a:rPr>
              <a:t> : Utilisation tokens équivalent ~2,000 FCFA/mois en moyenne, commissions 5%, livraisons 100+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Retour sur Investissement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ROI Série A</a:t>
            </a:r>
            <a:r>
              <a:rPr sz="1600">
                <a:solidFill>
                  <a:srgbClr val="333333"/>
                </a:solidFill>
              </a:rPr>
              <a:t> : 10-15x sur 5 ans (conservateur)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ROI Série A</a:t>
            </a:r>
            <a:r>
              <a:rPr sz="1600">
                <a:solidFill>
                  <a:srgbClr val="333333"/>
                </a:solidFill>
              </a:rPr>
              <a:t> : 20-30x sur 5 ans (optimiste)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Timing</a:t>
            </a:r>
            <a:r>
              <a:rPr sz="1600">
                <a:solidFill>
                  <a:srgbClr val="333333"/>
                </a:solidFill>
              </a:rPr>
              <a:t> : Marché prêt, technologie mature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Scalabilité</a:t>
            </a:r>
            <a:r>
              <a:rPr sz="1600">
                <a:solidFill>
                  <a:srgbClr val="333333"/>
                </a:solidFill>
              </a:rPr>
              <a:t> : Volume produits = croissance linéaire revenus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Risques Mitigés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Équipe expérimentée</a:t>
            </a:r>
            <a:r>
              <a:rPr sz="1600">
                <a:solidFill>
                  <a:srgbClr val="333333"/>
                </a:solidFill>
              </a:rPr>
              <a:t> : Expertise technique et business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Technologie propriétaire</a:t>
            </a:r>
            <a:r>
              <a:rPr sz="1600">
                <a:solidFill>
                  <a:srgbClr val="333333"/>
                </a:solidFill>
              </a:rPr>
              <a:t> : Avantage durable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Partenariats stratégiques</a:t>
            </a:r>
            <a:r>
              <a:rPr sz="1600">
                <a:solidFill>
                  <a:srgbClr val="333333"/>
                </a:solidFill>
              </a:rPr>
              <a:t> : Réduction risques opérationnels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Diversification géographique</a:t>
            </a:r>
            <a:r>
              <a:rPr sz="1600">
                <a:solidFill>
                  <a:srgbClr val="333333"/>
                </a:solidFill>
              </a:rPr>
              <a:t> : Réduction risques pays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Modèle basé produits</a:t>
            </a:r>
            <a:r>
              <a:rPr sz="1600">
                <a:solidFill>
                  <a:srgbClr val="333333"/>
                </a:solidFill>
              </a:rPr>
              <a:t> : Métriques claires et mesurables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RÉFÉRENCES ET SOURCES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Données Marché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TAM/SAM/SOM</a:t>
            </a:r>
            <a:r>
              <a:rPr sz="1600">
                <a:solidFill>
                  <a:srgbClr val="333333"/>
                </a:solidFill>
              </a:rPr>
              <a:t> : Voir document "REFERENCES_SOURCES.md" pour sources détaillées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Croissance e-commerce</a:t>
            </a:r>
            <a:r>
              <a:rPr sz="1600">
                <a:solidFill>
                  <a:srgbClr val="333333"/>
                </a:solidFill>
              </a:rPr>
              <a:t> : Statista (2024), McKinsey &amp; Company (2023)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Croissance livraison</a:t>
            </a:r>
            <a:r>
              <a:rPr sz="1600">
                <a:solidFill>
                  <a:srgbClr val="333333"/>
                </a:solidFill>
              </a:rPr>
              <a:t> : Research and Markets (2024), McKinsey &amp; Company (2023)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Paramètres Économiques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Utilisation tokens équivalent ~2,000 FCFA/mois</a:t>
            </a:r>
            <a:r>
              <a:rPr sz="1600">
                <a:solidFill>
                  <a:srgbClr val="333333"/>
                </a:solidFill>
              </a:rPr>
              <a:t> : Basé sur analyse marché local et benchmarks internationaux (système pay-per-use avec tokens)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Commission livraison 100+ FCFA</a:t>
            </a:r>
            <a:r>
              <a:rPr sz="1600">
                <a:solidFill>
                  <a:srgbClr val="333333"/>
                </a:solidFill>
              </a:rPr>
              <a:t> : Analyse coûts opérationnels et prix marché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Commission vente 5%</a:t>
            </a:r>
            <a:r>
              <a:rPr sz="1600">
                <a:solidFill>
                  <a:srgbClr val="333333"/>
                </a:solidFill>
              </a:rPr>
              <a:t> : Positionnement compétitif vs Jumia (15-20%), Glovo (25-30%)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Prix vidéo publicitaire</a:t>
            </a:r>
            <a:r>
              <a:rPr sz="1600">
                <a:solidFill>
                  <a:srgbClr val="333333"/>
                </a:solidFill>
              </a:rPr>
              <a:t> : Analyse marché création contenu (15,000-30,000 FCFA)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Benchmarks Sectoriels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Take Rate moyen</a:t>
            </a:r>
            <a:r>
              <a:rPr sz="1600">
                <a:solidFill>
                  <a:srgbClr val="333333"/>
                </a:solidFill>
              </a:rPr>
              <a:t> : Analyse comparative Jumia, Glovo, Uber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Panier moyen</a:t>
            </a:r>
            <a:r>
              <a:rPr sz="1600">
                <a:solidFill>
                  <a:srgbClr val="333333"/>
                </a:solidFill>
              </a:rPr>
              <a:t> : Statista (2024), Jumia Annual Report (2023)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Taux de conversion</a:t>
            </a:r>
            <a:r>
              <a:rPr sz="1600">
                <a:solidFill>
                  <a:srgbClr val="333333"/>
                </a:solidFill>
              </a:rPr>
              <a:t> : Industry benchmarks e-commerce Afrique (Statista, 2024)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Projections Yukpomnang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Les projections sont basées sur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1. </a:t>
            </a:r>
            <a:r>
              <a:rPr sz="1600" b="1">
                <a:solidFill>
                  <a:srgbClr val="003366"/>
                </a:solidFill>
              </a:rPr>
              <a:t>Modèles économiques éprouvés</a:t>
            </a:r>
            <a:r>
              <a:rPr sz="1600">
                <a:solidFill>
                  <a:srgbClr val="333333"/>
                </a:solidFill>
              </a:rPr>
              <a:t> : Adaptation Jumia/Glovo au marché local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2. </a:t>
            </a:r>
            <a:r>
              <a:rPr sz="1600" b="1">
                <a:solidFill>
                  <a:srgbClr val="003366"/>
                </a:solidFill>
              </a:rPr>
              <a:t>Données marché réelles</a:t>
            </a:r>
            <a:r>
              <a:rPr sz="1600">
                <a:solidFill>
                  <a:srgbClr val="333333"/>
                </a:solidFill>
              </a:rPr>
              <a:t> : Statista, GSMA, World Bank, McKinsey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3. </a:t>
            </a:r>
            <a:r>
              <a:rPr sz="1600" b="1">
                <a:solidFill>
                  <a:srgbClr val="003366"/>
                </a:solidFill>
              </a:rPr>
              <a:t>Hypothèses conservatrices</a:t>
            </a:r>
            <a:r>
              <a:rPr sz="1600">
                <a:solidFill>
                  <a:srgbClr val="333333"/>
                </a:solidFill>
              </a:rPr>
              <a:t> : Scénarios réalistes et atteignables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4. </a:t>
            </a:r>
            <a:r>
              <a:rPr sz="1600" b="1">
                <a:solidFill>
                  <a:srgbClr val="003366"/>
                </a:solidFill>
              </a:rPr>
              <a:t>Validation comparative</a:t>
            </a:r>
            <a:r>
              <a:rPr sz="1600">
                <a:solidFill>
                  <a:srgbClr val="333333"/>
                </a:solidFill>
              </a:rPr>
              <a:t> : Benchmarks avec leaders sectoriels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5. </a:t>
            </a:r>
            <a:r>
              <a:rPr sz="1600" b="1">
                <a:solidFill>
                  <a:srgbClr val="003366"/>
                </a:solidFill>
              </a:rPr>
              <a:t>Paramètres réalistes</a:t>
            </a:r>
            <a:r>
              <a:rPr sz="1600">
                <a:solidFill>
                  <a:srgbClr val="333333"/>
                </a:solidFill>
              </a:rPr>
              <a:t> : Prix et commissions basés sur analyse marché local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Taux de Change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1 FCFA = 600 FCFA</a:t>
            </a:r>
            <a:r>
              <a:rPr sz="1600">
                <a:solidFill>
                  <a:srgbClr val="333333"/>
                </a:solidFill>
              </a:rPr>
              <a:t> : Banque Centrale des États de l'Afrique de l'Ouest (BCEAO), Banque des États de l'Afrique Centrale (BEAC) - Janvier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Merci pour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