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YUKpomnang</c:v>
                </c:pt>
              </c:strCache>
            </c:strRef>
          </c:tx>
          <c:spPr>
            <a:solidFill>
              <a:srgbClr val="D4AF37"/>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Sheet1!$B$2:$B$7</c:f>
              <c:numCache>
                <c:formatCode>General</c:formatCode>
                <c:ptCount val="6"/>
                <c:pt idx="0">
                  <c:v>5</c:v>
                </c:pt>
                <c:pt idx="1">
                  <c:v>5</c:v>
                </c:pt>
                <c:pt idx="2">
                  <c:v>5</c:v>
                </c:pt>
                <c:pt idx="3">
                  <c:v>5</c:v>
                </c:pt>
                <c:pt idx="4">
                  <c:v>5</c:v>
                </c:pt>
                <c:pt idx="5">
                  <c:v>5</c:v>
                </c:pt>
              </c:numCache>
            </c:numRef>
          </c:val>
        </c:ser>
        <c:ser>
          <c:idx val="1"/>
          <c:order val="1"/>
          <c:tx>
            <c:strRef>
              <c:f>Sheet1!$C$1</c:f>
              <c:strCache>
                <c:ptCount val="1"/>
                <c:pt idx="0">
                  <c:v>Yango</c:v>
                </c:pt>
              </c:strCache>
            </c:strRef>
          </c:tx>
          <c:spPr>
            <a:solidFill>
              <a:srgbClr val="4FC3F7"/>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Sheet1!$C$2:$C$7</c:f>
              <c:numCache>
                <c:formatCode>General</c:formatCode>
                <c:ptCount val="6"/>
                <c:pt idx="0">
                  <c:v>2</c:v>
                </c:pt>
                <c:pt idx="1">
                  <c:v>3</c:v>
                </c:pt>
                <c:pt idx="2">
                  <c:v>3</c:v>
                </c:pt>
                <c:pt idx="3">
                  <c:v>2</c:v>
                </c:pt>
                <c:pt idx="4">
                  <c:v>3</c:v>
                </c:pt>
                <c:pt idx="5">
                  <c:v>2</c:v>
                </c:pt>
              </c:numCache>
            </c:numRef>
          </c:val>
        </c:ser>
        <c:ser>
          <c:idx val="2"/>
          <c:order val="2"/>
          <c:tx>
            <c:strRef>
              <c:f>Sheet1!$D$1</c:f>
              <c:strCache>
                <c:ptCount val="1"/>
                <c:pt idx="0">
                  <c:v>Jumia Food</c:v>
                </c:pt>
              </c:strCache>
            </c:strRef>
          </c:tx>
          <c:spPr>
            <a:solidFill>
              <a:srgbClr val="00C87A"/>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Sheet1!$D$2:$D$7</c:f>
              <c:numCache>
                <c:formatCode>General</c:formatCode>
                <c:ptCount val="6"/>
                <c:pt idx="0">
                  <c:v>2</c:v>
                </c:pt>
                <c:pt idx="1">
                  <c:v>2</c:v>
                </c:pt>
                <c:pt idx="2">
                  <c:v>3</c:v>
                </c:pt>
                <c:pt idx="3">
                  <c:v>2</c:v>
                </c:pt>
                <c:pt idx="4">
                  <c:v>3</c:v>
                </c:pt>
                <c:pt idx="5">
                  <c:v>4</c:v>
                </c:pt>
              </c:numCache>
            </c:numRef>
          </c:val>
        </c:ser>
        <c:ser>
          <c:idx val="3"/>
          <c:order val="3"/>
          <c:tx>
            <c:strRef>
              <c:f>Sheet1!$E$1</c:f>
              <c:strCache>
                <c:ptCount val="1"/>
                <c:pt idx="0">
                  <c:v>Acteurs locaux</c:v>
                </c:pt>
              </c:strCache>
            </c:strRef>
          </c:tx>
          <c:spPr>
            <a:solidFill>
              <a:srgbClr val="FF9933"/>
            </a:solidFill>
          </c:spPr>
          <c:cat>
            <c:strRef>
              <c:f>Sheet1!$A$2:$A$7</c:f>
              <c:strCache>
                <c:ptCount val="6"/>
                <c:pt idx="0">
                  <c:v>Services intégrés</c:v>
                </c:pt>
                <c:pt idx="1">
                  <c:v>Présence locale</c:v>
                </c:pt>
                <c:pt idx="2">
                  <c:v>Fiabilité &amp; Avis</c:v>
                </c:pt>
                <c:pt idx="3">
                  <c:v>Innovation IA</c:v>
                </c:pt>
                <c:pt idx="4">
                  <c:v>Expér. utilisateur</c:v>
                </c:pt>
                <c:pt idx="5">
                  <c:v>Transparence prix</c:v>
                </c:pt>
              </c:strCache>
            </c:strRef>
          </c:cat>
          <c:val>
            <c:numRef>
              <c:f>Sheet1!$E$2:$E$7</c:f>
              <c:numCache>
                <c:formatCode>General</c:formatCode>
                <c:ptCount val="6"/>
                <c:pt idx="0">
                  <c:v>1</c:v>
                </c:pt>
                <c:pt idx="1">
                  <c:v>4</c:v>
                </c:pt>
                <c:pt idx="2">
                  <c:v>2</c:v>
                </c:pt>
                <c:pt idx="3">
                  <c:v>1</c:v>
                </c:pt>
                <c:pt idx="4">
                  <c:v>2</c:v>
                </c:pt>
                <c:pt idx="5">
                  <c:v>1</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(M FCFA)</c:v>
                </c:pt>
              </c:strCache>
            </c:strRef>
          </c:tx>
          <c:spPr>
            <a:solidFill>
              <a:srgbClr val="D4AF37"/>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Sheet1!$B$2:$B$9</c:f>
              <c:numCache>
                <c:formatCode>General</c:formatCode>
                <c:ptCount val="8"/>
                <c:pt idx="0">
                  <c:v>2</c:v>
                </c:pt>
                <c:pt idx="1">
                  <c:v>5</c:v>
                </c:pt>
                <c:pt idx="2">
                  <c:v>9</c:v>
                </c:pt>
                <c:pt idx="3">
                  <c:v>14</c:v>
                </c:pt>
                <c:pt idx="4">
                  <c:v>20</c:v>
                </c:pt>
                <c:pt idx="5">
                  <c:v>28</c:v>
                </c:pt>
                <c:pt idx="6">
                  <c:v>38</c:v>
                </c:pt>
                <c:pt idx="7">
                  <c:v>55</c:v>
                </c:pt>
              </c:numCache>
            </c:numRef>
          </c:val>
        </c:ser>
        <c:ser>
          <c:idx val="1"/>
          <c:order val="1"/>
          <c:tx>
            <c:strRef>
              <c:f>Sheet1!$C$1</c:f>
              <c:strCache>
                <c:ptCount val="1"/>
                <c:pt idx="0">
                  <c:v>Dépenses (M FCFA)</c:v>
                </c:pt>
              </c:strCache>
            </c:strRef>
          </c:tx>
          <c:spPr>
            <a:solidFill>
              <a:srgbClr val="FF6B6B"/>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Sheet1!$C$2:$C$9</c:f>
              <c:numCache>
                <c:formatCode>General</c:formatCode>
                <c:ptCount val="8"/>
                <c:pt idx="0">
                  <c:v>14</c:v>
                </c:pt>
                <c:pt idx="1">
                  <c:v>15</c:v>
                </c:pt>
                <c:pt idx="2">
                  <c:v>16</c:v>
                </c:pt>
                <c:pt idx="3">
                  <c:v>17</c:v>
                </c:pt>
                <c:pt idx="4">
                  <c:v>18</c:v>
                </c:pt>
                <c:pt idx="5">
                  <c:v>20</c:v>
                </c:pt>
                <c:pt idx="6">
                  <c:v>24</c:v>
                </c:pt>
                <c:pt idx="7">
                  <c:v>28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(M FCFA)</c:v>
                </c:pt>
              </c:strCache>
            </c:strRef>
          </c:tx>
          <c:spPr>
            <a:solidFill>
              <a:srgbClr val="D4AF37"/>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Sheet1!$B$2:$B$9</c:f>
              <c:numCache>
                <c:formatCode>General</c:formatCode>
                <c:ptCount val="8"/>
                <c:pt idx="0">
                  <c:v>2</c:v>
                </c:pt>
                <c:pt idx="1">
                  <c:v>5</c:v>
                </c:pt>
                <c:pt idx="2">
                  <c:v>9</c:v>
                </c:pt>
                <c:pt idx="3">
                  <c:v>14</c:v>
                </c:pt>
                <c:pt idx="4">
                  <c:v>20</c:v>
                </c:pt>
                <c:pt idx="5">
                  <c:v>28</c:v>
                </c:pt>
                <c:pt idx="6">
                  <c:v>38</c:v>
                </c:pt>
                <c:pt idx="7">
                  <c:v>55</c:v>
                </c:pt>
              </c:numCache>
            </c:numRef>
          </c:val>
        </c:ser>
        <c:ser>
          <c:idx val="1"/>
          <c:order val="1"/>
          <c:tx>
            <c:strRef>
              <c:f>Sheet1!$C$1</c:f>
              <c:strCache>
                <c:ptCount val="1"/>
                <c:pt idx="0">
                  <c:v>Dépenses (M FCFA)</c:v>
                </c:pt>
              </c:strCache>
            </c:strRef>
          </c:tx>
          <c:spPr>
            <a:solidFill>
              <a:srgbClr val="FF6B6B"/>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Sheet1!$C$2:$C$9</c:f>
              <c:numCache>
                <c:formatCode>General</c:formatCode>
                <c:ptCount val="8"/>
                <c:pt idx="0">
                  <c:v>14</c:v>
                </c:pt>
                <c:pt idx="1">
                  <c:v>15</c:v>
                </c:pt>
                <c:pt idx="2">
                  <c:v>16</c:v>
                </c:pt>
                <c:pt idx="3">
                  <c:v>17</c:v>
                </c:pt>
                <c:pt idx="4">
                  <c:v>18</c:v>
                </c:pt>
                <c:pt idx="5">
                  <c:v>20</c:v>
                </c:pt>
                <c:pt idx="6">
                  <c:v>24</c:v>
                </c:pt>
                <c:pt idx="7">
                  <c:v>28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Rectangle 9"/>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3" name="TextBox 12"/>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4" name="Rectangle 13"/>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7" name="TextBox 16"/>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8" name="Rectangle 17"/>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1" name="TextBox 20"/>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2" name="TextBox 21"/>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3" name="TextBox 22"/>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148000"/>
            <a:ext cx="8784000" cy="2952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une pharmacie ouverte, un artisan disponible...
Chaque démarche prend des heures. Le Camerounais perd en moyenne
2 heures par jour à coordonner ses besoins urbains de base.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YUKpomnang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Médicaments, cliniques, médecins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YUKpomnang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Services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8 à 15 %
par prestation</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ou service réalisé, YUKpomnang prélève automatiquement une commission. Pilier principal : plus les utilisateurs commandent, plus les revenus augmentent sans coûts fixes supplémentaires.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Commission sur Ventes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5 à 12 %
par produit vendu</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vente de produit physique (pharmacie, alimentation, électroménager, Bourse du Livre, mode...) génère une commission directe. Le catalogue en ligne constitue un marché à fort potentiel de volume.</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mensuels
prestataires &amp; boutiques</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vendeurs et prestataires paient pour être mis en avant, apparaître en première position dans leur catégorie ou lancer des promotions ciblées. Revenu passif non lié au volume.</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YUKpomnang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YUKpomnang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700 000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150 000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45 000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YUKpomnang</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sur 6 dimensions clés (note /5) — YUKpomnang remporte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graphicFrame>
        <p:nvGraphicFramePr>
          <p:cNvPr id="9" name="Chart 8"/>
          <p:cNvGraphicFramePr>
            <a:graphicFrameLocks noGrp="1"/>
          </p:cNvGraphicFramePr>
          <p:nvPr/>
        </p:nvGraphicFramePr>
        <p:xfrm>
          <a:off x="144000" y="1440000"/>
          <a:ext cx="5580000" cy="4788000"/>
        </p:xfrm>
        <a:graphic>
          <a:graphicData uri="http://schemas.openxmlformats.org/drawingml/2006/chart">
            <c:chart xmlns:c="http://schemas.openxmlformats.org/drawingml/2006/chart" r:id="rId2"/>
          </a:graphicData>
        </a:graphic>
      </p:graphicFrame>
      <p:sp>
        <p:nvSpPr>
          <p:cNvPr id="10" name="Rectangle 9"/>
          <p:cNvSpPr/>
          <p:nvPr/>
        </p:nvSpPr>
        <p:spPr>
          <a:xfrm>
            <a:off x="5868000" y="1475999"/>
            <a:ext cx="3131999"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868000" y="1475999"/>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0000" y="1540799"/>
            <a:ext cx="2897999" cy="432000"/>
          </a:xfrm>
          <a:prstGeom prst="rect">
            <a:avLst/>
          </a:prstGeom>
          <a:noFill/>
        </p:spPr>
        <p:txBody>
          <a:bodyPr wrap="square">
            <a:spAutoFit/>
          </a:bodyPr>
          <a:lstStyle/>
          <a:p>
            <a:pPr algn="l"/>
            <a:r>
              <a:rPr sz="1300" b="1" i="0">
                <a:solidFill>
                  <a:srgbClr val="D4AF37"/>
                </a:solidFill>
              </a:rPr>
              <a:t>9 services
unifiés</a:t>
            </a:r>
          </a:p>
        </p:txBody>
      </p:sp>
      <p:sp>
        <p:nvSpPr>
          <p:cNvPr id="13" name="TextBox 12"/>
          <p:cNvSpPr txBox="1"/>
          <p:nvPr/>
        </p:nvSpPr>
        <p:spPr>
          <a:xfrm>
            <a:off x="6030000" y="1972798"/>
            <a:ext cx="2897999"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4" name="Rectangle 13"/>
          <p:cNvSpPr/>
          <p:nvPr/>
        </p:nvSpPr>
        <p:spPr>
          <a:xfrm>
            <a:off x="5868000" y="2671199"/>
            <a:ext cx="3131999"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68000" y="2671199"/>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0000" y="2735999"/>
            <a:ext cx="2897999" cy="432000"/>
          </a:xfrm>
          <a:prstGeom prst="rect">
            <a:avLst/>
          </a:prstGeom>
          <a:noFill/>
        </p:spPr>
        <p:txBody>
          <a:bodyPr wrap="square">
            <a:spAutoFit/>
          </a:bodyPr>
          <a:lstStyle/>
          <a:p>
            <a:pPr algn="l"/>
            <a:r>
              <a:rPr sz="1300" b="1" i="0">
                <a:solidFill>
                  <a:srgbClr val="9B59B6"/>
                </a:solidFill>
              </a:rPr>
              <a:t>YukpoIA</a:t>
            </a:r>
          </a:p>
        </p:txBody>
      </p:sp>
      <p:sp>
        <p:nvSpPr>
          <p:cNvPr id="17" name="TextBox 16"/>
          <p:cNvSpPr txBox="1"/>
          <p:nvPr/>
        </p:nvSpPr>
        <p:spPr>
          <a:xfrm>
            <a:off x="6030000" y="3167998"/>
            <a:ext cx="2897999" cy="504000"/>
          </a:xfrm>
          <a:prstGeom prst="rect">
            <a:avLst/>
          </a:prstGeom>
          <a:noFill/>
        </p:spPr>
        <p:txBody>
          <a:bodyPr wrap="square">
            <a:spAutoFit/>
          </a:bodyPr>
          <a:lstStyle/>
          <a:p>
            <a:pPr algn="l"/>
            <a:r>
              <a:rPr sz="1000" b="0" i="0">
                <a:solidFill>
                  <a:srgbClr val="B0C4DE"/>
                </a:solidFill>
              </a:rPr>
              <a:t>Assistant IA intégré
24h/24 — unique en Afrique</a:t>
            </a:r>
          </a:p>
        </p:txBody>
      </p:sp>
      <p:sp>
        <p:nvSpPr>
          <p:cNvPr id="18" name="Rectangle 17"/>
          <p:cNvSpPr/>
          <p:nvPr/>
        </p:nvSpPr>
        <p:spPr>
          <a:xfrm>
            <a:off x="5868000" y="3866399"/>
            <a:ext cx="3131999"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68000" y="3866399"/>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0000" y="3931199"/>
            <a:ext cx="2897999" cy="432000"/>
          </a:xfrm>
          <a:prstGeom prst="rect">
            <a:avLst/>
          </a:prstGeom>
          <a:noFill/>
        </p:spPr>
        <p:txBody>
          <a:bodyPr wrap="square">
            <a:spAutoFit/>
          </a:bodyPr>
          <a:lstStyle/>
          <a:p>
            <a:pPr algn="l"/>
            <a:r>
              <a:rPr sz="1300" b="1" i="0">
                <a:solidFill>
                  <a:srgbClr val="00C87A"/>
                </a:solidFill>
              </a:rPr>
              <a:t>Creator Studio</a:t>
            </a:r>
          </a:p>
        </p:txBody>
      </p:sp>
      <p:sp>
        <p:nvSpPr>
          <p:cNvPr id="21" name="TextBox 20"/>
          <p:cNvSpPr txBox="1"/>
          <p:nvPr/>
        </p:nvSpPr>
        <p:spPr>
          <a:xfrm>
            <a:off x="6030000" y="4363198"/>
            <a:ext cx="2897999" cy="504000"/>
          </a:xfrm>
          <a:prstGeom prst="rect">
            <a:avLst/>
          </a:prstGeom>
          <a:noFill/>
        </p:spPr>
        <p:txBody>
          <a:bodyPr wrap="square">
            <a:spAutoFit/>
          </a:bodyPr>
          <a:lstStyle/>
          <a:p>
            <a:pPr algn="l"/>
            <a:r>
              <a:rPr sz="1000" b="0" i="0">
                <a:solidFill>
                  <a:srgbClr val="B0C4DE"/>
                </a:solidFill>
              </a:rPr>
              <a:t>Production vidéo/visuels
directement dans l'app</a:t>
            </a:r>
          </a:p>
        </p:txBody>
      </p:sp>
      <p:sp>
        <p:nvSpPr>
          <p:cNvPr id="22" name="Rectangle 21"/>
          <p:cNvSpPr/>
          <p:nvPr/>
        </p:nvSpPr>
        <p:spPr>
          <a:xfrm>
            <a:off x="5868000" y="5061599"/>
            <a:ext cx="3131999"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68000" y="5061599"/>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0000" y="5126399"/>
            <a:ext cx="2897999" cy="432000"/>
          </a:xfrm>
          <a:prstGeom prst="rect">
            <a:avLst/>
          </a:prstGeom>
          <a:noFill/>
        </p:spPr>
        <p:txBody>
          <a:bodyPr wrap="square">
            <a:spAutoFit/>
          </a:bodyPr>
          <a:lstStyle/>
          <a:p>
            <a:pPr algn="l"/>
            <a:r>
              <a:rPr sz="1300" b="1" i="0">
                <a:solidFill>
                  <a:srgbClr val="FF9933"/>
                </a:solidFill>
              </a:rPr>
              <a:t>Bourse du Livre</a:t>
            </a:r>
          </a:p>
        </p:txBody>
      </p:sp>
      <p:sp>
        <p:nvSpPr>
          <p:cNvPr id="25" name="TextBox 24"/>
          <p:cNvSpPr txBox="1"/>
          <p:nvPr/>
        </p:nvSpPr>
        <p:spPr>
          <a:xfrm>
            <a:off x="6030000" y="5558398"/>
            <a:ext cx="2897999" cy="504000"/>
          </a:xfrm>
          <a:prstGeom prst="rect">
            <a:avLst/>
          </a:prstGeom>
          <a:noFill/>
        </p:spPr>
        <p:txBody>
          <a:bodyPr wrap="square">
            <a:spAutoFit/>
          </a:bodyPr>
          <a:lstStyle/>
          <a:p>
            <a:pPr algn="l"/>
            <a:r>
              <a:rPr sz="1000" b="0" i="0">
                <a:solidFill>
                  <a:srgbClr val="B0C4DE"/>
                </a:solidFill>
              </a:rPr>
              <a:t>Marché scolaire numérique
exclusif au Cameroun</a:t>
            </a:r>
          </a:p>
        </p:txBody>
      </p:sp>
      <p:sp>
        <p:nvSpPr>
          <p:cNvPr id="26" name="TextBox 25"/>
          <p:cNvSpPr txBox="1"/>
          <p:nvPr/>
        </p:nvSpPr>
        <p:spPr>
          <a:xfrm>
            <a:off x="144000" y="6263999"/>
            <a:ext cx="8856000" cy="295200"/>
          </a:xfrm>
          <a:prstGeom prst="rect">
            <a:avLst/>
          </a:prstGeom>
          <a:noFill/>
        </p:spPr>
        <p:txBody>
          <a:bodyPr wrap="square">
            <a:spAutoFit/>
          </a:bodyPr>
          <a:lstStyle/>
          <a:p>
            <a:pPr algn="ctr"/>
            <a:r>
              <a:rPr sz="1200" b="1" i="1">
                <a:solidFill>
                  <a:srgbClr val="D4AF37"/>
                </a:solidFill>
              </a:rPr>
              <a:t>YUKpomnang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150 000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YUKpomnang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YUKpomnang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26" name="Rectangle 25"/>
          <p:cNvSpPr/>
          <p:nvPr/>
        </p:nvSpPr>
        <p:spPr>
          <a:xfrm>
            <a:off x="3024000" y="406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00C87A"/>
                </a:solidFill>
              </a:rPr>
              <a:t>15 %</a:t>
            </a:r>
          </a:p>
        </p:txBody>
      </p:sp>
      <p:sp>
        <p:nvSpPr>
          <p:cNvPr id="28" name="Rectangle 27"/>
          <p:cNvSpPr/>
          <p:nvPr/>
        </p:nvSpPr>
        <p:spPr>
          <a:xfrm>
            <a:off x="3780000" y="406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33" name="Rectangle 32"/>
          <p:cNvSpPr/>
          <p:nvPr/>
        </p:nvSpPr>
        <p:spPr>
          <a:xfrm>
            <a:off x="3024000" y="532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FF9933"/>
                </a:solidFill>
              </a:rPr>
              <a:t>15 %</a:t>
            </a:r>
          </a:p>
        </p:txBody>
      </p:sp>
      <p:sp>
        <p:nvSpPr>
          <p:cNvPr id="35" name="Rectangle 34"/>
          <p:cNvSpPr/>
          <p:nvPr/>
        </p:nvSpPr>
        <p:spPr>
          <a:xfrm>
            <a:off x="3780000" y="532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Projections Financières 2026 – 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 croissance organique, rentabilité nette au T1 2028 (meilleur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graphicFrame>
        <p:nvGraphicFramePr>
          <p:cNvPr id="9" name="Chart 8"/>
          <p:cNvGraphicFramePr>
            <a:graphicFrameLocks noGrp="1"/>
          </p:cNvGraphicFramePr>
          <p:nvPr/>
        </p:nvGraphicFramePr>
        <p:xfrm>
          <a:off x="144000" y="1440000"/>
          <a:ext cx="5688000" cy="4788000"/>
        </p:xfrm>
        <a:graphic>
          <a:graphicData uri="http://schemas.openxmlformats.org/drawingml/2006/chart">
            <c:chart xmlns:c="http://schemas.openxmlformats.org/drawingml/2006/chart" r:id="rId2"/>
          </a:graphicData>
        </a:graphic>
      </p:graphicFrame>
      <p:sp>
        <p:nvSpPr>
          <p:cNvPr id="10" name="Rectangle 9"/>
          <p:cNvSpPr/>
          <p:nvPr/>
        </p:nvSpPr>
        <p:spPr>
          <a:xfrm>
            <a:off x="6012000" y="1475999"/>
            <a:ext cx="2988000" cy="8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12000" y="1475999"/>
            <a:ext cx="29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0000" y="1591199"/>
            <a:ext cx="2826000" cy="223200"/>
          </a:xfrm>
          <a:prstGeom prst="rect">
            <a:avLst/>
          </a:prstGeom>
          <a:noFill/>
        </p:spPr>
        <p:txBody>
          <a:bodyPr wrap="square">
            <a:spAutoFit/>
          </a:bodyPr>
          <a:lstStyle/>
          <a:p>
            <a:pPr algn="l"/>
            <a:r>
              <a:rPr sz="1000" b="0" i="0">
                <a:solidFill>
                  <a:srgbClr val="B0C4DE"/>
                </a:solidFill>
              </a:rPr>
              <a:t>Investissement</a:t>
            </a:r>
          </a:p>
        </p:txBody>
      </p:sp>
      <p:sp>
        <p:nvSpPr>
          <p:cNvPr id="13" name="TextBox 12"/>
          <p:cNvSpPr txBox="1"/>
          <p:nvPr/>
        </p:nvSpPr>
        <p:spPr>
          <a:xfrm>
            <a:off x="6120000" y="1799999"/>
            <a:ext cx="2826000" cy="468000"/>
          </a:xfrm>
          <a:prstGeom prst="rect">
            <a:avLst/>
          </a:prstGeom>
          <a:noFill/>
        </p:spPr>
        <p:txBody>
          <a:bodyPr wrap="square">
            <a:spAutoFit/>
          </a:bodyPr>
          <a:lstStyle/>
          <a:p>
            <a:pPr algn="ctr"/>
            <a:r>
              <a:rPr sz="1600" b="1" i="0">
                <a:solidFill>
                  <a:srgbClr val="D4AF37"/>
                </a:solidFill>
              </a:rPr>
              <a:t>120 M FCFA</a:t>
            </a:r>
          </a:p>
        </p:txBody>
      </p:sp>
      <p:sp>
        <p:nvSpPr>
          <p:cNvPr id="14" name="Rectangle 13"/>
          <p:cNvSpPr/>
          <p:nvPr/>
        </p:nvSpPr>
        <p:spPr>
          <a:xfrm>
            <a:off x="6012000" y="2455199"/>
            <a:ext cx="2988000" cy="8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12000" y="2455199"/>
            <a:ext cx="29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0000" y="2570399"/>
            <a:ext cx="2826000" cy="223200"/>
          </a:xfrm>
          <a:prstGeom prst="rect">
            <a:avLst/>
          </a:prstGeom>
          <a:noFill/>
        </p:spPr>
        <p:txBody>
          <a:bodyPr wrap="square">
            <a:spAutoFit/>
          </a:bodyPr>
          <a:lstStyle/>
          <a:p>
            <a:pPr algn="l"/>
            <a:r>
              <a:rPr sz="1000" b="0" i="0">
                <a:solidFill>
                  <a:srgbClr val="B0C4DE"/>
                </a:solidFill>
              </a:rPr>
              <a:t>Revenus T1 2028</a:t>
            </a:r>
          </a:p>
        </p:txBody>
      </p:sp>
      <p:sp>
        <p:nvSpPr>
          <p:cNvPr id="17" name="TextBox 16"/>
          <p:cNvSpPr txBox="1"/>
          <p:nvPr/>
        </p:nvSpPr>
        <p:spPr>
          <a:xfrm>
            <a:off x="6120000" y="2779199"/>
            <a:ext cx="2826000" cy="468000"/>
          </a:xfrm>
          <a:prstGeom prst="rect">
            <a:avLst/>
          </a:prstGeom>
          <a:noFill/>
        </p:spPr>
        <p:txBody>
          <a:bodyPr wrap="square">
            <a:spAutoFit/>
          </a:bodyPr>
          <a:lstStyle/>
          <a:p>
            <a:pPr algn="ctr"/>
            <a:r>
              <a:rPr sz="1600" b="1" i="0">
                <a:solidFill>
                  <a:srgbClr val="D4AF37"/>
                </a:solidFill>
              </a:rPr>
              <a:t>55 M FCFA</a:t>
            </a:r>
          </a:p>
        </p:txBody>
      </p:sp>
      <p:sp>
        <p:nvSpPr>
          <p:cNvPr id="18" name="Rectangle 17"/>
          <p:cNvSpPr/>
          <p:nvPr/>
        </p:nvSpPr>
        <p:spPr>
          <a:xfrm>
            <a:off x="6012000" y="3434399"/>
            <a:ext cx="2988000" cy="8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12000" y="3434399"/>
            <a:ext cx="2988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0000" y="3549599"/>
            <a:ext cx="2826000" cy="223200"/>
          </a:xfrm>
          <a:prstGeom prst="rect">
            <a:avLst/>
          </a:prstGeom>
          <a:noFill/>
        </p:spPr>
        <p:txBody>
          <a:bodyPr wrap="square">
            <a:spAutoFit/>
          </a:bodyPr>
          <a:lstStyle/>
          <a:p>
            <a:pPr algn="l"/>
            <a:r>
              <a:rPr sz="1000" b="0" i="0">
                <a:solidFill>
                  <a:srgbClr val="B0C4DE"/>
                </a:solidFill>
              </a:rPr>
              <a:t>Seuil rentabilité</a:t>
            </a:r>
          </a:p>
        </p:txBody>
      </p:sp>
      <p:sp>
        <p:nvSpPr>
          <p:cNvPr id="21" name="TextBox 20"/>
          <p:cNvSpPr txBox="1"/>
          <p:nvPr/>
        </p:nvSpPr>
        <p:spPr>
          <a:xfrm>
            <a:off x="6120000" y="3758399"/>
            <a:ext cx="2826000" cy="468000"/>
          </a:xfrm>
          <a:prstGeom prst="rect">
            <a:avLst/>
          </a:prstGeom>
          <a:noFill/>
        </p:spPr>
        <p:txBody>
          <a:bodyPr wrap="square">
            <a:spAutoFit/>
          </a:bodyPr>
          <a:lstStyle/>
          <a:p>
            <a:pPr algn="ctr"/>
            <a:r>
              <a:rPr sz="1600" b="1" i="0">
                <a:solidFill>
                  <a:srgbClr val="00C87A"/>
                </a:solidFill>
              </a:rPr>
              <a:t>T1 2028</a:t>
            </a:r>
          </a:p>
        </p:txBody>
      </p:sp>
      <p:sp>
        <p:nvSpPr>
          <p:cNvPr id="22" name="Rectangle 21"/>
          <p:cNvSpPr/>
          <p:nvPr/>
        </p:nvSpPr>
        <p:spPr>
          <a:xfrm>
            <a:off x="6012000" y="4413599"/>
            <a:ext cx="2988000" cy="8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12000" y="4413599"/>
            <a:ext cx="2988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0000" y="4528799"/>
            <a:ext cx="2826000" cy="223200"/>
          </a:xfrm>
          <a:prstGeom prst="rect">
            <a:avLst/>
          </a:prstGeom>
          <a:noFill/>
        </p:spPr>
        <p:txBody>
          <a:bodyPr wrap="square">
            <a:spAutoFit/>
          </a:bodyPr>
          <a:lstStyle/>
          <a:p>
            <a:pPr algn="l"/>
            <a:r>
              <a:rPr sz="1000" b="0" i="0">
                <a:solidFill>
                  <a:srgbClr val="B0C4DE"/>
                </a:solidFill>
              </a:rPr>
              <a:t>Revenus 2028</a:t>
            </a:r>
          </a:p>
        </p:txBody>
      </p:sp>
      <p:sp>
        <p:nvSpPr>
          <p:cNvPr id="25" name="TextBox 24"/>
          <p:cNvSpPr txBox="1"/>
          <p:nvPr/>
        </p:nvSpPr>
        <p:spPr>
          <a:xfrm>
            <a:off x="6120000" y="4737599"/>
            <a:ext cx="2826000" cy="468000"/>
          </a:xfrm>
          <a:prstGeom prst="rect">
            <a:avLst/>
          </a:prstGeom>
          <a:noFill/>
        </p:spPr>
        <p:txBody>
          <a:bodyPr wrap="square">
            <a:spAutoFit/>
          </a:bodyPr>
          <a:lstStyle/>
          <a:p>
            <a:pPr algn="ctr"/>
            <a:r>
              <a:rPr sz="1600" b="1" i="0">
                <a:solidFill>
                  <a:srgbClr val="00C87A"/>
                </a:solidFill>
              </a:rPr>
              <a:t>200+ M FCFA</a:t>
            </a:r>
          </a:p>
        </p:txBody>
      </p:sp>
      <p:sp>
        <p:nvSpPr>
          <p:cNvPr id="26" name="Rectangle 25"/>
          <p:cNvSpPr/>
          <p:nvPr/>
        </p:nvSpPr>
        <p:spPr>
          <a:xfrm>
            <a:off x="6012000" y="5392799"/>
            <a:ext cx="2988000" cy="8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12000" y="5392799"/>
            <a:ext cx="2988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0000" y="5507999"/>
            <a:ext cx="2826000" cy="223200"/>
          </a:xfrm>
          <a:prstGeom prst="rect">
            <a:avLst/>
          </a:prstGeom>
          <a:noFill/>
        </p:spPr>
        <p:txBody>
          <a:bodyPr wrap="square">
            <a:spAutoFit/>
          </a:bodyPr>
          <a:lstStyle/>
          <a:p>
            <a:pPr algn="l"/>
            <a:r>
              <a:rPr sz="1000" b="0" i="0">
                <a:solidFill>
                  <a:srgbClr val="B0C4DE"/>
                </a:solidFill>
              </a:rPr>
              <a:t>Marge nette 2028</a:t>
            </a:r>
          </a:p>
        </p:txBody>
      </p:sp>
      <p:sp>
        <p:nvSpPr>
          <p:cNvPr id="29" name="TextBox 28"/>
          <p:cNvSpPr txBox="1"/>
          <p:nvPr/>
        </p:nvSpPr>
        <p:spPr>
          <a:xfrm>
            <a:off x="6120000" y="5716799"/>
            <a:ext cx="2826000" cy="468000"/>
          </a:xfrm>
          <a:prstGeom prst="rect">
            <a:avLst/>
          </a:prstGeom>
          <a:noFill/>
        </p:spPr>
        <p:txBody>
          <a:bodyPr wrap="square">
            <a:spAutoFit/>
          </a:bodyPr>
          <a:lstStyle/>
          <a:p>
            <a:pPr algn="ctr"/>
            <a:r>
              <a:rPr sz="1600" b="1" i="0">
                <a:solidFill>
                  <a:srgbClr val="4FC3F7"/>
                </a:solidFill>
              </a:rPr>
              <a:t>&gt; 45 %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Chemin vers la Rentabilité</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 équilibre financier atteint au T1 2028 — meilleur des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5999" y="1602000"/>
            <a:ext cx="1530000" cy="540000"/>
          </a:xfrm>
          <a:prstGeom prst="rect">
            <a:avLst/>
          </a:prstGeom>
          <a:noFill/>
        </p:spPr>
        <p:txBody>
          <a:bodyPr wrap="square">
            <a:spAutoFit/>
          </a:bodyPr>
          <a:lstStyle/>
          <a:p>
            <a:pPr algn="ctr"/>
            <a:r>
              <a:rPr sz="1400" b="1" i="0">
                <a:solidFill>
                  <a:srgbClr val="00C87A"/>
                </a:solidFill>
              </a:rPr>
              <a:t>Rentabilité
T1 2028</a:t>
            </a:r>
          </a:p>
        </p:txBody>
      </p:sp>
      <p:sp>
        <p:nvSpPr>
          <p:cNvPr id="13" name="Rectangle 12"/>
          <p:cNvSpPr/>
          <p:nvPr/>
        </p:nvSpPr>
        <p:spPr>
          <a:xfrm>
            <a:off x="7487999" y="2196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5999" y="2286000"/>
            <a:ext cx="1530000" cy="792000"/>
          </a:xfrm>
          <a:prstGeom prst="rect">
            <a:avLst/>
          </a:prstGeom>
          <a:noFill/>
        </p:spPr>
        <p:txBody>
          <a:bodyPr wrap="square">
            <a:spAutoFit/>
          </a:bodyPr>
          <a:lstStyle/>
          <a:p>
            <a:pPr algn="ctr"/>
            <a:r>
              <a:rPr sz="2200" b="1" i="0">
                <a:solidFill>
                  <a:srgbClr val="00C87A"/>
                </a:solidFill>
              </a:rPr>
              <a:t>+27 M
FCFA/mois</a:t>
            </a:r>
          </a:p>
        </p:txBody>
      </p:sp>
      <p:sp>
        <p:nvSpPr>
          <p:cNvPr id="15" name="Rectangle 14"/>
          <p:cNvSpPr/>
          <p:nvPr/>
        </p:nvSpPr>
        <p:spPr>
          <a:xfrm>
            <a:off x="7487999" y="3131999"/>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999" y="3240000"/>
            <a:ext cx="1530000" cy="223200"/>
          </a:xfrm>
          <a:prstGeom prst="rect">
            <a:avLst/>
          </a:prstGeom>
          <a:noFill/>
        </p:spPr>
        <p:txBody>
          <a:bodyPr wrap="square">
            <a:spAutoFit/>
          </a:bodyPr>
          <a:lstStyle/>
          <a:p>
            <a:pPr algn="ctr"/>
            <a:r>
              <a:rPr sz="900" b="0" i="0">
                <a:solidFill>
                  <a:srgbClr val="B0C4DE"/>
                </a:solidFill>
              </a:rPr>
              <a:t>Revenus 2028</a:t>
            </a:r>
          </a:p>
        </p:txBody>
      </p:sp>
      <p:sp>
        <p:nvSpPr>
          <p:cNvPr id="17" name="TextBox 16"/>
          <p:cNvSpPr txBox="1"/>
          <p:nvPr/>
        </p:nvSpPr>
        <p:spPr>
          <a:xfrm>
            <a:off x="7415999" y="3463200"/>
            <a:ext cx="1530000" cy="540000"/>
          </a:xfrm>
          <a:prstGeom prst="rect">
            <a:avLst/>
          </a:prstGeom>
          <a:noFill/>
        </p:spPr>
        <p:txBody>
          <a:bodyPr wrap="square">
            <a:spAutoFit/>
          </a:bodyPr>
          <a:lstStyle/>
          <a:p>
            <a:pPr algn="ctr"/>
            <a:r>
              <a:rPr sz="1400" b="1" i="0">
                <a:solidFill>
                  <a:srgbClr val="D4AF37"/>
                </a:solidFill>
              </a:rPr>
              <a:t>200+ M FCFA</a:t>
            </a:r>
          </a:p>
        </p:txBody>
      </p:sp>
      <p:sp>
        <p:nvSpPr>
          <p:cNvPr id="18" name="TextBox 17"/>
          <p:cNvSpPr txBox="1"/>
          <p:nvPr/>
        </p:nvSpPr>
        <p:spPr>
          <a:xfrm>
            <a:off x="7415999" y="4212000"/>
            <a:ext cx="1530000" cy="223200"/>
          </a:xfrm>
          <a:prstGeom prst="rect">
            <a:avLst/>
          </a:prstGeom>
          <a:noFill/>
        </p:spPr>
        <p:txBody>
          <a:bodyPr wrap="square">
            <a:spAutoFit/>
          </a:bodyPr>
          <a:lstStyle/>
          <a:p>
            <a:pPr algn="ctr"/>
            <a:r>
              <a:rPr sz="900" b="0" i="0">
                <a:solidFill>
                  <a:srgbClr val="B0C4DE"/>
                </a:solidFill>
              </a:rPr>
              <a:t>Dépenses 2028</a:t>
            </a:r>
          </a:p>
        </p:txBody>
      </p:sp>
      <p:sp>
        <p:nvSpPr>
          <p:cNvPr id="19" name="TextBox 18"/>
          <p:cNvSpPr txBox="1"/>
          <p:nvPr/>
        </p:nvSpPr>
        <p:spPr>
          <a:xfrm>
            <a:off x="7415999" y="4435200"/>
            <a:ext cx="1530000" cy="540000"/>
          </a:xfrm>
          <a:prstGeom prst="rect">
            <a:avLst/>
          </a:prstGeom>
          <a:noFill/>
        </p:spPr>
        <p:txBody>
          <a:bodyPr wrap="square">
            <a:spAutoFit/>
          </a:bodyPr>
          <a:lstStyle/>
          <a:p>
            <a:pPr algn="ctr"/>
            <a:r>
              <a:rPr sz="1400" b="1" i="0">
                <a:solidFill>
                  <a:srgbClr val="FF6B6B"/>
                </a:solidFill>
              </a:rPr>
              <a:t>85 M FCFA</a:t>
            </a:r>
          </a:p>
        </p:txBody>
      </p:sp>
      <p:sp>
        <p:nvSpPr>
          <p:cNvPr id="20" name="TextBox 19"/>
          <p:cNvSpPr txBox="1"/>
          <p:nvPr/>
        </p:nvSpPr>
        <p:spPr>
          <a:xfrm>
            <a:off x="7415999" y="5184000"/>
            <a:ext cx="1530000" cy="223200"/>
          </a:xfrm>
          <a:prstGeom prst="rect">
            <a:avLst/>
          </a:prstGeom>
          <a:noFill/>
        </p:spPr>
        <p:txBody>
          <a:bodyPr wrap="square">
            <a:spAutoFit/>
          </a:bodyPr>
          <a:lstStyle/>
          <a:p>
            <a:pPr algn="ctr"/>
            <a:r>
              <a:rPr sz="900" b="0" i="0">
                <a:solidFill>
                  <a:srgbClr val="B0C4DE"/>
                </a:solidFill>
              </a:rPr>
              <a:t>Marge nette</a:t>
            </a:r>
          </a:p>
        </p:txBody>
      </p:sp>
      <p:sp>
        <p:nvSpPr>
          <p:cNvPr id="21" name="TextBox 20"/>
          <p:cNvSpPr txBox="1"/>
          <p:nvPr/>
        </p:nvSpPr>
        <p:spPr>
          <a:xfrm>
            <a:off x="7415999" y="5407200"/>
            <a:ext cx="1530000" cy="540000"/>
          </a:xfrm>
          <a:prstGeom prst="rect">
            <a:avLst/>
          </a:prstGeom>
          <a:noFill/>
        </p:spPr>
        <p:txBody>
          <a:bodyPr wrap="square">
            <a:spAutoFit/>
          </a:bodyPr>
          <a:lstStyle/>
          <a:p>
            <a:pPr algn="ctr"/>
            <a:r>
              <a:rPr sz="1400" b="1" i="0">
                <a:solidFill>
                  <a:srgbClr val="4FC3F7"/>
                </a:solidFill>
              </a:rPr>
              <a:t>&gt; 45 %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Plus de 600 M FCFA de Valeur Créée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20 000+ heures de développement : la valeur est déjà là, avant même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20 000+
heures</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Développement
accumulé</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30 000 FCFA/h
= 600 M FCFA
de valeur brute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Valeur totale
app + IP + marque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Technologie propriétaire
12 modules intégrés
YukpoIA + Creator Studio
IP &amp; marque YUKpomnang</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720 M post-money
= 16,7 % seulement
Équité fondateur préservée</a:t>
            </a:r>
          </a:p>
        </p:txBody>
      </p:sp>
      <p:sp>
        <p:nvSpPr>
          <p:cNvPr id="27" name="Rectangle 26"/>
          <p:cNvSpPr/>
          <p:nvPr/>
        </p:nvSpPr>
        <p:spPr>
          <a:xfrm>
            <a:off x="144000" y="4427999"/>
            <a:ext cx="2170800" cy="111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6000" y="4499999"/>
            <a:ext cx="2034000" cy="234000"/>
          </a:xfrm>
          <a:prstGeom prst="rect">
            <a:avLst/>
          </a:prstGeom>
          <a:noFill/>
        </p:spPr>
        <p:txBody>
          <a:bodyPr wrap="square">
            <a:spAutoFit/>
          </a:bodyPr>
          <a:lstStyle/>
          <a:p>
            <a:pPr algn="l"/>
            <a:r>
              <a:rPr sz="1000" b="0" i="0">
                <a:solidFill>
                  <a:srgbClr val="B0C4DE"/>
                </a:solidFill>
              </a:rPr>
              <a:t>ROI cible</a:t>
            </a:r>
          </a:p>
        </p:txBody>
      </p:sp>
      <p:sp>
        <p:nvSpPr>
          <p:cNvPr id="29" name="TextBox 28"/>
          <p:cNvSpPr txBox="1"/>
          <p:nvPr/>
        </p:nvSpPr>
        <p:spPr>
          <a:xfrm>
            <a:off x="216000" y="4723199"/>
            <a:ext cx="2034000" cy="756000"/>
          </a:xfrm>
          <a:prstGeom prst="rect">
            <a:avLst/>
          </a:prstGeom>
          <a:noFill/>
        </p:spPr>
        <p:txBody>
          <a:bodyPr wrap="square">
            <a:spAutoFit/>
          </a:bodyPr>
          <a:lstStyle/>
          <a:p>
            <a:pPr algn="ctr"/>
            <a:r>
              <a:rPr sz="1400" b="1" i="0">
                <a:solidFill>
                  <a:srgbClr val="D4AF37"/>
                </a:solidFill>
              </a:rPr>
              <a:t>3× à 5×</a:t>
            </a:r>
          </a:p>
        </p:txBody>
      </p:sp>
      <p:sp>
        <p:nvSpPr>
          <p:cNvPr id="30" name="Rectangle 29"/>
          <p:cNvSpPr/>
          <p:nvPr/>
        </p:nvSpPr>
        <p:spPr>
          <a:xfrm>
            <a:off x="2358000" y="4427999"/>
            <a:ext cx="2170800" cy="1116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30000" y="4499999"/>
            <a:ext cx="2034000" cy="234000"/>
          </a:xfrm>
          <a:prstGeom prst="rect">
            <a:avLst/>
          </a:prstGeom>
          <a:noFill/>
        </p:spPr>
        <p:txBody>
          <a:bodyPr wrap="square">
            <a:spAutoFit/>
          </a:bodyPr>
          <a:lstStyle/>
          <a:p>
            <a:pPr algn="l"/>
            <a:r>
              <a:rPr sz="1000" b="0" i="0">
                <a:solidFill>
                  <a:srgbClr val="B0C4DE"/>
                </a:solidFill>
              </a:rPr>
              <a:t>Horizon</a:t>
            </a:r>
          </a:p>
        </p:txBody>
      </p:sp>
      <p:sp>
        <p:nvSpPr>
          <p:cNvPr id="32" name="TextBox 31"/>
          <p:cNvSpPr txBox="1"/>
          <p:nvPr/>
        </p:nvSpPr>
        <p:spPr>
          <a:xfrm>
            <a:off x="2430000" y="4723199"/>
            <a:ext cx="2034000" cy="756000"/>
          </a:xfrm>
          <a:prstGeom prst="rect">
            <a:avLst/>
          </a:prstGeom>
          <a:noFill/>
        </p:spPr>
        <p:txBody>
          <a:bodyPr wrap="square">
            <a:spAutoFit/>
          </a:bodyPr>
          <a:lstStyle/>
          <a:p>
            <a:pPr algn="ctr"/>
            <a:r>
              <a:rPr sz="1400" b="1" i="0">
                <a:solidFill>
                  <a:srgbClr val="4FC3F7"/>
                </a:solidFill>
              </a:rPr>
              <a:t>3 – 5 ans</a:t>
            </a:r>
          </a:p>
        </p:txBody>
      </p:sp>
      <p:sp>
        <p:nvSpPr>
          <p:cNvPr id="33" name="Rectangle 32"/>
          <p:cNvSpPr/>
          <p:nvPr/>
        </p:nvSpPr>
        <p:spPr>
          <a:xfrm>
            <a:off x="4572000" y="4427999"/>
            <a:ext cx="2170800" cy="1116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4000" y="4499999"/>
            <a:ext cx="2034000" cy="234000"/>
          </a:xfrm>
          <a:prstGeom prst="rect">
            <a:avLst/>
          </a:prstGeom>
          <a:noFill/>
        </p:spPr>
        <p:txBody>
          <a:bodyPr wrap="square">
            <a:spAutoFit/>
          </a:bodyPr>
          <a:lstStyle/>
          <a:p>
            <a:pPr algn="l"/>
            <a:r>
              <a:rPr sz="1000" b="0" i="0">
                <a:solidFill>
                  <a:srgbClr val="B0C4DE"/>
                </a:solidFill>
              </a:rPr>
              <a:t>Structure</a:t>
            </a:r>
          </a:p>
        </p:txBody>
      </p:sp>
      <p:sp>
        <p:nvSpPr>
          <p:cNvPr id="35" name="TextBox 34"/>
          <p:cNvSpPr txBox="1"/>
          <p:nvPr/>
        </p:nvSpPr>
        <p:spPr>
          <a:xfrm>
            <a:off x="4644000" y="4723199"/>
            <a:ext cx="2034000" cy="756000"/>
          </a:xfrm>
          <a:prstGeom prst="rect">
            <a:avLst/>
          </a:prstGeom>
          <a:noFill/>
        </p:spPr>
        <p:txBody>
          <a:bodyPr wrap="square">
            <a:spAutoFit/>
          </a:bodyPr>
          <a:lstStyle/>
          <a:p>
            <a:pPr algn="ctr"/>
            <a:r>
              <a:rPr sz="1400" b="1" i="0">
                <a:solidFill>
                  <a:srgbClr val="FFFFFF"/>
                </a:solidFill>
              </a:rPr>
              <a:t>YUKPO COMPANY SARL</a:t>
            </a:r>
          </a:p>
        </p:txBody>
      </p:sp>
      <p:sp>
        <p:nvSpPr>
          <p:cNvPr id="36" name="Rectangle 35"/>
          <p:cNvSpPr/>
          <p:nvPr/>
        </p:nvSpPr>
        <p:spPr>
          <a:xfrm>
            <a:off x="6786000" y="4427999"/>
            <a:ext cx="2170800" cy="1116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4499999"/>
            <a:ext cx="2034000" cy="234000"/>
          </a:xfrm>
          <a:prstGeom prst="rect">
            <a:avLst/>
          </a:prstGeom>
          <a:noFill/>
        </p:spPr>
        <p:txBody>
          <a:bodyPr wrap="square">
            <a:spAutoFit/>
          </a:bodyPr>
          <a:lstStyle/>
          <a:p>
            <a:pPr algn="l"/>
            <a:r>
              <a:rPr sz="1000" b="0" i="0">
                <a:solidFill>
                  <a:srgbClr val="B0C4DE"/>
                </a:solidFill>
              </a:rPr>
              <a:t>Sortie</a:t>
            </a:r>
          </a:p>
        </p:txBody>
      </p:sp>
      <p:sp>
        <p:nvSpPr>
          <p:cNvPr id="38" name="TextBox 37"/>
          <p:cNvSpPr txBox="1"/>
          <p:nvPr/>
        </p:nvSpPr>
        <p:spPr>
          <a:xfrm>
            <a:off x="6858000" y="4723199"/>
            <a:ext cx="2034000" cy="756000"/>
          </a:xfrm>
          <a:prstGeom prst="rect">
            <a:avLst/>
          </a:prstGeom>
          <a:noFill/>
        </p:spPr>
        <p:txBody>
          <a:bodyPr wrap="square">
            <a:spAutoFit/>
          </a:bodyPr>
          <a:lstStyle/>
          <a:p>
            <a:pPr algn="ctr"/>
            <a:r>
              <a:rPr sz="1400" b="1" i="0">
                <a:solidFill>
                  <a:srgbClr val="00C87A"/>
                </a:solidFill>
              </a:rPr>
              <a:t>Rachat / Dividendes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YUKpomnang</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Statisticien — Spécialiste Gouvernance des Données
13 ans d'expérience (dont 6 ans en assurance / CIMA)
Développeur Full Stack depuis mars 2025 :
Backend Rust/Axum · Frontend React/TypeScript
Architecture PostgreSQL · APIs RESTful
Exp. : CEPS-BID / BIsD-UNICEF — 5 ans
(Suivi-évaluation, 6 régions, 61 districts de santé)</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YUKpomnang</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La banque se porte caution
pour YUKpomnang auprès
de partenaires et
fournisseurs stratégiques</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Déblocage de contrats
commerciaux importants.
Levier de crédibilité marché
sans dilution du capital.</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YUKpomnang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www.yukpo.app</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