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Milliards FCFA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TAM</c:v>
                </c:pt>
                <c:pt idx="1">
                  <c:v>SAM (1.8–2.7)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183</c:v>
                </c:pt>
                <c:pt idx="1">
                  <c:v>2.25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Milliards FCFA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2027</c:v>
                </c:pt>
                <c:pt idx="1">
                  <c:v>2030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0.897</c:v>
                </c:pt>
                <c:pt idx="1">
                  <c:v>14.6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Millions FCFA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Q3 2026</c:v>
                </c:pt>
                <c:pt idx="1">
                  <c:v>2027</c:v>
                </c:pt>
                <c:pt idx="2">
                  <c:v>2030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139</c:v>
                </c:pt>
                <c:pt idx="1">
                  <c:v>897</c:v>
                </c:pt>
                <c:pt idx="2">
                  <c:v>14600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Millions FCFA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Marketing &amp; acquisition</c:v>
                </c:pt>
                <c:pt idx="1">
                  <c:v>Opérations &amp; équipe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220.0</c:v>
                </c:pt>
                <c:pt idx="1">
                  <c:v>500.0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Yukpo</a:t>
            </a:r>
          </a:p>
          <a:p>
            <a:pPr>
              <a:spcBef>
                <a:spcPts val="600"/>
              </a:spcBef>
              <a:defRPr sz="1150">
                <a:solidFill>
                  <a:srgbClr val="666666"/>
                </a:solidFill>
              </a:defRPr>
            </a:pPr>
            <a:r>
              <a:t>Seed visé : 720 M FCFA  (~1.1 M € / ~1.2 M $)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691640"/>
            <a:ext cx="3803904" cy="22860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85%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DDE5F5"/>
                </a:solidFill>
              </a:defRPr>
            </a:pPr>
            <a:r>
              <a:t>Commerces invisibles en ligne</a:t>
            </a:r>
          </a:p>
          <a:p>
            <a:pPr algn="ctr">
              <a:spcBef>
                <a:spcPts val="800"/>
              </a:spcBef>
              <a:defRPr sz="1000">
                <a:solidFill>
                  <a:srgbClr val="BBCCDD"/>
                </a:solidFill>
              </a:defRPr>
            </a:pPr>
            <a:r>
              <a:t>Problème — doc.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691640"/>
            <a:ext cx="3803904" cy="22860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720 M FCFA</a:t>
            </a:r>
          </a:p>
          <a:p>
            <a:pPr algn="ctr">
              <a:spcBef>
                <a:spcPts val="1200"/>
              </a:spcBef>
              <a:defRPr sz="1300">
                <a:solidFill>
                  <a:srgbClr val="DDE5F5"/>
                </a:solidFill>
              </a:defRPr>
            </a:pPr>
            <a:r>
              <a:t>Levée de fonds cible</a:t>
            </a:r>
          </a:p>
          <a:p>
            <a:pPr algn="ctr">
              <a:spcBef>
                <a:spcPts val="800"/>
              </a:spcBef>
              <a:defRPr sz="1000">
                <a:solidFill>
                  <a:srgbClr val="BBCCDD"/>
                </a:solidFill>
              </a:defRPr>
            </a:pPr>
            <a:r>
              <a:t>Budget marketing + ops — doc.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09160"/>
            <a:ext cx="73152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3A5F"/>
                </a:solidFill>
              </a:defRPr>
            </a:pPr>
            <a:r>
              <a:t>Hernandez LELE — CEO, Yukpo Company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Chiffres : docs/investisseurs/YANGO/ONE_PAGER_YANGO.md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Le problème</a:t>
            </a:r>
          </a:p>
          <a:p>
            <a:pPr>
              <a:spcBef>
                <a:spcPts val="600"/>
              </a:spcBef>
              <a:defRPr sz="1150">
                <a:solidFill>
                  <a:srgbClr val="666666"/>
                </a:solidFill>
              </a:defRPr>
            </a:pPr>
            <a:r>
              <a:t>Pourquoi investir maintenant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061881847784"/>
            <a:ext cx="2511552" cy="2148840"/>
          </a:xfrm>
          <a:prstGeom prst="roundRect">
            <a:avLst/>
          </a:prstGeom>
          <a:solidFill>
            <a:srgbClr val="E8EEF9"/>
          </a:solidFill>
          <a:ln w="15875">
            <a:solidFill>
              <a:srgbClr val="2E6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E3A5F"/>
                </a:solidFill>
              </a:defRPr>
            </a:pPr>
            <a:r>
              <a:t>85%</a:t>
            </a:r>
          </a:p>
          <a:p>
            <a:pPr algn="ctr">
              <a:spcBef>
                <a:spcPts val="1000"/>
              </a:spcBef>
              <a:defRPr sz="1200" b="1">
                <a:solidFill>
                  <a:srgbClr val="333333"/>
                </a:solidFill>
              </a:defRPr>
            </a:pPr>
            <a:r>
              <a:t>Commerces peu visibles</a:t>
            </a:r>
          </a:p>
          <a:p>
            <a:pPr algn="ctr">
              <a:spcBef>
                <a:spcPts val="600"/>
              </a:spcBef>
              <a:defRPr sz="950">
                <a:solidFill>
                  <a:srgbClr val="666666"/>
                </a:solidFill>
              </a:defRPr>
            </a:pPr>
            <a:r>
              <a:t>Part du informel — doc.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8480" y="1061881847784"/>
            <a:ext cx="2511552" cy="2148840"/>
          </a:xfrm>
          <a:prstGeom prst="roundRect">
            <a:avLst/>
          </a:prstGeom>
          <a:solidFill>
            <a:srgbClr val="E8EEF9"/>
          </a:solidFill>
          <a:ln w="15875">
            <a:solidFill>
              <a:srgbClr val="2E6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E3A5F"/>
                </a:solidFill>
              </a:defRPr>
            </a:pPr>
            <a:r>
              <a:t>100K – 1M</a:t>
            </a:r>
          </a:p>
          <a:p>
            <a:pPr algn="ctr">
              <a:spcBef>
                <a:spcPts val="1000"/>
              </a:spcBef>
              <a:defRPr sz="1200" b="1">
                <a:solidFill>
                  <a:srgbClr val="333333"/>
                </a:solidFill>
              </a:defRPr>
            </a:pPr>
            <a:r>
              <a:t>Coût création web classique</a:t>
            </a:r>
          </a:p>
          <a:p>
            <a:pPr algn="ctr">
              <a:spcBef>
                <a:spcPts val="600"/>
              </a:spcBef>
              <a:defRPr sz="950">
                <a:solidFill>
                  <a:srgbClr val="666666"/>
                </a:solidFill>
              </a:defRPr>
            </a:pPr>
            <a:r>
              <a:t>FCFA — doc.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8048" y="1061881847784"/>
            <a:ext cx="2511552" cy="2148840"/>
          </a:xfrm>
          <a:prstGeom prst="roundRect">
            <a:avLst/>
          </a:prstGeom>
          <a:solidFill>
            <a:srgbClr val="E8EEF9"/>
          </a:solidFill>
          <a:ln w="15875">
            <a:solidFill>
              <a:srgbClr val="2E6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E3A5F"/>
                </a:solidFill>
              </a:defRPr>
            </a:pPr>
            <a:r>
              <a:t>2 – 5</a:t>
            </a:r>
          </a:p>
          <a:p>
            <a:pPr algn="ctr">
              <a:spcBef>
                <a:spcPts val="1000"/>
              </a:spcBef>
              <a:defRPr sz="1200" b="1">
                <a:solidFill>
                  <a:srgbClr val="333333"/>
                </a:solidFill>
              </a:defRPr>
            </a:pPr>
            <a:r>
              <a:t>Apps pour le quotidien</a:t>
            </a:r>
          </a:p>
          <a:p>
            <a:pPr algn="ctr">
              <a:spcBef>
                <a:spcPts val="600"/>
              </a:spcBef>
              <a:defRPr sz="950">
                <a:solidFill>
                  <a:srgbClr val="666666"/>
                </a:solidFill>
              </a:defRPr>
            </a:pPr>
            <a:r>
              <a:t>Familles — doc.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La réponse Yukpo</a:t>
            </a:r>
          </a:p>
          <a:p>
            <a:pPr>
              <a:spcBef>
                <a:spcPts val="600"/>
              </a:spcBef>
              <a:defRPr sz="1150">
                <a:solidFill>
                  <a:srgbClr val="666666"/>
                </a:solidFill>
              </a:defRPr>
            </a:pPr>
            <a:r>
              <a:t>Une super-app locale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061881847784"/>
            <a:ext cx="2511552" cy="2148840"/>
          </a:xfrm>
          <a:prstGeom prst="roundRect">
            <a:avLst/>
          </a:prstGeom>
          <a:solidFill>
            <a:srgbClr val="E8EEF9"/>
          </a:solidFill>
          <a:ln w="15875">
            <a:solidFill>
              <a:srgbClr val="2E6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E3A5F"/>
                </a:solidFill>
              </a:defRPr>
            </a:pPr>
            <a:r>
              <a:t>5 min</a:t>
            </a:r>
          </a:p>
          <a:p>
            <a:pPr algn="ctr">
              <a:spcBef>
                <a:spcPts val="1000"/>
              </a:spcBef>
              <a:defRPr sz="1200" b="1">
                <a:solidFill>
                  <a:srgbClr val="333333"/>
                </a:solidFill>
              </a:defRPr>
            </a:pPr>
            <a:r>
              <a:t>Création de présence</a:t>
            </a:r>
          </a:p>
          <a:p>
            <a:pPr algn="ctr">
              <a:spcBef>
                <a:spcPts val="600"/>
              </a:spcBef>
              <a:defRPr sz="950">
                <a:solidFill>
                  <a:srgbClr val="666666"/>
                </a:solidFill>
              </a:defRPr>
            </a:pPr>
            <a:r>
              <a:t>Gratuit — doc.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8480" y="1061881847784"/>
            <a:ext cx="2511552" cy="2148840"/>
          </a:xfrm>
          <a:prstGeom prst="roundRect">
            <a:avLst/>
          </a:prstGeom>
          <a:solidFill>
            <a:srgbClr val="E8EEF9"/>
          </a:solidFill>
          <a:ln w="15875">
            <a:solidFill>
              <a:srgbClr val="2E6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E3A5F"/>
                </a:solidFill>
              </a:defRPr>
            </a:pPr>
            <a:r>
              <a:t>60%</a:t>
            </a:r>
          </a:p>
          <a:p>
            <a:pPr algn="ctr">
              <a:spcBef>
                <a:spcPts val="1000"/>
              </a:spcBef>
              <a:defRPr sz="1200" b="1">
                <a:solidFill>
                  <a:srgbClr val="333333"/>
                </a:solidFill>
              </a:defRPr>
            </a:pPr>
            <a:r>
              <a:t>Population cible</a:t>
            </a:r>
          </a:p>
          <a:p>
            <a:pPr algn="ctr">
              <a:spcBef>
                <a:spcPts val="600"/>
              </a:spcBef>
              <a:defRPr sz="950">
                <a:solidFill>
                  <a:srgbClr val="666666"/>
                </a:solidFill>
              </a:defRPr>
            </a:pPr>
            <a:r>
              <a:t>Services essentiels 1 app — doc.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8048" y="1061881847784"/>
            <a:ext cx="2511552" cy="2148840"/>
          </a:xfrm>
          <a:prstGeom prst="roundRect">
            <a:avLst/>
          </a:prstGeom>
          <a:solidFill>
            <a:srgbClr val="E8EEF9"/>
          </a:solidFill>
          <a:ln w="15875">
            <a:solidFill>
              <a:srgbClr val="2E6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E3A5F"/>
                </a:solidFill>
              </a:defRPr>
            </a:pPr>
            <a:r>
              <a:t>40 – 60%</a:t>
            </a:r>
          </a:p>
          <a:p>
            <a:pPr algn="ctr">
              <a:spcBef>
                <a:spcPts val="1000"/>
              </a:spcBef>
              <a:defRPr sz="1200" b="1">
                <a:solidFill>
                  <a:srgbClr val="333333"/>
                </a:solidFill>
              </a:defRPr>
            </a:pPr>
            <a:r>
              <a:t>Réduction coût livraison</a:t>
            </a:r>
          </a:p>
          <a:p>
            <a:pPr algn="ctr">
              <a:spcBef>
                <a:spcPts val="600"/>
              </a:spcBef>
              <a:defRPr sz="950">
                <a:solidFill>
                  <a:srgbClr val="666666"/>
                </a:solidFill>
              </a:defRPr>
            </a:pPr>
            <a:r>
              <a:t>Optimisation IA — doc.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Marché (milliards FCFA)</a:t>
            </a:r>
          </a:p>
          <a:p>
            <a:pPr>
              <a:spcBef>
                <a:spcPts val="600"/>
              </a:spcBef>
              <a:defRPr sz="1150">
                <a:solidFill>
                  <a:srgbClr val="666666"/>
                </a:solidFill>
              </a:defRPr>
            </a:pPr>
            <a:r>
              <a:t>SAM : fourchette doc. · point médian affiché pour le graphique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061881847784"/>
          <a:ext cx="7498079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912" y="5989320"/>
            <a:ext cx="779068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SAM = marché digitalisable (réf. Banque Mondiale 2023, cité dans le one-pager).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7" name="Picture 6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Économie unitaire (indicateurs doc.)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785959818984"/>
            <a:ext cx="2511552" cy="2148840"/>
          </a:xfrm>
          <a:prstGeom prst="roundRect">
            <a:avLst/>
          </a:prstGeom>
          <a:solidFill>
            <a:srgbClr val="E8EEF9"/>
          </a:solidFill>
          <a:ln w="15875">
            <a:solidFill>
              <a:srgbClr val="2E6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E3A5F"/>
                </a:solidFill>
              </a:defRPr>
            </a:pPr>
            <a:r>
              <a:t>2,4x</a:t>
            </a:r>
          </a:p>
          <a:p>
            <a:pPr algn="ctr">
              <a:spcBef>
                <a:spcPts val="1000"/>
              </a:spcBef>
              <a:defRPr sz="1200" b="1">
                <a:solidFill>
                  <a:srgbClr val="333333"/>
                </a:solidFill>
              </a:defRPr>
            </a:pPr>
            <a:r>
              <a:t>LTV / CAC</a:t>
            </a:r>
          </a:p>
          <a:p>
            <a:pPr algn="ctr">
              <a:spcBef>
                <a:spcPts val="600"/>
              </a:spcBef>
              <a:defRPr sz="950">
                <a:solidFill>
                  <a:srgbClr val="666666"/>
                </a:solidFill>
              </a:defRPr>
            </a:pPr>
            <a:r>
              <a:t>Doc.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8480" y="785959818984"/>
            <a:ext cx="2511552" cy="2148840"/>
          </a:xfrm>
          <a:prstGeom prst="roundRect">
            <a:avLst/>
          </a:prstGeom>
          <a:solidFill>
            <a:srgbClr val="E8EEF9"/>
          </a:solidFill>
          <a:ln w="15875">
            <a:solidFill>
              <a:srgbClr val="2E6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E3A5F"/>
                </a:solidFill>
              </a:defRPr>
            </a:pPr>
            <a:r>
              <a:t>10 mois</a:t>
            </a:r>
          </a:p>
          <a:p>
            <a:pPr algn="ctr">
              <a:spcBef>
                <a:spcPts val="1000"/>
              </a:spcBef>
              <a:defRPr sz="1200" b="1">
                <a:solidFill>
                  <a:srgbClr val="333333"/>
                </a:solidFill>
              </a:defRPr>
            </a:pPr>
            <a:r>
              <a:t>Payback</a:t>
            </a:r>
          </a:p>
          <a:p>
            <a:pPr algn="ctr">
              <a:spcBef>
                <a:spcPts val="600"/>
              </a:spcBef>
              <a:defRPr sz="950">
                <a:solidFill>
                  <a:srgbClr val="666666"/>
                </a:solidFill>
              </a:defRPr>
            </a:pPr>
            <a:r>
              <a:t>Doc.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8048" y="785959818984"/>
            <a:ext cx="2511552" cy="2148840"/>
          </a:xfrm>
          <a:prstGeom prst="roundRect">
            <a:avLst/>
          </a:prstGeom>
          <a:solidFill>
            <a:srgbClr val="E8EEF9"/>
          </a:solidFill>
          <a:ln w="15875">
            <a:solidFill>
              <a:srgbClr val="2E6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E3A5F"/>
                </a:solidFill>
              </a:defRPr>
            </a:pPr>
            <a:r>
              <a:t>10 – 15x</a:t>
            </a:r>
          </a:p>
          <a:p>
            <a:pPr algn="ctr">
              <a:spcBef>
                <a:spcPts val="1000"/>
              </a:spcBef>
              <a:defRPr sz="1200" b="1">
                <a:solidFill>
                  <a:srgbClr val="333333"/>
                </a:solidFill>
              </a:defRPr>
            </a:pPr>
            <a:r>
              <a:t>ROI 5 ans</a:t>
            </a:r>
          </a:p>
          <a:p>
            <a:pPr algn="ctr">
              <a:spcBef>
                <a:spcPts val="600"/>
              </a:spcBef>
              <a:defRPr sz="950">
                <a:solidFill>
                  <a:srgbClr val="666666"/>
                </a:solidFill>
              </a:defRPr>
            </a:pPr>
            <a:r>
              <a:t>Doc.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785962104984"/>
            <a:ext cx="779068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CAC commerçants 15–25 K FCFA · utilisateurs 0.5–1 K · LTV 48 K FCFA — doc.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9" name="Picture 8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Revenus projetés (doc.)</a:t>
            </a:r>
          </a:p>
          <a:p>
            <a:pPr>
              <a:spcBef>
                <a:spcPts val="600"/>
              </a:spcBef>
              <a:defRPr sz="1150">
                <a:solidFill>
                  <a:srgbClr val="666666"/>
                </a:solidFill>
              </a:defRPr>
            </a:pPr>
            <a:r>
              <a:t>Une échelle pour comparer les ordres de grandeur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061881847784"/>
          <a:ext cx="7498079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912" y="5989320"/>
            <a:ext cx="779068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2027 = 897 M FCFA = 0,897 milliard · 2030 = 14,6 milliards FCFA — one-pager.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7" name="Picture 6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Trajectoire des revenus (hypothèses internes)</a:t>
            </a:r>
          </a:p>
          <a:p>
            <a:pPr>
              <a:spcBef>
                <a:spcPts val="600"/>
              </a:spcBef>
              <a:defRPr sz="1150">
                <a:solidFill>
                  <a:srgbClr val="666666"/>
                </a:solidFill>
              </a:defRPr>
            </a:pPr>
            <a:r>
              <a:t>Source : docs/investisseurs/YANGO/ONE_PAGER_YANGO.md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77240" y="1061881847784"/>
          <a:ext cx="75895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912" y="5897880"/>
            <a:ext cx="7790688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66666"/>
                </a:solidFill>
              </a:defRPr>
            </a:pPr>
            <a:r>
              <a:t>2030 = 14.6 milliards FCFA = 14600 M FCFA · 2027 = 897 M FCFA (doc.) · Q3 2026 traction : 12 950 actifs  139 M FCFA.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7" name="Picture 6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La levée</a:t>
            </a:r>
          </a:p>
          <a:p>
            <a:pPr>
              <a:spcBef>
                <a:spcPts val="600"/>
              </a:spcBef>
              <a:defRPr sz="1150">
                <a:solidFill>
                  <a:srgbClr val="666666"/>
                </a:solidFill>
              </a:defRPr>
            </a:pPr>
            <a:r>
              <a:t>720 M FCFA — répartition doc.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061881847784"/>
            <a:ext cx="2511552" cy="2148840"/>
          </a:xfrm>
          <a:prstGeom prst="roundRect">
            <a:avLst/>
          </a:prstGeom>
          <a:solidFill>
            <a:srgbClr val="E8EEF9"/>
          </a:solidFill>
          <a:ln w="15875">
            <a:solidFill>
              <a:srgbClr val="2E6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E3A5F"/>
                </a:solidFill>
              </a:defRPr>
            </a:pPr>
            <a:r>
              <a:t>35%</a:t>
            </a:r>
          </a:p>
          <a:p>
            <a:pPr algn="ctr">
              <a:spcBef>
                <a:spcPts val="1000"/>
              </a:spcBef>
              <a:defRPr sz="1200" b="1">
                <a:solidFill>
                  <a:srgbClr val="333333"/>
                </a:solidFill>
              </a:defRPr>
            </a:pPr>
            <a:r>
              <a:t>220 M FCFA</a:t>
            </a:r>
          </a:p>
          <a:p>
            <a:pPr algn="ctr">
              <a:spcBef>
                <a:spcPts val="600"/>
              </a:spcBef>
              <a:defRPr sz="950">
                <a:solidFill>
                  <a:srgbClr val="666666"/>
                </a:solidFill>
              </a:defRPr>
            </a:pPr>
            <a:r>
              <a:t>Marketing &amp; acquisition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8480" y="1061881847784"/>
            <a:ext cx="2511552" cy="2148840"/>
          </a:xfrm>
          <a:prstGeom prst="roundRect">
            <a:avLst/>
          </a:prstGeom>
          <a:solidFill>
            <a:srgbClr val="E8EEF9"/>
          </a:solidFill>
          <a:ln w="15875">
            <a:solidFill>
              <a:srgbClr val="2E6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E3A5F"/>
                </a:solidFill>
              </a:defRPr>
            </a:pPr>
            <a:r>
              <a:t>65%</a:t>
            </a:r>
          </a:p>
          <a:p>
            <a:pPr algn="ctr">
              <a:spcBef>
                <a:spcPts val="1000"/>
              </a:spcBef>
              <a:defRPr sz="1200" b="1">
                <a:solidFill>
                  <a:srgbClr val="333333"/>
                </a:solidFill>
              </a:defRPr>
            </a:pPr>
            <a:r>
              <a:t>500 M FCFA</a:t>
            </a:r>
          </a:p>
          <a:p>
            <a:pPr algn="ctr">
              <a:spcBef>
                <a:spcPts val="600"/>
              </a:spcBef>
              <a:defRPr sz="950">
                <a:solidFill>
                  <a:srgbClr val="666666"/>
                </a:solidFill>
              </a:defRPr>
            </a:pPr>
            <a:r>
              <a:t>Opérations &amp; équipe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8048" y="1061881847784"/>
            <a:ext cx="2511552" cy="2148840"/>
          </a:xfrm>
          <a:prstGeom prst="roundRect">
            <a:avLst/>
          </a:prstGeom>
          <a:solidFill>
            <a:srgbClr val="E8EEF9"/>
          </a:solidFill>
          <a:ln w="15875">
            <a:solidFill>
              <a:srgbClr val="2E6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1E3A5F"/>
                </a:solidFill>
              </a:defRPr>
            </a:pPr>
            <a:r>
              <a:t>720 M</a:t>
            </a:r>
          </a:p>
          <a:p>
            <a:pPr algn="ctr">
              <a:spcBef>
                <a:spcPts val="1000"/>
              </a:spcBef>
              <a:defRPr sz="1200" b="1">
                <a:solidFill>
                  <a:srgbClr val="333333"/>
                </a:solidFill>
              </a:defRPr>
            </a:pPr>
            <a:r>
              <a:t>Total levée</a:t>
            </a:r>
          </a:p>
          <a:p>
            <a:pPr algn="ctr">
              <a:spcBef>
                <a:spcPts val="600"/>
              </a:spcBef>
              <a:defRPr sz="950">
                <a:solidFill>
                  <a:srgbClr val="666666"/>
                </a:solidFill>
              </a:defRPr>
            </a:pPr>
            <a:r>
              <a:t>640 M trésorerie + 80 M réserve — doc.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1061884133784"/>
            <a:ext cx="779068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Justification trésorerie : gap 640 M + réserve 80 M = 720 M — doc.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9" name="Picture 8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Utilisation des fonds (M FCFA)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785959818984"/>
          <a:ext cx="7498079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912" y="5989320"/>
            <a:ext cx="779068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Montants exacts issus du one-pager.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7" name="Picture 6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Jalons seed (document interne)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8912" y="785959864704"/>
          <a:ext cx="7818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880360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Objectif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Période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Indicateur clé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Utilisateurs actifs (cible)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Q1–Q2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50 K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Commerçants actifs (cible)</a:t>
                      </a:r>
                    </a:p>
                  </a:txBody>
                  <a:tcPr>
                    <a:solidFill>
                      <a:srgbClr val="F0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Q1–Q2 2026</a:t>
                      </a:r>
                    </a:p>
                  </a:txBody>
                  <a:tcPr>
                    <a:solidFill>
                      <a:srgbClr val="F0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5 K</a:t>
                      </a:r>
                    </a:p>
                  </a:txBody>
                  <a:tcPr>
                    <a:solidFill>
                      <a:srgbClr val="F0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Traction Q3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12 950 actifs · 139 M FCFA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0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0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40 761 actifs · 897 M FCFA</a:t>
                      </a:r>
                    </a:p>
                  </a:txBody>
                  <a:tcPr>
                    <a:solidFill>
                      <a:srgbClr val="F0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Rentabilité nette 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2028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13 M FCFA (résultat net doc.)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Modules produit (socle technique existant)</a:t>
            </a:r>
          </a:p>
          <a:p>
            <a:pPr>
              <a:spcBef>
                <a:spcPts val="600"/>
              </a:spcBef>
              <a:defRPr sz="1150">
                <a:solidFill>
                  <a:srgbClr val="666666"/>
                </a:solidFill>
              </a:defRPr>
            </a:pPr>
            <a:r>
              <a:t>Une app — plusieurs verticaux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417320"/>
            <a:ext cx="7790688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100"/>
              </a:spcAft>
              <a:defRPr sz="1400">
                <a:solidFill>
                  <a:srgbClr val="222222"/>
                </a:solidFill>
              </a:defRPr>
            </a:pPr>
            <a:r>
              <a:t>▸  Livraison intelligente (matching, ETA, temps réel)</a:t>
            </a:r>
          </a:p>
          <a:p>
            <a:pPr>
              <a:spcAft>
                <a:spcPts val="1100"/>
              </a:spcAft>
              <a:defRPr sz="1400">
                <a:solidFill>
                  <a:srgbClr val="222222"/>
                </a:solidFill>
              </a:defRPr>
            </a:pPr>
            <a:r>
              <a:t>▸  Fiches produits / digitalisation rapide</a:t>
            </a:r>
          </a:p>
          <a:p>
            <a:pPr>
              <a:spcAft>
                <a:spcPts val="1100"/>
              </a:spcAft>
              <a:defRPr sz="1400">
                <a:solidFill>
                  <a:srgbClr val="222222"/>
                </a:solidFill>
              </a:defRPr>
            </a:pPr>
            <a:r>
              <a:t>▸  Navigation intelligente (NavigationScreen)</a:t>
            </a:r>
          </a:p>
          <a:p>
            <a:pPr>
              <a:spcAft>
                <a:spcPts val="1100"/>
              </a:spcAft>
              <a:defRPr sz="1400">
                <a:solidFill>
                  <a:srgbClr val="222222"/>
                </a:solidFill>
              </a:defRPr>
            </a:pPr>
            <a:r>
              <a:t>▸  Covoiturage · Taxi / VTC</a:t>
            </a:r>
          </a:p>
          <a:p>
            <a:pPr>
              <a:spcAft>
                <a:spcPts val="1100"/>
              </a:spcAft>
              <a:defRPr sz="1400">
                <a:solidFill>
                  <a:srgbClr val="222222"/>
                </a:solidFill>
              </a:defRPr>
            </a:pPr>
            <a:r>
              <a:t>▸  Billets bus &amp; agences de voyage</a:t>
            </a:r>
          </a:p>
          <a:p>
            <a:pPr>
              <a:spcAft>
                <a:spcPts val="1100"/>
              </a:spcAft>
              <a:defRPr sz="1400">
                <a:solidFill>
                  <a:srgbClr val="222222"/>
                </a:solidFill>
              </a:defRPr>
            </a:pPr>
            <a:r>
              <a:t>▸  Bourse du livre scolaire</a:t>
            </a:r>
          </a:p>
          <a:p>
            <a:pPr>
              <a:spcAft>
                <a:spcPts val="1100"/>
              </a:spcAft>
              <a:defRPr sz="1400">
                <a:solidFill>
                  <a:srgbClr val="222222"/>
                </a:solidFill>
              </a:defRPr>
            </a:pPr>
            <a:r>
              <a:t>▸  Immobilier &amp; meublé</a:t>
            </a:r>
          </a:p>
          <a:p>
            <a:pPr>
              <a:spcAft>
                <a:spcPts val="1100"/>
              </a:spcAft>
              <a:defRPr sz="1400">
                <a:solidFill>
                  <a:srgbClr val="222222"/>
                </a:solidFill>
              </a:defRPr>
            </a:pPr>
            <a:r>
              <a:t>▸  Orientation &amp; établissements scolaires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Technologie</a:t>
            </a:r>
          </a:p>
          <a:p>
            <a:pPr>
              <a:spcBef>
                <a:spcPts val="600"/>
              </a:spcBef>
              <a:defRPr sz="1150">
                <a:solidFill>
                  <a:srgbClr val="666666"/>
                </a:solidFill>
              </a:defRPr>
            </a:pPr>
            <a:r>
              <a:t>Déjà opérationnelle côté produit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325880"/>
            <a:ext cx="7790688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1500"/>
            </a:pPr>
            <a:r>
              <a:t>Backend Rust / Axum — API &amp; temps réel</a:t>
            </a:r>
          </a:p>
          <a:p>
            <a:pPr>
              <a:spcAft>
                <a:spcPts val="1400"/>
              </a:spcAft>
              <a:defRPr sz="1500"/>
            </a:pPr>
            <a:r>
              <a:t>Mobile React Native — modules livraison, transport, billetterie, etc.</a:t>
            </a:r>
          </a:p>
          <a:p>
            <a:pPr>
              <a:spcAft>
                <a:spcPts val="1400"/>
              </a:spcAft>
              <a:defRPr sz="1500"/>
            </a:pPr>
            <a:r>
              <a:t>IA multi-modèles + recherche sémantique (stack doc. interne)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Équipe &amp; recrutement post-levée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280160"/>
            <a:ext cx="7790688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Hernandez LELE — fondateur &amp; CEO (13 ans d’expérience — doc.)</a:t>
            </a:r>
          </a:p>
          <a:p>
            <a:pPr>
              <a:defRPr sz="1200"/>
            </a:pPr>
            <a:r>
              <a:t>BAD / UNICEF — références doc.</a:t>
            </a:r>
          </a:p>
          <a:p>
            <a:pPr>
              <a:spcBef>
                <a:spcPts val="1600"/>
              </a:spcBef>
              <a:defRPr sz="1200"/>
            </a:pPr>
            <a:r>
              <a:t>Recrutement prévu avec financement : CTO, CMO, équipe commerciale — doc.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Zone</a:t>
            </a:r>
          </a:p>
          <a:p>
            <a:pPr>
              <a:spcBef>
                <a:spcPts val="600"/>
              </a:spcBef>
              <a:defRPr sz="1150">
                <a:solidFill>
                  <a:srgbClr val="666666"/>
                </a:solidFill>
              </a:defRPr>
            </a:pPr>
            <a:r>
              <a:t>Cameroun → extension Afrique francophone — doc.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2011680"/>
            <a:ext cx="7790688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3A5F"/>
                </a:solidFill>
              </a:defRPr>
            </a:pPr>
            <a:r>
              <a:t>Pays d’origine : Cameroun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Options côté investisseur</a:t>
            </a:r>
          </a:p>
          <a:p>
            <a:pPr>
              <a:spcBef>
                <a:spcPts val="600"/>
              </a:spcBef>
              <a:defRPr sz="1150">
                <a:solidFill>
                  <a:srgbClr val="666666"/>
                </a:solidFill>
              </a:defRPr>
            </a:pPr>
            <a:r>
              <a:t>À structurer juridiquement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371600"/>
            <a:ext cx="7790688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400"/>
            </a:pPr>
            <a:r>
              <a:t>•  Equity — ticket et valorisation : discussion + data room</a:t>
            </a:r>
          </a:p>
          <a:p>
            <a:pPr>
              <a:spcAft>
                <a:spcPts val="1200"/>
              </a:spcAft>
              <a:defRPr sz="1400"/>
            </a:pPr>
            <a:r>
              <a:t>•  Convertible / SAFE / ASA — selon droit applicable</a:t>
            </a:r>
          </a:p>
          <a:p>
            <a:pPr>
              <a:spcAft>
                <a:spcPts val="1200"/>
              </a:spcAft>
              <a:defRPr sz="1400"/>
            </a:pPr>
            <a:r>
              <a:t>•  Dette ou quasi-fonds propres — en complément possible</a:t>
            </a:r>
          </a:p>
          <a:p>
            <a:pPr>
              <a:spcAft>
                <a:spcPts val="1200"/>
              </a:spcAft>
              <a:defRPr sz="1400"/>
            </a:pPr>
            <a:r>
              <a:t>•  Co-investissement stratégique — distribution / télécom / retail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Confidentiel — Yukpo — chiffres : ONE_PAGER_YANGO.md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201168"/>
            <a:ext cx="7790688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2600" b="1">
                <a:solidFill>
                  <a:srgbClr val="1E3A5F"/>
                </a:solidFill>
              </a:defRPr>
            </a:pPr>
            <a: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2194560"/>
            <a:ext cx="7790688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E3A5F"/>
                </a:solidFill>
              </a:defRPr>
            </a:pPr>
            <a:r>
              <a:t>Hernandez LELE</a:t>
            </a:r>
          </a:p>
          <a:p>
            <a:pPr>
              <a:spcAft>
                <a:spcPts val="1000"/>
              </a:spcAft>
              <a:defRPr sz="1400" b="0">
                <a:solidFill>
                  <a:srgbClr val="333333"/>
                </a:solidFill>
              </a:defRPr>
            </a:pPr>
            <a:r>
              <a:t>lelehernandez2007@yahoo.fr</a:t>
            </a:r>
          </a:p>
          <a:p>
            <a:pPr>
              <a:spcAft>
                <a:spcPts val="1000"/>
              </a:spcAft>
              <a:defRPr sz="1400" b="0">
                <a:solidFill>
                  <a:srgbClr val="333333"/>
                </a:solidFill>
              </a:defRPr>
            </a:pPr>
            <a:r>
              <a:t>+237 674 546 895</a:t>
            </a:r>
          </a:p>
          <a:p>
            <a:pPr>
              <a:spcAft>
                <a:spcPts val="1000"/>
              </a:spcAft>
              <a:defRPr sz="1400" b="0">
                <a:solidFill>
                  <a:srgbClr val="333333"/>
                </a:solidFill>
              </a:defRPr>
            </a:pPr>
            <a:r>
              <a:t>yukpomnang.com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36208"/>
            <a:ext cx="6858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  <a:r>
              <a:t>NDA recommandé avant data room complète</a:t>
            </a:r>
          </a:p>
        </p:txBody>
      </p:sp>
      <p:pic>
        <p:nvPicPr>
          <p:cNvPr id="6" name="Picture 5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528816"/>
            <a:ext cx="10972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99999"/>
                </a:solidFill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