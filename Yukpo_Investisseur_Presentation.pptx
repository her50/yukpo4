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Revenus (M FCFA)</c:v>
                </c:pt>
              </c:strCache>
            </c:strRef>
          </c:tx>
          <c:spPr>
            <a:solidFill>
              <a:srgbClr val="D4AF37"/>
            </a:solidFill>
          </c:spPr>
          <c:cat>
            <c:strRef>
              <c:f>Sheet1!$A$2:$A$9</c:f>
              <c:strCache>
                <c:ptCount val="8"/>
                <c:pt idx="0">
                  <c:v>T2 26</c:v>
                </c:pt>
                <c:pt idx="1">
                  <c:v>T3 26</c:v>
                </c:pt>
                <c:pt idx="2">
                  <c:v>T4 26</c:v>
                </c:pt>
                <c:pt idx="3">
                  <c:v>T1 27</c:v>
                </c:pt>
                <c:pt idx="4">
                  <c:v>T2 27</c:v>
                </c:pt>
                <c:pt idx="5">
                  <c:v>T3 27</c:v>
                </c:pt>
                <c:pt idx="6">
                  <c:v>T4 27</c:v>
                </c:pt>
                <c:pt idx="7">
                  <c:v>T1 28</c:v>
                </c:pt>
              </c:strCache>
            </c:strRef>
          </c:cat>
          <c:val>
            <c:numRef>
              <c:f>Sheet1!$B$2:$B$9</c:f>
              <c:numCache>
                <c:formatCode>General</c:formatCode>
                <c:ptCount val="8"/>
                <c:pt idx="0">
                  <c:v>2</c:v>
                </c:pt>
                <c:pt idx="1">
                  <c:v>5</c:v>
                </c:pt>
                <c:pt idx="2">
                  <c:v>9</c:v>
                </c:pt>
                <c:pt idx="3">
                  <c:v>14</c:v>
                </c:pt>
                <c:pt idx="4">
                  <c:v>20</c:v>
                </c:pt>
                <c:pt idx="5">
                  <c:v>28</c:v>
                </c:pt>
                <c:pt idx="6">
                  <c:v>38</c:v>
                </c:pt>
                <c:pt idx="7">
                  <c:v>55</c:v>
                </c:pt>
              </c:numCache>
            </c:numRef>
          </c:val>
        </c:ser>
        <c:ser>
          <c:idx val="1"/>
          <c:order val="1"/>
          <c:tx>
            <c:strRef>
              <c:f>Sheet1!$C$1</c:f>
              <c:strCache>
                <c:ptCount val="1"/>
                <c:pt idx="0">
                  <c:v>Dépenses (M FCFA)</c:v>
                </c:pt>
              </c:strCache>
            </c:strRef>
          </c:tx>
          <c:spPr>
            <a:solidFill>
              <a:srgbClr val="FF6B6B"/>
            </a:solidFill>
          </c:spPr>
          <c:cat>
            <c:strRef>
              <c:f>Sheet1!$A$2:$A$9</c:f>
              <c:strCache>
                <c:ptCount val="8"/>
                <c:pt idx="0">
                  <c:v>T2 26</c:v>
                </c:pt>
                <c:pt idx="1">
                  <c:v>T3 26</c:v>
                </c:pt>
                <c:pt idx="2">
                  <c:v>T4 26</c:v>
                </c:pt>
                <c:pt idx="3">
                  <c:v>T1 27</c:v>
                </c:pt>
                <c:pt idx="4">
                  <c:v>T2 27</c:v>
                </c:pt>
                <c:pt idx="5">
                  <c:v>T3 27</c:v>
                </c:pt>
                <c:pt idx="6">
                  <c:v>T4 27</c:v>
                </c:pt>
                <c:pt idx="7">
                  <c:v>T1 28</c:v>
                </c:pt>
              </c:strCache>
            </c:strRef>
          </c:cat>
          <c:val>
            <c:numRef>
              <c:f>Sheet1!$C$2:$C$9</c:f>
              <c:numCache>
                <c:formatCode>General</c:formatCode>
                <c:ptCount val="8"/>
                <c:pt idx="0">
                  <c:v>14</c:v>
                </c:pt>
                <c:pt idx="1">
                  <c:v>15</c:v>
                </c:pt>
                <c:pt idx="2">
                  <c:v>16</c:v>
                </c:pt>
                <c:pt idx="3">
                  <c:v>17</c:v>
                </c:pt>
                <c:pt idx="4">
                  <c:v>18</c:v>
                </c:pt>
                <c:pt idx="5">
                  <c:v>20</c:v>
                </c:pt>
                <c:pt idx="6">
                  <c:v>24</c:v>
                </c:pt>
                <c:pt idx="7">
                  <c:v>28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600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2000"/>
            <a:ext cx="3671999" cy="653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2000"/>
            <a:ext cx="1368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000" y="324000"/>
            <a:ext cx="3294000" cy="18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ng"/>
          <p:cNvPicPr>
            <a:picLocks noChangeAspect="1"/>
          </p:cNvPicPr>
          <p:nvPr/>
        </p:nvPicPr>
        <p:blipFill>
          <a:blip r:embed="rId2"/>
          <a:stretch>
            <a:fillRect/>
          </a:stretch>
        </p:blipFill>
        <p:spPr>
          <a:xfrm>
            <a:off x="198000" y="324000"/>
            <a:ext cx="3294000" cy="1872000"/>
          </a:xfrm>
          <a:prstGeom prst="rect">
            <a:avLst/>
          </a:prstGeom>
        </p:spPr>
      </p:pic>
      <p:sp>
        <p:nvSpPr>
          <p:cNvPr id="8" name="Rectangle 7"/>
          <p:cNvSpPr/>
          <p:nvPr/>
        </p:nvSpPr>
        <p:spPr>
          <a:xfrm>
            <a:off x="432000" y="2250000"/>
            <a:ext cx="2880000" cy="25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999" y="2322000"/>
            <a:ext cx="3240000" cy="259200"/>
          </a:xfrm>
          <a:prstGeom prst="rect">
            <a:avLst/>
          </a:prstGeom>
          <a:noFill/>
        </p:spPr>
        <p:txBody>
          <a:bodyPr wrap="square">
            <a:spAutoFit/>
          </a:bodyPr>
          <a:lstStyle/>
          <a:p>
            <a:pPr algn="ctr"/>
            <a:r>
              <a:rPr sz="1100" b="1" i="0">
                <a:solidFill>
                  <a:srgbClr val="FFFFFF"/>
                </a:solidFill>
              </a:rPr>
              <a:t>DOSSIER INVESTISSEUR</a:t>
            </a:r>
          </a:p>
        </p:txBody>
      </p:sp>
      <p:sp>
        <p:nvSpPr>
          <p:cNvPr id="10" name="Rectangle 9"/>
          <p:cNvSpPr/>
          <p:nvPr/>
        </p:nvSpPr>
        <p:spPr>
          <a:xfrm>
            <a:off x="3888000" y="720000"/>
            <a:ext cx="4968000" cy="144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88000" y="720000"/>
            <a:ext cx="136800" cy="1440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04000" y="845999"/>
            <a:ext cx="4608000" cy="612000"/>
          </a:xfrm>
          <a:prstGeom prst="rect">
            <a:avLst/>
          </a:prstGeom>
          <a:noFill/>
        </p:spPr>
        <p:txBody>
          <a:bodyPr wrap="square">
            <a:spAutoFit/>
          </a:bodyPr>
          <a:lstStyle/>
          <a:p>
            <a:pPr algn="ctr"/>
            <a:r>
              <a:rPr sz="2800" b="1" i="0">
                <a:solidFill>
                  <a:srgbClr val="D4AF37"/>
                </a:solidFill>
              </a:rPr>
              <a:t>120 M FCFA</a:t>
            </a:r>
          </a:p>
        </p:txBody>
      </p:sp>
      <p:sp>
        <p:nvSpPr>
          <p:cNvPr id="13" name="TextBox 12"/>
          <p:cNvSpPr txBox="1"/>
          <p:nvPr/>
        </p:nvSpPr>
        <p:spPr>
          <a:xfrm>
            <a:off x="4104000" y="1476000"/>
            <a:ext cx="4608000" cy="576000"/>
          </a:xfrm>
          <a:prstGeom prst="rect">
            <a:avLst/>
          </a:prstGeom>
          <a:noFill/>
        </p:spPr>
        <p:txBody>
          <a:bodyPr wrap="square">
            <a:spAutoFit/>
          </a:bodyPr>
          <a:lstStyle/>
          <a:p>
            <a:pPr algn="ctr"/>
            <a:r>
              <a:rPr sz="1200" b="0" i="0">
                <a:solidFill>
                  <a:srgbClr val="B0C4DE"/>
                </a:solidFill>
              </a:rPr>
              <a:t>Objectif de levée de fonds</a:t>
            </a:r>
          </a:p>
        </p:txBody>
      </p:sp>
      <p:sp>
        <p:nvSpPr>
          <p:cNvPr id="14" name="Rectangle 13"/>
          <p:cNvSpPr/>
          <p:nvPr/>
        </p:nvSpPr>
        <p:spPr>
          <a:xfrm>
            <a:off x="3888000" y="2322000"/>
            <a:ext cx="4968000" cy="1440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8000" y="2322000"/>
            <a:ext cx="136800" cy="1440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04000" y="2447999"/>
            <a:ext cx="4608000" cy="612000"/>
          </a:xfrm>
          <a:prstGeom prst="rect">
            <a:avLst/>
          </a:prstGeom>
          <a:noFill/>
        </p:spPr>
        <p:txBody>
          <a:bodyPr wrap="square">
            <a:spAutoFit/>
          </a:bodyPr>
          <a:lstStyle/>
          <a:p>
            <a:pPr algn="ctr"/>
            <a:r>
              <a:rPr sz="2800" b="1" i="0">
                <a:solidFill>
                  <a:srgbClr val="4FC3F7"/>
                </a:solidFill>
              </a:rPr>
              <a:t>7,5 M+</a:t>
            </a:r>
          </a:p>
        </p:txBody>
      </p:sp>
      <p:sp>
        <p:nvSpPr>
          <p:cNvPr id="17" name="TextBox 16"/>
          <p:cNvSpPr txBox="1"/>
          <p:nvPr/>
        </p:nvSpPr>
        <p:spPr>
          <a:xfrm>
            <a:off x="4104000" y="3078000"/>
            <a:ext cx="4608000" cy="576000"/>
          </a:xfrm>
          <a:prstGeom prst="rect">
            <a:avLst/>
          </a:prstGeom>
          <a:noFill/>
        </p:spPr>
        <p:txBody>
          <a:bodyPr wrap="square">
            <a:spAutoFit/>
          </a:bodyPr>
          <a:lstStyle/>
          <a:p>
            <a:pPr algn="ctr"/>
            <a:r>
              <a:rPr sz="1200" b="0" i="0">
                <a:solidFill>
                  <a:srgbClr val="B0C4DE"/>
                </a:solidFill>
              </a:rPr>
              <a:t>Habitants ciblés — Yaoundé + Douala</a:t>
            </a:r>
          </a:p>
        </p:txBody>
      </p:sp>
      <p:sp>
        <p:nvSpPr>
          <p:cNvPr id="18" name="Rectangle 17"/>
          <p:cNvSpPr/>
          <p:nvPr/>
        </p:nvSpPr>
        <p:spPr>
          <a:xfrm>
            <a:off x="3888000" y="3924000"/>
            <a:ext cx="4968000" cy="1440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88000" y="3924000"/>
            <a:ext cx="136800" cy="1440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04000" y="4049999"/>
            <a:ext cx="4608000" cy="612000"/>
          </a:xfrm>
          <a:prstGeom prst="rect">
            <a:avLst/>
          </a:prstGeom>
          <a:noFill/>
        </p:spPr>
        <p:txBody>
          <a:bodyPr wrap="square">
            <a:spAutoFit/>
          </a:bodyPr>
          <a:lstStyle/>
          <a:p>
            <a:pPr algn="ctr"/>
            <a:r>
              <a:rPr sz="2800" b="1" i="0">
                <a:solidFill>
                  <a:srgbClr val="00C87A"/>
                </a:solidFill>
              </a:rPr>
              <a:t>T1 2028</a:t>
            </a:r>
          </a:p>
        </p:txBody>
      </p:sp>
      <p:sp>
        <p:nvSpPr>
          <p:cNvPr id="21" name="TextBox 20"/>
          <p:cNvSpPr txBox="1"/>
          <p:nvPr/>
        </p:nvSpPr>
        <p:spPr>
          <a:xfrm>
            <a:off x="4104000" y="4680000"/>
            <a:ext cx="4608000" cy="576000"/>
          </a:xfrm>
          <a:prstGeom prst="rect">
            <a:avLst/>
          </a:prstGeom>
          <a:noFill/>
        </p:spPr>
        <p:txBody>
          <a:bodyPr wrap="square">
            <a:spAutoFit/>
          </a:bodyPr>
          <a:lstStyle/>
          <a:p>
            <a:pPr algn="ctr"/>
            <a:r>
              <a:rPr sz="1200" b="0" i="0">
                <a:solidFill>
                  <a:srgbClr val="B0C4DE"/>
                </a:solidFill>
              </a:rPr>
              <a:t>Rentabilité nette (meilleur cas)</a:t>
            </a:r>
          </a:p>
        </p:txBody>
      </p:sp>
      <p:sp>
        <p:nvSpPr>
          <p:cNvPr id="22" name="TextBox 21"/>
          <p:cNvSpPr txBox="1"/>
          <p:nvPr/>
        </p:nvSpPr>
        <p:spPr>
          <a:xfrm>
            <a:off x="251999" y="5742000"/>
            <a:ext cx="3240000" cy="259200"/>
          </a:xfrm>
          <a:prstGeom prst="rect">
            <a:avLst/>
          </a:prstGeom>
          <a:noFill/>
        </p:spPr>
        <p:txBody>
          <a:bodyPr wrap="square">
            <a:spAutoFit/>
          </a:bodyPr>
          <a:lstStyle/>
          <a:p>
            <a:pPr algn="ctr"/>
            <a:r>
              <a:rPr sz="900" b="0" i="0">
                <a:solidFill>
                  <a:srgbClr val="B0C4DE"/>
                </a:solidFill>
              </a:rPr>
              <a:t>Présenté par  LELE SIAKA Hernandez  |  CEO &amp; Fondateur</a:t>
            </a:r>
          </a:p>
        </p:txBody>
      </p:sp>
      <p:sp>
        <p:nvSpPr>
          <p:cNvPr id="23" name="TextBox 22"/>
          <p:cNvSpPr txBox="1"/>
          <p:nvPr/>
        </p:nvSpPr>
        <p:spPr>
          <a:xfrm>
            <a:off x="251999" y="5994000"/>
            <a:ext cx="3240000" cy="234000"/>
          </a:xfrm>
          <a:prstGeom prst="rect">
            <a:avLst/>
          </a:prstGeom>
          <a:noFill/>
        </p:spPr>
        <p:txBody>
          <a:bodyPr wrap="square">
            <a:spAutoFit/>
          </a:bodyPr>
          <a:lstStyle/>
          <a:p>
            <a:pPr algn="ctr"/>
            <a:r>
              <a:rPr sz="900" b="0" i="0">
                <a:solidFill>
                  <a:srgbClr val="D4AF37"/>
                </a:solidFill>
              </a:rPr>
              <a:t>Yaoundé, Cameroun  |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2</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Une Opportunité de Marché Massive et Inexploitée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Yaoundé + Douala : 7,5 M d'habitants, zéro super-app locale opérationnelle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80000" y="1475999"/>
            <a:ext cx="2034000" cy="176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0000" y="1475999"/>
            <a:ext cx="115200" cy="176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000" y="1576799"/>
            <a:ext cx="1800000" cy="917280"/>
          </a:xfrm>
          <a:prstGeom prst="rect">
            <a:avLst/>
          </a:prstGeom>
          <a:noFill/>
        </p:spPr>
        <p:txBody>
          <a:bodyPr wrap="square">
            <a:spAutoFit/>
          </a:bodyPr>
          <a:lstStyle/>
          <a:p>
            <a:pPr algn="ctr"/>
            <a:r>
              <a:rPr sz="2400" b="1" i="0">
                <a:solidFill>
                  <a:srgbClr val="D4AF37"/>
                </a:solidFill>
              </a:rPr>
              <a:t>7,5 M+</a:t>
            </a:r>
          </a:p>
        </p:txBody>
      </p:sp>
      <p:sp>
        <p:nvSpPr>
          <p:cNvPr id="12" name="TextBox 11"/>
          <p:cNvSpPr txBox="1"/>
          <p:nvPr/>
        </p:nvSpPr>
        <p:spPr>
          <a:xfrm>
            <a:off x="360000" y="2428559"/>
            <a:ext cx="1800000" cy="670320"/>
          </a:xfrm>
          <a:prstGeom prst="rect">
            <a:avLst/>
          </a:prstGeom>
          <a:noFill/>
        </p:spPr>
        <p:txBody>
          <a:bodyPr wrap="square">
            <a:spAutoFit/>
          </a:bodyPr>
          <a:lstStyle/>
          <a:p>
            <a:pPr algn="ctr"/>
            <a:r>
              <a:rPr sz="1000" b="0" i="0">
                <a:solidFill>
                  <a:srgbClr val="B0C4DE"/>
                </a:solidFill>
              </a:rPr>
              <a:t>Habitants ciblés
Yaoundé + Douala</a:t>
            </a:r>
          </a:p>
        </p:txBody>
      </p:sp>
      <p:sp>
        <p:nvSpPr>
          <p:cNvPr id="13" name="Rectangle 12"/>
          <p:cNvSpPr/>
          <p:nvPr/>
        </p:nvSpPr>
        <p:spPr>
          <a:xfrm>
            <a:off x="2430000" y="1475999"/>
            <a:ext cx="2034000" cy="176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30000" y="1475999"/>
            <a:ext cx="115200" cy="1764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10000" y="1576799"/>
            <a:ext cx="1800000" cy="917280"/>
          </a:xfrm>
          <a:prstGeom prst="rect">
            <a:avLst/>
          </a:prstGeom>
          <a:noFill/>
        </p:spPr>
        <p:txBody>
          <a:bodyPr wrap="square">
            <a:spAutoFit/>
          </a:bodyPr>
          <a:lstStyle/>
          <a:p>
            <a:pPr algn="ctr"/>
            <a:r>
              <a:rPr sz="2400" b="1" i="0">
                <a:solidFill>
                  <a:srgbClr val="4FC3F7"/>
                </a:solidFill>
              </a:rPr>
              <a:t>74 %</a:t>
            </a:r>
          </a:p>
        </p:txBody>
      </p:sp>
      <p:sp>
        <p:nvSpPr>
          <p:cNvPr id="16" name="TextBox 15"/>
          <p:cNvSpPr txBox="1"/>
          <p:nvPr/>
        </p:nvSpPr>
        <p:spPr>
          <a:xfrm>
            <a:off x="2610000" y="2428559"/>
            <a:ext cx="1800000" cy="670320"/>
          </a:xfrm>
          <a:prstGeom prst="rect">
            <a:avLst/>
          </a:prstGeom>
          <a:noFill/>
        </p:spPr>
        <p:txBody>
          <a:bodyPr wrap="square">
            <a:spAutoFit/>
          </a:bodyPr>
          <a:lstStyle/>
          <a:p>
            <a:pPr algn="ctr"/>
            <a:r>
              <a:rPr sz="1000" b="0" i="0">
                <a:solidFill>
                  <a:srgbClr val="B0C4DE"/>
                </a:solidFill>
              </a:rPr>
              <a:t>Sans accès
aux services formels</a:t>
            </a:r>
          </a:p>
        </p:txBody>
      </p:sp>
      <p:sp>
        <p:nvSpPr>
          <p:cNvPr id="17" name="Rectangle 16"/>
          <p:cNvSpPr/>
          <p:nvPr/>
        </p:nvSpPr>
        <p:spPr>
          <a:xfrm>
            <a:off x="4680000" y="1475999"/>
            <a:ext cx="2034000" cy="1764000"/>
          </a:xfrm>
          <a:prstGeom prst="rect">
            <a:avLst/>
          </a:prstGeom>
          <a:solidFill>
            <a:srgbClr val="132B5E"/>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80000" y="1475999"/>
            <a:ext cx="115200" cy="17640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0000" y="1576799"/>
            <a:ext cx="1800000" cy="917280"/>
          </a:xfrm>
          <a:prstGeom prst="rect">
            <a:avLst/>
          </a:prstGeom>
          <a:noFill/>
        </p:spPr>
        <p:txBody>
          <a:bodyPr wrap="square">
            <a:spAutoFit/>
          </a:bodyPr>
          <a:lstStyle/>
          <a:p>
            <a:pPr algn="ctr"/>
            <a:r>
              <a:rPr sz="2400" b="1" i="0">
                <a:solidFill>
                  <a:srgbClr val="FF6B6B"/>
                </a:solidFill>
              </a:rPr>
              <a:t>0</a:t>
            </a:r>
          </a:p>
        </p:txBody>
      </p:sp>
      <p:sp>
        <p:nvSpPr>
          <p:cNvPr id="20" name="TextBox 19"/>
          <p:cNvSpPr txBox="1"/>
          <p:nvPr/>
        </p:nvSpPr>
        <p:spPr>
          <a:xfrm>
            <a:off x="4860000" y="2428559"/>
            <a:ext cx="1800000" cy="670320"/>
          </a:xfrm>
          <a:prstGeom prst="rect">
            <a:avLst/>
          </a:prstGeom>
          <a:noFill/>
        </p:spPr>
        <p:txBody>
          <a:bodyPr wrap="square">
            <a:spAutoFit/>
          </a:bodyPr>
          <a:lstStyle/>
          <a:p>
            <a:pPr algn="ctr"/>
            <a:r>
              <a:rPr sz="1000" b="0" i="0">
                <a:solidFill>
                  <a:srgbClr val="B0C4DE"/>
                </a:solidFill>
              </a:rPr>
              <a:t>Super-app intégrée
locale existante</a:t>
            </a:r>
          </a:p>
        </p:txBody>
      </p:sp>
      <p:sp>
        <p:nvSpPr>
          <p:cNvPr id="21" name="Rectangle 20"/>
          <p:cNvSpPr/>
          <p:nvPr/>
        </p:nvSpPr>
        <p:spPr>
          <a:xfrm>
            <a:off x="6930000" y="1475999"/>
            <a:ext cx="2034000" cy="176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30000" y="1475999"/>
            <a:ext cx="115200" cy="1764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0000" y="1576799"/>
            <a:ext cx="1800000" cy="917280"/>
          </a:xfrm>
          <a:prstGeom prst="rect">
            <a:avLst/>
          </a:prstGeom>
          <a:noFill/>
        </p:spPr>
        <p:txBody>
          <a:bodyPr wrap="square">
            <a:spAutoFit/>
          </a:bodyPr>
          <a:lstStyle/>
          <a:p>
            <a:pPr algn="ctr"/>
            <a:r>
              <a:rPr sz="2400" b="1" i="0">
                <a:solidFill>
                  <a:srgbClr val="00C87A"/>
                </a:solidFill>
              </a:rPr>
              <a:t>8,5 Mrd FCFA</a:t>
            </a:r>
          </a:p>
        </p:txBody>
      </p:sp>
      <p:sp>
        <p:nvSpPr>
          <p:cNvPr id="24" name="TextBox 23"/>
          <p:cNvSpPr txBox="1"/>
          <p:nvPr/>
        </p:nvSpPr>
        <p:spPr>
          <a:xfrm>
            <a:off x="7110000" y="2428559"/>
            <a:ext cx="1800000" cy="670320"/>
          </a:xfrm>
          <a:prstGeom prst="rect">
            <a:avLst/>
          </a:prstGeom>
          <a:noFill/>
        </p:spPr>
        <p:txBody>
          <a:bodyPr wrap="square">
            <a:spAutoFit/>
          </a:bodyPr>
          <a:lstStyle/>
          <a:p>
            <a:pPr algn="ctr"/>
            <a:r>
              <a:rPr sz="1000" b="0" i="0">
                <a:solidFill>
                  <a:srgbClr val="B0C4DE"/>
                </a:solidFill>
              </a:rPr>
              <a:t>Marché adressable
estimé 2028</a:t>
            </a:r>
          </a:p>
        </p:txBody>
      </p:sp>
      <p:sp>
        <p:nvSpPr>
          <p:cNvPr id="25" name="Rectangle 24"/>
          <p:cNvSpPr/>
          <p:nvPr/>
        </p:nvSpPr>
        <p:spPr>
          <a:xfrm>
            <a:off x="180000" y="3348000"/>
            <a:ext cx="8784000" cy="25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0000" y="3456000"/>
            <a:ext cx="1368000" cy="66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0000" y="3564000"/>
            <a:ext cx="1368000" cy="432000"/>
          </a:xfrm>
          <a:prstGeom prst="rect">
            <a:avLst/>
          </a:prstGeom>
          <a:noFill/>
        </p:spPr>
        <p:txBody>
          <a:bodyPr wrap="square">
            <a:spAutoFit/>
          </a:bodyPr>
          <a:lstStyle/>
          <a:p>
            <a:pPr algn="ctr"/>
            <a:r>
              <a:rPr sz="1600" b="1" i="0">
                <a:solidFill>
                  <a:srgbClr val="0B1E42"/>
                </a:solidFill>
              </a:rPr>
              <a:t>Yaoundé</a:t>
            </a:r>
          </a:p>
        </p:txBody>
      </p:sp>
      <p:sp>
        <p:nvSpPr>
          <p:cNvPr id="28" name="Rectangle 27"/>
          <p:cNvSpPr/>
          <p:nvPr/>
        </p:nvSpPr>
        <p:spPr>
          <a:xfrm>
            <a:off x="1620000" y="3456000"/>
            <a:ext cx="7344000" cy="66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45999" y="3564000"/>
            <a:ext cx="7164000" cy="468000"/>
          </a:xfrm>
          <a:prstGeom prst="rect">
            <a:avLst/>
          </a:prstGeom>
          <a:noFill/>
        </p:spPr>
        <p:txBody>
          <a:bodyPr wrap="square">
            <a:spAutoFit/>
          </a:bodyPr>
          <a:lstStyle/>
          <a:p>
            <a:pPr algn="l"/>
            <a:r>
              <a:rPr sz="1100" b="0" i="0">
                <a:solidFill>
                  <a:srgbClr val="FFFFFF"/>
                </a:solidFill>
              </a:rPr>
              <a:t>3,5 M hab.  |  Capitale politique &amp; tertiaire  |  62 % smartphone  |  Marché : 3,8 Mrd FCFA</a:t>
            </a:r>
          </a:p>
        </p:txBody>
      </p:sp>
      <p:sp>
        <p:nvSpPr>
          <p:cNvPr id="30" name="Rectangle 29"/>
          <p:cNvSpPr/>
          <p:nvPr/>
        </p:nvSpPr>
        <p:spPr>
          <a:xfrm>
            <a:off x="180000" y="4230000"/>
            <a:ext cx="1368000" cy="66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0000" y="4338000"/>
            <a:ext cx="1368000" cy="432000"/>
          </a:xfrm>
          <a:prstGeom prst="rect">
            <a:avLst/>
          </a:prstGeom>
          <a:noFill/>
        </p:spPr>
        <p:txBody>
          <a:bodyPr wrap="square">
            <a:spAutoFit/>
          </a:bodyPr>
          <a:lstStyle/>
          <a:p>
            <a:pPr algn="ctr"/>
            <a:r>
              <a:rPr sz="1600" b="1" i="0">
                <a:solidFill>
                  <a:srgbClr val="0B1E42"/>
                </a:solidFill>
              </a:rPr>
              <a:t>Douala</a:t>
            </a:r>
          </a:p>
        </p:txBody>
      </p:sp>
      <p:sp>
        <p:nvSpPr>
          <p:cNvPr id="32" name="Rectangle 31"/>
          <p:cNvSpPr/>
          <p:nvPr/>
        </p:nvSpPr>
        <p:spPr>
          <a:xfrm>
            <a:off x="1620000" y="4230000"/>
            <a:ext cx="7344000" cy="66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45999" y="4338000"/>
            <a:ext cx="7164000" cy="468000"/>
          </a:xfrm>
          <a:prstGeom prst="rect">
            <a:avLst/>
          </a:prstGeom>
          <a:noFill/>
        </p:spPr>
        <p:txBody>
          <a:bodyPr wrap="square">
            <a:spAutoFit/>
          </a:bodyPr>
          <a:lstStyle/>
          <a:p>
            <a:pPr algn="l"/>
            <a:r>
              <a:rPr sz="1100" b="0" i="0">
                <a:solidFill>
                  <a:srgbClr val="FFFFFF"/>
                </a:solidFill>
              </a:rPr>
              <a:t>4,0 M hab.  |  Capitale économique &amp; portuaire  |  67 % smartphone  |  Marché : 4,7 Mrd FCFA</a:t>
            </a:r>
          </a:p>
        </p:txBody>
      </p:sp>
      <p:sp>
        <p:nvSpPr>
          <p:cNvPr id="34" name="TextBox 33"/>
          <p:cNvSpPr txBox="1"/>
          <p:nvPr/>
        </p:nvSpPr>
        <p:spPr>
          <a:xfrm>
            <a:off x="180000" y="5148000"/>
            <a:ext cx="8784000" cy="295200"/>
          </a:xfrm>
          <a:prstGeom prst="rect">
            <a:avLst/>
          </a:prstGeom>
          <a:noFill/>
        </p:spPr>
        <p:txBody>
          <a:bodyPr wrap="square">
            <a:spAutoFit/>
          </a:bodyPr>
          <a:lstStyle/>
          <a:p>
            <a:pPr algn="ctr"/>
            <a:r>
              <a:rPr sz="1100" b="0" i="1">
                <a:solidFill>
                  <a:srgbClr val="D4AF37"/>
                </a:solidFill>
              </a:rPr>
              <a:t>Croissance mobile +18 %/an  |  Fenêtre d'entrée unique : aucun concurrent intégré  |  Besoin urgent non couvert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3</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Les Problèmes Quotidiens des Camerounais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Des heures perdues, des services éparpillés, une confiance difficile à établir</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40000"/>
            <a:ext cx="2718000" cy="482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40000"/>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300" y="1591200"/>
            <a:ext cx="2509200" cy="295200"/>
          </a:xfrm>
          <a:prstGeom prst="rect">
            <a:avLst/>
          </a:prstGeom>
          <a:noFill/>
        </p:spPr>
        <p:txBody>
          <a:bodyPr wrap="square">
            <a:spAutoFit/>
          </a:bodyPr>
          <a:lstStyle/>
          <a:p>
            <a:pPr algn="ctr"/>
            <a:r>
              <a:rPr sz="1300" b="1" i="0">
                <a:solidFill>
                  <a:srgbClr val="D4AF37"/>
                </a:solidFill>
              </a:rPr>
              <a:t>Perte de Temps</a:t>
            </a:r>
          </a:p>
        </p:txBody>
      </p:sp>
      <p:sp>
        <p:nvSpPr>
          <p:cNvPr id="12" name="Rectangle 11"/>
          <p:cNvSpPr/>
          <p:nvPr/>
        </p:nvSpPr>
        <p:spPr>
          <a:xfrm>
            <a:off x="427500" y="1908000"/>
            <a:ext cx="235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300" y="1980000"/>
            <a:ext cx="2509200" cy="4230000"/>
          </a:xfrm>
          <a:prstGeom prst="rect">
            <a:avLst/>
          </a:prstGeom>
          <a:noFill/>
        </p:spPr>
        <p:txBody>
          <a:bodyPr wrap="square">
            <a:spAutoFit/>
          </a:bodyPr>
          <a:lstStyle/>
          <a:p>
            <a:pPr algn="l"/>
            <a:r>
              <a:rPr sz="1100" b="0" i="0">
                <a:solidFill>
                  <a:srgbClr val="B0C4DE"/>
                </a:solidFill>
              </a:rPr>
              <a:t>Trouver un transport, une pharmacie ouverte, un artisan disponible...
Chaque démarche prend des heures. Le Camerounais perd en moyenne
2 heures par jour à coordonner ses besoins urbains de base.</a:t>
            </a:r>
          </a:p>
        </p:txBody>
      </p:sp>
      <p:sp>
        <p:nvSpPr>
          <p:cNvPr id="14" name="Rectangle 13"/>
          <p:cNvSpPr/>
          <p:nvPr/>
        </p:nvSpPr>
        <p:spPr>
          <a:xfrm>
            <a:off x="3213000" y="1440000"/>
            <a:ext cx="2718000" cy="482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13000" y="1440000"/>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9800" y="1591200"/>
            <a:ext cx="2509200" cy="295200"/>
          </a:xfrm>
          <a:prstGeom prst="rect">
            <a:avLst/>
          </a:prstGeom>
          <a:noFill/>
        </p:spPr>
        <p:txBody>
          <a:bodyPr wrap="square">
            <a:spAutoFit/>
          </a:bodyPr>
          <a:lstStyle/>
          <a:p>
            <a:pPr algn="ctr"/>
            <a:r>
              <a:rPr sz="1300" b="1" i="0">
                <a:solidFill>
                  <a:srgbClr val="4FC3F7"/>
                </a:solidFill>
              </a:rPr>
              <a:t>Zéro Confiance</a:t>
            </a:r>
          </a:p>
        </p:txBody>
      </p:sp>
      <p:sp>
        <p:nvSpPr>
          <p:cNvPr id="17" name="Rectangle 16"/>
          <p:cNvSpPr/>
          <p:nvPr/>
        </p:nvSpPr>
        <p:spPr>
          <a:xfrm>
            <a:off x="3393000" y="1908000"/>
            <a:ext cx="2358000" cy="21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49800" y="1980000"/>
            <a:ext cx="2509200" cy="4230000"/>
          </a:xfrm>
          <a:prstGeom prst="rect">
            <a:avLst/>
          </a:prstGeom>
          <a:noFill/>
        </p:spPr>
        <p:txBody>
          <a:bodyPr wrap="square">
            <a:spAutoFit/>
          </a:bodyPr>
          <a:lstStyle/>
          <a:p>
            <a:pPr algn="l"/>
            <a:r>
              <a:rPr sz="1100" b="0" i="0">
                <a:solidFill>
                  <a:srgbClr val="B0C4DE"/>
                </a:solidFill>
              </a:rPr>
              <a:t>Aucun tarif affiché, aucun avis vérifié, aucune garantie.
Les arnaques sont fréquentes, les recours inexistants.
La méfiance bloque la formalisation et la consommation de services.</a:t>
            </a:r>
          </a:p>
        </p:txBody>
      </p:sp>
      <p:sp>
        <p:nvSpPr>
          <p:cNvPr id="19" name="Rectangle 18"/>
          <p:cNvSpPr/>
          <p:nvPr/>
        </p:nvSpPr>
        <p:spPr>
          <a:xfrm>
            <a:off x="6178500" y="1440000"/>
            <a:ext cx="2718000" cy="482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8500" y="1440000"/>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5300" y="1591200"/>
            <a:ext cx="2509200" cy="295200"/>
          </a:xfrm>
          <a:prstGeom prst="rect">
            <a:avLst/>
          </a:prstGeom>
          <a:noFill/>
        </p:spPr>
        <p:txBody>
          <a:bodyPr wrap="square">
            <a:spAutoFit/>
          </a:bodyPr>
          <a:lstStyle/>
          <a:p>
            <a:pPr algn="ctr"/>
            <a:r>
              <a:rPr sz="1300" b="1" i="0">
                <a:solidFill>
                  <a:srgbClr val="00C87A"/>
                </a:solidFill>
              </a:rPr>
              <a:t>Marché Ultra-Fragmenté</a:t>
            </a:r>
          </a:p>
        </p:txBody>
      </p:sp>
      <p:sp>
        <p:nvSpPr>
          <p:cNvPr id="22" name="Rectangle 21"/>
          <p:cNvSpPr/>
          <p:nvPr/>
        </p:nvSpPr>
        <p:spPr>
          <a:xfrm>
            <a:off x="6358500" y="1908000"/>
            <a:ext cx="2358000"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5300" y="1980000"/>
            <a:ext cx="2509200" cy="4230000"/>
          </a:xfrm>
          <a:prstGeom prst="rect">
            <a:avLst/>
          </a:prstGeom>
          <a:noFill/>
        </p:spPr>
        <p:txBody>
          <a:bodyPr wrap="square">
            <a:spAutoFit/>
          </a:bodyPr>
          <a:lstStyle/>
          <a:p>
            <a:pPr algn="l"/>
            <a:r>
              <a:rPr sz="1100" b="0" i="0">
                <a:solidFill>
                  <a:srgbClr val="B0C4DE"/>
                </a:solidFill>
              </a:rPr>
              <a:t>Chaque service fonctionne dans sa propre bulle :
contact perso, prix opaque, aucune traçabilité.
Impossible de planifier, comparer ou confier une tâche sereinement.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4</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YUKPO — L'Écosystème Complet</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Services essentiels + marché + création de contenu + intelligence artificielle — en un seul endroit</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3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4000" y="1522800"/>
            <a:ext cx="2491200" cy="259200"/>
          </a:xfrm>
          <a:prstGeom prst="rect">
            <a:avLst/>
          </a:prstGeom>
          <a:noFill/>
        </p:spPr>
        <p:txBody>
          <a:bodyPr wrap="square">
            <a:spAutoFit/>
          </a:bodyPr>
          <a:lstStyle/>
          <a:p>
            <a:pPr algn="l"/>
            <a:r>
              <a:rPr sz="1100" b="1" i="0">
                <a:solidFill>
                  <a:srgbClr val="D4AF37"/>
                </a:solidFill>
              </a:rPr>
              <a:t>Transport &amp; Mobilité</a:t>
            </a:r>
          </a:p>
        </p:txBody>
      </p:sp>
      <p:sp>
        <p:nvSpPr>
          <p:cNvPr id="12" name="TextBox 11"/>
          <p:cNvSpPr txBox="1"/>
          <p:nvPr/>
        </p:nvSpPr>
        <p:spPr>
          <a:xfrm>
            <a:off x="414000" y="1782000"/>
            <a:ext cx="2491200" cy="550800"/>
          </a:xfrm>
          <a:prstGeom prst="rect">
            <a:avLst/>
          </a:prstGeom>
          <a:noFill/>
        </p:spPr>
        <p:txBody>
          <a:bodyPr wrap="square">
            <a:spAutoFit/>
          </a:bodyPr>
          <a:lstStyle/>
          <a:p>
            <a:pPr algn="l"/>
            <a:r>
              <a:rPr sz="900" b="0" i="0">
                <a:solidFill>
                  <a:srgbClr val="B0C4DE"/>
                </a:solidFill>
              </a:rPr>
              <a:t>Taxi, moto, covoiturage, voyages</a:t>
            </a:r>
          </a:p>
        </p:txBody>
      </p:sp>
      <p:sp>
        <p:nvSpPr>
          <p:cNvPr id="13" name="Rectangle 12"/>
          <p:cNvSpPr/>
          <p:nvPr/>
        </p:nvSpPr>
        <p:spPr>
          <a:xfrm>
            <a:off x="320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4000" y="1522800"/>
            <a:ext cx="2491200" cy="259200"/>
          </a:xfrm>
          <a:prstGeom prst="rect">
            <a:avLst/>
          </a:prstGeom>
          <a:noFill/>
        </p:spPr>
        <p:txBody>
          <a:bodyPr wrap="square">
            <a:spAutoFit/>
          </a:bodyPr>
          <a:lstStyle/>
          <a:p>
            <a:pPr algn="l"/>
            <a:r>
              <a:rPr sz="1100" b="1" i="0">
                <a:solidFill>
                  <a:srgbClr val="D4AF37"/>
                </a:solidFill>
              </a:rPr>
              <a:t>Alimentation &amp; Livraison</a:t>
            </a:r>
          </a:p>
        </p:txBody>
      </p:sp>
      <p:sp>
        <p:nvSpPr>
          <p:cNvPr id="16" name="TextBox 15"/>
          <p:cNvSpPr txBox="1"/>
          <p:nvPr/>
        </p:nvSpPr>
        <p:spPr>
          <a:xfrm>
            <a:off x="3384000" y="1782000"/>
            <a:ext cx="2491200" cy="550800"/>
          </a:xfrm>
          <a:prstGeom prst="rect">
            <a:avLst/>
          </a:prstGeom>
          <a:noFill/>
        </p:spPr>
        <p:txBody>
          <a:bodyPr wrap="square">
            <a:spAutoFit/>
          </a:bodyPr>
          <a:lstStyle/>
          <a:p>
            <a:pPr algn="l"/>
            <a:r>
              <a:rPr sz="900" b="0" i="0">
                <a:solidFill>
                  <a:srgbClr val="B0C4DE"/>
                </a:solidFill>
              </a:rPr>
              <a:t>Repas chauds, courses à domicile</a:t>
            </a:r>
          </a:p>
        </p:txBody>
      </p:sp>
      <p:sp>
        <p:nvSpPr>
          <p:cNvPr id="17" name="Rectangle 16"/>
          <p:cNvSpPr/>
          <p:nvPr/>
        </p:nvSpPr>
        <p:spPr>
          <a:xfrm>
            <a:off x="617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4000" y="1522800"/>
            <a:ext cx="2491200" cy="259200"/>
          </a:xfrm>
          <a:prstGeom prst="rect">
            <a:avLst/>
          </a:prstGeom>
          <a:noFill/>
        </p:spPr>
        <p:txBody>
          <a:bodyPr wrap="square">
            <a:spAutoFit/>
          </a:bodyPr>
          <a:lstStyle/>
          <a:p>
            <a:pPr algn="l"/>
            <a:r>
              <a:rPr sz="1100" b="1" i="0">
                <a:solidFill>
                  <a:srgbClr val="D4AF37"/>
                </a:solidFill>
              </a:rPr>
              <a:t>Pharmacie &amp; Santé</a:t>
            </a:r>
          </a:p>
        </p:txBody>
      </p:sp>
      <p:sp>
        <p:nvSpPr>
          <p:cNvPr id="20" name="TextBox 19"/>
          <p:cNvSpPr txBox="1"/>
          <p:nvPr/>
        </p:nvSpPr>
        <p:spPr>
          <a:xfrm>
            <a:off x="6354000" y="1782000"/>
            <a:ext cx="2491200" cy="550800"/>
          </a:xfrm>
          <a:prstGeom prst="rect">
            <a:avLst/>
          </a:prstGeom>
          <a:noFill/>
        </p:spPr>
        <p:txBody>
          <a:bodyPr wrap="square">
            <a:spAutoFit/>
          </a:bodyPr>
          <a:lstStyle/>
          <a:p>
            <a:pPr algn="l"/>
            <a:r>
              <a:rPr sz="900" b="0" i="0">
                <a:solidFill>
                  <a:srgbClr val="B0C4DE"/>
                </a:solidFill>
              </a:rPr>
              <a:t>Médicaments, cliniques, médecins</a:t>
            </a:r>
          </a:p>
        </p:txBody>
      </p:sp>
      <p:sp>
        <p:nvSpPr>
          <p:cNvPr id="21" name="Rectangle 20"/>
          <p:cNvSpPr/>
          <p:nvPr/>
        </p:nvSpPr>
        <p:spPr>
          <a:xfrm>
            <a:off x="23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4000" y="2484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000" y="2548800"/>
            <a:ext cx="2491200" cy="259200"/>
          </a:xfrm>
          <a:prstGeom prst="rect">
            <a:avLst/>
          </a:prstGeom>
          <a:noFill/>
        </p:spPr>
        <p:txBody>
          <a:bodyPr wrap="square">
            <a:spAutoFit/>
          </a:bodyPr>
          <a:lstStyle/>
          <a:p>
            <a:pPr algn="l"/>
            <a:r>
              <a:rPr sz="1100" b="1" i="0">
                <a:solidFill>
                  <a:srgbClr val="D4AF37"/>
                </a:solidFill>
              </a:rPr>
              <a:t>Eau, Gaz &amp; Énergie</a:t>
            </a:r>
          </a:p>
        </p:txBody>
      </p:sp>
      <p:sp>
        <p:nvSpPr>
          <p:cNvPr id="24" name="TextBox 23"/>
          <p:cNvSpPr txBox="1"/>
          <p:nvPr/>
        </p:nvSpPr>
        <p:spPr>
          <a:xfrm>
            <a:off x="414000" y="2808000"/>
            <a:ext cx="2491200" cy="550800"/>
          </a:xfrm>
          <a:prstGeom prst="rect">
            <a:avLst/>
          </a:prstGeom>
          <a:noFill/>
        </p:spPr>
        <p:txBody>
          <a:bodyPr wrap="square">
            <a:spAutoFit/>
          </a:bodyPr>
          <a:lstStyle/>
          <a:p>
            <a:pPr algn="l"/>
            <a:r>
              <a:rPr sz="900" b="0" i="0">
                <a:solidFill>
                  <a:srgbClr val="B0C4DE"/>
                </a:solidFill>
              </a:rPr>
              <a:t>Bonbonnes livrées en moins d'une heure</a:t>
            </a:r>
          </a:p>
        </p:txBody>
      </p:sp>
      <p:sp>
        <p:nvSpPr>
          <p:cNvPr id="25" name="Rectangle 24"/>
          <p:cNvSpPr/>
          <p:nvPr/>
        </p:nvSpPr>
        <p:spPr>
          <a:xfrm>
            <a:off x="320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4000" y="2484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4000" y="2548800"/>
            <a:ext cx="2491200" cy="259200"/>
          </a:xfrm>
          <a:prstGeom prst="rect">
            <a:avLst/>
          </a:prstGeom>
          <a:noFill/>
        </p:spPr>
        <p:txBody>
          <a:bodyPr wrap="square">
            <a:spAutoFit/>
          </a:bodyPr>
          <a:lstStyle/>
          <a:p>
            <a:pPr algn="l"/>
            <a:r>
              <a:rPr sz="1100" b="1" i="0">
                <a:solidFill>
                  <a:srgbClr val="D4AF37"/>
                </a:solidFill>
              </a:rPr>
              <a:t>Artisans &amp; Services</a:t>
            </a:r>
          </a:p>
        </p:txBody>
      </p:sp>
      <p:sp>
        <p:nvSpPr>
          <p:cNvPr id="28" name="TextBox 27"/>
          <p:cNvSpPr txBox="1"/>
          <p:nvPr/>
        </p:nvSpPr>
        <p:spPr>
          <a:xfrm>
            <a:off x="3384000" y="2808000"/>
            <a:ext cx="2491200" cy="550800"/>
          </a:xfrm>
          <a:prstGeom prst="rect">
            <a:avLst/>
          </a:prstGeom>
          <a:noFill/>
        </p:spPr>
        <p:txBody>
          <a:bodyPr wrap="square">
            <a:spAutoFit/>
          </a:bodyPr>
          <a:lstStyle/>
          <a:p>
            <a:pPr algn="l"/>
            <a:r>
              <a:rPr sz="900" b="0" i="0">
                <a:solidFill>
                  <a:srgbClr val="B0C4DE"/>
                </a:solidFill>
              </a:rPr>
              <a:t>Plombiers, électriciens, peintres...</a:t>
            </a:r>
          </a:p>
        </p:txBody>
      </p:sp>
      <p:sp>
        <p:nvSpPr>
          <p:cNvPr id="29" name="Rectangle 28"/>
          <p:cNvSpPr/>
          <p:nvPr/>
        </p:nvSpPr>
        <p:spPr>
          <a:xfrm>
            <a:off x="617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4000" y="2484000"/>
            <a:ext cx="100800" cy="928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4000" y="2548800"/>
            <a:ext cx="2491200" cy="259200"/>
          </a:xfrm>
          <a:prstGeom prst="rect">
            <a:avLst/>
          </a:prstGeom>
          <a:noFill/>
        </p:spPr>
        <p:txBody>
          <a:bodyPr wrap="square">
            <a:spAutoFit/>
          </a:bodyPr>
          <a:lstStyle/>
          <a:p>
            <a:pPr algn="l"/>
            <a:r>
              <a:rPr sz="1100" b="1" i="0">
                <a:solidFill>
                  <a:srgbClr val="4FC3F7"/>
                </a:solidFill>
              </a:rPr>
              <a:t>Boutiques &amp; Marché</a:t>
            </a:r>
          </a:p>
        </p:txBody>
      </p:sp>
      <p:sp>
        <p:nvSpPr>
          <p:cNvPr id="32" name="TextBox 31"/>
          <p:cNvSpPr txBox="1"/>
          <p:nvPr/>
        </p:nvSpPr>
        <p:spPr>
          <a:xfrm>
            <a:off x="6354000" y="2808000"/>
            <a:ext cx="2491200" cy="550800"/>
          </a:xfrm>
          <a:prstGeom prst="rect">
            <a:avLst/>
          </a:prstGeom>
          <a:noFill/>
        </p:spPr>
        <p:txBody>
          <a:bodyPr wrap="square">
            <a:spAutoFit/>
          </a:bodyPr>
          <a:lstStyle/>
          <a:p>
            <a:pPr algn="l"/>
            <a:r>
              <a:rPr sz="900" b="0" i="0">
                <a:solidFill>
                  <a:srgbClr val="B0C4DE"/>
                </a:solidFill>
              </a:rPr>
              <a:t>Mode, électroménager, décoration</a:t>
            </a:r>
          </a:p>
        </p:txBody>
      </p:sp>
      <p:sp>
        <p:nvSpPr>
          <p:cNvPr id="33" name="Rectangle 32"/>
          <p:cNvSpPr/>
          <p:nvPr/>
        </p:nvSpPr>
        <p:spPr>
          <a:xfrm>
            <a:off x="23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4000" y="3510000"/>
            <a:ext cx="100800" cy="928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4000" y="3574800"/>
            <a:ext cx="2491200" cy="259200"/>
          </a:xfrm>
          <a:prstGeom prst="rect">
            <a:avLst/>
          </a:prstGeom>
          <a:noFill/>
        </p:spPr>
        <p:txBody>
          <a:bodyPr wrap="square">
            <a:spAutoFit/>
          </a:bodyPr>
          <a:lstStyle/>
          <a:p>
            <a:pPr algn="l"/>
            <a:r>
              <a:rPr sz="1100" b="1" i="0">
                <a:solidFill>
                  <a:srgbClr val="4FC3F7"/>
                </a:solidFill>
              </a:rPr>
              <a:t>Immobilier &amp; Auto</a:t>
            </a:r>
          </a:p>
        </p:txBody>
      </p:sp>
      <p:sp>
        <p:nvSpPr>
          <p:cNvPr id="36" name="TextBox 35"/>
          <p:cNvSpPr txBox="1"/>
          <p:nvPr/>
        </p:nvSpPr>
        <p:spPr>
          <a:xfrm>
            <a:off x="414000" y="3834000"/>
            <a:ext cx="2491200" cy="550800"/>
          </a:xfrm>
          <a:prstGeom prst="rect">
            <a:avLst/>
          </a:prstGeom>
          <a:noFill/>
        </p:spPr>
        <p:txBody>
          <a:bodyPr wrap="square">
            <a:spAutoFit/>
          </a:bodyPr>
          <a:lstStyle/>
          <a:p>
            <a:pPr algn="l"/>
            <a:r>
              <a:rPr sz="900" b="0" i="0">
                <a:solidFill>
                  <a:srgbClr val="B0C4DE"/>
                </a:solidFill>
              </a:rPr>
              <a:t>Location, vente, devis travaux</a:t>
            </a:r>
          </a:p>
        </p:txBody>
      </p:sp>
      <p:sp>
        <p:nvSpPr>
          <p:cNvPr id="37" name="Rectangle 36"/>
          <p:cNvSpPr/>
          <p:nvPr/>
        </p:nvSpPr>
        <p:spPr>
          <a:xfrm>
            <a:off x="320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4000" y="3510000"/>
            <a:ext cx="100800" cy="9288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4000" y="3574800"/>
            <a:ext cx="2491200" cy="259200"/>
          </a:xfrm>
          <a:prstGeom prst="rect">
            <a:avLst/>
          </a:prstGeom>
          <a:noFill/>
        </p:spPr>
        <p:txBody>
          <a:bodyPr wrap="square">
            <a:spAutoFit/>
          </a:bodyPr>
          <a:lstStyle/>
          <a:p>
            <a:pPr algn="l"/>
            <a:r>
              <a:rPr sz="1100" b="1" i="0">
                <a:solidFill>
                  <a:srgbClr val="FF9933"/>
                </a:solidFill>
              </a:rPr>
              <a:t>Bourse du Livre</a:t>
            </a:r>
          </a:p>
        </p:txBody>
      </p:sp>
      <p:sp>
        <p:nvSpPr>
          <p:cNvPr id="40" name="TextBox 39"/>
          <p:cNvSpPr txBox="1"/>
          <p:nvPr/>
        </p:nvSpPr>
        <p:spPr>
          <a:xfrm>
            <a:off x="3384000" y="3834000"/>
            <a:ext cx="2491200" cy="550800"/>
          </a:xfrm>
          <a:prstGeom prst="rect">
            <a:avLst/>
          </a:prstGeom>
          <a:noFill/>
        </p:spPr>
        <p:txBody>
          <a:bodyPr wrap="square">
            <a:spAutoFit/>
          </a:bodyPr>
          <a:lstStyle/>
          <a:p>
            <a:pPr algn="l"/>
            <a:r>
              <a:rPr sz="900" b="0" i="0">
                <a:solidFill>
                  <a:srgbClr val="B0C4DE"/>
                </a:solidFill>
              </a:rPr>
              <a:t>Livres scolaires &amp; fournitures — digital</a:t>
            </a:r>
          </a:p>
        </p:txBody>
      </p:sp>
      <p:sp>
        <p:nvSpPr>
          <p:cNvPr id="41" name="Rectangle 40"/>
          <p:cNvSpPr/>
          <p:nvPr/>
        </p:nvSpPr>
        <p:spPr>
          <a:xfrm>
            <a:off x="617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4000" y="3510000"/>
            <a:ext cx="100800" cy="9288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4000" y="3574800"/>
            <a:ext cx="2491200" cy="259200"/>
          </a:xfrm>
          <a:prstGeom prst="rect">
            <a:avLst/>
          </a:prstGeom>
          <a:noFill/>
        </p:spPr>
        <p:txBody>
          <a:bodyPr wrap="square">
            <a:spAutoFit/>
          </a:bodyPr>
          <a:lstStyle/>
          <a:p>
            <a:pPr algn="l"/>
            <a:r>
              <a:rPr sz="1100" b="1" i="0">
                <a:solidFill>
                  <a:srgbClr val="00C87A"/>
                </a:solidFill>
              </a:rPr>
              <a:t>Creator Studio</a:t>
            </a:r>
          </a:p>
        </p:txBody>
      </p:sp>
      <p:sp>
        <p:nvSpPr>
          <p:cNvPr id="44" name="TextBox 43"/>
          <p:cNvSpPr txBox="1"/>
          <p:nvPr/>
        </p:nvSpPr>
        <p:spPr>
          <a:xfrm>
            <a:off x="6354000" y="3834000"/>
            <a:ext cx="2491200" cy="550800"/>
          </a:xfrm>
          <a:prstGeom prst="rect">
            <a:avLst/>
          </a:prstGeom>
          <a:noFill/>
        </p:spPr>
        <p:txBody>
          <a:bodyPr wrap="square">
            <a:spAutoFit/>
          </a:bodyPr>
          <a:lstStyle/>
          <a:p>
            <a:pPr algn="l"/>
            <a:r>
              <a:rPr sz="900" b="0" i="0">
                <a:solidFill>
                  <a:srgbClr val="B0C4DE"/>
                </a:solidFill>
              </a:rPr>
              <a:t>Vidéos &amp; visuels professionnels en 2 min</a:t>
            </a:r>
          </a:p>
        </p:txBody>
      </p:sp>
      <p:sp>
        <p:nvSpPr>
          <p:cNvPr id="45" name="Rectangle 44"/>
          <p:cNvSpPr/>
          <p:nvPr/>
        </p:nvSpPr>
        <p:spPr>
          <a:xfrm>
            <a:off x="23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4000" y="4536000"/>
            <a:ext cx="100800" cy="9288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4000" y="4600800"/>
            <a:ext cx="2491200" cy="259200"/>
          </a:xfrm>
          <a:prstGeom prst="rect">
            <a:avLst/>
          </a:prstGeom>
          <a:noFill/>
        </p:spPr>
        <p:txBody>
          <a:bodyPr wrap="square">
            <a:spAutoFit/>
          </a:bodyPr>
          <a:lstStyle/>
          <a:p>
            <a:pPr algn="l"/>
            <a:r>
              <a:rPr sz="1100" b="1" i="0">
                <a:solidFill>
                  <a:srgbClr val="00C87A"/>
                </a:solidFill>
              </a:rPr>
              <a:t>Annonce Rapide</a:t>
            </a:r>
          </a:p>
        </p:txBody>
      </p:sp>
      <p:sp>
        <p:nvSpPr>
          <p:cNvPr id="48" name="TextBox 47"/>
          <p:cNvSpPr txBox="1"/>
          <p:nvPr/>
        </p:nvSpPr>
        <p:spPr>
          <a:xfrm>
            <a:off x="414000" y="4860000"/>
            <a:ext cx="2491200" cy="550800"/>
          </a:xfrm>
          <a:prstGeom prst="rect">
            <a:avLst/>
          </a:prstGeom>
          <a:noFill/>
        </p:spPr>
        <p:txBody>
          <a:bodyPr wrap="square">
            <a:spAutoFit/>
          </a:bodyPr>
          <a:lstStyle/>
          <a:p>
            <a:pPr algn="l"/>
            <a:r>
              <a:rPr sz="900" b="0" i="0">
                <a:solidFill>
                  <a:srgbClr val="B0C4DE"/>
                </a:solidFill>
              </a:rPr>
              <a:t>Produit ou prestation publié en 2 min</a:t>
            </a:r>
          </a:p>
        </p:txBody>
      </p:sp>
      <p:sp>
        <p:nvSpPr>
          <p:cNvPr id="49" name="Rectangle 48"/>
          <p:cNvSpPr/>
          <p:nvPr/>
        </p:nvSpPr>
        <p:spPr>
          <a:xfrm>
            <a:off x="320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04000" y="4536000"/>
            <a:ext cx="100800" cy="928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4000" y="4600800"/>
            <a:ext cx="2491200" cy="259200"/>
          </a:xfrm>
          <a:prstGeom prst="rect">
            <a:avLst/>
          </a:prstGeom>
          <a:noFill/>
        </p:spPr>
        <p:txBody>
          <a:bodyPr wrap="square">
            <a:spAutoFit/>
          </a:bodyPr>
          <a:lstStyle/>
          <a:p>
            <a:pPr algn="l"/>
            <a:r>
              <a:rPr sz="1100" b="1" i="0">
                <a:solidFill>
                  <a:srgbClr val="9B59B6"/>
                </a:solidFill>
              </a:rPr>
              <a:t>Navigation Intelligente</a:t>
            </a:r>
          </a:p>
        </p:txBody>
      </p:sp>
      <p:sp>
        <p:nvSpPr>
          <p:cNvPr id="52" name="TextBox 51"/>
          <p:cNvSpPr txBox="1"/>
          <p:nvPr/>
        </p:nvSpPr>
        <p:spPr>
          <a:xfrm>
            <a:off x="3384000" y="4860000"/>
            <a:ext cx="2491200" cy="550800"/>
          </a:xfrm>
          <a:prstGeom prst="rect">
            <a:avLst/>
          </a:prstGeom>
          <a:noFill/>
        </p:spPr>
        <p:txBody>
          <a:bodyPr wrap="square">
            <a:spAutoFit/>
          </a:bodyPr>
          <a:lstStyle/>
          <a:p>
            <a:pPr algn="l"/>
            <a:r>
              <a:rPr sz="900" b="0" i="0">
                <a:solidFill>
                  <a:srgbClr val="B0C4DE"/>
                </a:solidFill>
              </a:rPr>
              <a:t>Recherche prédictive &amp; recommandations</a:t>
            </a:r>
          </a:p>
        </p:txBody>
      </p:sp>
      <p:sp>
        <p:nvSpPr>
          <p:cNvPr id="53" name="Rectangle 52"/>
          <p:cNvSpPr/>
          <p:nvPr/>
        </p:nvSpPr>
        <p:spPr>
          <a:xfrm>
            <a:off x="617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4000" y="4536000"/>
            <a:ext cx="100800" cy="928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4000" y="4600800"/>
            <a:ext cx="2491200" cy="259200"/>
          </a:xfrm>
          <a:prstGeom prst="rect">
            <a:avLst/>
          </a:prstGeom>
          <a:noFill/>
        </p:spPr>
        <p:txBody>
          <a:bodyPr wrap="square">
            <a:spAutoFit/>
          </a:bodyPr>
          <a:lstStyle/>
          <a:p>
            <a:pPr algn="l"/>
            <a:r>
              <a:rPr sz="1100" b="1" i="0">
                <a:solidFill>
                  <a:srgbClr val="9B59B6"/>
                </a:solidFill>
              </a:rPr>
              <a:t>YukpoIA</a:t>
            </a:r>
          </a:p>
        </p:txBody>
      </p:sp>
      <p:sp>
        <p:nvSpPr>
          <p:cNvPr id="56" name="TextBox 55"/>
          <p:cNvSpPr txBox="1"/>
          <p:nvPr/>
        </p:nvSpPr>
        <p:spPr>
          <a:xfrm>
            <a:off x="6354000" y="4860000"/>
            <a:ext cx="2491200" cy="550800"/>
          </a:xfrm>
          <a:prstGeom prst="rect">
            <a:avLst/>
          </a:prstGeom>
          <a:noFill/>
        </p:spPr>
        <p:txBody>
          <a:bodyPr wrap="square">
            <a:spAutoFit/>
          </a:bodyPr>
          <a:lstStyle/>
          <a:p>
            <a:pPr algn="l"/>
            <a:r>
              <a:rPr sz="900" b="0" i="0">
                <a:solidFill>
                  <a:srgbClr val="B0C4DE"/>
                </a:solidFill>
              </a:rPr>
              <a:t>Assistant IA intégré — disponible 24h/24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5</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Modèle de Revenus — À la Consommation</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YUKPO génère des revenus sur chaque transaction réalisée sur la plateforme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40000"/>
            <a:ext cx="2718000" cy="482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40000"/>
            <a:ext cx="2718000" cy="93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700" y="1576800"/>
            <a:ext cx="2538000" cy="259200"/>
          </a:xfrm>
          <a:prstGeom prst="rect">
            <a:avLst/>
          </a:prstGeom>
          <a:noFill/>
        </p:spPr>
        <p:txBody>
          <a:bodyPr wrap="square">
            <a:spAutoFit/>
          </a:bodyPr>
          <a:lstStyle/>
          <a:p>
            <a:pPr algn="l"/>
            <a:r>
              <a:rPr sz="1100" b="1" i="0">
                <a:solidFill>
                  <a:srgbClr val="D4AF37"/>
                </a:solidFill>
              </a:rPr>
              <a:t>Commission sur Services</a:t>
            </a:r>
          </a:p>
        </p:txBody>
      </p:sp>
      <p:sp>
        <p:nvSpPr>
          <p:cNvPr id="12" name="TextBox 11"/>
          <p:cNvSpPr txBox="1"/>
          <p:nvPr/>
        </p:nvSpPr>
        <p:spPr>
          <a:xfrm>
            <a:off x="362700" y="1843200"/>
            <a:ext cx="2538000" cy="558000"/>
          </a:xfrm>
          <a:prstGeom prst="rect">
            <a:avLst/>
          </a:prstGeom>
          <a:noFill/>
        </p:spPr>
        <p:txBody>
          <a:bodyPr wrap="square">
            <a:spAutoFit/>
          </a:bodyPr>
          <a:lstStyle/>
          <a:p>
            <a:pPr algn="ctr"/>
            <a:r>
              <a:rPr sz="1800" b="1" i="0">
                <a:solidFill>
                  <a:srgbClr val="D4AF37"/>
                </a:solidFill>
              </a:rPr>
              <a:t>8 à 15 %
par prestation</a:t>
            </a:r>
          </a:p>
        </p:txBody>
      </p:sp>
      <p:sp>
        <p:nvSpPr>
          <p:cNvPr id="13" name="Rectangle 12"/>
          <p:cNvSpPr/>
          <p:nvPr/>
        </p:nvSpPr>
        <p:spPr>
          <a:xfrm>
            <a:off x="427500" y="2419200"/>
            <a:ext cx="2358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700" y="2484000"/>
            <a:ext cx="2538000" cy="3708000"/>
          </a:xfrm>
          <a:prstGeom prst="rect">
            <a:avLst/>
          </a:prstGeom>
          <a:noFill/>
        </p:spPr>
        <p:txBody>
          <a:bodyPr wrap="square">
            <a:spAutoFit/>
          </a:bodyPr>
          <a:lstStyle/>
          <a:p>
            <a:pPr algn="l"/>
            <a:r>
              <a:rPr sz="1000" b="0" i="0">
                <a:solidFill>
                  <a:srgbClr val="B0C4DE"/>
                </a:solidFill>
              </a:rPr>
              <a:t>Sur chaque course, livraison ou service réalisé, YUKPO prélève automatiquement une commission. Pilier principal : plus les utilisateurs commandent, plus les revenus augmentent sans coûts fixes supplémentaires.</a:t>
            </a:r>
          </a:p>
        </p:txBody>
      </p:sp>
      <p:sp>
        <p:nvSpPr>
          <p:cNvPr id="15" name="Rectangle 14"/>
          <p:cNvSpPr/>
          <p:nvPr/>
        </p:nvSpPr>
        <p:spPr>
          <a:xfrm>
            <a:off x="3213000" y="1440000"/>
            <a:ext cx="2718000" cy="482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3000" y="1440000"/>
            <a:ext cx="2718000" cy="93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200" y="1576800"/>
            <a:ext cx="2538000" cy="259200"/>
          </a:xfrm>
          <a:prstGeom prst="rect">
            <a:avLst/>
          </a:prstGeom>
          <a:noFill/>
        </p:spPr>
        <p:txBody>
          <a:bodyPr wrap="square">
            <a:spAutoFit/>
          </a:bodyPr>
          <a:lstStyle/>
          <a:p>
            <a:pPr algn="l"/>
            <a:r>
              <a:rPr sz="1100" b="1" i="0">
                <a:solidFill>
                  <a:srgbClr val="4FC3F7"/>
                </a:solidFill>
              </a:rPr>
              <a:t>Commission sur Ventes</a:t>
            </a:r>
          </a:p>
        </p:txBody>
      </p:sp>
      <p:sp>
        <p:nvSpPr>
          <p:cNvPr id="18" name="TextBox 17"/>
          <p:cNvSpPr txBox="1"/>
          <p:nvPr/>
        </p:nvSpPr>
        <p:spPr>
          <a:xfrm>
            <a:off x="3328200" y="1843200"/>
            <a:ext cx="2538000" cy="558000"/>
          </a:xfrm>
          <a:prstGeom prst="rect">
            <a:avLst/>
          </a:prstGeom>
          <a:noFill/>
        </p:spPr>
        <p:txBody>
          <a:bodyPr wrap="square">
            <a:spAutoFit/>
          </a:bodyPr>
          <a:lstStyle/>
          <a:p>
            <a:pPr algn="ctr"/>
            <a:r>
              <a:rPr sz="1800" b="1" i="0">
                <a:solidFill>
                  <a:srgbClr val="4FC3F7"/>
                </a:solidFill>
              </a:rPr>
              <a:t>5 à 12 %
par produit vendu</a:t>
            </a:r>
          </a:p>
        </p:txBody>
      </p:sp>
      <p:sp>
        <p:nvSpPr>
          <p:cNvPr id="19" name="Rectangle 18"/>
          <p:cNvSpPr/>
          <p:nvPr/>
        </p:nvSpPr>
        <p:spPr>
          <a:xfrm>
            <a:off x="3393000" y="2419200"/>
            <a:ext cx="2358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8200" y="2484000"/>
            <a:ext cx="2538000" cy="3708000"/>
          </a:xfrm>
          <a:prstGeom prst="rect">
            <a:avLst/>
          </a:prstGeom>
          <a:noFill/>
        </p:spPr>
        <p:txBody>
          <a:bodyPr wrap="square">
            <a:spAutoFit/>
          </a:bodyPr>
          <a:lstStyle/>
          <a:p>
            <a:pPr algn="l"/>
            <a:r>
              <a:rPr sz="1000" b="0" i="0">
                <a:solidFill>
                  <a:srgbClr val="B0C4DE"/>
                </a:solidFill>
              </a:rPr>
              <a:t>Chaque vente de produit physique (pharmacie, alimentation, électroménager, Bourse du Livre, mode...) génère une commission directe. Le catalogue en ligne constitue un marché à fort potentiel de volume.</a:t>
            </a:r>
          </a:p>
        </p:txBody>
      </p:sp>
      <p:sp>
        <p:nvSpPr>
          <p:cNvPr id="21" name="Rectangle 20"/>
          <p:cNvSpPr/>
          <p:nvPr/>
        </p:nvSpPr>
        <p:spPr>
          <a:xfrm>
            <a:off x="6178500" y="1440000"/>
            <a:ext cx="2718000" cy="482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500" y="1440000"/>
            <a:ext cx="2718000" cy="93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3700" y="1576800"/>
            <a:ext cx="2538000" cy="259200"/>
          </a:xfrm>
          <a:prstGeom prst="rect">
            <a:avLst/>
          </a:prstGeom>
          <a:noFill/>
        </p:spPr>
        <p:txBody>
          <a:bodyPr wrap="square">
            <a:spAutoFit/>
          </a:bodyPr>
          <a:lstStyle/>
          <a:p>
            <a:pPr algn="l"/>
            <a:r>
              <a:rPr sz="1100" b="1" i="0">
                <a:solidFill>
                  <a:srgbClr val="00C87A"/>
                </a:solidFill>
              </a:rPr>
              <a:t>Mise en Avant Commerciale</a:t>
            </a:r>
          </a:p>
        </p:txBody>
      </p:sp>
      <p:sp>
        <p:nvSpPr>
          <p:cNvPr id="24" name="TextBox 23"/>
          <p:cNvSpPr txBox="1"/>
          <p:nvPr/>
        </p:nvSpPr>
        <p:spPr>
          <a:xfrm>
            <a:off x="6293700" y="1843200"/>
            <a:ext cx="2538000" cy="558000"/>
          </a:xfrm>
          <a:prstGeom prst="rect">
            <a:avLst/>
          </a:prstGeom>
          <a:noFill/>
        </p:spPr>
        <p:txBody>
          <a:bodyPr wrap="square">
            <a:spAutoFit/>
          </a:bodyPr>
          <a:lstStyle/>
          <a:p>
            <a:pPr algn="ctr"/>
            <a:r>
              <a:rPr sz="1800" b="1" i="0">
                <a:solidFill>
                  <a:srgbClr val="00C87A"/>
                </a:solidFill>
              </a:rPr>
              <a:t>Forfaits mensuels
prestataires &amp; boutiques</a:t>
            </a:r>
          </a:p>
        </p:txBody>
      </p:sp>
      <p:sp>
        <p:nvSpPr>
          <p:cNvPr id="25" name="Rectangle 24"/>
          <p:cNvSpPr/>
          <p:nvPr/>
        </p:nvSpPr>
        <p:spPr>
          <a:xfrm>
            <a:off x="6358500" y="2419200"/>
            <a:ext cx="2358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3700" y="2484000"/>
            <a:ext cx="2538000" cy="3708000"/>
          </a:xfrm>
          <a:prstGeom prst="rect">
            <a:avLst/>
          </a:prstGeom>
          <a:noFill/>
        </p:spPr>
        <p:txBody>
          <a:bodyPr wrap="square">
            <a:spAutoFit/>
          </a:bodyPr>
          <a:lstStyle/>
          <a:p>
            <a:pPr algn="l"/>
            <a:r>
              <a:rPr sz="1000" b="0" i="0">
                <a:solidFill>
                  <a:srgbClr val="B0C4DE"/>
                </a:solidFill>
              </a:rPr>
              <a:t>Les vendeurs et prestataires paient pour être mis en avant, apparaître en première position dans leur catégorie ou lancer des promotions ciblées. Revenu passif non lié au volume.</a:t>
            </a:r>
          </a:p>
        </p:txBody>
      </p:sp>
      <p:sp>
        <p:nvSpPr>
          <p:cNvPr id="27" name="Rectangle 26"/>
          <p:cNvSpPr/>
          <p:nvPr/>
        </p:nvSpPr>
        <p:spPr>
          <a:xfrm>
            <a:off x="180000" y="6354001"/>
            <a:ext cx="8784000" cy="27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00" y="6361201"/>
            <a:ext cx="8568000" cy="259200"/>
          </a:xfrm>
          <a:prstGeom prst="rect">
            <a:avLst/>
          </a:prstGeom>
          <a:noFill/>
        </p:spPr>
        <p:txBody>
          <a:bodyPr wrap="square">
            <a:spAutoFit/>
          </a:bodyPr>
          <a:lstStyle/>
          <a:p>
            <a:pPr algn="ctr"/>
            <a:r>
              <a:rPr sz="1000" b="0" i="1">
                <a:solidFill>
                  <a:srgbClr val="D4AF37"/>
                </a:solidFill>
              </a:rPr>
              <a:t>Pas d'abonnement imposé — YUKPO mise sur la fréquence d'usage et la valeur de chaque transaction.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6</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Entonnoir de Marché — Yaoundé + Douala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Un potentiel de monétisation massif, progressivement activé</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8856000"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00" y="1529999"/>
            <a:ext cx="5490720" cy="655200"/>
          </a:xfrm>
          <a:prstGeom prst="rect">
            <a:avLst/>
          </a:prstGeom>
          <a:noFill/>
        </p:spPr>
        <p:txBody>
          <a:bodyPr wrap="square">
            <a:spAutoFit/>
          </a:bodyPr>
          <a:lstStyle/>
          <a:p>
            <a:pPr algn="l"/>
            <a:r>
              <a:rPr sz="1100" b="0" i="0">
                <a:solidFill>
                  <a:srgbClr val="FFFFFF"/>
                </a:solidFill>
              </a:rPr>
              <a:t>Population urbaine Yaoundé + Douala</a:t>
            </a:r>
          </a:p>
        </p:txBody>
      </p:sp>
      <p:sp>
        <p:nvSpPr>
          <p:cNvPr id="11" name="TextBox 10"/>
          <p:cNvSpPr txBox="1"/>
          <p:nvPr/>
        </p:nvSpPr>
        <p:spPr>
          <a:xfrm>
            <a:off x="5811840" y="1529999"/>
            <a:ext cx="3011040" cy="655200"/>
          </a:xfrm>
          <a:prstGeom prst="rect">
            <a:avLst/>
          </a:prstGeom>
          <a:noFill/>
        </p:spPr>
        <p:txBody>
          <a:bodyPr wrap="square">
            <a:spAutoFit/>
          </a:bodyPr>
          <a:lstStyle/>
          <a:p>
            <a:pPr algn="r"/>
            <a:r>
              <a:rPr sz="1300" b="1" i="0">
                <a:solidFill>
                  <a:srgbClr val="D4AF37"/>
                </a:solidFill>
              </a:rPr>
              <a:t>7 500 000 hab.</a:t>
            </a:r>
          </a:p>
        </p:txBody>
      </p:sp>
      <p:sp>
        <p:nvSpPr>
          <p:cNvPr id="12" name="Rectangle 11"/>
          <p:cNvSpPr/>
          <p:nvPr/>
        </p:nvSpPr>
        <p:spPr>
          <a:xfrm>
            <a:off x="503999" y="2210399"/>
            <a:ext cx="8136001"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999" y="2264399"/>
            <a:ext cx="5044320" cy="655200"/>
          </a:xfrm>
          <a:prstGeom prst="rect">
            <a:avLst/>
          </a:prstGeom>
          <a:noFill/>
        </p:spPr>
        <p:txBody>
          <a:bodyPr wrap="square">
            <a:spAutoFit/>
          </a:bodyPr>
          <a:lstStyle/>
          <a:p>
            <a:pPr algn="l"/>
            <a:r>
              <a:rPr sz="1100" b="0" i="0">
                <a:solidFill>
                  <a:srgbClr val="B0C4DE"/>
                </a:solidFill>
              </a:rPr>
              <a:t>Utilisateurs smartphone actifs</a:t>
            </a:r>
          </a:p>
        </p:txBody>
      </p:sp>
      <p:sp>
        <p:nvSpPr>
          <p:cNvPr id="14" name="TextBox 13"/>
          <p:cNvSpPr txBox="1"/>
          <p:nvPr/>
        </p:nvSpPr>
        <p:spPr>
          <a:xfrm>
            <a:off x="5711039" y="2264399"/>
            <a:ext cx="2766240" cy="655200"/>
          </a:xfrm>
          <a:prstGeom prst="rect">
            <a:avLst/>
          </a:prstGeom>
          <a:noFill/>
        </p:spPr>
        <p:txBody>
          <a:bodyPr wrap="square">
            <a:spAutoFit/>
          </a:bodyPr>
          <a:lstStyle/>
          <a:p>
            <a:pPr algn="r"/>
            <a:r>
              <a:rPr sz="1300" b="1" i="0">
                <a:solidFill>
                  <a:srgbClr val="D4AF37"/>
                </a:solidFill>
              </a:rPr>
              <a:t>4 500 000</a:t>
            </a:r>
          </a:p>
        </p:txBody>
      </p:sp>
      <p:sp>
        <p:nvSpPr>
          <p:cNvPr id="15" name="Rectangle 14"/>
          <p:cNvSpPr/>
          <p:nvPr/>
        </p:nvSpPr>
        <p:spPr>
          <a:xfrm>
            <a:off x="1007999" y="2944799"/>
            <a:ext cx="7128001"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1999" y="2998799"/>
            <a:ext cx="4419360" cy="655200"/>
          </a:xfrm>
          <a:prstGeom prst="rect">
            <a:avLst/>
          </a:prstGeom>
          <a:noFill/>
        </p:spPr>
        <p:txBody>
          <a:bodyPr wrap="square">
            <a:spAutoFit/>
          </a:bodyPr>
          <a:lstStyle/>
          <a:p>
            <a:pPr algn="l"/>
            <a:r>
              <a:rPr sz="1100" b="0" i="0">
                <a:solidFill>
                  <a:srgbClr val="D4AF37"/>
                </a:solidFill>
              </a:rPr>
              <a:t>Cible YUKPO — Année 1</a:t>
            </a:r>
          </a:p>
        </p:txBody>
      </p:sp>
      <p:sp>
        <p:nvSpPr>
          <p:cNvPr id="17" name="TextBox 16"/>
          <p:cNvSpPr txBox="1"/>
          <p:nvPr/>
        </p:nvSpPr>
        <p:spPr>
          <a:xfrm>
            <a:off x="5569919" y="2998799"/>
            <a:ext cx="2423520" cy="655200"/>
          </a:xfrm>
          <a:prstGeom prst="rect">
            <a:avLst/>
          </a:prstGeom>
          <a:noFill/>
        </p:spPr>
        <p:txBody>
          <a:bodyPr wrap="square">
            <a:spAutoFit/>
          </a:bodyPr>
          <a:lstStyle/>
          <a:p>
            <a:pPr algn="r"/>
            <a:r>
              <a:rPr sz="1300" b="1" i="0">
                <a:solidFill>
                  <a:srgbClr val="D4AF37"/>
                </a:solidFill>
              </a:rPr>
              <a:t>120 000 utilisateurs</a:t>
            </a:r>
          </a:p>
        </p:txBody>
      </p:sp>
      <p:sp>
        <p:nvSpPr>
          <p:cNvPr id="18" name="Rectangle 17"/>
          <p:cNvSpPr/>
          <p:nvPr/>
        </p:nvSpPr>
        <p:spPr>
          <a:xfrm>
            <a:off x="1655999" y="3679199"/>
            <a:ext cx="5832001" cy="655200"/>
          </a:xfrm>
          <a:prstGeom prst="rect">
            <a:avLst/>
          </a:prstGeom>
          <a:solidFill>
            <a:srgbClr val="0A301A"/>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99999" y="3733199"/>
            <a:ext cx="3615840" cy="655200"/>
          </a:xfrm>
          <a:prstGeom prst="rect">
            <a:avLst/>
          </a:prstGeom>
          <a:noFill/>
        </p:spPr>
        <p:txBody>
          <a:bodyPr wrap="square">
            <a:spAutoFit/>
          </a:bodyPr>
          <a:lstStyle/>
          <a:p>
            <a:pPr algn="l"/>
            <a:r>
              <a:rPr sz="1100" b="0" i="0">
                <a:solidFill>
                  <a:srgbClr val="D4AF37"/>
                </a:solidFill>
              </a:rPr>
              <a:t>Utilisateurs actifs / mois (objectif)</a:t>
            </a:r>
          </a:p>
        </p:txBody>
      </p:sp>
      <p:sp>
        <p:nvSpPr>
          <p:cNvPr id="20" name="TextBox 19"/>
          <p:cNvSpPr txBox="1"/>
          <p:nvPr/>
        </p:nvSpPr>
        <p:spPr>
          <a:xfrm>
            <a:off x="5388479" y="3733199"/>
            <a:ext cx="1982880" cy="655200"/>
          </a:xfrm>
          <a:prstGeom prst="rect">
            <a:avLst/>
          </a:prstGeom>
          <a:noFill/>
        </p:spPr>
        <p:txBody>
          <a:bodyPr wrap="square">
            <a:spAutoFit/>
          </a:bodyPr>
          <a:lstStyle/>
          <a:p>
            <a:pPr algn="r"/>
            <a:r>
              <a:rPr sz="1300" b="1" i="0">
                <a:solidFill>
                  <a:srgbClr val="D4AF37"/>
                </a:solidFill>
              </a:rPr>
              <a:t>25 000</a:t>
            </a:r>
          </a:p>
        </p:txBody>
      </p:sp>
      <p:sp>
        <p:nvSpPr>
          <p:cNvPr id="21" name="Rectangle 20"/>
          <p:cNvSpPr/>
          <p:nvPr/>
        </p:nvSpPr>
        <p:spPr>
          <a:xfrm>
            <a:off x="2448000" y="4413599"/>
            <a:ext cx="4248000" cy="655200"/>
          </a:xfrm>
          <a:prstGeom prst="rect">
            <a:avLst/>
          </a:prstGeom>
          <a:solidFill>
            <a:srgbClr val="0A301A"/>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92000" y="4467599"/>
            <a:ext cx="2633760" cy="655200"/>
          </a:xfrm>
          <a:prstGeom prst="rect">
            <a:avLst/>
          </a:prstGeom>
          <a:noFill/>
        </p:spPr>
        <p:txBody>
          <a:bodyPr wrap="square">
            <a:spAutoFit/>
          </a:bodyPr>
          <a:lstStyle/>
          <a:p>
            <a:pPr algn="l"/>
            <a:r>
              <a:rPr sz="1100" b="0" i="0">
                <a:solidFill>
                  <a:srgbClr val="00C87A"/>
                </a:solidFill>
              </a:rPr>
              <a:t>Commandeurs réguliers (2 cmd+/mois)</a:t>
            </a:r>
          </a:p>
        </p:txBody>
      </p:sp>
      <p:sp>
        <p:nvSpPr>
          <p:cNvPr id="23" name="TextBox 22"/>
          <p:cNvSpPr txBox="1"/>
          <p:nvPr/>
        </p:nvSpPr>
        <p:spPr>
          <a:xfrm>
            <a:off x="5166720" y="4467599"/>
            <a:ext cx="1444320" cy="655200"/>
          </a:xfrm>
          <a:prstGeom prst="rect">
            <a:avLst/>
          </a:prstGeom>
          <a:noFill/>
        </p:spPr>
        <p:txBody>
          <a:bodyPr wrap="square">
            <a:spAutoFit/>
          </a:bodyPr>
          <a:lstStyle/>
          <a:p>
            <a:pPr algn="r"/>
            <a:r>
              <a:rPr sz="1300" b="1" i="0">
                <a:solidFill>
                  <a:srgbClr val="D4AF37"/>
                </a:solidFill>
              </a:rPr>
              <a:t>8 000</a:t>
            </a:r>
          </a:p>
        </p:txBody>
      </p:sp>
      <p:sp>
        <p:nvSpPr>
          <p:cNvPr id="24" name="Rectangle 23"/>
          <p:cNvSpPr/>
          <p:nvPr/>
        </p:nvSpPr>
        <p:spPr>
          <a:xfrm>
            <a:off x="144000" y="5382000"/>
            <a:ext cx="8856000" cy="25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000" y="5472000"/>
            <a:ext cx="4389120" cy="288000"/>
          </a:xfrm>
          <a:prstGeom prst="rect">
            <a:avLst/>
          </a:prstGeom>
          <a:noFill/>
        </p:spPr>
        <p:txBody>
          <a:bodyPr wrap="square">
            <a:spAutoFit/>
          </a:bodyPr>
          <a:lstStyle/>
          <a:p>
            <a:pPr algn="l"/>
            <a:r>
              <a:rPr sz="1100" b="0" i="1">
                <a:solidFill>
                  <a:srgbClr val="4FC3F7"/>
                </a:solidFill>
              </a:rPr>
              <a:t>Extension 2027 : Bafoussam + densification nationale</a:t>
            </a:r>
          </a:p>
        </p:txBody>
      </p:sp>
      <p:sp>
        <p:nvSpPr>
          <p:cNvPr id="26" name="TextBox 25"/>
          <p:cNvSpPr txBox="1"/>
          <p:nvPr/>
        </p:nvSpPr>
        <p:spPr>
          <a:xfrm>
            <a:off x="4754880" y="5472000"/>
            <a:ext cx="4206240" cy="288000"/>
          </a:xfrm>
          <a:prstGeom prst="rect">
            <a:avLst/>
          </a:prstGeom>
          <a:noFill/>
        </p:spPr>
        <p:txBody>
          <a:bodyPr wrap="square">
            <a:spAutoFit/>
          </a:bodyPr>
          <a:lstStyle/>
          <a:p>
            <a:pPr algn="r"/>
            <a:r>
              <a:rPr sz="1100" b="0" i="1">
                <a:solidFill>
                  <a:srgbClr val="FF9933"/>
                </a:solidFill>
              </a:rPr>
              <a:t>International : Côte d'Ivoire (Q4 2027)  |  Sénégal (S2 2028)</a:t>
            </a:r>
          </a:p>
        </p:txBody>
      </p:sp>
      <p:sp>
        <p:nvSpPr>
          <p:cNvPr id="27" name="Rectangle 26"/>
          <p:cNvSpPr/>
          <p:nvPr/>
        </p:nvSpPr>
        <p:spPr>
          <a:xfrm>
            <a:off x="144000" y="5850000"/>
            <a:ext cx="8856000" cy="48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00" y="5903999"/>
            <a:ext cx="8568000" cy="378000"/>
          </a:xfrm>
          <a:prstGeom prst="rect">
            <a:avLst/>
          </a:prstGeom>
          <a:noFill/>
        </p:spPr>
        <p:txBody>
          <a:bodyPr wrap="square">
            <a:spAutoFit/>
          </a:bodyPr>
          <a:lstStyle/>
          <a:p>
            <a:pPr algn="ctr"/>
            <a:r>
              <a:rPr sz="1300" b="1" i="0">
                <a:solidFill>
                  <a:srgbClr val="D4AF37"/>
                </a:solidFill>
              </a:rPr>
              <a:t>Marché adressable cumulé Yaoundé + Douala (2028) :  8,5 milliards FCFA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7</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Analyse Concurrentielle — Positionnement YUKPO</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Score /5 sur 6 dimensions clés — YUKPO domine toutes les catégories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58000"/>
            <a:ext cx="1584000" cy="413999"/>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00" y="1530000"/>
            <a:ext cx="1476000" cy="305999"/>
          </a:xfrm>
          <a:prstGeom prst="rect">
            <a:avLst/>
          </a:prstGeom>
          <a:noFill/>
        </p:spPr>
        <p:txBody>
          <a:bodyPr wrap="square">
            <a:spAutoFit/>
          </a:bodyPr>
          <a:lstStyle/>
          <a:p>
            <a:pPr algn="ctr"/>
            <a:r>
              <a:rPr sz="1000" b="1" i="0">
                <a:solidFill>
                  <a:srgbClr val="B0C4DE"/>
                </a:solidFill>
              </a:rPr>
              <a:t>Dimension clé</a:t>
            </a:r>
          </a:p>
        </p:txBody>
      </p:sp>
      <p:sp>
        <p:nvSpPr>
          <p:cNvPr id="11" name="Rectangle 10"/>
          <p:cNvSpPr/>
          <p:nvPr/>
        </p:nvSpPr>
        <p:spPr>
          <a:xfrm>
            <a:off x="1728000" y="1458000"/>
            <a:ext cx="1004400" cy="413999"/>
          </a:xfrm>
          <a:prstGeom prst="rect">
            <a:avLst/>
          </a:prstGeom>
          <a:solidFill>
            <a:srgbClr val="D4AF3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64000" y="1530000"/>
            <a:ext cx="954000" cy="305999"/>
          </a:xfrm>
          <a:prstGeom prst="rect">
            <a:avLst/>
          </a:prstGeom>
          <a:noFill/>
        </p:spPr>
        <p:txBody>
          <a:bodyPr wrap="square">
            <a:spAutoFit/>
          </a:bodyPr>
          <a:lstStyle/>
          <a:p>
            <a:pPr algn="ctr"/>
            <a:r>
              <a:rPr sz="1100" b="1" i="0">
                <a:solidFill>
                  <a:srgbClr val="0B1E42"/>
                </a:solidFill>
              </a:rPr>
              <a:t>YUKPO</a:t>
            </a:r>
          </a:p>
        </p:txBody>
      </p:sp>
      <p:sp>
        <p:nvSpPr>
          <p:cNvPr id="13" name="Rectangle 12"/>
          <p:cNvSpPr/>
          <p:nvPr/>
        </p:nvSpPr>
        <p:spPr>
          <a:xfrm>
            <a:off x="2754000" y="1458000"/>
            <a:ext cx="1004400" cy="413999"/>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0000" y="1530000"/>
            <a:ext cx="954000" cy="305999"/>
          </a:xfrm>
          <a:prstGeom prst="rect">
            <a:avLst/>
          </a:prstGeom>
          <a:noFill/>
        </p:spPr>
        <p:txBody>
          <a:bodyPr wrap="square">
            <a:spAutoFit/>
          </a:bodyPr>
          <a:lstStyle/>
          <a:p>
            <a:pPr algn="ctr"/>
            <a:r>
              <a:rPr sz="1100" b="1" i="0">
                <a:solidFill>
                  <a:srgbClr val="4FC3F7"/>
                </a:solidFill>
              </a:rPr>
              <a:t>Yango</a:t>
            </a:r>
          </a:p>
        </p:txBody>
      </p:sp>
      <p:sp>
        <p:nvSpPr>
          <p:cNvPr id="15" name="Rectangle 14"/>
          <p:cNvSpPr/>
          <p:nvPr/>
        </p:nvSpPr>
        <p:spPr>
          <a:xfrm>
            <a:off x="3780000" y="1458000"/>
            <a:ext cx="1004400" cy="413999"/>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6000" y="1530000"/>
            <a:ext cx="954000" cy="305999"/>
          </a:xfrm>
          <a:prstGeom prst="rect">
            <a:avLst/>
          </a:prstGeom>
          <a:noFill/>
        </p:spPr>
        <p:txBody>
          <a:bodyPr wrap="square">
            <a:spAutoFit/>
          </a:bodyPr>
          <a:lstStyle/>
          <a:p>
            <a:pPr algn="ctr"/>
            <a:r>
              <a:rPr sz="1100" b="1" i="0">
                <a:solidFill>
                  <a:srgbClr val="00C87A"/>
                </a:solidFill>
              </a:rPr>
              <a:t>Jumia Food</a:t>
            </a:r>
          </a:p>
        </p:txBody>
      </p:sp>
      <p:sp>
        <p:nvSpPr>
          <p:cNvPr id="17" name="Rectangle 16"/>
          <p:cNvSpPr/>
          <p:nvPr/>
        </p:nvSpPr>
        <p:spPr>
          <a:xfrm>
            <a:off x="4806000" y="1458000"/>
            <a:ext cx="1004400" cy="413999"/>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2000" y="1530000"/>
            <a:ext cx="954000" cy="305999"/>
          </a:xfrm>
          <a:prstGeom prst="rect">
            <a:avLst/>
          </a:prstGeom>
          <a:noFill/>
        </p:spPr>
        <p:txBody>
          <a:bodyPr wrap="square">
            <a:spAutoFit/>
          </a:bodyPr>
          <a:lstStyle/>
          <a:p>
            <a:pPr algn="ctr"/>
            <a:r>
              <a:rPr sz="1100" b="1" i="0">
                <a:solidFill>
                  <a:srgbClr val="FF9933"/>
                </a:solidFill>
              </a:rPr>
              <a:t>Locaux</a:t>
            </a:r>
          </a:p>
        </p:txBody>
      </p:sp>
      <p:sp>
        <p:nvSpPr>
          <p:cNvPr id="19" name="Rectangle 18"/>
          <p:cNvSpPr/>
          <p:nvPr/>
        </p:nvSpPr>
        <p:spPr>
          <a:xfrm>
            <a:off x="144000" y="1871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4000" y="1925999"/>
            <a:ext cx="1440000" cy="666000"/>
          </a:xfrm>
          <a:prstGeom prst="rect">
            <a:avLst/>
          </a:prstGeom>
          <a:noFill/>
        </p:spPr>
        <p:txBody>
          <a:bodyPr wrap="square">
            <a:spAutoFit/>
          </a:bodyPr>
          <a:lstStyle/>
          <a:p>
            <a:pPr algn="l"/>
            <a:r>
              <a:rPr sz="1000" b="0" i="0">
                <a:solidFill>
                  <a:srgbClr val="FFFFFF"/>
                </a:solidFill>
              </a:rPr>
              <a:t>Services intégrés</a:t>
            </a:r>
          </a:p>
        </p:txBody>
      </p:sp>
      <p:sp>
        <p:nvSpPr>
          <p:cNvPr id="21" name="Rectangle 20"/>
          <p:cNvSpPr/>
          <p:nvPr/>
        </p:nvSpPr>
        <p:spPr>
          <a:xfrm>
            <a:off x="1728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4000" y="2042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34000" y="2042999"/>
            <a:ext cx="413999" cy="413999"/>
          </a:xfrm>
          <a:prstGeom prst="rect">
            <a:avLst/>
          </a:prstGeom>
          <a:noFill/>
        </p:spPr>
        <p:txBody>
          <a:bodyPr wrap="square">
            <a:spAutoFit/>
          </a:bodyPr>
          <a:lstStyle/>
          <a:p>
            <a:pPr algn="ctr"/>
            <a:r>
              <a:rPr sz="1400" b="1" i="0">
                <a:solidFill>
                  <a:srgbClr val="0B1E42"/>
                </a:solidFill>
              </a:rPr>
              <a:t>5</a:t>
            </a:r>
          </a:p>
        </p:txBody>
      </p:sp>
      <p:sp>
        <p:nvSpPr>
          <p:cNvPr id="24" name="Rectangle 23"/>
          <p:cNvSpPr/>
          <p:nvPr/>
        </p:nvSpPr>
        <p:spPr>
          <a:xfrm>
            <a:off x="2754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60000" y="204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0000" y="2042999"/>
            <a:ext cx="413999" cy="413999"/>
          </a:xfrm>
          <a:prstGeom prst="rect">
            <a:avLst/>
          </a:prstGeom>
          <a:noFill/>
        </p:spPr>
        <p:txBody>
          <a:bodyPr wrap="square">
            <a:spAutoFit/>
          </a:bodyPr>
          <a:lstStyle/>
          <a:p>
            <a:pPr algn="ctr"/>
            <a:r>
              <a:rPr sz="1400" b="1" i="0">
                <a:solidFill>
                  <a:srgbClr val="0B1E42"/>
                </a:solidFill>
              </a:rPr>
              <a:t>2</a:t>
            </a:r>
          </a:p>
        </p:txBody>
      </p:sp>
      <p:sp>
        <p:nvSpPr>
          <p:cNvPr id="27" name="Rectangle 26"/>
          <p:cNvSpPr/>
          <p:nvPr/>
        </p:nvSpPr>
        <p:spPr>
          <a:xfrm>
            <a:off x="3780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86000" y="204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6000" y="2042999"/>
            <a:ext cx="413999" cy="413999"/>
          </a:xfrm>
          <a:prstGeom prst="rect">
            <a:avLst/>
          </a:prstGeom>
          <a:noFill/>
        </p:spPr>
        <p:txBody>
          <a:bodyPr wrap="square">
            <a:spAutoFit/>
          </a:bodyPr>
          <a:lstStyle/>
          <a:p>
            <a:pPr algn="ctr"/>
            <a:r>
              <a:rPr sz="1400" b="1" i="0">
                <a:solidFill>
                  <a:srgbClr val="0B1E42"/>
                </a:solidFill>
              </a:rPr>
              <a:t>2</a:t>
            </a:r>
          </a:p>
        </p:txBody>
      </p:sp>
      <p:sp>
        <p:nvSpPr>
          <p:cNvPr id="30" name="Rectangle 29"/>
          <p:cNvSpPr/>
          <p:nvPr/>
        </p:nvSpPr>
        <p:spPr>
          <a:xfrm>
            <a:off x="4806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12000" y="2042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12000" y="2042999"/>
            <a:ext cx="413999" cy="413999"/>
          </a:xfrm>
          <a:prstGeom prst="rect">
            <a:avLst/>
          </a:prstGeom>
          <a:noFill/>
        </p:spPr>
        <p:txBody>
          <a:bodyPr wrap="square">
            <a:spAutoFit/>
          </a:bodyPr>
          <a:lstStyle/>
          <a:p>
            <a:pPr algn="ctr"/>
            <a:r>
              <a:rPr sz="1400" b="1" i="0">
                <a:solidFill>
                  <a:srgbClr val="FFFFFF"/>
                </a:solidFill>
              </a:rPr>
              <a:t>1</a:t>
            </a:r>
          </a:p>
        </p:txBody>
      </p:sp>
      <p:sp>
        <p:nvSpPr>
          <p:cNvPr id="33" name="Rectangle 32"/>
          <p:cNvSpPr/>
          <p:nvPr/>
        </p:nvSpPr>
        <p:spPr>
          <a:xfrm>
            <a:off x="144000" y="2627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4000" y="2681999"/>
            <a:ext cx="1440000" cy="666000"/>
          </a:xfrm>
          <a:prstGeom prst="rect">
            <a:avLst/>
          </a:prstGeom>
          <a:noFill/>
        </p:spPr>
        <p:txBody>
          <a:bodyPr wrap="square">
            <a:spAutoFit/>
          </a:bodyPr>
          <a:lstStyle/>
          <a:p>
            <a:pPr algn="l"/>
            <a:r>
              <a:rPr sz="1000" b="0" i="0">
                <a:solidFill>
                  <a:srgbClr val="FFFFFF"/>
                </a:solidFill>
              </a:rPr>
              <a:t>Présence locale</a:t>
            </a:r>
          </a:p>
        </p:txBody>
      </p:sp>
      <p:sp>
        <p:nvSpPr>
          <p:cNvPr id="35" name="Rectangle 34"/>
          <p:cNvSpPr/>
          <p:nvPr/>
        </p:nvSpPr>
        <p:spPr>
          <a:xfrm>
            <a:off x="1728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34000" y="2798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34000" y="2798999"/>
            <a:ext cx="413999" cy="413999"/>
          </a:xfrm>
          <a:prstGeom prst="rect">
            <a:avLst/>
          </a:prstGeom>
          <a:noFill/>
        </p:spPr>
        <p:txBody>
          <a:bodyPr wrap="square">
            <a:spAutoFit/>
          </a:bodyPr>
          <a:lstStyle/>
          <a:p>
            <a:pPr algn="ctr"/>
            <a:r>
              <a:rPr sz="1400" b="1" i="0">
                <a:solidFill>
                  <a:srgbClr val="0B1E42"/>
                </a:solidFill>
              </a:rPr>
              <a:t>5</a:t>
            </a:r>
          </a:p>
        </p:txBody>
      </p:sp>
      <p:sp>
        <p:nvSpPr>
          <p:cNvPr id="38" name="Rectangle 37"/>
          <p:cNvSpPr/>
          <p:nvPr/>
        </p:nvSpPr>
        <p:spPr>
          <a:xfrm>
            <a:off x="2754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060000" y="2798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60000" y="2798999"/>
            <a:ext cx="413999" cy="413999"/>
          </a:xfrm>
          <a:prstGeom prst="rect">
            <a:avLst/>
          </a:prstGeom>
          <a:noFill/>
        </p:spPr>
        <p:txBody>
          <a:bodyPr wrap="square">
            <a:spAutoFit/>
          </a:bodyPr>
          <a:lstStyle/>
          <a:p>
            <a:pPr algn="ctr"/>
            <a:r>
              <a:rPr sz="1400" b="1" i="0">
                <a:solidFill>
                  <a:srgbClr val="0B1E42"/>
                </a:solidFill>
              </a:rPr>
              <a:t>3</a:t>
            </a:r>
          </a:p>
        </p:txBody>
      </p:sp>
      <p:sp>
        <p:nvSpPr>
          <p:cNvPr id="41" name="Rectangle 40"/>
          <p:cNvSpPr/>
          <p:nvPr/>
        </p:nvSpPr>
        <p:spPr>
          <a:xfrm>
            <a:off x="3780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086000" y="2798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86000" y="2798999"/>
            <a:ext cx="413999" cy="413999"/>
          </a:xfrm>
          <a:prstGeom prst="rect">
            <a:avLst/>
          </a:prstGeom>
          <a:noFill/>
        </p:spPr>
        <p:txBody>
          <a:bodyPr wrap="square">
            <a:spAutoFit/>
          </a:bodyPr>
          <a:lstStyle/>
          <a:p>
            <a:pPr algn="ctr"/>
            <a:r>
              <a:rPr sz="1400" b="1" i="0">
                <a:solidFill>
                  <a:srgbClr val="0B1E42"/>
                </a:solidFill>
              </a:rPr>
              <a:t>2</a:t>
            </a:r>
          </a:p>
        </p:txBody>
      </p:sp>
      <p:sp>
        <p:nvSpPr>
          <p:cNvPr id="44" name="Rectangle 43"/>
          <p:cNvSpPr/>
          <p:nvPr/>
        </p:nvSpPr>
        <p:spPr>
          <a:xfrm>
            <a:off x="4806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112000" y="2798999"/>
            <a:ext cx="413999" cy="413999"/>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2798999"/>
            <a:ext cx="413999" cy="413999"/>
          </a:xfrm>
          <a:prstGeom prst="rect">
            <a:avLst/>
          </a:prstGeom>
          <a:noFill/>
        </p:spPr>
        <p:txBody>
          <a:bodyPr wrap="square">
            <a:spAutoFit/>
          </a:bodyPr>
          <a:lstStyle/>
          <a:p>
            <a:pPr algn="ctr"/>
            <a:r>
              <a:rPr sz="1400" b="1" i="0">
                <a:solidFill>
                  <a:srgbClr val="0B1E42"/>
                </a:solidFill>
              </a:rPr>
              <a:t>4</a:t>
            </a:r>
          </a:p>
        </p:txBody>
      </p:sp>
      <p:sp>
        <p:nvSpPr>
          <p:cNvPr id="47" name="Rectangle 46"/>
          <p:cNvSpPr/>
          <p:nvPr/>
        </p:nvSpPr>
        <p:spPr>
          <a:xfrm>
            <a:off x="144000" y="3383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4000" y="3437999"/>
            <a:ext cx="1440000" cy="666000"/>
          </a:xfrm>
          <a:prstGeom prst="rect">
            <a:avLst/>
          </a:prstGeom>
          <a:noFill/>
        </p:spPr>
        <p:txBody>
          <a:bodyPr wrap="square">
            <a:spAutoFit/>
          </a:bodyPr>
          <a:lstStyle/>
          <a:p>
            <a:pPr algn="l"/>
            <a:r>
              <a:rPr sz="1000" b="0" i="0">
                <a:solidFill>
                  <a:srgbClr val="FFFFFF"/>
                </a:solidFill>
              </a:rPr>
              <a:t>Fiabilité &amp; Avis</a:t>
            </a:r>
          </a:p>
        </p:txBody>
      </p:sp>
      <p:sp>
        <p:nvSpPr>
          <p:cNvPr id="49" name="Rectangle 48"/>
          <p:cNvSpPr/>
          <p:nvPr/>
        </p:nvSpPr>
        <p:spPr>
          <a:xfrm>
            <a:off x="1728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34000" y="3554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034000" y="3554999"/>
            <a:ext cx="413999" cy="413999"/>
          </a:xfrm>
          <a:prstGeom prst="rect">
            <a:avLst/>
          </a:prstGeom>
          <a:noFill/>
        </p:spPr>
        <p:txBody>
          <a:bodyPr wrap="square">
            <a:spAutoFit/>
          </a:bodyPr>
          <a:lstStyle/>
          <a:p>
            <a:pPr algn="ctr"/>
            <a:r>
              <a:rPr sz="1400" b="1" i="0">
                <a:solidFill>
                  <a:srgbClr val="0B1E42"/>
                </a:solidFill>
              </a:rPr>
              <a:t>5</a:t>
            </a:r>
          </a:p>
        </p:txBody>
      </p:sp>
      <p:sp>
        <p:nvSpPr>
          <p:cNvPr id="52" name="Rectangle 51"/>
          <p:cNvSpPr/>
          <p:nvPr/>
        </p:nvSpPr>
        <p:spPr>
          <a:xfrm>
            <a:off x="2754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60000" y="3554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060000" y="3554999"/>
            <a:ext cx="413999" cy="413999"/>
          </a:xfrm>
          <a:prstGeom prst="rect">
            <a:avLst/>
          </a:prstGeom>
          <a:noFill/>
        </p:spPr>
        <p:txBody>
          <a:bodyPr wrap="square">
            <a:spAutoFit/>
          </a:bodyPr>
          <a:lstStyle/>
          <a:p>
            <a:pPr algn="ctr"/>
            <a:r>
              <a:rPr sz="1400" b="1" i="0">
                <a:solidFill>
                  <a:srgbClr val="0B1E42"/>
                </a:solidFill>
              </a:rPr>
              <a:t>3</a:t>
            </a:r>
          </a:p>
        </p:txBody>
      </p:sp>
      <p:sp>
        <p:nvSpPr>
          <p:cNvPr id="55" name="Rectangle 54"/>
          <p:cNvSpPr/>
          <p:nvPr/>
        </p:nvSpPr>
        <p:spPr>
          <a:xfrm>
            <a:off x="3780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86000" y="3554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86000" y="3554999"/>
            <a:ext cx="413999" cy="413999"/>
          </a:xfrm>
          <a:prstGeom prst="rect">
            <a:avLst/>
          </a:prstGeom>
          <a:noFill/>
        </p:spPr>
        <p:txBody>
          <a:bodyPr wrap="square">
            <a:spAutoFit/>
          </a:bodyPr>
          <a:lstStyle/>
          <a:p>
            <a:pPr algn="ctr"/>
            <a:r>
              <a:rPr sz="1400" b="1" i="0">
                <a:solidFill>
                  <a:srgbClr val="0B1E42"/>
                </a:solidFill>
              </a:rPr>
              <a:t>3</a:t>
            </a:r>
          </a:p>
        </p:txBody>
      </p:sp>
      <p:sp>
        <p:nvSpPr>
          <p:cNvPr id="58" name="Rectangle 57"/>
          <p:cNvSpPr/>
          <p:nvPr/>
        </p:nvSpPr>
        <p:spPr>
          <a:xfrm>
            <a:off x="4806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112000" y="3554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12000" y="3554999"/>
            <a:ext cx="413999" cy="413999"/>
          </a:xfrm>
          <a:prstGeom prst="rect">
            <a:avLst/>
          </a:prstGeom>
          <a:noFill/>
        </p:spPr>
        <p:txBody>
          <a:bodyPr wrap="square">
            <a:spAutoFit/>
          </a:bodyPr>
          <a:lstStyle/>
          <a:p>
            <a:pPr algn="ctr"/>
            <a:r>
              <a:rPr sz="1400" b="1" i="0">
                <a:solidFill>
                  <a:srgbClr val="0B1E42"/>
                </a:solidFill>
              </a:rPr>
              <a:t>2</a:t>
            </a:r>
          </a:p>
        </p:txBody>
      </p:sp>
      <p:sp>
        <p:nvSpPr>
          <p:cNvPr id="61" name="Rectangle 60"/>
          <p:cNvSpPr/>
          <p:nvPr/>
        </p:nvSpPr>
        <p:spPr>
          <a:xfrm>
            <a:off x="144000" y="4139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4000" y="4193999"/>
            <a:ext cx="1440000" cy="666000"/>
          </a:xfrm>
          <a:prstGeom prst="rect">
            <a:avLst/>
          </a:prstGeom>
          <a:noFill/>
        </p:spPr>
        <p:txBody>
          <a:bodyPr wrap="square">
            <a:spAutoFit/>
          </a:bodyPr>
          <a:lstStyle/>
          <a:p>
            <a:pPr algn="l"/>
            <a:r>
              <a:rPr sz="1000" b="0" i="0">
                <a:solidFill>
                  <a:srgbClr val="FFFFFF"/>
                </a:solidFill>
              </a:rPr>
              <a:t>Innovation IA</a:t>
            </a:r>
          </a:p>
        </p:txBody>
      </p:sp>
      <p:sp>
        <p:nvSpPr>
          <p:cNvPr id="63" name="Rectangle 62"/>
          <p:cNvSpPr/>
          <p:nvPr/>
        </p:nvSpPr>
        <p:spPr>
          <a:xfrm>
            <a:off x="1728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034000" y="4310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034000" y="4310999"/>
            <a:ext cx="413999" cy="413999"/>
          </a:xfrm>
          <a:prstGeom prst="rect">
            <a:avLst/>
          </a:prstGeom>
          <a:noFill/>
        </p:spPr>
        <p:txBody>
          <a:bodyPr wrap="square">
            <a:spAutoFit/>
          </a:bodyPr>
          <a:lstStyle/>
          <a:p>
            <a:pPr algn="ctr"/>
            <a:r>
              <a:rPr sz="1400" b="1" i="0">
                <a:solidFill>
                  <a:srgbClr val="0B1E42"/>
                </a:solidFill>
              </a:rPr>
              <a:t>5</a:t>
            </a:r>
          </a:p>
        </p:txBody>
      </p:sp>
      <p:sp>
        <p:nvSpPr>
          <p:cNvPr id="66" name="Rectangle 65"/>
          <p:cNvSpPr/>
          <p:nvPr/>
        </p:nvSpPr>
        <p:spPr>
          <a:xfrm>
            <a:off x="2754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060000" y="4310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060000" y="4310999"/>
            <a:ext cx="413999" cy="413999"/>
          </a:xfrm>
          <a:prstGeom prst="rect">
            <a:avLst/>
          </a:prstGeom>
          <a:noFill/>
        </p:spPr>
        <p:txBody>
          <a:bodyPr wrap="square">
            <a:spAutoFit/>
          </a:bodyPr>
          <a:lstStyle/>
          <a:p>
            <a:pPr algn="ctr"/>
            <a:r>
              <a:rPr sz="1400" b="1" i="0">
                <a:solidFill>
                  <a:srgbClr val="0B1E42"/>
                </a:solidFill>
              </a:rPr>
              <a:t>2</a:t>
            </a:r>
          </a:p>
        </p:txBody>
      </p:sp>
      <p:sp>
        <p:nvSpPr>
          <p:cNvPr id="69" name="Rectangle 68"/>
          <p:cNvSpPr/>
          <p:nvPr/>
        </p:nvSpPr>
        <p:spPr>
          <a:xfrm>
            <a:off x="3780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086000" y="4310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086000" y="4310999"/>
            <a:ext cx="413999" cy="413999"/>
          </a:xfrm>
          <a:prstGeom prst="rect">
            <a:avLst/>
          </a:prstGeom>
          <a:noFill/>
        </p:spPr>
        <p:txBody>
          <a:bodyPr wrap="square">
            <a:spAutoFit/>
          </a:bodyPr>
          <a:lstStyle/>
          <a:p>
            <a:pPr algn="ctr"/>
            <a:r>
              <a:rPr sz="1400" b="1" i="0">
                <a:solidFill>
                  <a:srgbClr val="FFFFFF"/>
                </a:solidFill>
              </a:rPr>
              <a:t>1</a:t>
            </a:r>
          </a:p>
        </p:txBody>
      </p:sp>
      <p:sp>
        <p:nvSpPr>
          <p:cNvPr id="72" name="Rectangle 71"/>
          <p:cNvSpPr/>
          <p:nvPr/>
        </p:nvSpPr>
        <p:spPr>
          <a:xfrm>
            <a:off x="4806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112000" y="4310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12000" y="4310999"/>
            <a:ext cx="413999" cy="413999"/>
          </a:xfrm>
          <a:prstGeom prst="rect">
            <a:avLst/>
          </a:prstGeom>
          <a:noFill/>
        </p:spPr>
        <p:txBody>
          <a:bodyPr wrap="square">
            <a:spAutoFit/>
          </a:bodyPr>
          <a:lstStyle/>
          <a:p>
            <a:pPr algn="ctr"/>
            <a:r>
              <a:rPr sz="1400" b="1" i="0">
                <a:solidFill>
                  <a:srgbClr val="FFFFFF"/>
                </a:solidFill>
              </a:rPr>
              <a:t>1</a:t>
            </a:r>
          </a:p>
        </p:txBody>
      </p:sp>
      <p:sp>
        <p:nvSpPr>
          <p:cNvPr id="75" name="Rectangle 74"/>
          <p:cNvSpPr/>
          <p:nvPr/>
        </p:nvSpPr>
        <p:spPr>
          <a:xfrm>
            <a:off x="144000" y="4895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4000" y="4949999"/>
            <a:ext cx="1440000" cy="666000"/>
          </a:xfrm>
          <a:prstGeom prst="rect">
            <a:avLst/>
          </a:prstGeom>
          <a:noFill/>
        </p:spPr>
        <p:txBody>
          <a:bodyPr wrap="square">
            <a:spAutoFit/>
          </a:bodyPr>
          <a:lstStyle/>
          <a:p>
            <a:pPr algn="l"/>
            <a:r>
              <a:rPr sz="1000" b="0" i="0">
                <a:solidFill>
                  <a:srgbClr val="FFFFFF"/>
                </a:solidFill>
              </a:rPr>
              <a:t>Expér. utilisateur</a:t>
            </a:r>
          </a:p>
        </p:txBody>
      </p:sp>
      <p:sp>
        <p:nvSpPr>
          <p:cNvPr id="77" name="Rectangle 76"/>
          <p:cNvSpPr/>
          <p:nvPr/>
        </p:nvSpPr>
        <p:spPr>
          <a:xfrm>
            <a:off x="1728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034000" y="5066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034000" y="5066999"/>
            <a:ext cx="413999" cy="413999"/>
          </a:xfrm>
          <a:prstGeom prst="rect">
            <a:avLst/>
          </a:prstGeom>
          <a:noFill/>
        </p:spPr>
        <p:txBody>
          <a:bodyPr wrap="square">
            <a:spAutoFit/>
          </a:bodyPr>
          <a:lstStyle/>
          <a:p>
            <a:pPr algn="ctr"/>
            <a:r>
              <a:rPr sz="1400" b="1" i="0">
                <a:solidFill>
                  <a:srgbClr val="0B1E42"/>
                </a:solidFill>
              </a:rPr>
              <a:t>5</a:t>
            </a:r>
          </a:p>
        </p:txBody>
      </p:sp>
      <p:sp>
        <p:nvSpPr>
          <p:cNvPr id="80" name="Rectangle 79"/>
          <p:cNvSpPr/>
          <p:nvPr/>
        </p:nvSpPr>
        <p:spPr>
          <a:xfrm>
            <a:off x="2754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60000" y="5066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0000" y="5066999"/>
            <a:ext cx="413999" cy="413999"/>
          </a:xfrm>
          <a:prstGeom prst="rect">
            <a:avLst/>
          </a:prstGeom>
          <a:noFill/>
        </p:spPr>
        <p:txBody>
          <a:bodyPr wrap="square">
            <a:spAutoFit/>
          </a:bodyPr>
          <a:lstStyle/>
          <a:p>
            <a:pPr algn="ctr"/>
            <a:r>
              <a:rPr sz="1400" b="1" i="0">
                <a:solidFill>
                  <a:srgbClr val="0B1E42"/>
                </a:solidFill>
              </a:rPr>
              <a:t>3</a:t>
            </a:r>
          </a:p>
        </p:txBody>
      </p:sp>
      <p:sp>
        <p:nvSpPr>
          <p:cNvPr id="83" name="Rectangle 82"/>
          <p:cNvSpPr/>
          <p:nvPr/>
        </p:nvSpPr>
        <p:spPr>
          <a:xfrm>
            <a:off x="3780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086000" y="5066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86000" y="5066999"/>
            <a:ext cx="413999" cy="413999"/>
          </a:xfrm>
          <a:prstGeom prst="rect">
            <a:avLst/>
          </a:prstGeom>
          <a:noFill/>
        </p:spPr>
        <p:txBody>
          <a:bodyPr wrap="square">
            <a:spAutoFit/>
          </a:bodyPr>
          <a:lstStyle/>
          <a:p>
            <a:pPr algn="ctr"/>
            <a:r>
              <a:rPr sz="1400" b="1" i="0">
                <a:solidFill>
                  <a:srgbClr val="0B1E42"/>
                </a:solidFill>
              </a:rPr>
              <a:t>3</a:t>
            </a:r>
          </a:p>
        </p:txBody>
      </p:sp>
      <p:sp>
        <p:nvSpPr>
          <p:cNvPr id="86" name="Rectangle 85"/>
          <p:cNvSpPr/>
          <p:nvPr/>
        </p:nvSpPr>
        <p:spPr>
          <a:xfrm>
            <a:off x="4806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112000" y="5066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112000" y="5066999"/>
            <a:ext cx="413999" cy="413999"/>
          </a:xfrm>
          <a:prstGeom prst="rect">
            <a:avLst/>
          </a:prstGeom>
          <a:noFill/>
        </p:spPr>
        <p:txBody>
          <a:bodyPr wrap="square">
            <a:spAutoFit/>
          </a:bodyPr>
          <a:lstStyle/>
          <a:p>
            <a:pPr algn="ctr"/>
            <a:r>
              <a:rPr sz="1400" b="1" i="0">
                <a:solidFill>
                  <a:srgbClr val="0B1E42"/>
                </a:solidFill>
              </a:rPr>
              <a:t>2</a:t>
            </a:r>
          </a:p>
        </p:txBody>
      </p:sp>
      <p:sp>
        <p:nvSpPr>
          <p:cNvPr id="89" name="Rectangle 88"/>
          <p:cNvSpPr/>
          <p:nvPr/>
        </p:nvSpPr>
        <p:spPr>
          <a:xfrm>
            <a:off x="144000" y="5651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34000" y="5705999"/>
            <a:ext cx="1440000" cy="666000"/>
          </a:xfrm>
          <a:prstGeom prst="rect">
            <a:avLst/>
          </a:prstGeom>
          <a:noFill/>
        </p:spPr>
        <p:txBody>
          <a:bodyPr wrap="square">
            <a:spAutoFit/>
          </a:bodyPr>
          <a:lstStyle/>
          <a:p>
            <a:pPr algn="l"/>
            <a:r>
              <a:rPr sz="1000" b="0" i="0">
                <a:solidFill>
                  <a:srgbClr val="FFFFFF"/>
                </a:solidFill>
              </a:rPr>
              <a:t>Transparence prix</a:t>
            </a:r>
          </a:p>
        </p:txBody>
      </p:sp>
      <p:sp>
        <p:nvSpPr>
          <p:cNvPr id="91" name="Rectangle 90"/>
          <p:cNvSpPr/>
          <p:nvPr/>
        </p:nvSpPr>
        <p:spPr>
          <a:xfrm>
            <a:off x="1728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034000" y="5822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034000" y="5822999"/>
            <a:ext cx="413999" cy="413999"/>
          </a:xfrm>
          <a:prstGeom prst="rect">
            <a:avLst/>
          </a:prstGeom>
          <a:noFill/>
        </p:spPr>
        <p:txBody>
          <a:bodyPr wrap="square">
            <a:spAutoFit/>
          </a:bodyPr>
          <a:lstStyle/>
          <a:p>
            <a:pPr algn="ctr"/>
            <a:r>
              <a:rPr sz="1400" b="1" i="0">
                <a:solidFill>
                  <a:srgbClr val="0B1E42"/>
                </a:solidFill>
              </a:rPr>
              <a:t>5</a:t>
            </a:r>
          </a:p>
        </p:txBody>
      </p:sp>
      <p:sp>
        <p:nvSpPr>
          <p:cNvPr id="94" name="Rectangle 93"/>
          <p:cNvSpPr/>
          <p:nvPr/>
        </p:nvSpPr>
        <p:spPr>
          <a:xfrm>
            <a:off x="2754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060000" y="582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60000" y="5822999"/>
            <a:ext cx="413999" cy="413999"/>
          </a:xfrm>
          <a:prstGeom prst="rect">
            <a:avLst/>
          </a:prstGeom>
          <a:noFill/>
        </p:spPr>
        <p:txBody>
          <a:bodyPr wrap="square">
            <a:spAutoFit/>
          </a:bodyPr>
          <a:lstStyle/>
          <a:p>
            <a:pPr algn="ctr"/>
            <a:r>
              <a:rPr sz="1400" b="1" i="0">
                <a:solidFill>
                  <a:srgbClr val="0B1E42"/>
                </a:solidFill>
              </a:rPr>
              <a:t>2</a:t>
            </a:r>
          </a:p>
        </p:txBody>
      </p:sp>
      <p:sp>
        <p:nvSpPr>
          <p:cNvPr id="97" name="Rectangle 96"/>
          <p:cNvSpPr/>
          <p:nvPr/>
        </p:nvSpPr>
        <p:spPr>
          <a:xfrm>
            <a:off x="3780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086000" y="5822999"/>
            <a:ext cx="413999" cy="413999"/>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086000" y="5822999"/>
            <a:ext cx="413999" cy="413999"/>
          </a:xfrm>
          <a:prstGeom prst="rect">
            <a:avLst/>
          </a:prstGeom>
          <a:noFill/>
        </p:spPr>
        <p:txBody>
          <a:bodyPr wrap="square">
            <a:spAutoFit/>
          </a:bodyPr>
          <a:lstStyle/>
          <a:p>
            <a:pPr algn="ctr"/>
            <a:r>
              <a:rPr sz="1400" b="1" i="0">
                <a:solidFill>
                  <a:srgbClr val="0B1E42"/>
                </a:solidFill>
              </a:rPr>
              <a:t>4</a:t>
            </a:r>
          </a:p>
        </p:txBody>
      </p:sp>
      <p:sp>
        <p:nvSpPr>
          <p:cNvPr id="100" name="Rectangle 99"/>
          <p:cNvSpPr/>
          <p:nvPr/>
        </p:nvSpPr>
        <p:spPr>
          <a:xfrm>
            <a:off x="4806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112000" y="5822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112000" y="5822999"/>
            <a:ext cx="413999" cy="413999"/>
          </a:xfrm>
          <a:prstGeom prst="rect">
            <a:avLst/>
          </a:prstGeom>
          <a:noFill/>
        </p:spPr>
        <p:txBody>
          <a:bodyPr wrap="square">
            <a:spAutoFit/>
          </a:bodyPr>
          <a:lstStyle/>
          <a:p>
            <a:pPr algn="ctr"/>
            <a:r>
              <a:rPr sz="1400" b="1" i="0">
                <a:solidFill>
                  <a:srgbClr val="FFFFFF"/>
                </a:solidFill>
              </a:rPr>
              <a:t>1</a:t>
            </a:r>
          </a:p>
        </p:txBody>
      </p:sp>
      <p:sp>
        <p:nvSpPr>
          <p:cNvPr id="103" name="TextBox 102"/>
          <p:cNvSpPr txBox="1"/>
          <p:nvPr/>
        </p:nvSpPr>
        <p:spPr>
          <a:xfrm>
            <a:off x="144000" y="6515999"/>
            <a:ext cx="720000" cy="259200"/>
          </a:xfrm>
          <a:prstGeom prst="rect">
            <a:avLst/>
          </a:prstGeom>
          <a:noFill/>
        </p:spPr>
        <p:txBody>
          <a:bodyPr wrap="square">
            <a:spAutoFit/>
          </a:bodyPr>
          <a:lstStyle/>
          <a:p>
            <a:pPr algn="l"/>
            <a:r>
              <a:rPr sz="900" b="0" i="1">
                <a:solidFill>
                  <a:srgbClr val="B0C4DE"/>
                </a:solidFill>
              </a:rPr>
              <a:t>Légende :</a:t>
            </a:r>
          </a:p>
        </p:txBody>
      </p:sp>
      <p:sp>
        <p:nvSpPr>
          <p:cNvPr id="104" name="Rectangle 103"/>
          <p:cNvSpPr/>
          <p:nvPr/>
        </p:nvSpPr>
        <p:spPr>
          <a:xfrm>
            <a:off x="936000" y="6515999"/>
            <a:ext cx="270000" cy="25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36000" y="6515999"/>
            <a:ext cx="270000" cy="259200"/>
          </a:xfrm>
          <a:prstGeom prst="rect">
            <a:avLst/>
          </a:prstGeom>
          <a:noFill/>
        </p:spPr>
        <p:txBody>
          <a:bodyPr wrap="square">
            <a:spAutoFit/>
          </a:bodyPr>
          <a:lstStyle/>
          <a:p>
            <a:pPr algn="ctr"/>
            <a:r>
              <a:rPr sz="1000" b="1" i="0">
                <a:solidFill>
                  <a:srgbClr val="0B1E42"/>
                </a:solidFill>
              </a:rPr>
              <a:t>5</a:t>
            </a:r>
          </a:p>
        </p:txBody>
      </p:sp>
      <p:sp>
        <p:nvSpPr>
          <p:cNvPr id="106" name="TextBox 105"/>
          <p:cNvSpPr txBox="1"/>
          <p:nvPr/>
        </p:nvSpPr>
        <p:spPr>
          <a:xfrm>
            <a:off x="1231200" y="6515999"/>
            <a:ext cx="540000" cy="259200"/>
          </a:xfrm>
          <a:prstGeom prst="rect">
            <a:avLst/>
          </a:prstGeom>
          <a:noFill/>
        </p:spPr>
        <p:txBody>
          <a:bodyPr wrap="square">
            <a:spAutoFit/>
          </a:bodyPr>
          <a:lstStyle/>
          <a:p>
            <a:pPr algn="l"/>
            <a:r>
              <a:rPr sz="900" b="0" i="0">
                <a:solidFill>
                  <a:srgbClr val="B0C4DE"/>
                </a:solidFill>
              </a:rPr>
              <a:t>Leader</a:t>
            </a:r>
          </a:p>
        </p:txBody>
      </p:sp>
      <p:sp>
        <p:nvSpPr>
          <p:cNvPr id="107" name="Rectangle 106"/>
          <p:cNvSpPr/>
          <p:nvPr/>
        </p:nvSpPr>
        <p:spPr>
          <a:xfrm>
            <a:off x="1800000" y="6515999"/>
            <a:ext cx="270000" cy="25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800000" y="6515999"/>
            <a:ext cx="270000" cy="259200"/>
          </a:xfrm>
          <a:prstGeom prst="rect">
            <a:avLst/>
          </a:prstGeom>
          <a:noFill/>
        </p:spPr>
        <p:txBody>
          <a:bodyPr wrap="square">
            <a:spAutoFit/>
          </a:bodyPr>
          <a:lstStyle/>
          <a:p>
            <a:pPr algn="ctr"/>
            <a:r>
              <a:rPr sz="1000" b="1" i="0">
                <a:solidFill>
                  <a:srgbClr val="0B1E42"/>
                </a:solidFill>
              </a:rPr>
              <a:t>4</a:t>
            </a:r>
          </a:p>
        </p:txBody>
      </p:sp>
      <p:sp>
        <p:nvSpPr>
          <p:cNvPr id="109" name="TextBox 108"/>
          <p:cNvSpPr txBox="1"/>
          <p:nvPr/>
        </p:nvSpPr>
        <p:spPr>
          <a:xfrm>
            <a:off x="2095200" y="6515999"/>
            <a:ext cx="540000" cy="259200"/>
          </a:xfrm>
          <a:prstGeom prst="rect">
            <a:avLst/>
          </a:prstGeom>
          <a:noFill/>
        </p:spPr>
        <p:txBody>
          <a:bodyPr wrap="square">
            <a:spAutoFit/>
          </a:bodyPr>
          <a:lstStyle/>
          <a:p>
            <a:pPr algn="l"/>
            <a:r>
              <a:rPr sz="900" b="0" i="0">
                <a:solidFill>
                  <a:srgbClr val="B0C4DE"/>
                </a:solidFill>
              </a:rPr>
              <a:t>Fort</a:t>
            </a:r>
          </a:p>
        </p:txBody>
      </p:sp>
      <p:sp>
        <p:nvSpPr>
          <p:cNvPr id="110" name="Rectangle 109"/>
          <p:cNvSpPr/>
          <p:nvPr/>
        </p:nvSpPr>
        <p:spPr>
          <a:xfrm>
            <a:off x="2664000" y="6515999"/>
            <a:ext cx="270000" cy="259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664000" y="6515999"/>
            <a:ext cx="270000" cy="259200"/>
          </a:xfrm>
          <a:prstGeom prst="rect">
            <a:avLst/>
          </a:prstGeom>
          <a:noFill/>
        </p:spPr>
        <p:txBody>
          <a:bodyPr wrap="square">
            <a:spAutoFit/>
          </a:bodyPr>
          <a:lstStyle/>
          <a:p>
            <a:pPr algn="ctr"/>
            <a:r>
              <a:rPr sz="1000" b="1" i="0">
                <a:solidFill>
                  <a:srgbClr val="0B1E42"/>
                </a:solidFill>
              </a:rPr>
              <a:t>3</a:t>
            </a:r>
          </a:p>
        </p:txBody>
      </p:sp>
      <p:sp>
        <p:nvSpPr>
          <p:cNvPr id="112" name="TextBox 111"/>
          <p:cNvSpPr txBox="1"/>
          <p:nvPr/>
        </p:nvSpPr>
        <p:spPr>
          <a:xfrm>
            <a:off x="2959200" y="6515999"/>
            <a:ext cx="540000" cy="259200"/>
          </a:xfrm>
          <a:prstGeom prst="rect">
            <a:avLst/>
          </a:prstGeom>
          <a:noFill/>
        </p:spPr>
        <p:txBody>
          <a:bodyPr wrap="square">
            <a:spAutoFit/>
          </a:bodyPr>
          <a:lstStyle/>
          <a:p>
            <a:pPr algn="l"/>
            <a:r>
              <a:rPr sz="900" b="0" i="0">
                <a:solidFill>
                  <a:srgbClr val="B0C4DE"/>
                </a:solidFill>
              </a:rPr>
              <a:t>Moyen</a:t>
            </a:r>
          </a:p>
        </p:txBody>
      </p:sp>
      <p:sp>
        <p:nvSpPr>
          <p:cNvPr id="113" name="Rectangle 112"/>
          <p:cNvSpPr/>
          <p:nvPr/>
        </p:nvSpPr>
        <p:spPr>
          <a:xfrm>
            <a:off x="3528000" y="6515999"/>
            <a:ext cx="270000" cy="25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528000" y="6515999"/>
            <a:ext cx="270000" cy="259200"/>
          </a:xfrm>
          <a:prstGeom prst="rect">
            <a:avLst/>
          </a:prstGeom>
          <a:noFill/>
        </p:spPr>
        <p:txBody>
          <a:bodyPr wrap="square">
            <a:spAutoFit/>
          </a:bodyPr>
          <a:lstStyle/>
          <a:p>
            <a:pPr algn="ctr"/>
            <a:r>
              <a:rPr sz="1000" b="1" i="0">
                <a:solidFill>
                  <a:srgbClr val="0B1E42"/>
                </a:solidFill>
              </a:rPr>
              <a:t>2</a:t>
            </a:r>
          </a:p>
        </p:txBody>
      </p:sp>
      <p:sp>
        <p:nvSpPr>
          <p:cNvPr id="115" name="TextBox 114"/>
          <p:cNvSpPr txBox="1"/>
          <p:nvPr/>
        </p:nvSpPr>
        <p:spPr>
          <a:xfrm>
            <a:off x="3823200" y="6515999"/>
            <a:ext cx="540000" cy="259200"/>
          </a:xfrm>
          <a:prstGeom prst="rect">
            <a:avLst/>
          </a:prstGeom>
          <a:noFill/>
        </p:spPr>
        <p:txBody>
          <a:bodyPr wrap="square">
            <a:spAutoFit/>
          </a:bodyPr>
          <a:lstStyle/>
          <a:p>
            <a:pPr algn="l"/>
            <a:r>
              <a:rPr sz="900" b="0" i="0">
                <a:solidFill>
                  <a:srgbClr val="B0C4DE"/>
                </a:solidFill>
              </a:rPr>
              <a:t>Faible</a:t>
            </a:r>
          </a:p>
        </p:txBody>
      </p:sp>
      <p:sp>
        <p:nvSpPr>
          <p:cNvPr id="116" name="Rectangle 115"/>
          <p:cNvSpPr/>
          <p:nvPr/>
        </p:nvSpPr>
        <p:spPr>
          <a:xfrm>
            <a:off x="4392000" y="6515999"/>
            <a:ext cx="270000" cy="2592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392000" y="6515999"/>
            <a:ext cx="270000" cy="259200"/>
          </a:xfrm>
          <a:prstGeom prst="rect">
            <a:avLst/>
          </a:prstGeom>
          <a:noFill/>
        </p:spPr>
        <p:txBody>
          <a:bodyPr wrap="square">
            <a:spAutoFit/>
          </a:bodyPr>
          <a:lstStyle/>
          <a:p>
            <a:pPr algn="ctr"/>
            <a:r>
              <a:rPr sz="1000" b="1" i="0">
                <a:solidFill>
                  <a:srgbClr val="FFFFFF"/>
                </a:solidFill>
              </a:rPr>
              <a:t>1</a:t>
            </a:r>
          </a:p>
        </p:txBody>
      </p:sp>
      <p:sp>
        <p:nvSpPr>
          <p:cNvPr id="118" name="TextBox 117"/>
          <p:cNvSpPr txBox="1"/>
          <p:nvPr/>
        </p:nvSpPr>
        <p:spPr>
          <a:xfrm>
            <a:off x="4687200" y="6515999"/>
            <a:ext cx="540000" cy="259200"/>
          </a:xfrm>
          <a:prstGeom prst="rect">
            <a:avLst/>
          </a:prstGeom>
          <a:noFill/>
        </p:spPr>
        <p:txBody>
          <a:bodyPr wrap="square">
            <a:spAutoFit/>
          </a:bodyPr>
          <a:lstStyle/>
          <a:p>
            <a:pPr algn="l"/>
            <a:r>
              <a:rPr sz="900" b="0" i="0">
                <a:solidFill>
                  <a:srgbClr val="B0C4DE"/>
                </a:solidFill>
              </a:rPr>
              <a:t>Absent</a:t>
            </a:r>
          </a:p>
        </p:txBody>
      </p:sp>
      <p:sp>
        <p:nvSpPr>
          <p:cNvPr id="119" name="Rectangle 118"/>
          <p:cNvSpPr/>
          <p:nvPr/>
        </p:nvSpPr>
        <p:spPr>
          <a:xfrm>
            <a:off x="5976000" y="1458000"/>
            <a:ext cx="3024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976000" y="1458000"/>
            <a:ext cx="97200" cy="104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38000" y="1522800"/>
            <a:ext cx="2790000" cy="432000"/>
          </a:xfrm>
          <a:prstGeom prst="rect">
            <a:avLst/>
          </a:prstGeom>
          <a:noFill/>
        </p:spPr>
        <p:txBody>
          <a:bodyPr wrap="square">
            <a:spAutoFit/>
          </a:bodyPr>
          <a:lstStyle/>
          <a:p>
            <a:pPr algn="l"/>
            <a:r>
              <a:rPr sz="1300" b="1" i="0">
                <a:solidFill>
                  <a:srgbClr val="D4AF37"/>
                </a:solidFill>
              </a:rPr>
              <a:t>12 services
unifiés</a:t>
            </a:r>
          </a:p>
        </p:txBody>
      </p:sp>
      <p:sp>
        <p:nvSpPr>
          <p:cNvPr id="122" name="TextBox 121"/>
          <p:cNvSpPr txBox="1"/>
          <p:nvPr/>
        </p:nvSpPr>
        <p:spPr>
          <a:xfrm>
            <a:off x="6138000" y="1961999"/>
            <a:ext cx="2790000" cy="504000"/>
          </a:xfrm>
          <a:prstGeom prst="rect">
            <a:avLst/>
          </a:prstGeom>
          <a:noFill/>
        </p:spPr>
        <p:txBody>
          <a:bodyPr wrap="square">
            <a:spAutoFit/>
          </a:bodyPr>
          <a:lstStyle/>
          <a:p>
            <a:pPr algn="l"/>
            <a:r>
              <a:rPr sz="1000" b="0" i="0">
                <a:solidFill>
                  <a:srgbClr val="B0C4DE"/>
                </a:solidFill>
              </a:rPr>
              <a:t>Aucun concurrent
n'en offre plus de 2</a:t>
            </a:r>
          </a:p>
        </p:txBody>
      </p:sp>
      <p:sp>
        <p:nvSpPr>
          <p:cNvPr id="123" name="Rectangle 122"/>
          <p:cNvSpPr/>
          <p:nvPr/>
        </p:nvSpPr>
        <p:spPr>
          <a:xfrm>
            <a:off x="5976000" y="2664000"/>
            <a:ext cx="3024000" cy="1044000"/>
          </a:xfrm>
          <a:prstGeom prst="rect">
            <a:avLst/>
          </a:prstGeom>
          <a:solidFill>
            <a:srgbClr val="132B5E"/>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976000" y="2664000"/>
            <a:ext cx="97200" cy="1044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138000" y="2728800"/>
            <a:ext cx="2790000" cy="432000"/>
          </a:xfrm>
          <a:prstGeom prst="rect">
            <a:avLst/>
          </a:prstGeom>
          <a:noFill/>
        </p:spPr>
        <p:txBody>
          <a:bodyPr wrap="square">
            <a:spAutoFit/>
          </a:bodyPr>
          <a:lstStyle/>
          <a:p>
            <a:pPr algn="l"/>
            <a:r>
              <a:rPr sz="1300" b="1" i="0">
                <a:solidFill>
                  <a:srgbClr val="9B59B6"/>
                </a:solidFill>
              </a:rPr>
              <a:t>YukpoIA</a:t>
            </a:r>
          </a:p>
        </p:txBody>
      </p:sp>
      <p:sp>
        <p:nvSpPr>
          <p:cNvPr id="126" name="TextBox 125"/>
          <p:cNvSpPr txBox="1"/>
          <p:nvPr/>
        </p:nvSpPr>
        <p:spPr>
          <a:xfrm>
            <a:off x="6138000" y="3167999"/>
            <a:ext cx="2790000" cy="504000"/>
          </a:xfrm>
          <a:prstGeom prst="rect">
            <a:avLst/>
          </a:prstGeom>
          <a:noFill/>
        </p:spPr>
        <p:txBody>
          <a:bodyPr wrap="square">
            <a:spAutoFit/>
          </a:bodyPr>
          <a:lstStyle/>
          <a:p>
            <a:pPr algn="l"/>
            <a:r>
              <a:rPr sz="1000" b="0" i="0">
                <a:solidFill>
                  <a:srgbClr val="B0C4DE"/>
                </a:solidFill>
              </a:rPr>
              <a:t>Assistant IA intégré
24h/24 — unique Afrique</a:t>
            </a:r>
          </a:p>
        </p:txBody>
      </p:sp>
      <p:sp>
        <p:nvSpPr>
          <p:cNvPr id="127" name="Rectangle 126"/>
          <p:cNvSpPr/>
          <p:nvPr/>
        </p:nvSpPr>
        <p:spPr>
          <a:xfrm>
            <a:off x="5976000" y="3870000"/>
            <a:ext cx="3024000" cy="104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976000" y="3870000"/>
            <a:ext cx="97200" cy="1044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138000" y="3934800"/>
            <a:ext cx="2790000" cy="432000"/>
          </a:xfrm>
          <a:prstGeom prst="rect">
            <a:avLst/>
          </a:prstGeom>
          <a:noFill/>
        </p:spPr>
        <p:txBody>
          <a:bodyPr wrap="square">
            <a:spAutoFit/>
          </a:bodyPr>
          <a:lstStyle/>
          <a:p>
            <a:pPr algn="l"/>
            <a:r>
              <a:rPr sz="1300" b="1" i="0">
                <a:solidFill>
                  <a:srgbClr val="00C87A"/>
                </a:solidFill>
              </a:rPr>
              <a:t>Creator Studio</a:t>
            </a:r>
          </a:p>
        </p:txBody>
      </p:sp>
      <p:sp>
        <p:nvSpPr>
          <p:cNvPr id="130" name="TextBox 129"/>
          <p:cNvSpPr txBox="1"/>
          <p:nvPr/>
        </p:nvSpPr>
        <p:spPr>
          <a:xfrm>
            <a:off x="6138000" y="4373999"/>
            <a:ext cx="2790000" cy="504000"/>
          </a:xfrm>
          <a:prstGeom prst="rect">
            <a:avLst/>
          </a:prstGeom>
          <a:noFill/>
        </p:spPr>
        <p:txBody>
          <a:bodyPr wrap="square">
            <a:spAutoFit/>
          </a:bodyPr>
          <a:lstStyle/>
          <a:p>
            <a:pPr algn="l"/>
            <a:r>
              <a:rPr sz="1000" b="0" i="0">
                <a:solidFill>
                  <a:srgbClr val="B0C4DE"/>
                </a:solidFill>
              </a:rPr>
              <a:t>Vidéo &amp; visuels
directement dans l'app</a:t>
            </a:r>
          </a:p>
        </p:txBody>
      </p:sp>
      <p:sp>
        <p:nvSpPr>
          <p:cNvPr id="131" name="Rectangle 130"/>
          <p:cNvSpPr/>
          <p:nvPr/>
        </p:nvSpPr>
        <p:spPr>
          <a:xfrm>
            <a:off x="5976000" y="5076000"/>
            <a:ext cx="3024000" cy="1044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976000" y="5076000"/>
            <a:ext cx="97200" cy="1044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138000" y="5140800"/>
            <a:ext cx="2790000" cy="432000"/>
          </a:xfrm>
          <a:prstGeom prst="rect">
            <a:avLst/>
          </a:prstGeom>
          <a:noFill/>
        </p:spPr>
        <p:txBody>
          <a:bodyPr wrap="square">
            <a:spAutoFit/>
          </a:bodyPr>
          <a:lstStyle/>
          <a:p>
            <a:pPr algn="l"/>
            <a:r>
              <a:rPr sz="1300" b="1" i="0">
                <a:solidFill>
                  <a:srgbClr val="FF9933"/>
                </a:solidFill>
              </a:rPr>
              <a:t>Bourse du Livre</a:t>
            </a:r>
          </a:p>
        </p:txBody>
      </p:sp>
      <p:sp>
        <p:nvSpPr>
          <p:cNvPr id="134" name="TextBox 133"/>
          <p:cNvSpPr txBox="1"/>
          <p:nvPr/>
        </p:nvSpPr>
        <p:spPr>
          <a:xfrm>
            <a:off x="6138000" y="5579999"/>
            <a:ext cx="2790000" cy="504000"/>
          </a:xfrm>
          <a:prstGeom prst="rect">
            <a:avLst/>
          </a:prstGeom>
          <a:noFill/>
        </p:spPr>
        <p:txBody>
          <a:bodyPr wrap="square">
            <a:spAutoFit/>
          </a:bodyPr>
          <a:lstStyle/>
          <a:p>
            <a:pPr algn="l"/>
            <a:r>
              <a:rPr sz="1000" b="0" i="0">
                <a:solidFill>
                  <a:srgbClr val="B0C4DE"/>
                </a:solidFill>
              </a:rPr>
              <a:t>Marché scolaire num.
exclusif au Cameroun</a:t>
            </a:r>
          </a:p>
        </p:txBody>
      </p:sp>
      <p:sp>
        <p:nvSpPr>
          <p:cNvPr id="135" name="TextBox 134"/>
          <p:cNvSpPr txBox="1"/>
          <p:nvPr/>
        </p:nvSpPr>
        <p:spPr>
          <a:xfrm>
            <a:off x="144000" y="6263999"/>
            <a:ext cx="8856000" cy="259200"/>
          </a:xfrm>
          <a:prstGeom prst="rect">
            <a:avLst/>
          </a:prstGeom>
          <a:noFill/>
        </p:spPr>
        <p:txBody>
          <a:bodyPr wrap="square">
            <a:spAutoFit/>
          </a:bodyPr>
          <a:lstStyle/>
          <a:p>
            <a:pPr algn="ctr"/>
            <a:r>
              <a:rPr sz="1200" b="1" i="1">
                <a:solidFill>
                  <a:srgbClr val="D4AF37"/>
                </a:solidFill>
              </a:rPr>
              <a:t>YUKPO = le seul acteur 360° du marché camerounais.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8</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Expansion — Leader en Afrique d'ici 2030</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Du Cameroun à l'Afrique de l'Ouest, puis continentale : une stratégie étape par étape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72800" y="1458000"/>
            <a:ext cx="2070000" cy="475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2800" y="1458000"/>
            <a:ext cx="2070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800" y="1594800"/>
            <a:ext cx="306000" cy="30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800" y="1594800"/>
            <a:ext cx="306000" cy="306000"/>
          </a:xfrm>
          <a:prstGeom prst="rect">
            <a:avLst/>
          </a:prstGeom>
          <a:noFill/>
        </p:spPr>
        <p:txBody>
          <a:bodyPr wrap="square">
            <a:spAutoFit/>
          </a:bodyPr>
          <a:lstStyle/>
          <a:p>
            <a:pPr algn="ctr"/>
            <a:r>
              <a:rPr sz="1300" b="1" i="0">
                <a:solidFill>
                  <a:srgbClr val="0B1E42"/>
                </a:solidFill>
              </a:rPr>
              <a:t>1</a:t>
            </a:r>
          </a:p>
        </p:txBody>
      </p:sp>
      <p:sp>
        <p:nvSpPr>
          <p:cNvPr id="13" name="TextBox 12"/>
          <p:cNvSpPr txBox="1"/>
          <p:nvPr/>
        </p:nvSpPr>
        <p:spPr>
          <a:xfrm>
            <a:off x="633600" y="1602000"/>
            <a:ext cx="1548000" cy="259200"/>
          </a:xfrm>
          <a:prstGeom prst="rect">
            <a:avLst/>
          </a:prstGeom>
          <a:noFill/>
        </p:spPr>
        <p:txBody>
          <a:bodyPr wrap="square">
            <a:spAutoFit/>
          </a:bodyPr>
          <a:lstStyle/>
          <a:p>
            <a:pPr algn="l"/>
            <a:r>
              <a:rPr sz="1000" b="1" i="0">
                <a:solidFill>
                  <a:srgbClr val="D4AF37"/>
                </a:solidFill>
              </a:rPr>
              <a:t>Phase 1</a:t>
            </a:r>
          </a:p>
        </p:txBody>
      </p:sp>
      <p:sp>
        <p:nvSpPr>
          <p:cNvPr id="14" name="TextBox 13"/>
          <p:cNvSpPr txBox="1"/>
          <p:nvPr/>
        </p:nvSpPr>
        <p:spPr>
          <a:xfrm>
            <a:off x="280800" y="1954799"/>
            <a:ext cx="1890000" cy="234000"/>
          </a:xfrm>
          <a:prstGeom prst="rect">
            <a:avLst/>
          </a:prstGeom>
          <a:noFill/>
        </p:spPr>
        <p:txBody>
          <a:bodyPr wrap="square">
            <a:spAutoFit/>
          </a:bodyPr>
          <a:lstStyle/>
          <a:p>
            <a:pPr algn="l"/>
            <a:r>
              <a:rPr sz="900" b="0" i="1">
                <a:solidFill>
                  <a:srgbClr val="D4AF37"/>
                </a:solidFill>
              </a:rPr>
              <a:t>T2 – T4 2026</a:t>
            </a:r>
          </a:p>
        </p:txBody>
      </p:sp>
      <p:sp>
        <p:nvSpPr>
          <p:cNvPr id="15" name="Rectangle 14"/>
          <p:cNvSpPr/>
          <p:nvPr/>
        </p:nvSpPr>
        <p:spPr>
          <a:xfrm>
            <a:off x="280800" y="2214000"/>
            <a:ext cx="1854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800" y="2268000"/>
            <a:ext cx="1890000" cy="503999"/>
          </a:xfrm>
          <a:prstGeom prst="rect">
            <a:avLst/>
          </a:prstGeom>
          <a:noFill/>
        </p:spPr>
        <p:txBody>
          <a:bodyPr wrap="square">
            <a:spAutoFit/>
          </a:bodyPr>
          <a:lstStyle/>
          <a:p>
            <a:pPr algn="l"/>
            <a:r>
              <a:rPr sz="1400" b="1" i="0">
                <a:solidFill>
                  <a:srgbClr val="FFFFFF"/>
                </a:solidFill>
              </a:rPr>
              <a:t>Yaoundé
+ Douala</a:t>
            </a:r>
          </a:p>
        </p:txBody>
      </p:sp>
      <p:sp>
        <p:nvSpPr>
          <p:cNvPr id="17" name="TextBox 16"/>
          <p:cNvSpPr txBox="1"/>
          <p:nvPr/>
        </p:nvSpPr>
        <p:spPr>
          <a:xfrm>
            <a:off x="280800" y="2808000"/>
            <a:ext cx="1890000" cy="3312000"/>
          </a:xfrm>
          <a:prstGeom prst="rect">
            <a:avLst/>
          </a:prstGeom>
          <a:noFill/>
        </p:spPr>
        <p:txBody>
          <a:bodyPr wrap="square">
            <a:spAutoFit/>
          </a:bodyPr>
          <a:lstStyle/>
          <a:p>
            <a:pPr algn="l"/>
            <a:r>
              <a:rPr sz="1000" b="0" i="0">
                <a:solidFill>
                  <a:srgbClr val="B0C4DE"/>
                </a:solidFill>
              </a:rPr>
              <a:t>Lancement simultané des 2 villes.
9 services + Bourse du Livre.
25 000 actifs/mois visés.
Base opérationnelle solide.</a:t>
            </a:r>
          </a:p>
        </p:txBody>
      </p:sp>
      <p:sp>
        <p:nvSpPr>
          <p:cNvPr id="18" name="Rectangle 17"/>
          <p:cNvSpPr/>
          <p:nvPr/>
        </p:nvSpPr>
        <p:spPr>
          <a:xfrm>
            <a:off x="2415600" y="1458000"/>
            <a:ext cx="2070000" cy="4752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15600" y="1458000"/>
            <a:ext cx="2070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23600" y="1594800"/>
            <a:ext cx="306000" cy="30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3600" y="1594800"/>
            <a:ext cx="306000" cy="306000"/>
          </a:xfrm>
          <a:prstGeom prst="rect">
            <a:avLst/>
          </a:prstGeom>
          <a:noFill/>
        </p:spPr>
        <p:txBody>
          <a:bodyPr wrap="square">
            <a:spAutoFit/>
          </a:bodyPr>
          <a:lstStyle/>
          <a:p>
            <a:pPr algn="ctr"/>
            <a:r>
              <a:rPr sz="1300" b="1" i="0">
                <a:solidFill>
                  <a:srgbClr val="0B1E42"/>
                </a:solidFill>
              </a:rPr>
              <a:t>2</a:t>
            </a:r>
          </a:p>
        </p:txBody>
      </p:sp>
      <p:sp>
        <p:nvSpPr>
          <p:cNvPr id="22" name="TextBox 21"/>
          <p:cNvSpPr txBox="1"/>
          <p:nvPr/>
        </p:nvSpPr>
        <p:spPr>
          <a:xfrm>
            <a:off x="2876400" y="1602000"/>
            <a:ext cx="1548000" cy="259200"/>
          </a:xfrm>
          <a:prstGeom prst="rect">
            <a:avLst/>
          </a:prstGeom>
          <a:noFill/>
        </p:spPr>
        <p:txBody>
          <a:bodyPr wrap="square">
            <a:spAutoFit/>
          </a:bodyPr>
          <a:lstStyle/>
          <a:p>
            <a:pPr algn="l"/>
            <a:r>
              <a:rPr sz="1000" b="1" i="0">
                <a:solidFill>
                  <a:srgbClr val="4FC3F7"/>
                </a:solidFill>
              </a:rPr>
              <a:t>Phase 2</a:t>
            </a:r>
          </a:p>
        </p:txBody>
      </p:sp>
      <p:sp>
        <p:nvSpPr>
          <p:cNvPr id="23" name="TextBox 22"/>
          <p:cNvSpPr txBox="1"/>
          <p:nvPr/>
        </p:nvSpPr>
        <p:spPr>
          <a:xfrm>
            <a:off x="2523600" y="1954799"/>
            <a:ext cx="1890000" cy="234000"/>
          </a:xfrm>
          <a:prstGeom prst="rect">
            <a:avLst/>
          </a:prstGeom>
          <a:noFill/>
        </p:spPr>
        <p:txBody>
          <a:bodyPr wrap="square">
            <a:spAutoFit/>
          </a:bodyPr>
          <a:lstStyle/>
          <a:p>
            <a:pPr algn="l"/>
            <a:r>
              <a:rPr sz="900" b="0" i="1">
                <a:solidFill>
                  <a:srgbClr val="D4AF37"/>
                </a:solidFill>
              </a:rPr>
              <a:t>2027</a:t>
            </a:r>
          </a:p>
        </p:txBody>
      </p:sp>
      <p:sp>
        <p:nvSpPr>
          <p:cNvPr id="24" name="Rectangle 23"/>
          <p:cNvSpPr/>
          <p:nvPr/>
        </p:nvSpPr>
        <p:spPr>
          <a:xfrm>
            <a:off x="2523600" y="2214000"/>
            <a:ext cx="1854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600" y="2268000"/>
            <a:ext cx="1890000" cy="503999"/>
          </a:xfrm>
          <a:prstGeom prst="rect">
            <a:avLst/>
          </a:prstGeom>
          <a:noFill/>
        </p:spPr>
        <p:txBody>
          <a:bodyPr wrap="square">
            <a:spAutoFit/>
          </a:bodyPr>
          <a:lstStyle/>
          <a:p>
            <a:pPr algn="l"/>
            <a:r>
              <a:rPr sz="1400" b="1" i="0">
                <a:solidFill>
                  <a:srgbClr val="FFFFFF"/>
                </a:solidFill>
              </a:rPr>
              <a:t>Bafoussam
+ Cameroun</a:t>
            </a:r>
          </a:p>
        </p:txBody>
      </p:sp>
      <p:sp>
        <p:nvSpPr>
          <p:cNvPr id="26" name="TextBox 25"/>
          <p:cNvSpPr txBox="1"/>
          <p:nvPr/>
        </p:nvSpPr>
        <p:spPr>
          <a:xfrm>
            <a:off x="2523600" y="2808000"/>
            <a:ext cx="1890000" cy="3312000"/>
          </a:xfrm>
          <a:prstGeom prst="rect">
            <a:avLst/>
          </a:prstGeom>
          <a:noFill/>
        </p:spPr>
        <p:txBody>
          <a:bodyPr wrap="square">
            <a:spAutoFit/>
          </a:bodyPr>
          <a:lstStyle/>
          <a:p>
            <a:pPr algn="l"/>
            <a:r>
              <a:rPr sz="1000" b="0" i="0">
                <a:solidFill>
                  <a:srgbClr val="B0C4DE"/>
                </a:solidFill>
              </a:rPr>
              <a:t>Extension Bafoussam, Buea,
Garoua, Bamenda.
Densification nationale.
Leader camerounais confirmé.</a:t>
            </a:r>
          </a:p>
        </p:txBody>
      </p:sp>
      <p:sp>
        <p:nvSpPr>
          <p:cNvPr id="27" name="Rectangle 26"/>
          <p:cNvSpPr/>
          <p:nvPr/>
        </p:nvSpPr>
        <p:spPr>
          <a:xfrm>
            <a:off x="4658400" y="1458000"/>
            <a:ext cx="2070000" cy="475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58400" y="1458000"/>
            <a:ext cx="2070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66400" y="1594800"/>
            <a:ext cx="306000" cy="306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66400" y="1594800"/>
            <a:ext cx="306000" cy="306000"/>
          </a:xfrm>
          <a:prstGeom prst="rect">
            <a:avLst/>
          </a:prstGeom>
          <a:noFill/>
        </p:spPr>
        <p:txBody>
          <a:bodyPr wrap="square">
            <a:spAutoFit/>
          </a:bodyPr>
          <a:lstStyle/>
          <a:p>
            <a:pPr algn="ctr"/>
            <a:r>
              <a:rPr sz="1300" b="1" i="0">
                <a:solidFill>
                  <a:srgbClr val="0B1E42"/>
                </a:solidFill>
              </a:rPr>
              <a:t>3</a:t>
            </a:r>
          </a:p>
        </p:txBody>
      </p:sp>
      <p:sp>
        <p:nvSpPr>
          <p:cNvPr id="31" name="TextBox 30"/>
          <p:cNvSpPr txBox="1"/>
          <p:nvPr/>
        </p:nvSpPr>
        <p:spPr>
          <a:xfrm>
            <a:off x="5119200" y="1602000"/>
            <a:ext cx="1548000" cy="259200"/>
          </a:xfrm>
          <a:prstGeom prst="rect">
            <a:avLst/>
          </a:prstGeom>
          <a:noFill/>
        </p:spPr>
        <p:txBody>
          <a:bodyPr wrap="square">
            <a:spAutoFit/>
          </a:bodyPr>
          <a:lstStyle/>
          <a:p>
            <a:pPr algn="l"/>
            <a:r>
              <a:rPr sz="1000" b="1" i="0">
                <a:solidFill>
                  <a:srgbClr val="00C87A"/>
                </a:solidFill>
              </a:rPr>
              <a:t>Phase 3</a:t>
            </a:r>
          </a:p>
        </p:txBody>
      </p:sp>
      <p:sp>
        <p:nvSpPr>
          <p:cNvPr id="32" name="TextBox 31"/>
          <p:cNvSpPr txBox="1"/>
          <p:nvPr/>
        </p:nvSpPr>
        <p:spPr>
          <a:xfrm>
            <a:off x="4766400" y="1954799"/>
            <a:ext cx="1890000" cy="234000"/>
          </a:xfrm>
          <a:prstGeom prst="rect">
            <a:avLst/>
          </a:prstGeom>
          <a:noFill/>
        </p:spPr>
        <p:txBody>
          <a:bodyPr wrap="square">
            <a:spAutoFit/>
          </a:bodyPr>
          <a:lstStyle/>
          <a:p>
            <a:pPr algn="l"/>
            <a:r>
              <a:rPr sz="900" b="0" i="1">
                <a:solidFill>
                  <a:srgbClr val="D4AF37"/>
                </a:solidFill>
              </a:rPr>
              <a:t>Q4 2027</a:t>
            </a:r>
          </a:p>
        </p:txBody>
      </p:sp>
      <p:sp>
        <p:nvSpPr>
          <p:cNvPr id="33" name="Rectangle 32"/>
          <p:cNvSpPr/>
          <p:nvPr/>
        </p:nvSpPr>
        <p:spPr>
          <a:xfrm>
            <a:off x="4766400" y="2214000"/>
            <a:ext cx="1854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66400" y="2268000"/>
            <a:ext cx="1890000" cy="503999"/>
          </a:xfrm>
          <a:prstGeom prst="rect">
            <a:avLst/>
          </a:prstGeom>
          <a:noFill/>
        </p:spPr>
        <p:txBody>
          <a:bodyPr wrap="square">
            <a:spAutoFit/>
          </a:bodyPr>
          <a:lstStyle/>
          <a:p>
            <a:pPr algn="l"/>
            <a:r>
              <a:rPr sz="1400" b="1" i="0">
                <a:solidFill>
                  <a:srgbClr val="FFFFFF"/>
                </a:solidFill>
              </a:rPr>
              <a:t>Côte d'Ivoire
(Abidjan)</a:t>
            </a:r>
          </a:p>
        </p:txBody>
      </p:sp>
      <p:sp>
        <p:nvSpPr>
          <p:cNvPr id="35" name="TextBox 34"/>
          <p:cNvSpPr txBox="1"/>
          <p:nvPr/>
        </p:nvSpPr>
        <p:spPr>
          <a:xfrm>
            <a:off x="4766400" y="2808000"/>
            <a:ext cx="1890000" cy="3312000"/>
          </a:xfrm>
          <a:prstGeom prst="rect">
            <a:avLst/>
          </a:prstGeom>
          <a:noFill/>
        </p:spPr>
        <p:txBody>
          <a:bodyPr wrap="square">
            <a:spAutoFit/>
          </a:bodyPr>
          <a:lstStyle/>
          <a:p>
            <a:pPr algn="l"/>
            <a:r>
              <a:rPr sz="1000" b="0" i="0">
                <a:solidFill>
                  <a:srgbClr val="B0C4DE"/>
                </a:solidFill>
              </a:rPr>
              <a:t>1er marché international.
Abidjan : 5,5 M hab.
Fort taux smartphone.
Modèle YUKPO adapté.</a:t>
            </a:r>
          </a:p>
        </p:txBody>
      </p:sp>
      <p:sp>
        <p:nvSpPr>
          <p:cNvPr id="36" name="Rectangle 35"/>
          <p:cNvSpPr/>
          <p:nvPr/>
        </p:nvSpPr>
        <p:spPr>
          <a:xfrm>
            <a:off x="6901200" y="1458000"/>
            <a:ext cx="2070000" cy="475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01200" y="1458000"/>
            <a:ext cx="2070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09200" y="1594800"/>
            <a:ext cx="306000" cy="306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09200" y="1594800"/>
            <a:ext cx="306000" cy="306000"/>
          </a:xfrm>
          <a:prstGeom prst="rect">
            <a:avLst/>
          </a:prstGeom>
          <a:noFill/>
        </p:spPr>
        <p:txBody>
          <a:bodyPr wrap="square">
            <a:spAutoFit/>
          </a:bodyPr>
          <a:lstStyle/>
          <a:p>
            <a:pPr algn="ctr"/>
            <a:r>
              <a:rPr sz="1300" b="1" i="0">
                <a:solidFill>
                  <a:srgbClr val="0B1E42"/>
                </a:solidFill>
              </a:rPr>
              <a:t>4</a:t>
            </a:r>
          </a:p>
        </p:txBody>
      </p:sp>
      <p:sp>
        <p:nvSpPr>
          <p:cNvPr id="40" name="TextBox 39"/>
          <p:cNvSpPr txBox="1"/>
          <p:nvPr/>
        </p:nvSpPr>
        <p:spPr>
          <a:xfrm>
            <a:off x="7362000" y="1602000"/>
            <a:ext cx="1548000" cy="259200"/>
          </a:xfrm>
          <a:prstGeom prst="rect">
            <a:avLst/>
          </a:prstGeom>
          <a:noFill/>
        </p:spPr>
        <p:txBody>
          <a:bodyPr wrap="square">
            <a:spAutoFit/>
          </a:bodyPr>
          <a:lstStyle/>
          <a:p>
            <a:pPr algn="l"/>
            <a:r>
              <a:rPr sz="1000" b="1" i="0">
                <a:solidFill>
                  <a:srgbClr val="FF9933"/>
                </a:solidFill>
              </a:rPr>
              <a:t>Phase 4</a:t>
            </a:r>
          </a:p>
        </p:txBody>
      </p:sp>
      <p:sp>
        <p:nvSpPr>
          <p:cNvPr id="41" name="TextBox 40"/>
          <p:cNvSpPr txBox="1"/>
          <p:nvPr/>
        </p:nvSpPr>
        <p:spPr>
          <a:xfrm>
            <a:off x="7009200" y="1954799"/>
            <a:ext cx="1890000" cy="234000"/>
          </a:xfrm>
          <a:prstGeom prst="rect">
            <a:avLst/>
          </a:prstGeom>
          <a:noFill/>
        </p:spPr>
        <p:txBody>
          <a:bodyPr wrap="square">
            <a:spAutoFit/>
          </a:bodyPr>
          <a:lstStyle/>
          <a:p>
            <a:pPr algn="l"/>
            <a:r>
              <a:rPr sz="900" b="0" i="1">
                <a:solidFill>
                  <a:srgbClr val="D4AF37"/>
                </a:solidFill>
              </a:rPr>
              <a:t>S2 2028 +</a:t>
            </a:r>
          </a:p>
        </p:txBody>
      </p:sp>
      <p:sp>
        <p:nvSpPr>
          <p:cNvPr id="42" name="Rectangle 41"/>
          <p:cNvSpPr/>
          <p:nvPr/>
        </p:nvSpPr>
        <p:spPr>
          <a:xfrm>
            <a:off x="7009200" y="2214000"/>
            <a:ext cx="1854000" cy="1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09200" y="2268000"/>
            <a:ext cx="1890000" cy="503999"/>
          </a:xfrm>
          <a:prstGeom prst="rect">
            <a:avLst/>
          </a:prstGeom>
          <a:noFill/>
        </p:spPr>
        <p:txBody>
          <a:bodyPr wrap="square">
            <a:spAutoFit/>
          </a:bodyPr>
          <a:lstStyle/>
          <a:p>
            <a:pPr algn="l"/>
            <a:r>
              <a:rPr sz="1400" b="1" i="0">
                <a:solidFill>
                  <a:srgbClr val="FFFFFF"/>
                </a:solidFill>
              </a:rPr>
              <a:t>Sénégal &amp;
Afrique</a:t>
            </a:r>
          </a:p>
        </p:txBody>
      </p:sp>
      <p:sp>
        <p:nvSpPr>
          <p:cNvPr id="44" name="TextBox 43"/>
          <p:cNvSpPr txBox="1"/>
          <p:nvPr/>
        </p:nvSpPr>
        <p:spPr>
          <a:xfrm>
            <a:off x="7009200" y="2808000"/>
            <a:ext cx="1890000" cy="3312000"/>
          </a:xfrm>
          <a:prstGeom prst="rect">
            <a:avLst/>
          </a:prstGeom>
          <a:noFill/>
        </p:spPr>
        <p:txBody>
          <a:bodyPr wrap="square">
            <a:spAutoFit/>
          </a:bodyPr>
          <a:lstStyle/>
          <a:p>
            <a:pPr algn="l"/>
            <a:r>
              <a:rPr sz="1000" b="0" i="0">
                <a:solidFill>
                  <a:srgbClr val="B0C4DE"/>
                </a:solidFill>
              </a:rPr>
              <a:t>Dakar (3,8 M) puis expansion
pan-africaine progressive.
Objectif : leader incontournable
en Afrique d'ici 2030.</a:t>
            </a:r>
          </a:p>
        </p:txBody>
      </p:sp>
      <p:sp>
        <p:nvSpPr>
          <p:cNvPr id="45" name="Rectangle 44"/>
          <p:cNvSpPr/>
          <p:nvPr/>
        </p:nvSpPr>
        <p:spPr>
          <a:xfrm>
            <a:off x="144000" y="6318000"/>
            <a:ext cx="8856000" cy="360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44000" y="6318000"/>
            <a:ext cx="97200" cy="360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6346800"/>
            <a:ext cx="8604000" cy="306000"/>
          </a:xfrm>
          <a:prstGeom prst="rect">
            <a:avLst/>
          </a:prstGeom>
          <a:noFill/>
        </p:spPr>
        <p:txBody>
          <a:bodyPr wrap="square">
            <a:spAutoFit/>
          </a:bodyPr>
          <a:lstStyle/>
          <a:p>
            <a:pPr algn="ctr"/>
            <a:r>
              <a:rPr sz="1200" b="1" i="0">
                <a:solidFill>
                  <a:srgbClr val="FF9933"/>
                </a:solidFill>
              </a:rPr>
              <a:t>Vision 2030 :  YUKPO — la super-app de référence en Afrique subsaharienne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9</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Stratégie d'Acquisition — Marketing = 1er Poste Budgétaire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La Bourse du Livre est le levier de lancement stratégique du 1er semestre 2026</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40000"/>
            <a:ext cx="8856000" cy="1368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40000"/>
            <a:ext cx="8856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4000" y="1440000"/>
            <a:ext cx="97200" cy="136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000" y="1576800"/>
            <a:ext cx="5040000" cy="259200"/>
          </a:xfrm>
          <a:prstGeom prst="rect">
            <a:avLst/>
          </a:prstGeom>
          <a:noFill/>
        </p:spPr>
        <p:txBody>
          <a:bodyPr wrap="square">
            <a:spAutoFit/>
          </a:bodyPr>
          <a:lstStyle/>
          <a:p>
            <a:pPr algn="l"/>
            <a:r>
              <a:rPr sz="1300" b="1" i="0">
                <a:solidFill>
                  <a:srgbClr val="FF9933"/>
                </a:solidFill>
              </a:rPr>
              <a:t>LEVIER CLÉ — BOURSE DU LIVRE  (T2 – T3 2026)</a:t>
            </a:r>
          </a:p>
        </p:txBody>
      </p:sp>
      <p:sp>
        <p:nvSpPr>
          <p:cNvPr id="13" name="TextBox 12"/>
          <p:cNvSpPr txBox="1"/>
          <p:nvPr/>
        </p:nvSpPr>
        <p:spPr>
          <a:xfrm>
            <a:off x="324000" y="1835999"/>
            <a:ext cx="5040000" cy="900000"/>
          </a:xfrm>
          <a:prstGeom prst="rect">
            <a:avLst/>
          </a:prstGeom>
          <a:noFill/>
        </p:spPr>
        <p:txBody>
          <a:bodyPr wrap="square">
            <a:spAutoFit/>
          </a:bodyPr>
          <a:lstStyle/>
          <a:p>
            <a:pPr algn="l"/>
            <a:r>
              <a:rPr sz="1100" b="0" i="0">
                <a:solidFill>
                  <a:srgbClr val="B0C4DE"/>
                </a:solidFill>
              </a:rPr>
              <a:t>La rentrée scolaire mobilise des millions de familles camerounaises chaque année.
YUKPO propose la première bourse numérique du livre scolaire : achat, revente, troc de livres et fournitures entre particuliers et librairies.
Ce service unique crée une adoption massive, rapide et organique dès l'ouverture.</a:t>
            </a:r>
          </a:p>
        </p:txBody>
      </p:sp>
      <p:sp>
        <p:nvSpPr>
          <p:cNvPr id="14" name="Rectangle 13"/>
          <p:cNvSpPr/>
          <p:nvPr/>
        </p:nvSpPr>
        <p:spPr>
          <a:xfrm>
            <a:off x="5436000" y="1494000"/>
            <a:ext cx="3528000" cy="12600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8000" y="1565999"/>
            <a:ext cx="3384000" cy="259200"/>
          </a:xfrm>
          <a:prstGeom prst="rect">
            <a:avLst/>
          </a:prstGeom>
          <a:noFill/>
        </p:spPr>
        <p:txBody>
          <a:bodyPr wrap="square">
            <a:spAutoFit/>
          </a:bodyPr>
          <a:lstStyle/>
          <a:p>
            <a:pPr algn="ctr"/>
            <a:r>
              <a:rPr sz="1100" b="1" i="0">
                <a:solidFill>
                  <a:srgbClr val="FF9933"/>
                </a:solidFill>
              </a:rPr>
              <a:t>Impact prévu T2–T3 2026</a:t>
            </a:r>
          </a:p>
        </p:txBody>
      </p:sp>
      <p:sp>
        <p:nvSpPr>
          <p:cNvPr id="16" name="TextBox 15"/>
          <p:cNvSpPr txBox="1"/>
          <p:nvPr/>
        </p:nvSpPr>
        <p:spPr>
          <a:xfrm>
            <a:off x="5508000" y="1890000"/>
            <a:ext cx="3384000" cy="295200"/>
          </a:xfrm>
          <a:prstGeom prst="rect">
            <a:avLst/>
          </a:prstGeom>
          <a:noFill/>
        </p:spPr>
        <p:txBody>
          <a:bodyPr wrap="square">
            <a:spAutoFit/>
          </a:bodyPr>
          <a:lstStyle/>
          <a:p>
            <a:pPr algn="ctr"/>
            <a:r>
              <a:rPr sz="1100" b="0" i="0">
                <a:solidFill>
                  <a:srgbClr val="FFFFFF"/>
                </a:solidFill>
              </a:rPr>
              <a:t>50 000+   Familles ciblées</a:t>
            </a:r>
          </a:p>
        </p:txBody>
      </p:sp>
      <p:sp>
        <p:nvSpPr>
          <p:cNvPr id="17" name="TextBox 16"/>
          <p:cNvSpPr txBox="1"/>
          <p:nvPr/>
        </p:nvSpPr>
        <p:spPr>
          <a:xfrm>
            <a:off x="5508000" y="2206800"/>
            <a:ext cx="3384000" cy="295200"/>
          </a:xfrm>
          <a:prstGeom prst="rect">
            <a:avLst/>
          </a:prstGeom>
          <a:noFill/>
        </p:spPr>
        <p:txBody>
          <a:bodyPr wrap="square">
            <a:spAutoFit/>
          </a:bodyPr>
          <a:lstStyle/>
          <a:p>
            <a:pPr algn="ctr"/>
            <a:r>
              <a:rPr sz="1100" b="0" i="0">
                <a:solidFill>
                  <a:srgbClr val="FFFFFF"/>
                </a:solidFill>
              </a:rPr>
              <a:t>×3   Boost inscriptions</a:t>
            </a:r>
          </a:p>
        </p:txBody>
      </p:sp>
      <p:sp>
        <p:nvSpPr>
          <p:cNvPr id="18" name="TextBox 17"/>
          <p:cNvSpPr txBox="1"/>
          <p:nvPr/>
        </p:nvSpPr>
        <p:spPr>
          <a:xfrm>
            <a:off x="5508000" y="2523600"/>
            <a:ext cx="3384000" cy="295200"/>
          </a:xfrm>
          <a:prstGeom prst="rect">
            <a:avLst/>
          </a:prstGeom>
          <a:noFill/>
        </p:spPr>
        <p:txBody>
          <a:bodyPr wrap="square">
            <a:spAutoFit/>
          </a:bodyPr>
          <a:lstStyle/>
          <a:p>
            <a:pPr algn="ctr"/>
            <a:r>
              <a:rPr sz="1100" b="0" i="0">
                <a:solidFill>
                  <a:srgbClr val="FFFFFF"/>
                </a:solidFill>
              </a:rPr>
              <a:t>Viral   Bouche à oreille</a:t>
            </a:r>
          </a:p>
        </p:txBody>
      </p:sp>
      <p:sp>
        <p:nvSpPr>
          <p:cNvPr id="19" name="Rectangle 18"/>
          <p:cNvSpPr/>
          <p:nvPr/>
        </p:nvSpPr>
        <p:spPr>
          <a:xfrm>
            <a:off x="247500" y="2951999"/>
            <a:ext cx="2718000" cy="280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7500" y="2951999"/>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3499" y="3103199"/>
            <a:ext cx="2520000" cy="280800"/>
          </a:xfrm>
          <a:prstGeom prst="rect">
            <a:avLst/>
          </a:prstGeom>
          <a:noFill/>
        </p:spPr>
        <p:txBody>
          <a:bodyPr wrap="square">
            <a:spAutoFit/>
          </a:bodyPr>
          <a:lstStyle/>
          <a:p>
            <a:pPr algn="l"/>
            <a:r>
              <a:rPr sz="1200" b="1" i="0">
                <a:solidFill>
                  <a:srgbClr val="D4AF37"/>
                </a:solidFill>
              </a:rPr>
              <a:t>Présence Digitale</a:t>
            </a:r>
          </a:p>
        </p:txBody>
      </p:sp>
      <p:sp>
        <p:nvSpPr>
          <p:cNvPr id="22" name="Rectangle 21"/>
          <p:cNvSpPr/>
          <p:nvPr/>
        </p:nvSpPr>
        <p:spPr>
          <a:xfrm>
            <a:off x="373499" y="3401999"/>
            <a:ext cx="2466001"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499" y="3463199"/>
            <a:ext cx="2520000" cy="1512000"/>
          </a:xfrm>
          <a:prstGeom prst="rect">
            <a:avLst/>
          </a:prstGeom>
          <a:noFill/>
        </p:spPr>
        <p:txBody>
          <a:bodyPr wrap="square">
            <a:spAutoFit/>
          </a:bodyPr>
          <a:lstStyle/>
          <a:p>
            <a:pPr algn="l"/>
            <a:r>
              <a:rPr sz="1000" b="0" i="0">
                <a:solidFill>
                  <a:srgbClr val="B0C4DE"/>
                </a:solidFill>
              </a:rPr>
              <a:t>Facebook, WhatsApp, TikTok
campagnes hyper-ciblées.
SEO Google Maps local.
Influenceurs &amp; micro-influenceurs.</a:t>
            </a:r>
          </a:p>
        </p:txBody>
      </p:sp>
      <p:sp>
        <p:nvSpPr>
          <p:cNvPr id="24" name="Rectangle 23"/>
          <p:cNvSpPr/>
          <p:nvPr/>
        </p:nvSpPr>
        <p:spPr>
          <a:xfrm>
            <a:off x="373499" y="5165999"/>
            <a:ext cx="2520000" cy="503999"/>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499" y="5183999"/>
            <a:ext cx="2520000" cy="486000"/>
          </a:xfrm>
          <a:prstGeom prst="rect">
            <a:avLst/>
          </a:prstGeom>
          <a:noFill/>
        </p:spPr>
        <p:txBody>
          <a:bodyPr wrap="square">
            <a:spAutoFit/>
          </a:bodyPr>
          <a:lstStyle/>
          <a:p>
            <a:pPr algn="ctr"/>
            <a:r>
              <a:rPr sz="1200" b="1" i="0">
                <a:solidFill>
                  <a:srgbClr val="D4AF37"/>
                </a:solidFill>
              </a:rPr>
              <a:t>60 % inscriptions estimées</a:t>
            </a:r>
          </a:p>
        </p:txBody>
      </p:sp>
      <p:sp>
        <p:nvSpPr>
          <p:cNvPr id="26" name="Rectangle 25"/>
          <p:cNvSpPr/>
          <p:nvPr/>
        </p:nvSpPr>
        <p:spPr>
          <a:xfrm>
            <a:off x="3213000" y="2951999"/>
            <a:ext cx="2718000" cy="280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13000" y="2951999"/>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38999" y="3103199"/>
            <a:ext cx="2520000" cy="280800"/>
          </a:xfrm>
          <a:prstGeom prst="rect">
            <a:avLst/>
          </a:prstGeom>
          <a:noFill/>
        </p:spPr>
        <p:txBody>
          <a:bodyPr wrap="square">
            <a:spAutoFit/>
          </a:bodyPr>
          <a:lstStyle/>
          <a:p>
            <a:pPr algn="l"/>
            <a:r>
              <a:rPr sz="1200" b="1" i="0">
                <a:solidFill>
                  <a:srgbClr val="4FC3F7"/>
                </a:solidFill>
              </a:rPr>
              <a:t>Ambassadeurs Terrain</a:t>
            </a:r>
          </a:p>
        </p:txBody>
      </p:sp>
      <p:sp>
        <p:nvSpPr>
          <p:cNvPr id="29" name="Rectangle 28"/>
          <p:cNvSpPr/>
          <p:nvPr/>
        </p:nvSpPr>
        <p:spPr>
          <a:xfrm>
            <a:off x="3338999" y="3401999"/>
            <a:ext cx="2466001"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8999" y="3463199"/>
            <a:ext cx="2520000" cy="1512000"/>
          </a:xfrm>
          <a:prstGeom prst="rect">
            <a:avLst/>
          </a:prstGeom>
          <a:noFill/>
        </p:spPr>
        <p:txBody>
          <a:bodyPr wrap="square">
            <a:spAutoFit/>
          </a:bodyPr>
          <a:lstStyle/>
          <a:p>
            <a:pPr algn="l"/>
            <a:r>
              <a:rPr sz="1000" b="0" i="0">
                <a:solidFill>
                  <a:srgbClr val="B0C4DE"/>
                </a:solidFill>
              </a:rPr>
              <a:t>100+ ambassadeurs formés
dans quartiers, marchés,
universités — Yaoundé + Douala.
Bouche-à-oreille structuré.</a:t>
            </a:r>
          </a:p>
        </p:txBody>
      </p:sp>
      <p:sp>
        <p:nvSpPr>
          <p:cNvPr id="31" name="Rectangle 30"/>
          <p:cNvSpPr/>
          <p:nvPr/>
        </p:nvSpPr>
        <p:spPr>
          <a:xfrm>
            <a:off x="3338999" y="5165999"/>
            <a:ext cx="2520000" cy="503999"/>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8999" y="5183999"/>
            <a:ext cx="2520000" cy="486000"/>
          </a:xfrm>
          <a:prstGeom prst="rect">
            <a:avLst/>
          </a:prstGeom>
          <a:noFill/>
        </p:spPr>
        <p:txBody>
          <a:bodyPr wrap="square">
            <a:spAutoFit/>
          </a:bodyPr>
          <a:lstStyle/>
          <a:p>
            <a:pPr algn="ctr"/>
            <a:r>
              <a:rPr sz="1200" b="1" i="0">
                <a:solidFill>
                  <a:srgbClr val="4FC3F7"/>
                </a:solidFill>
              </a:rPr>
              <a:t>25 % inscriptions estimées</a:t>
            </a:r>
          </a:p>
        </p:txBody>
      </p:sp>
      <p:sp>
        <p:nvSpPr>
          <p:cNvPr id="33" name="Rectangle 32"/>
          <p:cNvSpPr/>
          <p:nvPr/>
        </p:nvSpPr>
        <p:spPr>
          <a:xfrm>
            <a:off x="6178500" y="2951999"/>
            <a:ext cx="2718000" cy="280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8500" y="2951999"/>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4499" y="3103199"/>
            <a:ext cx="2520000" cy="280800"/>
          </a:xfrm>
          <a:prstGeom prst="rect">
            <a:avLst/>
          </a:prstGeom>
          <a:noFill/>
        </p:spPr>
        <p:txBody>
          <a:bodyPr wrap="square">
            <a:spAutoFit/>
          </a:bodyPr>
          <a:lstStyle/>
          <a:p>
            <a:pPr algn="l"/>
            <a:r>
              <a:rPr sz="1200" b="1" i="0">
                <a:solidFill>
                  <a:srgbClr val="00C87A"/>
                </a:solidFill>
              </a:rPr>
              <a:t>Partenariats B2B</a:t>
            </a:r>
          </a:p>
        </p:txBody>
      </p:sp>
      <p:sp>
        <p:nvSpPr>
          <p:cNvPr id="36" name="Rectangle 35"/>
          <p:cNvSpPr/>
          <p:nvPr/>
        </p:nvSpPr>
        <p:spPr>
          <a:xfrm>
            <a:off x="6304499" y="3401999"/>
            <a:ext cx="2466001"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4499" y="3463199"/>
            <a:ext cx="2520000" cy="1512000"/>
          </a:xfrm>
          <a:prstGeom prst="rect">
            <a:avLst/>
          </a:prstGeom>
          <a:noFill/>
        </p:spPr>
        <p:txBody>
          <a:bodyPr wrap="square">
            <a:spAutoFit/>
          </a:bodyPr>
          <a:lstStyle/>
          <a:p>
            <a:pPr algn="l"/>
            <a:r>
              <a:rPr sz="1000" b="0" i="0">
                <a:solidFill>
                  <a:srgbClr val="B0C4DE"/>
                </a:solidFill>
              </a:rPr>
              <a:t>Hôtels, cliniques, écoles,
entreprises — YUKPO intégré
comme service institutionnel.
Contrats récurrents.</a:t>
            </a:r>
          </a:p>
        </p:txBody>
      </p:sp>
      <p:sp>
        <p:nvSpPr>
          <p:cNvPr id="38" name="Rectangle 37"/>
          <p:cNvSpPr/>
          <p:nvPr/>
        </p:nvSpPr>
        <p:spPr>
          <a:xfrm>
            <a:off x="6304499" y="5165999"/>
            <a:ext cx="2520000" cy="503999"/>
          </a:xfrm>
          <a:prstGeom prst="rect">
            <a:avLst/>
          </a:prstGeom>
          <a:solidFill>
            <a:srgbClr val="0A301A"/>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4499" y="5183999"/>
            <a:ext cx="2520000" cy="486000"/>
          </a:xfrm>
          <a:prstGeom prst="rect">
            <a:avLst/>
          </a:prstGeom>
          <a:noFill/>
        </p:spPr>
        <p:txBody>
          <a:bodyPr wrap="square">
            <a:spAutoFit/>
          </a:bodyPr>
          <a:lstStyle/>
          <a:p>
            <a:pPr algn="ctr"/>
            <a:r>
              <a:rPr sz="1200" b="1" i="0">
                <a:solidFill>
                  <a:srgbClr val="00C87A"/>
                </a:solidFill>
              </a:rPr>
              <a:t>15 % + fidélisation forte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10</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Utilisation des Fonds — 120 M FCFA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L'acquisition clients est le 1er investissement — le produit est déjà très avancé</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75999"/>
            <a:ext cx="97200" cy="120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000" y="1555199"/>
            <a:ext cx="2628000" cy="295200"/>
          </a:xfrm>
          <a:prstGeom prst="rect">
            <a:avLst/>
          </a:prstGeom>
          <a:noFill/>
        </p:spPr>
        <p:txBody>
          <a:bodyPr wrap="square">
            <a:spAutoFit/>
          </a:bodyPr>
          <a:lstStyle/>
          <a:p>
            <a:pPr algn="l"/>
            <a:r>
              <a:rPr sz="1200" b="1" i="0">
                <a:solidFill>
                  <a:srgbClr val="FFFFFF"/>
                </a:solidFill>
              </a:rPr>
              <a:t>Marketing &amp; Acquisition</a:t>
            </a:r>
          </a:p>
        </p:txBody>
      </p:sp>
      <p:sp>
        <p:nvSpPr>
          <p:cNvPr id="12" name="Rectangle 11"/>
          <p:cNvSpPr/>
          <p:nvPr/>
        </p:nvSpPr>
        <p:spPr>
          <a:xfrm>
            <a:off x="3024000" y="1547999"/>
            <a:ext cx="666000" cy="3420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4000" y="1547999"/>
            <a:ext cx="666000" cy="342000"/>
          </a:xfrm>
          <a:prstGeom prst="rect">
            <a:avLst/>
          </a:prstGeom>
          <a:noFill/>
        </p:spPr>
        <p:txBody>
          <a:bodyPr wrap="square">
            <a:spAutoFit/>
          </a:bodyPr>
          <a:lstStyle/>
          <a:p>
            <a:pPr algn="ctr"/>
            <a:r>
              <a:rPr sz="1400" b="1" i="0">
                <a:solidFill>
                  <a:srgbClr val="D4AF37"/>
                </a:solidFill>
              </a:rPr>
              <a:t>45 %</a:t>
            </a:r>
          </a:p>
        </p:txBody>
      </p:sp>
      <p:sp>
        <p:nvSpPr>
          <p:cNvPr id="14" name="Rectangle 13"/>
          <p:cNvSpPr/>
          <p:nvPr/>
        </p:nvSpPr>
        <p:spPr>
          <a:xfrm>
            <a:off x="3780000" y="1547999"/>
            <a:ext cx="2219400" cy="34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000" y="1951199"/>
            <a:ext cx="8568000" cy="331200"/>
          </a:xfrm>
          <a:prstGeom prst="rect">
            <a:avLst/>
          </a:prstGeom>
          <a:noFill/>
        </p:spPr>
        <p:txBody>
          <a:bodyPr wrap="square">
            <a:spAutoFit/>
          </a:bodyPr>
          <a:lstStyle/>
          <a:p>
            <a:pPr algn="l"/>
            <a:r>
              <a:rPr sz="1000" b="0" i="0">
                <a:solidFill>
                  <a:srgbClr val="B0C4DE"/>
                </a:solidFill>
              </a:rPr>
              <a:t>54 M FCFA  —  Campagnes digitales, ambassadeurs, Bourse du Livre, événements de lancement Yaoundé + Douala</a:t>
            </a:r>
          </a:p>
        </p:txBody>
      </p:sp>
      <p:sp>
        <p:nvSpPr>
          <p:cNvPr id="16" name="Rectangle 15"/>
          <p:cNvSpPr/>
          <p:nvPr/>
        </p:nvSpPr>
        <p:spPr>
          <a:xfrm>
            <a:off x="144000" y="273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4000" y="2735999"/>
            <a:ext cx="97200" cy="120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2815199"/>
            <a:ext cx="2628000" cy="295200"/>
          </a:xfrm>
          <a:prstGeom prst="rect">
            <a:avLst/>
          </a:prstGeom>
          <a:noFill/>
        </p:spPr>
        <p:txBody>
          <a:bodyPr wrap="square">
            <a:spAutoFit/>
          </a:bodyPr>
          <a:lstStyle/>
          <a:p>
            <a:pPr algn="l"/>
            <a:r>
              <a:rPr sz="1200" b="1" i="0">
                <a:solidFill>
                  <a:srgbClr val="FFFFFF"/>
                </a:solidFill>
              </a:rPr>
              <a:t>Opérations &amp; Équipe</a:t>
            </a:r>
          </a:p>
        </p:txBody>
      </p:sp>
      <p:sp>
        <p:nvSpPr>
          <p:cNvPr id="19" name="Rectangle 18"/>
          <p:cNvSpPr/>
          <p:nvPr/>
        </p:nvSpPr>
        <p:spPr>
          <a:xfrm>
            <a:off x="3024000" y="2807999"/>
            <a:ext cx="666000" cy="3420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000" y="2807999"/>
            <a:ext cx="666000" cy="342000"/>
          </a:xfrm>
          <a:prstGeom prst="rect">
            <a:avLst/>
          </a:prstGeom>
          <a:noFill/>
        </p:spPr>
        <p:txBody>
          <a:bodyPr wrap="square">
            <a:spAutoFit/>
          </a:bodyPr>
          <a:lstStyle/>
          <a:p>
            <a:pPr algn="ctr"/>
            <a:r>
              <a:rPr sz="1400" b="1" i="0">
                <a:solidFill>
                  <a:srgbClr val="4FC3F7"/>
                </a:solidFill>
              </a:rPr>
              <a:t>25 %</a:t>
            </a:r>
          </a:p>
        </p:txBody>
      </p:sp>
      <p:sp>
        <p:nvSpPr>
          <p:cNvPr id="21" name="Rectangle 20"/>
          <p:cNvSpPr/>
          <p:nvPr/>
        </p:nvSpPr>
        <p:spPr>
          <a:xfrm>
            <a:off x="3780000" y="2807999"/>
            <a:ext cx="1233000" cy="342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3211199"/>
            <a:ext cx="8568000" cy="331200"/>
          </a:xfrm>
          <a:prstGeom prst="rect">
            <a:avLst/>
          </a:prstGeom>
          <a:noFill/>
        </p:spPr>
        <p:txBody>
          <a:bodyPr wrap="square">
            <a:spAutoFit/>
          </a:bodyPr>
          <a:lstStyle/>
          <a:p>
            <a:pPr algn="l"/>
            <a:r>
              <a:rPr sz="1000" b="0" i="0">
                <a:solidFill>
                  <a:srgbClr val="B0C4DE"/>
                </a:solidFill>
              </a:rPr>
              <a:t>30 M FCFA  —  Recrutement des profils clés, bureaux dans les 2 villes, logistique opérationnelle</a:t>
            </a:r>
          </a:p>
        </p:txBody>
      </p:sp>
      <p:sp>
        <p:nvSpPr>
          <p:cNvPr id="23" name="Rectangle 22"/>
          <p:cNvSpPr/>
          <p:nvPr/>
        </p:nvSpPr>
        <p:spPr>
          <a:xfrm>
            <a:off x="144000" y="399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4000" y="3995999"/>
            <a:ext cx="97200" cy="1206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000" y="4075199"/>
            <a:ext cx="2628000" cy="295200"/>
          </a:xfrm>
          <a:prstGeom prst="rect">
            <a:avLst/>
          </a:prstGeom>
          <a:noFill/>
        </p:spPr>
        <p:txBody>
          <a:bodyPr wrap="square">
            <a:spAutoFit/>
          </a:bodyPr>
          <a:lstStyle/>
          <a:p>
            <a:pPr algn="l"/>
            <a:r>
              <a:rPr sz="1200" b="1" i="0">
                <a:solidFill>
                  <a:srgbClr val="FFFFFF"/>
                </a:solidFill>
              </a:rPr>
              <a:t>Finalisation &amp; Déploiement</a:t>
            </a:r>
          </a:p>
        </p:txBody>
      </p:sp>
      <p:sp>
        <p:nvSpPr>
          <p:cNvPr id="26" name="Rectangle 25"/>
          <p:cNvSpPr/>
          <p:nvPr/>
        </p:nvSpPr>
        <p:spPr>
          <a:xfrm>
            <a:off x="3024000" y="4067999"/>
            <a:ext cx="666000" cy="3420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24000" y="4067999"/>
            <a:ext cx="666000" cy="342000"/>
          </a:xfrm>
          <a:prstGeom prst="rect">
            <a:avLst/>
          </a:prstGeom>
          <a:noFill/>
        </p:spPr>
        <p:txBody>
          <a:bodyPr wrap="square">
            <a:spAutoFit/>
          </a:bodyPr>
          <a:lstStyle/>
          <a:p>
            <a:pPr algn="ctr"/>
            <a:r>
              <a:rPr sz="1400" b="1" i="0">
                <a:solidFill>
                  <a:srgbClr val="FF9933"/>
                </a:solidFill>
              </a:rPr>
              <a:t>15 %</a:t>
            </a:r>
          </a:p>
        </p:txBody>
      </p:sp>
      <p:sp>
        <p:nvSpPr>
          <p:cNvPr id="28" name="Rectangle 27"/>
          <p:cNvSpPr/>
          <p:nvPr/>
        </p:nvSpPr>
        <p:spPr>
          <a:xfrm>
            <a:off x="3780000" y="4067999"/>
            <a:ext cx="739800" cy="342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471199"/>
            <a:ext cx="8568000" cy="331200"/>
          </a:xfrm>
          <a:prstGeom prst="rect">
            <a:avLst/>
          </a:prstGeom>
          <a:noFill/>
        </p:spPr>
        <p:txBody>
          <a:bodyPr wrap="square">
            <a:spAutoFit/>
          </a:bodyPr>
          <a:lstStyle/>
          <a:p>
            <a:pPr algn="l"/>
            <a:r>
              <a:rPr sz="1000" b="0" i="0">
                <a:solidFill>
                  <a:srgbClr val="B0C4DE"/>
                </a:solidFill>
              </a:rPr>
              <a:t>18 M FCFA  —  Derniers réglages produit, tests charge, déploiement (app déjà très avancée : 20 000+ h dev)</a:t>
            </a:r>
          </a:p>
        </p:txBody>
      </p:sp>
      <p:sp>
        <p:nvSpPr>
          <p:cNvPr id="30" name="Rectangle 29"/>
          <p:cNvSpPr/>
          <p:nvPr/>
        </p:nvSpPr>
        <p:spPr>
          <a:xfrm>
            <a:off x="144000" y="525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44000" y="5255999"/>
            <a:ext cx="97200" cy="1206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000" y="5335199"/>
            <a:ext cx="2628000" cy="295200"/>
          </a:xfrm>
          <a:prstGeom prst="rect">
            <a:avLst/>
          </a:prstGeom>
          <a:noFill/>
        </p:spPr>
        <p:txBody>
          <a:bodyPr wrap="square">
            <a:spAutoFit/>
          </a:bodyPr>
          <a:lstStyle/>
          <a:p>
            <a:pPr algn="l"/>
            <a:r>
              <a:rPr sz="1200" b="1" i="0">
                <a:solidFill>
                  <a:srgbClr val="FFFFFF"/>
                </a:solidFill>
              </a:rPr>
              <a:t>Réserve de Trésorerie</a:t>
            </a:r>
          </a:p>
        </p:txBody>
      </p:sp>
      <p:sp>
        <p:nvSpPr>
          <p:cNvPr id="33" name="Rectangle 32"/>
          <p:cNvSpPr/>
          <p:nvPr/>
        </p:nvSpPr>
        <p:spPr>
          <a:xfrm>
            <a:off x="3024000" y="5327999"/>
            <a:ext cx="666000" cy="3420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24000" y="5327999"/>
            <a:ext cx="666000" cy="342000"/>
          </a:xfrm>
          <a:prstGeom prst="rect">
            <a:avLst/>
          </a:prstGeom>
          <a:noFill/>
        </p:spPr>
        <p:txBody>
          <a:bodyPr wrap="square">
            <a:spAutoFit/>
          </a:bodyPr>
          <a:lstStyle/>
          <a:p>
            <a:pPr algn="ctr"/>
            <a:r>
              <a:rPr sz="1400" b="1" i="0">
                <a:solidFill>
                  <a:srgbClr val="00C87A"/>
                </a:solidFill>
              </a:rPr>
              <a:t>15 %</a:t>
            </a:r>
          </a:p>
        </p:txBody>
      </p:sp>
      <p:sp>
        <p:nvSpPr>
          <p:cNvPr id="35" name="Rectangle 34"/>
          <p:cNvSpPr/>
          <p:nvPr/>
        </p:nvSpPr>
        <p:spPr>
          <a:xfrm>
            <a:off x="3780000" y="5327999"/>
            <a:ext cx="739800" cy="342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000" y="5731199"/>
            <a:ext cx="8568000" cy="331200"/>
          </a:xfrm>
          <a:prstGeom prst="rect">
            <a:avLst/>
          </a:prstGeom>
          <a:noFill/>
        </p:spPr>
        <p:txBody>
          <a:bodyPr wrap="square">
            <a:spAutoFit/>
          </a:bodyPr>
          <a:lstStyle/>
          <a:p>
            <a:pPr algn="l"/>
            <a:r>
              <a:rPr sz="1000" b="0" i="0">
                <a:solidFill>
                  <a:srgbClr val="B0C4DE"/>
                </a:solidFill>
              </a:rPr>
              <a:t>18 M FCFA  —  Sécurité financière 6 mois + gestion des imprévus opérationnels</a:t>
            </a:r>
          </a:p>
        </p:txBody>
      </p:sp>
      <p:sp>
        <p:nvSpPr>
          <p:cNvPr id="37" name="Rectangle 36"/>
          <p:cNvSpPr/>
          <p:nvPr/>
        </p:nvSpPr>
        <p:spPr>
          <a:xfrm>
            <a:off x="144000" y="6559199"/>
            <a:ext cx="8856000" cy="43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999" y="6595199"/>
            <a:ext cx="8640001" cy="360000"/>
          </a:xfrm>
          <a:prstGeom prst="rect">
            <a:avLst/>
          </a:prstGeom>
          <a:noFill/>
        </p:spPr>
        <p:txBody>
          <a:bodyPr wrap="square">
            <a:spAutoFit/>
          </a:bodyPr>
          <a:lstStyle/>
          <a:p>
            <a:pPr algn="ctr"/>
            <a:r>
              <a:rPr sz="1100" b="1" i="0">
                <a:solidFill>
                  <a:srgbClr val="D4AF37"/>
                </a:solidFill>
              </a:rPr>
              <a:t>TOTAL : 120 000 000 FCFA  |  Marketing = 1er poste (45 %)  |  Runway : 18 mois  |  Rentabilité cible : T1 2028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11</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Tableau de Projection Financière — 3 ans (2026-2028)</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Simulation prudente trimestrielle — rentabilité mensuelle nette au T1 2028 (meilleur cas)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58000"/>
            <a:ext cx="1728000" cy="37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72000" y="1458000"/>
            <a:ext cx="869400" cy="37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90000" y="1494000"/>
            <a:ext cx="847800" cy="324000"/>
          </a:xfrm>
          <a:prstGeom prst="rect">
            <a:avLst/>
          </a:prstGeom>
          <a:noFill/>
        </p:spPr>
        <p:txBody>
          <a:bodyPr wrap="square">
            <a:spAutoFit/>
          </a:bodyPr>
          <a:lstStyle/>
          <a:p>
            <a:pPr algn="ctr"/>
            <a:r>
              <a:rPr sz="900" b="1" i="0">
                <a:solidFill>
                  <a:srgbClr val="D4AF37"/>
                </a:solidFill>
              </a:rPr>
              <a:t>T2 2026</a:t>
            </a:r>
          </a:p>
        </p:txBody>
      </p:sp>
      <p:sp>
        <p:nvSpPr>
          <p:cNvPr id="12" name="Rectangle 11"/>
          <p:cNvSpPr/>
          <p:nvPr/>
        </p:nvSpPr>
        <p:spPr>
          <a:xfrm>
            <a:off x="2763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1000" y="1494000"/>
            <a:ext cx="847800" cy="324000"/>
          </a:xfrm>
          <a:prstGeom prst="rect">
            <a:avLst/>
          </a:prstGeom>
          <a:noFill/>
        </p:spPr>
        <p:txBody>
          <a:bodyPr wrap="square">
            <a:spAutoFit/>
          </a:bodyPr>
          <a:lstStyle/>
          <a:p>
            <a:pPr algn="ctr"/>
            <a:r>
              <a:rPr sz="900" b="1" i="0">
                <a:solidFill>
                  <a:srgbClr val="D4AF37"/>
                </a:solidFill>
              </a:rPr>
              <a:t>T3 2026</a:t>
            </a:r>
          </a:p>
        </p:txBody>
      </p:sp>
      <p:sp>
        <p:nvSpPr>
          <p:cNvPr id="14" name="Rectangle 13"/>
          <p:cNvSpPr/>
          <p:nvPr/>
        </p:nvSpPr>
        <p:spPr>
          <a:xfrm>
            <a:off x="3654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2000" y="1494000"/>
            <a:ext cx="847800" cy="324000"/>
          </a:xfrm>
          <a:prstGeom prst="rect">
            <a:avLst/>
          </a:prstGeom>
          <a:noFill/>
        </p:spPr>
        <p:txBody>
          <a:bodyPr wrap="square">
            <a:spAutoFit/>
          </a:bodyPr>
          <a:lstStyle/>
          <a:p>
            <a:pPr algn="ctr"/>
            <a:r>
              <a:rPr sz="900" b="1" i="0">
                <a:solidFill>
                  <a:srgbClr val="D4AF37"/>
                </a:solidFill>
              </a:rPr>
              <a:t>T4 2026</a:t>
            </a:r>
          </a:p>
        </p:txBody>
      </p:sp>
      <p:sp>
        <p:nvSpPr>
          <p:cNvPr id="16" name="Rectangle 15"/>
          <p:cNvSpPr/>
          <p:nvPr/>
        </p:nvSpPr>
        <p:spPr>
          <a:xfrm>
            <a:off x="4545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3000" y="1494000"/>
            <a:ext cx="847800" cy="324000"/>
          </a:xfrm>
          <a:prstGeom prst="rect">
            <a:avLst/>
          </a:prstGeom>
          <a:noFill/>
        </p:spPr>
        <p:txBody>
          <a:bodyPr wrap="square">
            <a:spAutoFit/>
          </a:bodyPr>
          <a:lstStyle/>
          <a:p>
            <a:pPr algn="ctr"/>
            <a:r>
              <a:rPr sz="900" b="1" i="0">
                <a:solidFill>
                  <a:srgbClr val="D4AF37"/>
                </a:solidFill>
              </a:rPr>
              <a:t>T1 2027</a:t>
            </a:r>
          </a:p>
        </p:txBody>
      </p:sp>
      <p:sp>
        <p:nvSpPr>
          <p:cNvPr id="18" name="Rectangle 17"/>
          <p:cNvSpPr/>
          <p:nvPr/>
        </p:nvSpPr>
        <p:spPr>
          <a:xfrm>
            <a:off x="5436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54000" y="1494000"/>
            <a:ext cx="847800" cy="324000"/>
          </a:xfrm>
          <a:prstGeom prst="rect">
            <a:avLst/>
          </a:prstGeom>
          <a:noFill/>
        </p:spPr>
        <p:txBody>
          <a:bodyPr wrap="square">
            <a:spAutoFit/>
          </a:bodyPr>
          <a:lstStyle/>
          <a:p>
            <a:pPr algn="ctr"/>
            <a:r>
              <a:rPr sz="900" b="1" i="0">
                <a:solidFill>
                  <a:srgbClr val="D4AF37"/>
                </a:solidFill>
              </a:rPr>
              <a:t>T2 2027</a:t>
            </a:r>
          </a:p>
        </p:txBody>
      </p:sp>
      <p:sp>
        <p:nvSpPr>
          <p:cNvPr id="20" name="Rectangle 19"/>
          <p:cNvSpPr/>
          <p:nvPr/>
        </p:nvSpPr>
        <p:spPr>
          <a:xfrm>
            <a:off x="6327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000" y="1494000"/>
            <a:ext cx="847800" cy="324000"/>
          </a:xfrm>
          <a:prstGeom prst="rect">
            <a:avLst/>
          </a:prstGeom>
          <a:noFill/>
        </p:spPr>
        <p:txBody>
          <a:bodyPr wrap="square">
            <a:spAutoFit/>
          </a:bodyPr>
          <a:lstStyle/>
          <a:p>
            <a:pPr algn="ctr"/>
            <a:r>
              <a:rPr sz="900" b="1" i="0">
                <a:solidFill>
                  <a:srgbClr val="D4AF37"/>
                </a:solidFill>
              </a:rPr>
              <a:t>T3 2027</a:t>
            </a:r>
          </a:p>
        </p:txBody>
      </p:sp>
      <p:sp>
        <p:nvSpPr>
          <p:cNvPr id="22" name="Rectangle 21"/>
          <p:cNvSpPr/>
          <p:nvPr/>
        </p:nvSpPr>
        <p:spPr>
          <a:xfrm>
            <a:off x="7218000" y="1458000"/>
            <a:ext cx="869400" cy="37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6000" y="1494000"/>
            <a:ext cx="847800" cy="324000"/>
          </a:xfrm>
          <a:prstGeom prst="rect">
            <a:avLst/>
          </a:prstGeom>
          <a:noFill/>
        </p:spPr>
        <p:txBody>
          <a:bodyPr wrap="square">
            <a:spAutoFit/>
          </a:bodyPr>
          <a:lstStyle/>
          <a:p>
            <a:pPr algn="ctr"/>
            <a:r>
              <a:rPr sz="900" b="1" i="0">
                <a:solidFill>
                  <a:srgbClr val="D4AF37"/>
                </a:solidFill>
              </a:rPr>
              <a:t>T4 2027</a:t>
            </a:r>
          </a:p>
        </p:txBody>
      </p:sp>
      <p:sp>
        <p:nvSpPr>
          <p:cNvPr id="24" name="Rectangle 23"/>
          <p:cNvSpPr/>
          <p:nvPr/>
        </p:nvSpPr>
        <p:spPr>
          <a:xfrm>
            <a:off x="8109000" y="1458000"/>
            <a:ext cx="869400" cy="37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7000" y="1494000"/>
            <a:ext cx="847800" cy="324000"/>
          </a:xfrm>
          <a:prstGeom prst="rect">
            <a:avLst/>
          </a:prstGeom>
          <a:noFill/>
        </p:spPr>
        <p:txBody>
          <a:bodyPr wrap="square">
            <a:spAutoFit/>
          </a:bodyPr>
          <a:lstStyle/>
          <a:p>
            <a:pPr algn="ctr"/>
            <a:r>
              <a:rPr sz="900" b="1" i="0">
                <a:solidFill>
                  <a:srgbClr val="0B1E42"/>
                </a:solidFill>
              </a:rPr>
              <a:t>T1 2028</a:t>
            </a:r>
          </a:p>
        </p:txBody>
      </p:sp>
      <p:sp>
        <p:nvSpPr>
          <p:cNvPr id="26" name="Rectangle 25"/>
          <p:cNvSpPr/>
          <p:nvPr/>
        </p:nvSpPr>
        <p:spPr>
          <a:xfrm>
            <a:off x="144000" y="1836000"/>
            <a:ext cx="1728000" cy="6228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4000" y="1836000"/>
            <a:ext cx="79200" cy="622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999" y="1879200"/>
            <a:ext cx="1566000" cy="568800"/>
          </a:xfrm>
          <a:prstGeom prst="rect">
            <a:avLst/>
          </a:prstGeom>
          <a:noFill/>
        </p:spPr>
        <p:txBody>
          <a:bodyPr wrap="square">
            <a:spAutoFit/>
          </a:bodyPr>
          <a:lstStyle/>
          <a:p>
            <a:pPr algn="l"/>
            <a:r>
              <a:rPr sz="900" b="1" i="0">
                <a:solidFill>
                  <a:srgbClr val="D4AF37"/>
                </a:solidFill>
              </a:rPr>
              <a:t>Utilisateurs actifs/mois</a:t>
            </a:r>
          </a:p>
        </p:txBody>
      </p:sp>
      <p:sp>
        <p:nvSpPr>
          <p:cNvPr id="29" name="Rectangle 28"/>
          <p:cNvSpPr/>
          <p:nvPr/>
        </p:nvSpPr>
        <p:spPr>
          <a:xfrm>
            <a:off x="1872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90000" y="1879200"/>
            <a:ext cx="847800" cy="568800"/>
          </a:xfrm>
          <a:prstGeom prst="rect">
            <a:avLst/>
          </a:prstGeom>
          <a:noFill/>
        </p:spPr>
        <p:txBody>
          <a:bodyPr wrap="square">
            <a:spAutoFit/>
          </a:bodyPr>
          <a:lstStyle/>
          <a:p>
            <a:pPr algn="ctr"/>
            <a:r>
              <a:rPr sz="1000" b="0" i="0">
                <a:solidFill>
                  <a:srgbClr val="FFFFFF"/>
                </a:solidFill>
              </a:rPr>
              <a:t>2 000</a:t>
            </a:r>
          </a:p>
        </p:txBody>
      </p:sp>
      <p:sp>
        <p:nvSpPr>
          <p:cNvPr id="31" name="Rectangle 30"/>
          <p:cNvSpPr/>
          <p:nvPr/>
        </p:nvSpPr>
        <p:spPr>
          <a:xfrm>
            <a:off x="2763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1000" y="1879200"/>
            <a:ext cx="847800" cy="568800"/>
          </a:xfrm>
          <a:prstGeom prst="rect">
            <a:avLst/>
          </a:prstGeom>
          <a:noFill/>
        </p:spPr>
        <p:txBody>
          <a:bodyPr wrap="square">
            <a:spAutoFit/>
          </a:bodyPr>
          <a:lstStyle/>
          <a:p>
            <a:pPr algn="ctr"/>
            <a:r>
              <a:rPr sz="1000" b="0" i="0">
                <a:solidFill>
                  <a:srgbClr val="FFFFFF"/>
                </a:solidFill>
              </a:rPr>
              <a:t>6 000</a:t>
            </a:r>
          </a:p>
        </p:txBody>
      </p:sp>
      <p:sp>
        <p:nvSpPr>
          <p:cNvPr id="33" name="Rectangle 32"/>
          <p:cNvSpPr/>
          <p:nvPr/>
        </p:nvSpPr>
        <p:spPr>
          <a:xfrm>
            <a:off x="3654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2000" y="1879200"/>
            <a:ext cx="847800" cy="568800"/>
          </a:xfrm>
          <a:prstGeom prst="rect">
            <a:avLst/>
          </a:prstGeom>
          <a:noFill/>
        </p:spPr>
        <p:txBody>
          <a:bodyPr wrap="square">
            <a:spAutoFit/>
          </a:bodyPr>
          <a:lstStyle/>
          <a:p>
            <a:pPr algn="ctr"/>
            <a:r>
              <a:rPr sz="1000" b="0" i="0">
                <a:solidFill>
                  <a:srgbClr val="FFFFFF"/>
                </a:solidFill>
              </a:rPr>
              <a:t>12 000</a:t>
            </a:r>
          </a:p>
        </p:txBody>
      </p:sp>
      <p:sp>
        <p:nvSpPr>
          <p:cNvPr id="35" name="Rectangle 34"/>
          <p:cNvSpPr/>
          <p:nvPr/>
        </p:nvSpPr>
        <p:spPr>
          <a:xfrm>
            <a:off x="4545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63000" y="1879200"/>
            <a:ext cx="847800" cy="568800"/>
          </a:xfrm>
          <a:prstGeom prst="rect">
            <a:avLst/>
          </a:prstGeom>
          <a:noFill/>
        </p:spPr>
        <p:txBody>
          <a:bodyPr wrap="square">
            <a:spAutoFit/>
          </a:bodyPr>
          <a:lstStyle/>
          <a:p>
            <a:pPr algn="ctr"/>
            <a:r>
              <a:rPr sz="1000" b="0" i="0">
                <a:solidFill>
                  <a:srgbClr val="FFFFFF"/>
                </a:solidFill>
              </a:rPr>
              <a:t>18 000</a:t>
            </a:r>
          </a:p>
        </p:txBody>
      </p:sp>
      <p:sp>
        <p:nvSpPr>
          <p:cNvPr id="37" name="Rectangle 36"/>
          <p:cNvSpPr/>
          <p:nvPr/>
        </p:nvSpPr>
        <p:spPr>
          <a:xfrm>
            <a:off x="5436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54000" y="1879200"/>
            <a:ext cx="847800" cy="568800"/>
          </a:xfrm>
          <a:prstGeom prst="rect">
            <a:avLst/>
          </a:prstGeom>
          <a:noFill/>
        </p:spPr>
        <p:txBody>
          <a:bodyPr wrap="square">
            <a:spAutoFit/>
          </a:bodyPr>
          <a:lstStyle/>
          <a:p>
            <a:pPr algn="ctr"/>
            <a:r>
              <a:rPr sz="1000" b="0" i="0">
                <a:solidFill>
                  <a:srgbClr val="FFFFFF"/>
                </a:solidFill>
              </a:rPr>
              <a:t>25 000</a:t>
            </a:r>
          </a:p>
        </p:txBody>
      </p:sp>
      <p:sp>
        <p:nvSpPr>
          <p:cNvPr id="39" name="Rectangle 38"/>
          <p:cNvSpPr/>
          <p:nvPr/>
        </p:nvSpPr>
        <p:spPr>
          <a:xfrm>
            <a:off x="6327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5000" y="1879200"/>
            <a:ext cx="847800" cy="568800"/>
          </a:xfrm>
          <a:prstGeom prst="rect">
            <a:avLst/>
          </a:prstGeom>
          <a:noFill/>
        </p:spPr>
        <p:txBody>
          <a:bodyPr wrap="square">
            <a:spAutoFit/>
          </a:bodyPr>
          <a:lstStyle/>
          <a:p>
            <a:pPr algn="ctr"/>
            <a:r>
              <a:rPr sz="1000" b="0" i="0">
                <a:solidFill>
                  <a:srgbClr val="FFFFFF"/>
                </a:solidFill>
              </a:rPr>
              <a:t>35 000</a:t>
            </a:r>
          </a:p>
        </p:txBody>
      </p:sp>
      <p:sp>
        <p:nvSpPr>
          <p:cNvPr id="41" name="Rectangle 40"/>
          <p:cNvSpPr/>
          <p:nvPr/>
        </p:nvSpPr>
        <p:spPr>
          <a:xfrm>
            <a:off x="7218000" y="18360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6000" y="1879200"/>
            <a:ext cx="847800" cy="568800"/>
          </a:xfrm>
          <a:prstGeom prst="rect">
            <a:avLst/>
          </a:prstGeom>
          <a:noFill/>
        </p:spPr>
        <p:txBody>
          <a:bodyPr wrap="square">
            <a:spAutoFit/>
          </a:bodyPr>
          <a:lstStyle/>
          <a:p>
            <a:pPr algn="ctr"/>
            <a:r>
              <a:rPr sz="1000" b="0" i="0">
                <a:solidFill>
                  <a:srgbClr val="FFFFFF"/>
                </a:solidFill>
              </a:rPr>
              <a:t>50 000</a:t>
            </a:r>
          </a:p>
        </p:txBody>
      </p:sp>
      <p:sp>
        <p:nvSpPr>
          <p:cNvPr id="43" name="Rectangle 42"/>
          <p:cNvSpPr/>
          <p:nvPr/>
        </p:nvSpPr>
        <p:spPr>
          <a:xfrm>
            <a:off x="8109000" y="1836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27000" y="1879200"/>
            <a:ext cx="847800" cy="568800"/>
          </a:xfrm>
          <a:prstGeom prst="rect">
            <a:avLst/>
          </a:prstGeom>
          <a:noFill/>
        </p:spPr>
        <p:txBody>
          <a:bodyPr wrap="square">
            <a:spAutoFit/>
          </a:bodyPr>
          <a:lstStyle/>
          <a:p>
            <a:pPr algn="ctr"/>
            <a:r>
              <a:rPr sz="1000" b="0" i="0">
                <a:solidFill>
                  <a:srgbClr val="FFFFFF"/>
                </a:solidFill>
              </a:rPr>
              <a:t>65 000</a:t>
            </a:r>
          </a:p>
        </p:txBody>
      </p:sp>
      <p:sp>
        <p:nvSpPr>
          <p:cNvPr id="45" name="Rectangle 44"/>
          <p:cNvSpPr/>
          <p:nvPr/>
        </p:nvSpPr>
        <p:spPr>
          <a:xfrm>
            <a:off x="144000" y="2476800"/>
            <a:ext cx="1728000" cy="6228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44000" y="2476800"/>
            <a:ext cx="79200" cy="622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9999" y="2520000"/>
            <a:ext cx="1566000" cy="568800"/>
          </a:xfrm>
          <a:prstGeom prst="rect">
            <a:avLst/>
          </a:prstGeom>
          <a:noFill/>
        </p:spPr>
        <p:txBody>
          <a:bodyPr wrap="square">
            <a:spAutoFit/>
          </a:bodyPr>
          <a:lstStyle/>
          <a:p>
            <a:pPr algn="l"/>
            <a:r>
              <a:rPr sz="900" b="1" i="0">
                <a:solidFill>
                  <a:srgbClr val="4FC3F7"/>
                </a:solidFill>
              </a:rPr>
              <a:t>Transactions/mois</a:t>
            </a:r>
          </a:p>
        </p:txBody>
      </p:sp>
      <p:sp>
        <p:nvSpPr>
          <p:cNvPr id="48" name="Rectangle 47"/>
          <p:cNvSpPr/>
          <p:nvPr/>
        </p:nvSpPr>
        <p:spPr>
          <a:xfrm>
            <a:off x="1872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90000" y="2520000"/>
            <a:ext cx="847800" cy="568800"/>
          </a:xfrm>
          <a:prstGeom prst="rect">
            <a:avLst/>
          </a:prstGeom>
          <a:noFill/>
        </p:spPr>
        <p:txBody>
          <a:bodyPr wrap="square">
            <a:spAutoFit/>
          </a:bodyPr>
          <a:lstStyle/>
          <a:p>
            <a:pPr algn="ctr"/>
            <a:r>
              <a:rPr sz="1000" b="0" i="0">
                <a:solidFill>
                  <a:srgbClr val="FFFFFF"/>
                </a:solidFill>
              </a:rPr>
              <a:t>1 300</a:t>
            </a:r>
          </a:p>
        </p:txBody>
      </p:sp>
      <p:sp>
        <p:nvSpPr>
          <p:cNvPr id="50" name="Rectangle 49"/>
          <p:cNvSpPr/>
          <p:nvPr/>
        </p:nvSpPr>
        <p:spPr>
          <a:xfrm>
            <a:off x="2763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81000" y="2520000"/>
            <a:ext cx="847800" cy="568800"/>
          </a:xfrm>
          <a:prstGeom prst="rect">
            <a:avLst/>
          </a:prstGeom>
          <a:noFill/>
        </p:spPr>
        <p:txBody>
          <a:bodyPr wrap="square">
            <a:spAutoFit/>
          </a:bodyPr>
          <a:lstStyle/>
          <a:p>
            <a:pPr algn="ctr"/>
            <a:r>
              <a:rPr sz="1000" b="0" i="0">
                <a:solidFill>
                  <a:srgbClr val="FFFFFF"/>
                </a:solidFill>
              </a:rPr>
              <a:t>3 300</a:t>
            </a:r>
          </a:p>
        </p:txBody>
      </p:sp>
      <p:sp>
        <p:nvSpPr>
          <p:cNvPr id="52" name="Rectangle 51"/>
          <p:cNvSpPr/>
          <p:nvPr/>
        </p:nvSpPr>
        <p:spPr>
          <a:xfrm>
            <a:off x="3654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72000" y="2520000"/>
            <a:ext cx="847800" cy="568800"/>
          </a:xfrm>
          <a:prstGeom prst="rect">
            <a:avLst/>
          </a:prstGeom>
          <a:noFill/>
        </p:spPr>
        <p:txBody>
          <a:bodyPr wrap="square">
            <a:spAutoFit/>
          </a:bodyPr>
          <a:lstStyle/>
          <a:p>
            <a:pPr algn="ctr"/>
            <a:r>
              <a:rPr sz="1000" b="0" i="0">
                <a:solidFill>
                  <a:srgbClr val="FFFFFF"/>
                </a:solidFill>
              </a:rPr>
              <a:t>6 000</a:t>
            </a:r>
          </a:p>
        </p:txBody>
      </p:sp>
      <p:sp>
        <p:nvSpPr>
          <p:cNvPr id="54" name="Rectangle 53"/>
          <p:cNvSpPr/>
          <p:nvPr/>
        </p:nvSpPr>
        <p:spPr>
          <a:xfrm>
            <a:off x="4545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63000" y="2520000"/>
            <a:ext cx="847800" cy="568800"/>
          </a:xfrm>
          <a:prstGeom prst="rect">
            <a:avLst/>
          </a:prstGeom>
          <a:noFill/>
        </p:spPr>
        <p:txBody>
          <a:bodyPr wrap="square">
            <a:spAutoFit/>
          </a:bodyPr>
          <a:lstStyle/>
          <a:p>
            <a:pPr algn="ctr"/>
            <a:r>
              <a:rPr sz="1000" b="0" i="0">
                <a:solidFill>
                  <a:srgbClr val="FFFFFF"/>
                </a:solidFill>
              </a:rPr>
              <a:t>9 300</a:t>
            </a:r>
          </a:p>
        </p:txBody>
      </p:sp>
      <p:sp>
        <p:nvSpPr>
          <p:cNvPr id="56" name="Rectangle 55"/>
          <p:cNvSpPr/>
          <p:nvPr/>
        </p:nvSpPr>
        <p:spPr>
          <a:xfrm>
            <a:off x="5436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54000" y="2520000"/>
            <a:ext cx="847800" cy="568800"/>
          </a:xfrm>
          <a:prstGeom prst="rect">
            <a:avLst/>
          </a:prstGeom>
          <a:noFill/>
        </p:spPr>
        <p:txBody>
          <a:bodyPr wrap="square">
            <a:spAutoFit/>
          </a:bodyPr>
          <a:lstStyle/>
          <a:p>
            <a:pPr algn="ctr"/>
            <a:r>
              <a:rPr sz="1000" b="0" i="0">
                <a:solidFill>
                  <a:srgbClr val="FFFFFF"/>
                </a:solidFill>
              </a:rPr>
              <a:t>13 000</a:t>
            </a:r>
          </a:p>
        </p:txBody>
      </p:sp>
      <p:sp>
        <p:nvSpPr>
          <p:cNvPr id="58" name="Rectangle 57"/>
          <p:cNvSpPr/>
          <p:nvPr/>
        </p:nvSpPr>
        <p:spPr>
          <a:xfrm>
            <a:off x="6327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45000" y="2520000"/>
            <a:ext cx="847800" cy="568800"/>
          </a:xfrm>
          <a:prstGeom prst="rect">
            <a:avLst/>
          </a:prstGeom>
          <a:noFill/>
        </p:spPr>
        <p:txBody>
          <a:bodyPr wrap="square">
            <a:spAutoFit/>
          </a:bodyPr>
          <a:lstStyle/>
          <a:p>
            <a:pPr algn="ctr"/>
            <a:r>
              <a:rPr sz="1000" b="0" i="0">
                <a:solidFill>
                  <a:srgbClr val="FFFFFF"/>
                </a:solidFill>
              </a:rPr>
              <a:t>18 700</a:t>
            </a:r>
          </a:p>
        </p:txBody>
      </p:sp>
      <p:sp>
        <p:nvSpPr>
          <p:cNvPr id="60" name="Rectangle 59"/>
          <p:cNvSpPr/>
          <p:nvPr/>
        </p:nvSpPr>
        <p:spPr>
          <a:xfrm>
            <a:off x="7218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36000" y="2520000"/>
            <a:ext cx="847800" cy="568800"/>
          </a:xfrm>
          <a:prstGeom prst="rect">
            <a:avLst/>
          </a:prstGeom>
          <a:noFill/>
        </p:spPr>
        <p:txBody>
          <a:bodyPr wrap="square">
            <a:spAutoFit/>
          </a:bodyPr>
          <a:lstStyle/>
          <a:p>
            <a:pPr algn="ctr"/>
            <a:r>
              <a:rPr sz="1000" b="0" i="0">
                <a:solidFill>
                  <a:srgbClr val="FFFFFF"/>
                </a:solidFill>
              </a:rPr>
              <a:t>25 000</a:t>
            </a:r>
          </a:p>
        </p:txBody>
      </p:sp>
      <p:sp>
        <p:nvSpPr>
          <p:cNvPr id="62" name="Rectangle 61"/>
          <p:cNvSpPr/>
          <p:nvPr/>
        </p:nvSpPr>
        <p:spPr>
          <a:xfrm>
            <a:off x="8109000" y="24768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27000" y="2520000"/>
            <a:ext cx="847800" cy="568800"/>
          </a:xfrm>
          <a:prstGeom prst="rect">
            <a:avLst/>
          </a:prstGeom>
          <a:noFill/>
        </p:spPr>
        <p:txBody>
          <a:bodyPr wrap="square">
            <a:spAutoFit/>
          </a:bodyPr>
          <a:lstStyle/>
          <a:p>
            <a:pPr algn="ctr"/>
            <a:r>
              <a:rPr sz="1000" b="0" i="0">
                <a:solidFill>
                  <a:srgbClr val="FFFFFF"/>
                </a:solidFill>
              </a:rPr>
              <a:t>37 000</a:t>
            </a:r>
          </a:p>
        </p:txBody>
      </p:sp>
      <p:sp>
        <p:nvSpPr>
          <p:cNvPr id="64" name="Rectangle 63"/>
          <p:cNvSpPr/>
          <p:nvPr/>
        </p:nvSpPr>
        <p:spPr>
          <a:xfrm>
            <a:off x="144000" y="3117600"/>
            <a:ext cx="1728000" cy="622800"/>
          </a:xfrm>
          <a:prstGeom prst="rect">
            <a:avLst/>
          </a:prstGeom>
          <a:solidFill>
            <a:srgbClr val="132B5E"/>
          </a:solidFill>
          <a:ln w="19050">
            <a:solidFill>
              <a:srgbClr val="B0C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44000" y="3117600"/>
            <a:ext cx="79200" cy="622800"/>
          </a:xfrm>
          <a:prstGeom prst="rect">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9999" y="3160800"/>
            <a:ext cx="1566000" cy="568800"/>
          </a:xfrm>
          <a:prstGeom prst="rect">
            <a:avLst/>
          </a:prstGeom>
          <a:noFill/>
        </p:spPr>
        <p:txBody>
          <a:bodyPr wrap="square">
            <a:spAutoFit/>
          </a:bodyPr>
          <a:lstStyle/>
          <a:p>
            <a:pPr algn="l"/>
            <a:r>
              <a:rPr sz="900" b="1" i="0">
                <a:solidFill>
                  <a:srgbClr val="B0C4DE"/>
                </a:solidFill>
              </a:rPr>
              <a:t>Commission moy. (FCFA)</a:t>
            </a:r>
          </a:p>
        </p:txBody>
      </p:sp>
      <p:sp>
        <p:nvSpPr>
          <p:cNvPr id="67" name="Rectangle 66"/>
          <p:cNvSpPr/>
          <p:nvPr/>
        </p:nvSpPr>
        <p:spPr>
          <a:xfrm>
            <a:off x="1872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890000" y="3160800"/>
            <a:ext cx="847800" cy="568800"/>
          </a:xfrm>
          <a:prstGeom prst="rect">
            <a:avLst/>
          </a:prstGeom>
          <a:noFill/>
        </p:spPr>
        <p:txBody>
          <a:bodyPr wrap="square">
            <a:spAutoFit/>
          </a:bodyPr>
          <a:lstStyle/>
          <a:p>
            <a:pPr algn="ctr"/>
            <a:r>
              <a:rPr sz="1000" b="0" i="0">
                <a:solidFill>
                  <a:srgbClr val="FFFFFF"/>
                </a:solidFill>
              </a:rPr>
              <a:t>1 500</a:t>
            </a:r>
          </a:p>
        </p:txBody>
      </p:sp>
      <p:sp>
        <p:nvSpPr>
          <p:cNvPr id="69" name="Rectangle 68"/>
          <p:cNvSpPr/>
          <p:nvPr/>
        </p:nvSpPr>
        <p:spPr>
          <a:xfrm>
            <a:off x="2763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81000" y="3160800"/>
            <a:ext cx="847800" cy="568800"/>
          </a:xfrm>
          <a:prstGeom prst="rect">
            <a:avLst/>
          </a:prstGeom>
          <a:noFill/>
        </p:spPr>
        <p:txBody>
          <a:bodyPr wrap="square">
            <a:spAutoFit/>
          </a:bodyPr>
          <a:lstStyle/>
          <a:p>
            <a:pPr algn="ctr"/>
            <a:r>
              <a:rPr sz="1000" b="0" i="0">
                <a:solidFill>
                  <a:srgbClr val="FFFFFF"/>
                </a:solidFill>
              </a:rPr>
              <a:t>1 500</a:t>
            </a:r>
          </a:p>
        </p:txBody>
      </p:sp>
      <p:sp>
        <p:nvSpPr>
          <p:cNvPr id="71" name="Rectangle 70"/>
          <p:cNvSpPr/>
          <p:nvPr/>
        </p:nvSpPr>
        <p:spPr>
          <a:xfrm>
            <a:off x="3654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72000" y="3160800"/>
            <a:ext cx="847800" cy="568800"/>
          </a:xfrm>
          <a:prstGeom prst="rect">
            <a:avLst/>
          </a:prstGeom>
          <a:noFill/>
        </p:spPr>
        <p:txBody>
          <a:bodyPr wrap="square">
            <a:spAutoFit/>
          </a:bodyPr>
          <a:lstStyle/>
          <a:p>
            <a:pPr algn="ctr"/>
            <a:r>
              <a:rPr sz="1000" b="0" i="0">
                <a:solidFill>
                  <a:srgbClr val="FFFFFF"/>
                </a:solidFill>
              </a:rPr>
              <a:t>1 500</a:t>
            </a:r>
          </a:p>
        </p:txBody>
      </p:sp>
      <p:sp>
        <p:nvSpPr>
          <p:cNvPr id="73" name="Rectangle 72"/>
          <p:cNvSpPr/>
          <p:nvPr/>
        </p:nvSpPr>
        <p:spPr>
          <a:xfrm>
            <a:off x="4545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63000" y="3160800"/>
            <a:ext cx="847800" cy="568800"/>
          </a:xfrm>
          <a:prstGeom prst="rect">
            <a:avLst/>
          </a:prstGeom>
          <a:noFill/>
        </p:spPr>
        <p:txBody>
          <a:bodyPr wrap="square">
            <a:spAutoFit/>
          </a:bodyPr>
          <a:lstStyle/>
          <a:p>
            <a:pPr algn="ctr"/>
            <a:r>
              <a:rPr sz="1000" b="0" i="0">
                <a:solidFill>
                  <a:srgbClr val="FFFFFF"/>
                </a:solidFill>
              </a:rPr>
              <a:t>1 500</a:t>
            </a:r>
          </a:p>
        </p:txBody>
      </p:sp>
      <p:sp>
        <p:nvSpPr>
          <p:cNvPr id="75" name="Rectangle 74"/>
          <p:cNvSpPr/>
          <p:nvPr/>
        </p:nvSpPr>
        <p:spPr>
          <a:xfrm>
            <a:off x="5436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54000" y="3160800"/>
            <a:ext cx="847800" cy="568800"/>
          </a:xfrm>
          <a:prstGeom prst="rect">
            <a:avLst/>
          </a:prstGeom>
          <a:noFill/>
        </p:spPr>
        <p:txBody>
          <a:bodyPr wrap="square">
            <a:spAutoFit/>
          </a:bodyPr>
          <a:lstStyle/>
          <a:p>
            <a:pPr algn="ctr"/>
            <a:r>
              <a:rPr sz="1000" b="0" i="0">
                <a:solidFill>
                  <a:srgbClr val="FFFFFF"/>
                </a:solidFill>
              </a:rPr>
              <a:t>1 540</a:t>
            </a:r>
          </a:p>
        </p:txBody>
      </p:sp>
      <p:sp>
        <p:nvSpPr>
          <p:cNvPr id="77" name="Rectangle 76"/>
          <p:cNvSpPr/>
          <p:nvPr/>
        </p:nvSpPr>
        <p:spPr>
          <a:xfrm>
            <a:off x="6327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345000" y="3160800"/>
            <a:ext cx="847800" cy="568800"/>
          </a:xfrm>
          <a:prstGeom prst="rect">
            <a:avLst/>
          </a:prstGeom>
          <a:noFill/>
        </p:spPr>
        <p:txBody>
          <a:bodyPr wrap="square">
            <a:spAutoFit/>
          </a:bodyPr>
          <a:lstStyle/>
          <a:p>
            <a:pPr algn="ctr"/>
            <a:r>
              <a:rPr sz="1000" b="0" i="0">
                <a:solidFill>
                  <a:srgbClr val="FFFFFF"/>
                </a:solidFill>
              </a:rPr>
              <a:t>1 500</a:t>
            </a:r>
          </a:p>
        </p:txBody>
      </p:sp>
      <p:sp>
        <p:nvSpPr>
          <p:cNvPr id="79" name="Rectangle 78"/>
          <p:cNvSpPr/>
          <p:nvPr/>
        </p:nvSpPr>
        <p:spPr>
          <a:xfrm>
            <a:off x="7218000" y="31176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36000" y="3160800"/>
            <a:ext cx="847800" cy="568800"/>
          </a:xfrm>
          <a:prstGeom prst="rect">
            <a:avLst/>
          </a:prstGeom>
          <a:noFill/>
        </p:spPr>
        <p:txBody>
          <a:bodyPr wrap="square">
            <a:spAutoFit/>
          </a:bodyPr>
          <a:lstStyle/>
          <a:p>
            <a:pPr algn="ctr"/>
            <a:r>
              <a:rPr sz="1000" b="0" i="0">
                <a:solidFill>
                  <a:srgbClr val="FFFFFF"/>
                </a:solidFill>
              </a:rPr>
              <a:t>1 520</a:t>
            </a:r>
          </a:p>
        </p:txBody>
      </p:sp>
      <p:sp>
        <p:nvSpPr>
          <p:cNvPr id="81" name="Rectangle 80"/>
          <p:cNvSpPr/>
          <p:nvPr/>
        </p:nvSpPr>
        <p:spPr>
          <a:xfrm>
            <a:off x="8109000" y="31176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127000" y="3160800"/>
            <a:ext cx="847800" cy="568800"/>
          </a:xfrm>
          <a:prstGeom prst="rect">
            <a:avLst/>
          </a:prstGeom>
          <a:noFill/>
        </p:spPr>
        <p:txBody>
          <a:bodyPr wrap="square">
            <a:spAutoFit/>
          </a:bodyPr>
          <a:lstStyle/>
          <a:p>
            <a:pPr algn="ctr"/>
            <a:r>
              <a:rPr sz="1000" b="0" i="0">
                <a:solidFill>
                  <a:srgbClr val="FFFFFF"/>
                </a:solidFill>
              </a:rPr>
              <a:t>1 486</a:t>
            </a:r>
          </a:p>
        </p:txBody>
      </p:sp>
      <p:sp>
        <p:nvSpPr>
          <p:cNvPr id="83" name="Rectangle 82"/>
          <p:cNvSpPr/>
          <p:nvPr/>
        </p:nvSpPr>
        <p:spPr>
          <a:xfrm>
            <a:off x="144000" y="3758400"/>
            <a:ext cx="1728000" cy="6228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44000" y="3758400"/>
            <a:ext cx="79200" cy="622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69999" y="3801600"/>
            <a:ext cx="1566000" cy="568800"/>
          </a:xfrm>
          <a:prstGeom prst="rect">
            <a:avLst/>
          </a:prstGeom>
          <a:noFill/>
        </p:spPr>
        <p:txBody>
          <a:bodyPr wrap="square">
            <a:spAutoFit/>
          </a:bodyPr>
          <a:lstStyle/>
          <a:p>
            <a:pPr algn="l"/>
            <a:r>
              <a:rPr sz="900" b="1" i="0">
                <a:solidFill>
                  <a:srgbClr val="D4AF37"/>
                </a:solidFill>
              </a:rPr>
              <a:t>Revenus mensuels (M FCFA)</a:t>
            </a:r>
          </a:p>
        </p:txBody>
      </p:sp>
      <p:sp>
        <p:nvSpPr>
          <p:cNvPr id="86" name="Rectangle 85"/>
          <p:cNvSpPr/>
          <p:nvPr/>
        </p:nvSpPr>
        <p:spPr>
          <a:xfrm>
            <a:off x="1872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890000" y="3801600"/>
            <a:ext cx="847800" cy="568800"/>
          </a:xfrm>
          <a:prstGeom prst="rect">
            <a:avLst/>
          </a:prstGeom>
          <a:noFill/>
        </p:spPr>
        <p:txBody>
          <a:bodyPr wrap="square">
            <a:spAutoFit/>
          </a:bodyPr>
          <a:lstStyle/>
          <a:p>
            <a:pPr algn="ctr"/>
            <a:r>
              <a:rPr sz="1000" b="1" i="0">
                <a:solidFill>
                  <a:srgbClr val="FFFFFF"/>
                </a:solidFill>
              </a:rPr>
              <a:t>2,0</a:t>
            </a:r>
          </a:p>
        </p:txBody>
      </p:sp>
      <p:sp>
        <p:nvSpPr>
          <p:cNvPr id="88" name="Rectangle 87"/>
          <p:cNvSpPr/>
          <p:nvPr/>
        </p:nvSpPr>
        <p:spPr>
          <a:xfrm>
            <a:off x="2763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81000" y="3801600"/>
            <a:ext cx="847800" cy="568800"/>
          </a:xfrm>
          <a:prstGeom prst="rect">
            <a:avLst/>
          </a:prstGeom>
          <a:noFill/>
        </p:spPr>
        <p:txBody>
          <a:bodyPr wrap="square">
            <a:spAutoFit/>
          </a:bodyPr>
          <a:lstStyle/>
          <a:p>
            <a:pPr algn="ctr"/>
            <a:r>
              <a:rPr sz="1000" b="1" i="0">
                <a:solidFill>
                  <a:srgbClr val="FFFFFF"/>
                </a:solidFill>
              </a:rPr>
              <a:t>5,0</a:t>
            </a:r>
          </a:p>
        </p:txBody>
      </p:sp>
      <p:sp>
        <p:nvSpPr>
          <p:cNvPr id="90" name="Rectangle 89"/>
          <p:cNvSpPr/>
          <p:nvPr/>
        </p:nvSpPr>
        <p:spPr>
          <a:xfrm>
            <a:off x="3654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672000" y="3801600"/>
            <a:ext cx="847800" cy="568800"/>
          </a:xfrm>
          <a:prstGeom prst="rect">
            <a:avLst/>
          </a:prstGeom>
          <a:noFill/>
        </p:spPr>
        <p:txBody>
          <a:bodyPr wrap="square">
            <a:spAutoFit/>
          </a:bodyPr>
          <a:lstStyle/>
          <a:p>
            <a:pPr algn="ctr"/>
            <a:r>
              <a:rPr sz="1000" b="1" i="0">
                <a:solidFill>
                  <a:srgbClr val="FFFFFF"/>
                </a:solidFill>
              </a:rPr>
              <a:t>9,0</a:t>
            </a:r>
          </a:p>
        </p:txBody>
      </p:sp>
      <p:sp>
        <p:nvSpPr>
          <p:cNvPr id="92" name="Rectangle 91"/>
          <p:cNvSpPr/>
          <p:nvPr/>
        </p:nvSpPr>
        <p:spPr>
          <a:xfrm>
            <a:off x="4545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63000" y="3801600"/>
            <a:ext cx="847800" cy="568800"/>
          </a:xfrm>
          <a:prstGeom prst="rect">
            <a:avLst/>
          </a:prstGeom>
          <a:noFill/>
        </p:spPr>
        <p:txBody>
          <a:bodyPr wrap="square">
            <a:spAutoFit/>
          </a:bodyPr>
          <a:lstStyle/>
          <a:p>
            <a:pPr algn="ctr"/>
            <a:r>
              <a:rPr sz="1000" b="1" i="0">
                <a:solidFill>
                  <a:srgbClr val="FFFFFF"/>
                </a:solidFill>
              </a:rPr>
              <a:t>14,0</a:t>
            </a:r>
          </a:p>
        </p:txBody>
      </p:sp>
      <p:sp>
        <p:nvSpPr>
          <p:cNvPr id="94" name="Rectangle 93"/>
          <p:cNvSpPr/>
          <p:nvPr/>
        </p:nvSpPr>
        <p:spPr>
          <a:xfrm>
            <a:off x="5436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454000" y="3801600"/>
            <a:ext cx="847800" cy="568800"/>
          </a:xfrm>
          <a:prstGeom prst="rect">
            <a:avLst/>
          </a:prstGeom>
          <a:noFill/>
        </p:spPr>
        <p:txBody>
          <a:bodyPr wrap="square">
            <a:spAutoFit/>
          </a:bodyPr>
          <a:lstStyle/>
          <a:p>
            <a:pPr algn="ctr"/>
            <a:r>
              <a:rPr sz="1000" b="1" i="0">
                <a:solidFill>
                  <a:srgbClr val="FFFFFF"/>
                </a:solidFill>
              </a:rPr>
              <a:t>20,0</a:t>
            </a:r>
          </a:p>
        </p:txBody>
      </p:sp>
      <p:sp>
        <p:nvSpPr>
          <p:cNvPr id="96" name="Rectangle 95"/>
          <p:cNvSpPr/>
          <p:nvPr/>
        </p:nvSpPr>
        <p:spPr>
          <a:xfrm>
            <a:off x="6327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345000" y="3801600"/>
            <a:ext cx="847800" cy="568800"/>
          </a:xfrm>
          <a:prstGeom prst="rect">
            <a:avLst/>
          </a:prstGeom>
          <a:noFill/>
        </p:spPr>
        <p:txBody>
          <a:bodyPr wrap="square">
            <a:spAutoFit/>
          </a:bodyPr>
          <a:lstStyle/>
          <a:p>
            <a:pPr algn="ctr"/>
            <a:r>
              <a:rPr sz="1000" b="1" i="0">
                <a:solidFill>
                  <a:srgbClr val="FFFFFF"/>
                </a:solidFill>
              </a:rPr>
              <a:t>28,0</a:t>
            </a:r>
          </a:p>
        </p:txBody>
      </p:sp>
      <p:sp>
        <p:nvSpPr>
          <p:cNvPr id="98" name="Rectangle 97"/>
          <p:cNvSpPr/>
          <p:nvPr/>
        </p:nvSpPr>
        <p:spPr>
          <a:xfrm>
            <a:off x="7218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236000" y="3801600"/>
            <a:ext cx="847800" cy="568800"/>
          </a:xfrm>
          <a:prstGeom prst="rect">
            <a:avLst/>
          </a:prstGeom>
          <a:noFill/>
        </p:spPr>
        <p:txBody>
          <a:bodyPr wrap="square">
            <a:spAutoFit/>
          </a:bodyPr>
          <a:lstStyle/>
          <a:p>
            <a:pPr algn="ctr"/>
            <a:r>
              <a:rPr sz="1000" b="1" i="0">
                <a:solidFill>
                  <a:srgbClr val="FFFFFF"/>
                </a:solidFill>
              </a:rPr>
              <a:t>38,0</a:t>
            </a:r>
          </a:p>
        </p:txBody>
      </p:sp>
      <p:sp>
        <p:nvSpPr>
          <p:cNvPr id="100" name="Rectangle 99"/>
          <p:cNvSpPr/>
          <p:nvPr/>
        </p:nvSpPr>
        <p:spPr>
          <a:xfrm>
            <a:off x="8109000" y="37584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127000" y="3801600"/>
            <a:ext cx="847800" cy="568800"/>
          </a:xfrm>
          <a:prstGeom prst="rect">
            <a:avLst/>
          </a:prstGeom>
          <a:noFill/>
        </p:spPr>
        <p:txBody>
          <a:bodyPr wrap="square">
            <a:spAutoFit/>
          </a:bodyPr>
          <a:lstStyle/>
          <a:p>
            <a:pPr algn="ctr"/>
            <a:r>
              <a:rPr sz="1000" b="1" i="0">
                <a:solidFill>
                  <a:srgbClr val="D4AF37"/>
                </a:solidFill>
              </a:rPr>
              <a:t>55,0</a:t>
            </a:r>
          </a:p>
        </p:txBody>
      </p:sp>
      <p:sp>
        <p:nvSpPr>
          <p:cNvPr id="102" name="Rectangle 101"/>
          <p:cNvSpPr/>
          <p:nvPr/>
        </p:nvSpPr>
        <p:spPr>
          <a:xfrm>
            <a:off x="144000" y="4399200"/>
            <a:ext cx="1728000" cy="622800"/>
          </a:xfrm>
          <a:prstGeom prst="rect">
            <a:avLst/>
          </a:prstGeom>
          <a:solidFill>
            <a:srgbClr val="132B5E"/>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44000" y="4399200"/>
            <a:ext cx="79200" cy="622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69999" y="4442400"/>
            <a:ext cx="1566000" cy="568800"/>
          </a:xfrm>
          <a:prstGeom prst="rect">
            <a:avLst/>
          </a:prstGeom>
          <a:noFill/>
        </p:spPr>
        <p:txBody>
          <a:bodyPr wrap="square">
            <a:spAutoFit/>
          </a:bodyPr>
          <a:lstStyle/>
          <a:p>
            <a:pPr algn="l"/>
            <a:r>
              <a:rPr sz="900" b="1" i="0">
                <a:solidFill>
                  <a:srgbClr val="FF6B6B"/>
                </a:solidFill>
              </a:rPr>
              <a:t>Charges mensuelles (M FCFA)</a:t>
            </a:r>
          </a:p>
        </p:txBody>
      </p:sp>
      <p:sp>
        <p:nvSpPr>
          <p:cNvPr id="105" name="Rectangle 104"/>
          <p:cNvSpPr/>
          <p:nvPr/>
        </p:nvSpPr>
        <p:spPr>
          <a:xfrm>
            <a:off x="1872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890000" y="4442400"/>
            <a:ext cx="847800" cy="568800"/>
          </a:xfrm>
          <a:prstGeom prst="rect">
            <a:avLst/>
          </a:prstGeom>
          <a:noFill/>
        </p:spPr>
        <p:txBody>
          <a:bodyPr wrap="square">
            <a:spAutoFit/>
          </a:bodyPr>
          <a:lstStyle/>
          <a:p>
            <a:pPr algn="ctr"/>
            <a:r>
              <a:rPr sz="1000" b="1" i="0">
                <a:solidFill>
                  <a:srgbClr val="FFFFFF"/>
                </a:solidFill>
              </a:rPr>
              <a:t>14,0</a:t>
            </a:r>
          </a:p>
        </p:txBody>
      </p:sp>
      <p:sp>
        <p:nvSpPr>
          <p:cNvPr id="107" name="Rectangle 106"/>
          <p:cNvSpPr/>
          <p:nvPr/>
        </p:nvSpPr>
        <p:spPr>
          <a:xfrm>
            <a:off x="2763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781000" y="4442400"/>
            <a:ext cx="847800" cy="568800"/>
          </a:xfrm>
          <a:prstGeom prst="rect">
            <a:avLst/>
          </a:prstGeom>
          <a:noFill/>
        </p:spPr>
        <p:txBody>
          <a:bodyPr wrap="square">
            <a:spAutoFit/>
          </a:bodyPr>
          <a:lstStyle/>
          <a:p>
            <a:pPr algn="ctr"/>
            <a:r>
              <a:rPr sz="1000" b="1" i="0">
                <a:solidFill>
                  <a:srgbClr val="FFFFFF"/>
                </a:solidFill>
              </a:rPr>
              <a:t>16,0</a:t>
            </a:r>
          </a:p>
        </p:txBody>
      </p:sp>
      <p:sp>
        <p:nvSpPr>
          <p:cNvPr id="109" name="Rectangle 108"/>
          <p:cNvSpPr/>
          <p:nvPr/>
        </p:nvSpPr>
        <p:spPr>
          <a:xfrm>
            <a:off x="3654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72000" y="4442400"/>
            <a:ext cx="847800" cy="568800"/>
          </a:xfrm>
          <a:prstGeom prst="rect">
            <a:avLst/>
          </a:prstGeom>
          <a:noFill/>
        </p:spPr>
        <p:txBody>
          <a:bodyPr wrap="square">
            <a:spAutoFit/>
          </a:bodyPr>
          <a:lstStyle/>
          <a:p>
            <a:pPr algn="ctr"/>
            <a:r>
              <a:rPr sz="1000" b="1" i="0">
                <a:solidFill>
                  <a:srgbClr val="FFFFFF"/>
                </a:solidFill>
              </a:rPr>
              <a:t>18,5</a:t>
            </a:r>
          </a:p>
        </p:txBody>
      </p:sp>
      <p:sp>
        <p:nvSpPr>
          <p:cNvPr id="111" name="Rectangle 110"/>
          <p:cNvSpPr/>
          <p:nvPr/>
        </p:nvSpPr>
        <p:spPr>
          <a:xfrm>
            <a:off x="4545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63000" y="4442400"/>
            <a:ext cx="847800" cy="568800"/>
          </a:xfrm>
          <a:prstGeom prst="rect">
            <a:avLst/>
          </a:prstGeom>
          <a:noFill/>
        </p:spPr>
        <p:txBody>
          <a:bodyPr wrap="square">
            <a:spAutoFit/>
          </a:bodyPr>
          <a:lstStyle/>
          <a:p>
            <a:pPr algn="ctr"/>
            <a:r>
              <a:rPr sz="1000" b="1" i="0">
                <a:solidFill>
                  <a:srgbClr val="FFFFFF"/>
                </a:solidFill>
              </a:rPr>
              <a:t>22,0</a:t>
            </a:r>
          </a:p>
        </p:txBody>
      </p:sp>
      <p:sp>
        <p:nvSpPr>
          <p:cNvPr id="113" name="Rectangle 112"/>
          <p:cNvSpPr/>
          <p:nvPr/>
        </p:nvSpPr>
        <p:spPr>
          <a:xfrm>
            <a:off x="5436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454000" y="4442400"/>
            <a:ext cx="847800" cy="568800"/>
          </a:xfrm>
          <a:prstGeom prst="rect">
            <a:avLst/>
          </a:prstGeom>
          <a:noFill/>
        </p:spPr>
        <p:txBody>
          <a:bodyPr wrap="square">
            <a:spAutoFit/>
          </a:bodyPr>
          <a:lstStyle/>
          <a:p>
            <a:pPr algn="ctr"/>
            <a:r>
              <a:rPr sz="1000" b="1" i="0">
                <a:solidFill>
                  <a:srgbClr val="FFFFFF"/>
                </a:solidFill>
              </a:rPr>
              <a:t>26,0</a:t>
            </a:r>
          </a:p>
        </p:txBody>
      </p:sp>
      <p:sp>
        <p:nvSpPr>
          <p:cNvPr id="115" name="Rectangle 114"/>
          <p:cNvSpPr/>
          <p:nvPr/>
        </p:nvSpPr>
        <p:spPr>
          <a:xfrm>
            <a:off x="6327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345000" y="4442400"/>
            <a:ext cx="847800" cy="568800"/>
          </a:xfrm>
          <a:prstGeom prst="rect">
            <a:avLst/>
          </a:prstGeom>
          <a:noFill/>
        </p:spPr>
        <p:txBody>
          <a:bodyPr wrap="square">
            <a:spAutoFit/>
          </a:bodyPr>
          <a:lstStyle/>
          <a:p>
            <a:pPr algn="ctr"/>
            <a:r>
              <a:rPr sz="1000" b="1" i="0">
                <a:solidFill>
                  <a:srgbClr val="FFFFFF"/>
                </a:solidFill>
              </a:rPr>
              <a:t>30,0</a:t>
            </a:r>
          </a:p>
        </p:txBody>
      </p:sp>
      <p:sp>
        <p:nvSpPr>
          <p:cNvPr id="117" name="Rectangle 116"/>
          <p:cNvSpPr/>
          <p:nvPr/>
        </p:nvSpPr>
        <p:spPr>
          <a:xfrm>
            <a:off x="7218000" y="43992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236000" y="4442400"/>
            <a:ext cx="847800" cy="568800"/>
          </a:xfrm>
          <a:prstGeom prst="rect">
            <a:avLst/>
          </a:prstGeom>
          <a:noFill/>
        </p:spPr>
        <p:txBody>
          <a:bodyPr wrap="square">
            <a:spAutoFit/>
          </a:bodyPr>
          <a:lstStyle/>
          <a:p>
            <a:pPr algn="ctr"/>
            <a:r>
              <a:rPr sz="1000" b="1" i="0">
                <a:solidFill>
                  <a:srgbClr val="FFFFFF"/>
                </a:solidFill>
              </a:rPr>
              <a:t>36,0</a:t>
            </a:r>
          </a:p>
        </p:txBody>
      </p:sp>
      <p:sp>
        <p:nvSpPr>
          <p:cNvPr id="119" name="Rectangle 118"/>
          <p:cNvSpPr/>
          <p:nvPr/>
        </p:nvSpPr>
        <p:spPr>
          <a:xfrm>
            <a:off x="8109000" y="43992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127000" y="4442400"/>
            <a:ext cx="847800" cy="568800"/>
          </a:xfrm>
          <a:prstGeom prst="rect">
            <a:avLst/>
          </a:prstGeom>
          <a:noFill/>
        </p:spPr>
        <p:txBody>
          <a:bodyPr wrap="square">
            <a:spAutoFit/>
          </a:bodyPr>
          <a:lstStyle/>
          <a:p>
            <a:pPr algn="ctr"/>
            <a:r>
              <a:rPr sz="1000" b="1" i="0">
                <a:solidFill>
                  <a:srgbClr val="FFFFFF"/>
                </a:solidFill>
              </a:rPr>
              <a:t>28,0</a:t>
            </a:r>
          </a:p>
        </p:txBody>
      </p:sp>
      <p:sp>
        <p:nvSpPr>
          <p:cNvPr id="121" name="Rectangle 120"/>
          <p:cNvSpPr/>
          <p:nvPr/>
        </p:nvSpPr>
        <p:spPr>
          <a:xfrm>
            <a:off x="144000" y="5040000"/>
            <a:ext cx="1728000" cy="6228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44000" y="5040000"/>
            <a:ext cx="79200" cy="6228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69999" y="5083200"/>
            <a:ext cx="1566000" cy="568800"/>
          </a:xfrm>
          <a:prstGeom prst="rect">
            <a:avLst/>
          </a:prstGeom>
          <a:noFill/>
        </p:spPr>
        <p:txBody>
          <a:bodyPr wrap="square">
            <a:spAutoFit/>
          </a:bodyPr>
          <a:lstStyle/>
          <a:p>
            <a:pPr algn="l"/>
            <a:r>
              <a:rPr sz="900" b="1" i="0">
                <a:solidFill>
                  <a:srgbClr val="00C87A"/>
                </a:solidFill>
              </a:rPr>
              <a:t>Résultat net mensuel (M)</a:t>
            </a:r>
          </a:p>
        </p:txBody>
      </p:sp>
      <p:sp>
        <p:nvSpPr>
          <p:cNvPr id="124" name="Rectangle 123"/>
          <p:cNvSpPr/>
          <p:nvPr/>
        </p:nvSpPr>
        <p:spPr>
          <a:xfrm>
            <a:off x="1872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890000" y="5083200"/>
            <a:ext cx="847800" cy="568800"/>
          </a:xfrm>
          <a:prstGeom prst="rect">
            <a:avLst/>
          </a:prstGeom>
          <a:noFill/>
        </p:spPr>
        <p:txBody>
          <a:bodyPr wrap="square">
            <a:spAutoFit/>
          </a:bodyPr>
          <a:lstStyle/>
          <a:p>
            <a:pPr algn="ctr"/>
            <a:r>
              <a:rPr sz="1000" b="1" i="0">
                <a:solidFill>
                  <a:srgbClr val="FF6B6B"/>
                </a:solidFill>
              </a:rPr>
              <a:t>-12,0</a:t>
            </a:r>
          </a:p>
        </p:txBody>
      </p:sp>
      <p:sp>
        <p:nvSpPr>
          <p:cNvPr id="126" name="Rectangle 125"/>
          <p:cNvSpPr/>
          <p:nvPr/>
        </p:nvSpPr>
        <p:spPr>
          <a:xfrm>
            <a:off x="2763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781000" y="5083200"/>
            <a:ext cx="847800" cy="568800"/>
          </a:xfrm>
          <a:prstGeom prst="rect">
            <a:avLst/>
          </a:prstGeom>
          <a:noFill/>
        </p:spPr>
        <p:txBody>
          <a:bodyPr wrap="square">
            <a:spAutoFit/>
          </a:bodyPr>
          <a:lstStyle/>
          <a:p>
            <a:pPr algn="ctr"/>
            <a:r>
              <a:rPr sz="1000" b="1" i="0">
                <a:solidFill>
                  <a:srgbClr val="FF6B6B"/>
                </a:solidFill>
              </a:rPr>
              <a:t>-11,0</a:t>
            </a:r>
          </a:p>
        </p:txBody>
      </p:sp>
      <p:sp>
        <p:nvSpPr>
          <p:cNvPr id="128" name="Rectangle 127"/>
          <p:cNvSpPr/>
          <p:nvPr/>
        </p:nvSpPr>
        <p:spPr>
          <a:xfrm>
            <a:off x="3654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672000" y="5083200"/>
            <a:ext cx="847800" cy="568800"/>
          </a:xfrm>
          <a:prstGeom prst="rect">
            <a:avLst/>
          </a:prstGeom>
          <a:noFill/>
        </p:spPr>
        <p:txBody>
          <a:bodyPr wrap="square">
            <a:spAutoFit/>
          </a:bodyPr>
          <a:lstStyle/>
          <a:p>
            <a:pPr algn="ctr"/>
            <a:r>
              <a:rPr sz="1000" b="1" i="0">
                <a:solidFill>
                  <a:srgbClr val="FF6B6B"/>
                </a:solidFill>
              </a:rPr>
              <a:t>-9,5</a:t>
            </a:r>
          </a:p>
        </p:txBody>
      </p:sp>
      <p:sp>
        <p:nvSpPr>
          <p:cNvPr id="130" name="Rectangle 129"/>
          <p:cNvSpPr/>
          <p:nvPr/>
        </p:nvSpPr>
        <p:spPr>
          <a:xfrm>
            <a:off x="4545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563000" y="5083200"/>
            <a:ext cx="847800" cy="568800"/>
          </a:xfrm>
          <a:prstGeom prst="rect">
            <a:avLst/>
          </a:prstGeom>
          <a:noFill/>
        </p:spPr>
        <p:txBody>
          <a:bodyPr wrap="square">
            <a:spAutoFit/>
          </a:bodyPr>
          <a:lstStyle/>
          <a:p>
            <a:pPr algn="ctr"/>
            <a:r>
              <a:rPr sz="1000" b="1" i="0">
                <a:solidFill>
                  <a:srgbClr val="FF6B6B"/>
                </a:solidFill>
              </a:rPr>
              <a:t>-8,0</a:t>
            </a:r>
          </a:p>
        </p:txBody>
      </p:sp>
      <p:sp>
        <p:nvSpPr>
          <p:cNvPr id="132" name="Rectangle 131"/>
          <p:cNvSpPr/>
          <p:nvPr/>
        </p:nvSpPr>
        <p:spPr>
          <a:xfrm>
            <a:off x="5436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5454000" y="5083200"/>
            <a:ext cx="847800" cy="568800"/>
          </a:xfrm>
          <a:prstGeom prst="rect">
            <a:avLst/>
          </a:prstGeom>
          <a:noFill/>
        </p:spPr>
        <p:txBody>
          <a:bodyPr wrap="square">
            <a:spAutoFit/>
          </a:bodyPr>
          <a:lstStyle/>
          <a:p>
            <a:pPr algn="ctr"/>
            <a:r>
              <a:rPr sz="1000" b="1" i="0">
                <a:solidFill>
                  <a:srgbClr val="FF6B6B"/>
                </a:solidFill>
              </a:rPr>
              <a:t>-6,0</a:t>
            </a:r>
          </a:p>
        </p:txBody>
      </p:sp>
      <p:sp>
        <p:nvSpPr>
          <p:cNvPr id="134" name="Rectangle 133"/>
          <p:cNvSpPr/>
          <p:nvPr/>
        </p:nvSpPr>
        <p:spPr>
          <a:xfrm>
            <a:off x="6327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345000" y="5083200"/>
            <a:ext cx="847800" cy="568800"/>
          </a:xfrm>
          <a:prstGeom prst="rect">
            <a:avLst/>
          </a:prstGeom>
          <a:noFill/>
        </p:spPr>
        <p:txBody>
          <a:bodyPr wrap="square">
            <a:spAutoFit/>
          </a:bodyPr>
          <a:lstStyle/>
          <a:p>
            <a:pPr algn="ctr"/>
            <a:r>
              <a:rPr sz="1000" b="1" i="0">
                <a:solidFill>
                  <a:srgbClr val="FF6B6B"/>
                </a:solidFill>
              </a:rPr>
              <a:t>-2,0</a:t>
            </a:r>
          </a:p>
        </p:txBody>
      </p:sp>
      <p:sp>
        <p:nvSpPr>
          <p:cNvPr id="136" name="Rectangle 135"/>
          <p:cNvSpPr/>
          <p:nvPr/>
        </p:nvSpPr>
        <p:spPr>
          <a:xfrm>
            <a:off x="7218000" y="5040000"/>
            <a:ext cx="869400" cy="622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236000" y="5083200"/>
            <a:ext cx="847800" cy="568800"/>
          </a:xfrm>
          <a:prstGeom prst="rect">
            <a:avLst/>
          </a:prstGeom>
          <a:noFill/>
        </p:spPr>
        <p:txBody>
          <a:bodyPr wrap="square">
            <a:spAutoFit/>
          </a:bodyPr>
          <a:lstStyle/>
          <a:p>
            <a:pPr algn="ctr"/>
            <a:r>
              <a:rPr sz="1000" b="1" i="0">
                <a:solidFill>
                  <a:srgbClr val="00C87A"/>
                </a:solidFill>
              </a:rPr>
              <a:t>+2,0</a:t>
            </a:r>
          </a:p>
        </p:txBody>
      </p:sp>
      <p:sp>
        <p:nvSpPr>
          <p:cNvPr id="138" name="Rectangle 137"/>
          <p:cNvSpPr/>
          <p:nvPr/>
        </p:nvSpPr>
        <p:spPr>
          <a:xfrm>
            <a:off x="8109000" y="5040000"/>
            <a:ext cx="869400" cy="6228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8127000" y="5083200"/>
            <a:ext cx="847800" cy="568800"/>
          </a:xfrm>
          <a:prstGeom prst="rect">
            <a:avLst/>
          </a:prstGeom>
          <a:noFill/>
        </p:spPr>
        <p:txBody>
          <a:bodyPr wrap="square">
            <a:spAutoFit/>
          </a:bodyPr>
          <a:lstStyle/>
          <a:p>
            <a:pPr algn="ctr"/>
            <a:r>
              <a:rPr sz="1000" b="1" i="0">
                <a:solidFill>
                  <a:srgbClr val="00C87A"/>
                </a:solidFill>
              </a:rPr>
              <a:t>+27,0</a:t>
            </a:r>
          </a:p>
        </p:txBody>
      </p:sp>
      <p:sp>
        <p:nvSpPr>
          <p:cNvPr id="140" name="Rectangle 139"/>
          <p:cNvSpPr/>
          <p:nvPr/>
        </p:nvSpPr>
        <p:spPr>
          <a:xfrm>
            <a:off x="144000" y="5680800"/>
            <a:ext cx="1728000" cy="6228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44000" y="5680800"/>
            <a:ext cx="79200" cy="6228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69999" y="5724000"/>
            <a:ext cx="1566000" cy="568800"/>
          </a:xfrm>
          <a:prstGeom prst="rect">
            <a:avLst/>
          </a:prstGeom>
          <a:noFill/>
        </p:spPr>
        <p:txBody>
          <a:bodyPr wrap="square">
            <a:spAutoFit/>
          </a:bodyPr>
          <a:lstStyle/>
          <a:p>
            <a:pPr algn="l"/>
            <a:r>
              <a:rPr sz="900" b="1" i="0">
                <a:solidFill>
                  <a:srgbClr val="FF9933"/>
                </a:solidFill>
              </a:rPr>
              <a:t>Résultat cumulé (M)</a:t>
            </a:r>
          </a:p>
        </p:txBody>
      </p:sp>
      <p:sp>
        <p:nvSpPr>
          <p:cNvPr id="143" name="Rectangle 142"/>
          <p:cNvSpPr/>
          <p:nvPr/>
        </p:nvSpPr>
        <p:spPr>
          <a:xfrm>
            <a:off x="1872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890000" y="5724000"/>
            <a:ext cx="847800" cy="568800"/>
          </a:xfrm>
          <a:prstGeom prst="rect">
            <a:avLst/>
          </a:prstGeom>
          <a:noFill/>
        </p:spPr>
        <p:txBody>
          <a:bodyPr wrap="square">
            <a:spAutoFit/>
          </a:bodyPr>
          <a:lstStyle/>
          <a:p>
            <a:pPr algn="ctr"/>
            <a:r>
              <a:rPr sz="1000" b="0" i="0">
                <a:solidFill>
                  <a:srgbClr val="FF6B6B"/>
                </a:solidFill>
              </a:rPr>
              <a:t>-12</a:t>
            </a:r>
          </a:p>
        </p:txBody>
      </p:sp>
      <p:sp>
        <p:nvSpPr>
          <p:cNvPr id="145" name="Rectangle 144"/>
          <p:cNvSpPr/>
          <p:nvPr/>
        </p:nvSpPr>
        <p:spPr>
          <a:xfrm>
            <a:off x="2763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781000" y="5724000"/>
            <a:ext cx="847800" cy="568800"/>
          </a:xfrm>
          <a:prstGeom prst="rect">
            <a:avLst/>
          </a:prstGeom>
          <a:noFill/>
        </p:spPr>
        <p:txBody>
          <a:bodyPr wrap="square">
            <a:spAutoFit/>
          </a:bodyPr>
          <a:lstStyle/>
          <a:p>
            <a:pPr algn="ctr"/>
            <a:r>
              <a:rPr sz="1000" b="0" i="0">
                <a:solidFill>
                  <a:srgbClr val="FF6B6B"/>
                </a:solidFill>
              </a:rPr>
              <a:t>-23</a:t>
            </a:r>
          </a:p>
        </p:txBody>
      </p:sp>
      <p:sp>
        <p:nvSpPr>
          <p:cNvPr id="147" name="Rectangle 146"/>
          <p:cNvSpPr/>
          <p:nvPr/>
        </p:nvSpPr>
        <p:spPr>
          <a:xfrm>
            <a:off x="3654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672000" y="5724000"/>
            <a:ext cx="847800" cy="568800"/>
          </a:xfrm>
          <a:prstGeom prst="rect">
            <a:avLst/>
          </a:prstGeom>
          <a:noFill/>
        </p:spPr>
        <p:txBody>
          <a:bodyPr wrap="square">
            <a:spAutoFit/>
          </a:bodyPr>
          <a:lstStyle/>
          <a:p>
            <a:pPr algn="ctr"/>
            <a:r>
              <a:rPr sz="1000" b="0" i="0">
                <a:solidFill>
                  <a:srgbClr val="FF6B6B"/>
                </a:solidFill>
              </a:rPr>
              <a:t>-32</a:t>
            </a:r>
          </a:p>
        </p:txBody>
      </p:sp>
      <p:sp>
        <p:nvSpPr>
          <p:cNvPr id="149" name="Rectangle 148"/>
          <p:cNvSpPr/>
          <p:nvPr/>
        </p:nvSpPr>
        <p:spPr>
          <a:xfrm>
            <a:off x="4545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563000" y="5724000"/>
            <a:ext cx="847800" cy="568800"/>
          </a:xfrm>
          <a:prstGeom prst="rect">
            <a:avLst/>
          </a:prstGeom>
          <a:noFill/>
        </p:spPr>
        <p:txBody>
          <a:bodyPr wrap="square">
            <a:spAutoFit/>
          </a:bodyPr>
          <a:lstStyle/>
          <a:p>
            <a:pPr algn="ctr"/>
            <a:r>
              <a:rPr sz="1000" b="0" i="0">
                <a:solidFill>
                  <a:srgbClr val="FF6B6B"/>
                </a:solidFill>
              </a:rPr>
              <a:t>-40</a:t>
            </a:r>
          </a:p>
        </p:txBody>
      </p:sp>
      <p:sp>
        <p:nvSpPr>
          <p:cNvPr id="151" name="Rectangle 150"/>
          <p:cNvSpPr/>
          <p:nvPr/>
        </p:nvSpPr>
        <p:spPr>
          <a:xfrm>
            <a:off x="5436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454000" y="5724000"/>
            <a:ext cx="847800" cy="568800"/>
          </a:xfrm>
          <a:prstGeom prst="rect">
            <a:avLst/>
          </a:prstGeom>
          <a:noFill/>
        </p:spPr>
        <p:txBody>
          <a:bodyPr wrap="square">
            <a:spAutoFit/>
          </a:bodyPr>
          <a:lstStyle/>
          <a:p>
            <a:pPr algn="ctr"/>
            <a:r>
              <a:rPr sz="1000" b="0" i="0">
                <a:solidFill>
                  <a:srgbClr val="FF6B6B"/>
                </a:solidFill>
              </a:rPr>
              <a:t>-46</a:t>
            </a:r>
          </a:p>
        </p:txBody>
      </p:sp>
      <p:sp>
        <p:nvSpPr>
          <p:cNvPr id="153" name="Rectangle 152"/>
          <p:cNvSpPr/>
          <p:nvPr/>
        </p:nvSpPr>
        <p:spPr>
          <a:xfrm>
            <a:off x="6327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345000" y="5724000"/>
            <a:ext cx="847800" cy="568800"/>
          </a:xfrm>
          <a:prstGeom prst="rect">
            <a:avLst/>
          </a:prstGeom>
          <a:noFill/>
        </p:spPr>
        <p:txBody>
          <a:bodyPr wrap="square">
            <a:spAutoFit/>
          </a:bodyPr>
          <a:lstStyle/>
          <a:p>
            <a:pPr algn="ctr"/>
            <a:r>
              <a:rPr sz="1000" b="0" i="0">
                <a:solidFill>
                  <a:srgbClr val="FF6B6B"/>
                </a:solidFill>
              </a:rPr>
              <a:t>-48</a:t>
            </a:r>
          </a:p>
        </p:txBody>
      </p:sp>
      <p:sp>
        <p:nvSpPr>
          <p:cNvPr id="155" name="Rectangle 154"/>
          <p:cNvSpPr/>
          <p:nvPr/>
        </p:nvSpPr>
        <p:spPr>
          <a:xfrm>
            <a:off x="7218000" y="5680800"/>
            <a:ext cx="869400" cy="622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7236000" y="5724000"/>
            <a:ext cx="847800" cy="568800"/>
          </a:xfrm>
          <a:prstGeom prst="rect">
            <a:avLst/>
          </a:prstGeom>
          <a:noFill/>
        </p:spPr>
        <p:txBody>
          <a:bodyPr wrap="square">
            <a:spAutoFit/>
          </a:bodyPr>
          <a:lstStyle/>
          <a:p>
            <a:pPr algn="ctr"/>
            <a:r>
              <a:rPr sz="1000" b="0" i="0">
                <a:solidFill>
                  <a:srgbClr val="FF6B6B"/>
                </a:solidFill>
              </a:rPr>
              <a:t>-46</a:t>
            </a:r>
          </a:p>
        </p:txBody>
      </p:sp>
      <p:sp>
        <p:nvSpPr>
          <p:cNvPr id="157" name="Rectangle 156"/>
          <p:cNvSpPr/>
          <p:nvPr/>
        </p:nvSpPr>
        <p:spPr>
          <a:xfrm>
            <a:off x="8109000" y="5680800"/>
            <a:ext cx="869400" cy="6228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127000" y="5724000"/>
            <a:ext cx="847800" cy="568800"/>
          </a:xfrm>
          <a:prstGeom prst="rect">
            <a:avLst/>
          </a:prstGeom>
          <a:noFill/>
        </p:spPr>
        <p:txBody>
          <a:bodyPr wrap="square">
            <a:spAutoFit/>
          </a:bodyPr>
          <a:lstStyle/>
          <a:p>
            <a:pPr algn="ctr"/>
            <a:r>
              <a:rPr sz="1000" b="0" i="0">
                <a:solidFill>
                  <a:srgbClr val="FF6B6B"/>
                </a:solidFill>
              </a:rPr>
              <a:t>-19</a:t>
            </a:r>
          </a:p>
        </p:txBody>
      </p:sp>
      <p:sp>
        <p:nvSpPr>
          <p:cNvPr id="159" name="Rectangle 158"/>
          <p:cNvSpPr/>
          <p:nvPr/>
        </p:nvSpPr>
        <p:spPr>
          <a:xfrm>
            <a:off x="144000" y="6400800"/>
            <a:ext cx="8856000" cy="34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88000" y="6436800"/>
            <a:ext cx="8568000" cy="288000"/>
          </a:xfrm>
          <a:prstGeom prst="rect">
            <a:avLst/>
          </a:prstGeom>
          <a:noFill/>
        </p:spPr>
        <p:txBody>
          <a:bodyPr wrap="square">
            <a:spAutoFit/>
          </a:bodyPr>
          <a:lstStyle/>
          <a:p>
            <a:pPr algn="ctr"/>
            <a:r>
              <a:rPr sz="1000" b="1" i="0">
                <a:solidFill>
                  <a:srgbClr val="D4AF37"/>
                </a:solidFill>
              </a:rPr>
              <a:t>Investissement : 120 M FCFA  |  Runway : 18 mois  |  Rentabilité mensuelle : T1 2028  |  Surplus estimé : +27 M FCFA/mois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12</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Chemin vers la Rentabilité</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Simulation prudente : équilibre financier atteint au T1 2028 — meilleur des cas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graphicFrame>
        <p:nvGraphicFramePr>
          <p:cNvPr id="9" name="Chart 8"/>
          <p:cNvGraphicFramePr>
            <a:graphicFrameLocks noGrp="1"/>
          </p:cNvGraphicFramePr>
          <p:nvPr/>
        </p:nvGraphicFramePr>
        <p:xfrm>
          <a:off x="144000" y="1440000"/>
          <a:ext cx="7020000" cy="4788000"/>
        </p:xfrm>
        <a:graphic>
          <a:graphicData uri="http://schemas.openxmlformats.org/drawingml/2006/chart">
            <c:chart xmlns:c="http://schemas.openxmlformats.org/drawingml/2006/chart" r:id="rId2"/>
          </a:graphicData>
        </a:graphic>
      </p:graphicFrame>
      <p:sp>
        <p:nvSpPr>
          <p:cNvPr id="10" name="Rectangle 9"/>
          <p:cNvSpPr/>
          <p:nvPr/>
        </p:nvSpPr>
        <p:spPr>
          <a:xfrm>
            <a:off x="7343999" y="1440000"/>
            <a:ext cx="1655999" cy="4788000"/>
          </a:xfrm>
          <a:prstGeom prst="rect">
            <a:avLst/>
          </a:prstGeom>
          <a:solidFill>
            <a:srgbClr val="0A301A"/>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43999" y="1440000"/>
            <a:ext cx="1655999"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5999" y="1602000"/>
            <a:ext cx="1530000" cy="540000"/>
          </a:xfrm>
          <a:prstGeom prst="rect">
            <a:avLst/>
          </a:prstGeom>
          <a:noFill/>
        </p:spPr>
        <p:txBody>
          <a:bodyPr wrap="square">
            <a:spAutoFit/>
          </a:bodyPr>
          <a:lstStyle/>
          <a:p>
            <a:pPr algn="ctr"/>
            <a:r>
              <a:rPr sz="1400" b="1" i="0">
                <a:solidFill>
                  <a:srgbClr val="00C87A"/>
                </a:solidFill>
              </a:rPr>
              <a:t>Rentabilité
T1 2028</a:t>
            </a:r>
          </a:p>
        </p:txBody>
      </p:sp>
      <p:sp>
        <p:nvSpPr>
          <p:cNvPr id="13" name="Rectangle 12"/>
          <p:cNvSpPr/>
          <p:nvPr/>
        </p:nvSpPr>
        <p:spPr>
          <a:xfrm>
            <a:off x="7487999" y="2196000"/>
            <a:ext cx="1367999"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5999" y="2286000"/>
            <a:ext cx="1530000" cy="792000"/>
          </a:xfrm>
          <a:prstGeom prst="rect">
            <a:avLst/>
          </a:prstGeom>
          <a:noFill/>
        </p:spPr>
        <p:txBody>
          <a:bodyPr wrap="square">
            <a:spAutoFit/>
          </a:bodyPr>
          <a:lstStyle/>
          <a:p>
            <a:pPr algn="ctr"/>
            <a:r>
              <a:rPr sz="2200" b="1" i="0">
                <a:solidFill>
                  <a:srgbClr val="00C87A"/>
                </a:solidFill>
              </a:rPr>
              <a:t>+27 M
FCFA/mois</a:t>
            </a:r>
          </a:p>
        </p:txBody>
      </p:sp>
      <p:sp>
        <p:nvSpPr>
          <p:cNvPr id="15" name="Rectangle 14"/>
          <p:cNvSpPr/>
          <p:nvPr/>
        </p:nvSpPr>
        <p:spPr>
          <a:xfrm>
            <a:off x="7487999" y="3131999"/>
            <a:ext cx="1367999"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999" y="3240000"/>
            <a:ext cx="1530000" cy="223200"/>
          </a:xfrm>
          <a:prstGeom prst="rect">
            <a:avLst/>
          </a:prstGeom>
          <a:noFill/>
        </p:spPr>
        <p:txBody>
          <a:bodyPr wrap="square">
            <a:spAutoFit/>
          </a:bodyPr>
          <a:lstStyle/>
          <a:p>
            <a:pPr algn="ctr"/>
            <a:r>
              <a:rPr sz="900" b="0" i="0">
                <a:solidFill>
                  <a:srgbClr val="B0C4DE"/>
                </a:solidFill>
              </a:rPr>
              <a:t>Revenus 2028</a:t>
            </a:r>
          </a:p>
        </p:txBody>
      </p:sp>
      <p:sp>
        <p:nvSpPr>
          <p:cNvPr id="17" name="TextBox 16"/>
          <p:cNvSpPr txBox="1"/>
          <p:nvPr/>
        </p:nvSpPr>
        <p:spPr>
          <a:xfrm>
            <a:off x="7415999" y="3463200"/>
            <a:ext cx="1530000" cy="540000"/>
          </a:xfrm>
          <a:prstGeom prst="rect">
            <a:avLst/>
          </a:prstGeom>
          <a:noFill/>
        </p:spPr>
        <p:txBody>
          <a:bodyPr wrap="square">
            <a:spAutoFit/>
          </a:bodyPr>
          <a:lstStyle/>
          <a:p>
            <a:pPr algn="ctr"/>
            <a:r>
              <a:rPr sz="1400" b="1" i="0">
                <a:solidFill>
                  <a:srgbClr val="D4AF37"/>
                </a:solidFill>
              </a:rPr>
              <a:t>200+ M FCFA</a:t>
            </a:r>
          </a:p>
        </p:txBody>
      </p:sp>
      <p:sp>
        <p:nvSpPr>
          <p:cNvPr id="18" name="TextBox 17"/>
          <p:cNvSpPr txBox="1"/>
          <p:nvPr/>
        </p:nvSpPr>
        <p:spPr>
          <a:xfrm>
            <a:off x="7415999" y="4212000"/>
            <a:ext cx="1530000" cy="223200"/>
          </a:xfrm>
          <a:prstGeom prst="rect">
            <a:avLst/>
          </a:prstGeom>
          <a:noFill/>
        </p:spPr>
        <p:txBody>
          <a:bodyPr wrap="square">
            <a:spAutoFit/>
          </a:bodyPr>
          <a:lstStyle/>
          <a:p>
            <a:pPr algn="ctr"/>
            <a:r>
              <a:rPr sz="900" b="0" i="0">
                <a:solidFill>
                  <a:srgbClr val="B0C4DE"/>
                </a:solidFill>
              </a:rPr>
              <a:t>Dépenses 2028</a:t>
            </a:r>
          </a:p>
        </p:txBody>
      </p:sp>
      <p:sp>
        <p:nvSpPr>
          <p:cNvPr id="19" name="TextBox 18"/>
          <p:cNvSpPr txBox="1"/>
          <p:nvPr/>
        </p:nvSpPr>
        <p:spPr>
          <a:xfrm>
            <a:off x="7415999" y="4435200"/>
            <a:ext cx="1530000" cy="540000"/>
          </a:xfrm>
          <a:prstGeom prst="rect">
            <a:avLst/>
          </a:prstGeom>
          <a:noFill/>
        </p:spPr>
        <p:txBody>
          <a:bodyPr wrap="square">
            <a:spAutoFit/>
          </a:bodyPr>
          <a:lstStyle/>
          <a:p>
            <a:pPr algn="ctr"/>
            <a:r>
              <a:rPr sz="1400" b="1" i="0">
                <a:solidFill>
                  <a:srgbClr val="FF6B6B"/>
                </a:solidFill>
              </a:rPr>
              <a:t>85 M FCFA</a:t>
            </a:r>
          </a:p>
        </p:txBody>
      </p:sp>
      <p:sp>
        <p:nvSpPr>
          <p:cNvPr id="20" name="TextBox 19"/>
          <p:cNvSpPr txBox="1"/>
          <p:nvPr/>
        </p:nvSpPr>
        <p:spPr>
          <a:xfrm>
            <a:off x="7415999" y="5184000"/>
            <a:ext cx="1530000" cy="223200"/>
          </a:xfrm>
          <a:prstGeom prst="rect">
            <a:avLst/>
          </a:prstGeom>
          <a:noFill/>
        </p:spPr>
        <p:txBody>
          <a:bodyPr wrap="square">
            <a:spAutoFit/>
          </a:bodyPr>
          <a:lstStyle/>
          <a:p>
            <a:pPr algn="ctr"/>
            <a:r>
              <a:rPr sz="900" b="0" i="0">
                <a:solidFill>
                  <a:srgbClr val="B0C4DE"/>
                </a:solidFill>
              </a:rPr>
              <a:t>Marge nette</a:t>
            </a:r>
          </a:p>
        </p:txBody>
      </p:sp>
      <p:sp>
        <p:nvSpPr>
          <p:cNvPr id="21" name="TextBox 20"/>
          <p:cNvSpPr txBox="1"/>
          <p:nvPr/>
        </p:nvSpPr>
        <p:spPr>
          <a:xfrm>
            <a:off x="7415999" y="5407200"/>
            <a:ext cx="1530000" cy="540000"/>
          </a:xfrm>
          <a:prstGeom prst="rect">
            <a:avLst/>
          </a:prstGeom>
          <a:noFill/>
        </p:spPr>
        <p:txBody>
          <a:bodyPr wrap="square">
            <a:spAutoFit/>
          </a:bodyPr>
          <a:lstStyle/>
          <a:p>
            <a:pPr algn="ctr"/>
            <a:r>
              <a:rPr sz="1400" b="1" i="0">
                <a:solidFill>
                  <a:srgbClr val="4FC3F7"/>
                </a:solidFill>
              </a:rPr>
              <a:t>&gt; 45 %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13</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Valorisation — Plus de 600 M FCFA de Valeur Créée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20 000+ heures de développement : la valeur est déjà là, avant même le lancement</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75999"/>
            <a:ext cx="2718000" cy="280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75999"/>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500" y="1619999"/>
            <a:ext cx="2538000" cy="864000"/>
          </a:xfrm>
          <a:prstGeom prst="rect">
            <a:avLst/>
          </a:prstGeom>
          <a:noFill/>
        </p:spPr>
        <p:txBody>
          <a:bodyPr wrap="square">
            <a:spAutoFit/>
          </a:bodyPr>
          <a:lstStyle/>
          <a:p>
            <a:pPr algn="ctr"/>
            <a:r>
              <a:rPr sz="2600" b="1" i="0">
                <a:solidFill>
                  <a:srgbClr val="D4AF37"/>
                </a:solidFill>
              </a:rPr>
              <a:t>20 000+
heures</a:t>
            </a:r>
          </a:p>
        </p:txBody>
      </p:sp>
      <p:sp>
        <p:nvSpPr>
          <p:cNvPr id="12" name="TextBox 11"/>
          <p:cNvSpPr txBox="1"/>
          <p:nvPr/>
        </p:nvSpPr>
        <p:spPr>
          <a:xfrm>
            <a:off x="355500" y="2501999"/>
            <a:ext cx="2538000" cy="396000"/>
          </a:xfrm>
          <a:prstGeom prst="rect">
            <a:avLst/>
          </a:prstGeom>
          <a:noFill/>
        </p:spPr>
        <p:txBody>
          <a:bodyPr wrap="square">
            <a:spAutoFit/>
          </a:bodyPr>
          <a:lstStyle/>
          <a:p>
            <a:pPr algn="ctr"/>
            <a:r>
              <a:rPr sz="1100" b="0" i="0">
                <a:solidFill>
                  <a:srgbClr val="FFFFFF"/>
                </a:solidFill>
              </a:rPr>
              <a:t>Développement
accumulé</a:t>
            </a:r>
          </a:p>
        </p:txBody>
      </p:sp>
      <p:sp>
        <p:nvSpPr>
          <p:cNvPr id="13" name="Rectangle 12"/>
          <p:cNvSpPr/>
          <p:nvPr/>
        </p:nvSpPr>
        <p:spPr>
          <a:xfrm>
            <a:off x="427500" y="2915999"/>
            <a:ext cx="235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500" y="2987999"/>
            <a:ext cx="2538000" cy="1242001"/>
          </a:xfrm>
          <a:prstGeom prst="rect">
            <a:avLst/>
          </a:prstGeom>
          <a:noFill/>
        </p:spPr>
        <p:txBody>
          <a:bodyPr wrap="square">
            <a:spAutoFit/>
          </a:bodyPr>
          <a:lstStyle/>
          <a:p>
            <a:pPr algn="ctr"/>
            <a:r>
              <a:rPr sz="1100" b="0" i="0">
                <a:solidFill>
                  <a:srgbClr val="B0C4DE"/>
                </a:solidFill>
              </a:rPr>
              <a:t>20 000 h de dev.
à 30 000 FCFA/h
= 600 M FCFA
de valeur brute</a:t>
            </a:r>
          </a:p>
        </p:txBody>
      </p:sp>
      <p:sp>
        <p:nvSpPr>
          <p:cNvPr id="15" name="Rectangle 14"/>
          <p:cNvSpPr/>
          <p:nvPr/>
        </p:nvSpPr>
        <p:spPr>
          <a:xfrm>
            <a:off x="3213000" y="1475999"/>
            <a:ext cx="2718000" cy="280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3000" y="1475999"/>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1000" y="1619999"/>
            <a:ext cx="2538000" cy="864000"/>
          </a:xfrm>
          <a:prstGeom prst="rect">
            <a:avLst/>
          </a:prstGeom>
          <a:noFill/>
        </p:spPr>
        <p:txBody>
          <a:bodyPr wrap="square">
            <a:spAutoFit/>
          </a:bodyPr>
          <a:lstStyle/>
          <a:p>
            <a:pPr algn="ctr"/>
            <a:r>
              <a:rPr sz="2600" b="1" i="0">
                <a:solidFill>
                  <a:srgbClr val="00C87A"/>
                </a:solidFill>
              </a:rPr>
              <a:t>&gt; 600 M
FCFA</a:t>
            </a:r>
          </a:p>
        </p:txBody>
      </p:sp>
      <p:sp>
        <p:nvSpPr>
          <p:cNvPr id="18" name="TextBox 17"/>
          <p:cNvSpPr txBox="1"/>
          <p:nvPr/>
        </p:nvSpPr>
        <p:spPr>
          <a:xfrm>
            <a:off x="3321000" y="2501999"/>
            <a:ext cx="2538000" cy="396000"/>
          </a:xfrm>
          <a:prstGeom prst="rect">
            <a:avLst/>
          </a:prstGeom>
          <a:noFill/>
        </p:spPr>
        <p:txBody>
          <a:bodyPr wrap="square">
            <a:spAutoFit/>
          </a:bodyPr>
          <a:lstStyle/>
          <a:p>
            <a:pPr algn="ctr"/>
            <a:r>
              <a:rPr sz="1100" b="0" i="0">
                <a:solidFill>
                  <a:srgbClr val="FFFFFF"/>
                </a:solidFill>
              </a:rPr>
              <a:t>Valeur totale
app + IP + marque</a:t>
            </a:r>
          </a:p>
        </p:txBody>
      </p:sp>
      <p:sp>
        <p:nvSpPr>
          <p:cNvPr id="19" name="Rectangle 18"/>
          <p:cNvSpPr/>
          <p:nvPr/>
        </p:nvSpPr>
        <p:spPr>
          <a:xfrm>
            <a:off x="3393000" y="2915999"/>
            <a:ext cx="2358000"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1000" y="2987999"/>
            <a:ext cx="2538000" cy="1242001"/>
          </a:xfrm>
          <a:prstGeom prst="rect">
            <a:avLst/>
          </a:prstGeom>
          <a:noFill/>
        </p:spPr>
        <p:txBody>
          <a:bodyPr wrap="square">
            <a:spAutoFit/>
          </a:bodyPr>
          <a:lstStyle/>
          <a:p>
            <a:pPr algn="ctr"/>
            <a:r>
              <a:rPr sz="1100" b="0" i="0">
                <a:solidFill>
                  <a:srgbClr val="B0C4DE"/>
                </a:solidFill>
              </a:rPr>
              <a:t>Technologie propriétaire
12 modules intégrés
YukpoIA + Creator Studio
IP &amp; marque YUKPO</a:t>
            </a:r>
          </a:p>
        </p:txBody>
      </p:sp>
      <p:sp>
        <p:nvSpPr>
          <p:cNvPr id="21" name="Rectangle 20"/>
          <p:cNvSpPr/>
          <p:nvPr/>
        </p:nvSpPr>
        <p:spPr>
          <a:xfrm>
            <a:off x="6178500" y="1475999"/>
            <a:ext cx="2718000" cy="280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500" y="1475999"/>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1619999"/>
            <a:ext cx="2538000" cy="864000"/>
          </a:xfrm>
          <a:prstGeom prst="rect">
            <a:avLst/>
          </a:prstGeom>
          <a:noFill/>
        </p:spPr>
        <p:txBody>
          <a:bodyPr wrap="square">
            <a:spAutoFit/>
          </a:bodyPr>
          <a:lstStyle/>
          <a:p>
            <a:pPr algn="ctr"/>
            <a:r>
              <a:rPr sz="2600" b="1" i="0">
                <a:solidFill>
                  <a:srgbClr val="4FC3F7"/>
                </a:solidFill>
              </a:rPr>
              <a:t>Max 20 %</a:t>
            </a:r>
          </a:p>
        </p:txBody>
      </p:sp>
      <p:sp>
        <p:nvSpPr>
          <p:cNvPr id="24" name="TextBox 23"/>
          <p:cNvSpPr txBox="1"/>
          <p:nvPr/>
        </p:nvSpPr>
        <p:spPr>
          <a:xfrm>
            <a:off x="6286500" y="2501999"/>
            <a:ext cx="2538000" cy="396000"/>
          </a:xfrm>
          <a:prstGeom prst="rect">
            <a:avLst/>
          </a:prstGeom>
          <a:noFill/>
        </p:spPr>
        <p:txBody>
          <a:bodyPr wrap="square">
            <a:spAutoFit/>
          </a:bodyPr>
          <a:lstStyle/>
          <a:p>
            <a:pPr algn="ctr"/>
            <a:r>
              <a:rPr sz="1100" b="0" i="0">
                <a:solidFill>
                  <a:srgbClr val="FFFFFF"/>
                </a:solidFill>
              </a:rPr>
              <a:t>Part cédée
aux investisseurs</a:t>
            </a:r>
          </a:p>
        </p:txBody>
      </p:sp>
      <p:sp>
        <p:nvSpPr>
          <p:cNvPr id="25" name="Rectangle 24"/>
          <p:cNvSpPr/>
          <p:nvPr/>
        </p:nvSpPr>
        <p:spPr>
          <a:xfrm>
            <a:off x="6358500" y="2915999"/>
            <a:ext cx="2358000" cy="21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6500" y="2987999"/>
            <a:ext cx="2538000" cy="1242001"/>
          </a:xfrm>
          <a:prstGeom prst="rect">
            <a:avLst/>
          </a:prstGeom>
          <a:noFill/>
        </p:spPr>
        <p:txBody>
          <a:bodyPr wrap="square">
            <a:spAutoFit/>
          </a:bodyPr>
          <a:lstStyle/>
          <a:p>
            <a:pPr algn="ctr"/>
            <a:r>
              <a:rPr sz="1100" b="0" i="0">
                <a:solidFill>
                  <a:srgbClr val="B0C4DE"/>
                </a:solidFill>
              </a:rPr>
              <a:t>120 M investis
/ 720 M post-money
= 16,7 % seulement
Équité fondateur préservée</a:t>
            </a:r>
          </a:p>
        </p:txBody>
      </p:sp>
      <p:sp>
        <p:nvSpPr>
          <p:cNvPr id="27" name="Rectangle 26"/>
          <p:cNvSpPr/>
          <p:nvPr/>
        </p:nvSpPr>
        <p:spPr>
          <a:xfrm>
            <a:off x="144000" y="4427999"/>
            <a:ext cx="2170800" cy="111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6000" y="4499999"/>
            <a:ext cx="2034000" cy="234000"/>
          </a:xfrm>
          <a:prstGeom prst="rect">
            <a:avLst/>
          </a:prstGeom>
          <a:noFill/>
        </p:spPr>
        <p:txBody>
          <a:bodyPr wrap="square">
            <a:spAutoFit/>
          </a:bodyPr>
          <a:lstStyle/>
          <a:p>
            <a:pPr algn="l"/>
            <a:r>
              <a:rPr sz="1000" b="0" i="0">
                <a:solidFill>
                  <a:srgbClr val="B0C4DE"/>
                </a:solidFill>
              </a:rPr>
              <a:t>ROI cible</a:t>
            </a:r>
          </a:p>
        </p:txBody>
      </p:sp>
      <p:sp>
        <p:nvSpPr>
          <p:cNvPr id="29" name="TextBox 28"/>
          <p:cNvSpPr txBox="1"/>
          <p:nvPr/>
        </p:nvSpPr>
        <p:spPr>
          <a:xfrm>
            <a:off x="216000" y="4723199"/>
            <a:ext cx="2034000" cy="756000"/>
          </a:xfrm>
          <a:prstGeom prst="rect">
            <a:avLst/>
          </a:prstGeom>
          <a:noFill/>
        </p:spPr>
        <p:txBody>
          <a:bodyPr wrap="square">
            <a:spAutoFit/>
          </a:bodyPr>
          <a:lstStyle/>
          <a:p>
            <a:pPr algn="ctr"/>
            <a:r>
              <a:rPr sz="1400" b="1" i="0">
                <a:solidFill>
                  <a:srgbClr val="D4AF37"/>
                </a:solidFill>
              </a:rPr>
              <a:t>3× à 5×</a:t>
            </a:r>
          </a:p>
        </p:txBody>
      </p:sp>
      <p:sp>
        <p:nvSpPr>
          <p:cNvPr id="30" name="Rectangle 29"/>
          <p:cNvSpPr/>
          <p:nvPr/>
        </p:nvSpPr>
        <p:spPr>
          <a:xfrm>
            <a:off x="2358000" y="4427999"/>
            <a:ext cx="2170800" cy="1116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30000" y="4499999"/>
            <a:ext cx="2034000" cy="234000"/>
          </a:xfrm>
          <a:prstGeom prst="rect">
            <a:avLst/>
          </a:prstGeom>
          <a:noFill/>
        </p:spPr>
        <p:txBody>
          <a:bodyPr wrap="square">
            <a:spAutoFit/>
          </a:bodyPr>
          <a:lstStyle/>
          <a:p>
            <a:pPr algn="l"/>
            <a:r>
              <a:rPr sz="1000" b="0" i="0">
                <a:solidFill>
                  <a:srgbClr val="B0C4DE"/>
                </a:solidFill>
              </a:rPr>
              <a:t>Horizon</a:t>
            </a:r>
          </a:p>
        </p:txBody>
      </p:sp>
      <p:sp>
        <p:nvSpPr>
          <p:cNvPr id="32" name="TextBox 31"/>
          <p:cNvSpPr txBox="1"/>
          <p:nvPr/>
        </p:nvSpPr>
        <p:spPr>
          <a:xfrm>
            <a:off x="2430000" y="4723199"/>
            <a:ext cx="2034000" cy="756000"/>
          </a:xfrm>
          <a:prstGeom prst="rect">
            <a:avLst/>
          </a:prstGeom>
          <a:noFill/>
        </p:spPr>
        <p:txBody>
          <a:bodyPr wrap="square">
            <a:spAutoFit/>
          </a:bodyPr>
          <a:lstStyle/>
          <a:p>
            <a:pPr algn="ctr"/>
            <a:r>
              <a:rPr sz="1400" b="1" i="0">
                <a:solidFill>
                  <a:srgbClr val="4FC3F7"/>
                </a:solidFill>
              </a:rPr>
              <a:t>3 – 5 ans</a:t>
            </a:r>
          </a:p>
        </p:txBody>
      </p:sp>
      <p:sp>
        <p:nvSpPr>
          <p:cNvPr id="33" name="Rectangle 32"/>
          <p:cNvSpPr/>
          <p:nvPr/>
        </p:nvSpPr>
        <p:spPr>
          <a:xfrm>
            <a:off x="4572000" y="4427999"/>
            <a:ext cx="2170800" cy="1116000"/>
          </a:xfrm>
          <a:prstGeom prst="rect">
            <a:avLst/>
          </a:prstGeom>
          <a:solidFill>
            <a:srgbClr val="132B5E"/>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4000" y="4499999"/>
            <a:ext cx="2034000" cy="234000"/>
          </a:xfrm>
          <a:prstGeom prst="rect">
            <a:avLst/>
          </a:prstGeom>
          <a:noFill/>
        </p:spPr>
        <p:txBody>
          <a:bodyPr wrap="square">
            <a:spAutoFit/>
          </a:bodyPr>
          <a:lstStyle/>
          <a:p>
            <a:pPr algn="l"/>
            <a:r>
              <a:rPr sz="1000" b="0" i="0">
                <a:solidFill>
                  <a:srgbClr val="B0C4DE"/>
                </a:solidFill>
              </a:rPr>
              <a:t>Structure</a:t>
            </a:r>
          </a:p>
        </p:txBody>
      </p:sp>
      <p:sp>
        <p:nvSpPr>
          <p:cNvPr id="35" name="TextBox 34"/>
          <p:cNvSpPr txBox="1"/>
          <p:nvPr/>
        </p:nvSpPr>
        <p:spPr>
          <a:xfrm>
            <a:off x="4644000" y="4723199"/>
            <a:ext cx="2034000" cy="756000"/>
          </a:xfrm>
          <a:prstGeom prst="rect">
            <a:avLst/>
          </a:prstGeom>
          <a:noFill/>
        </p:spPr>
        <p:txBody>
          <a:bodyPr wrap="square">
            <a:spAutoFit/>
          </a:bodyPr>
          <a:lstStyle/>
          <a:p>
            <a:pPr algn="ctr"/>
            <a:r>
              <a:rPr sz="1400" b="1" i="0">
                <a:solidFill>
                  <a:srgbClr val="FFFFFF"/>
                </a:solidFill>
              </a:rPr>
              <a:t>YUKPO COMPANY SARL</a:t>
            </a:r>
          </a:p>
        </p:txBody>
      </p:sp>
      <p:sp>
        <p:nvSpPr>
          <p:cNvPr id="36" name="Rectangle 35"/>
          <p:cNvSpPr/>
          <p:nvPr/>
        </p:nvSpPr>
        <p:spPr>
          <a:xfrm>
            <a:off x="6786000" y="4427999"/>
            <a:ext cx="2170800" cy="1116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4499999"/>
            <a:ext cx="2034000" cy="234000"/>
          </a:xfrm>
          <a:prstGeom prst="rect">
            <a:avLst/>
          </a:prstGeom>
          <a:noFill/>
        </p:spPr>
        <p:txBody>
          <a:bodyPr wrap="square">
            <a:spAutoFit/>
          </a:bodyPr>
          <a:lstStyle/>
          <a:p>
            <a:pPr algn="l"/>
            <a:r>
              <a:rPr sz="1000" b="0" i="0">
                <a:solidFill>
                  <a:srgbClr val="B0C4DE"/>
                </a:solidFill>
              </a:rPr>
              <a:t>Sortie</a:t>
            </a:r>
          </a:p>
        </p:txBody>
      </p:sp>
      <p:sp>
        <p:nvSpPr>
          <p:cNvPr id="38" name="TextBox 37"/>
          <p:cNvSpPr txBox="1"/>
          <p:nvPr/>
        </p:nvSpPr>
        <p:spPr>
          <a:xfrm>
            <a:off x="6858000" y="4723199"/>
            <a:ext cx="2034000" cy="756000"/>
          </a:xfrm>
          <a:prstGeom prst="rect">
            <a:avLst/>
          </a:prstGeom>
          <a:noFill/>
        </p:spPr>
        <p:txBody>
          <a:bodyPr wrap="square">
            <a:spAutoFit/>
          </a:bodyPr>
          <a:lstStyle/>
          <a:p>
            <a:pPr algn="ctr"/>
            <a:r>
              <a:rPr sz="1400" b="1" i="0">
                <a:solidFill>
                  <a:srgbClr val="00C87A"/>
                </a:solidFill>
              </a:rPr>
              <a:t>Rachat / Dividendes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14</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L'Équipe — Fondateur &amp; Profils à Recruter</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Un fondateur aux compétences rares + une équipe terrain opérationnelle dès le lancement</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40000"/>
            <a:ext cx="3420000" cy="480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40000"/>
            <a:ext cx="3420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16000" y="1602000"/>
            <a:ext cx="1440000" cy="14400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6000" y="1746000"/>
            <a:ext cx="1440000" cy="900000"/>
          </a:xfrm>
          <a:prstGeom prst="rect">
            <a:avLst/>
          </a:prstGeom>
          <a:noFill/>
        </p:spPr>
        <p:txBody>
          <a:bodyPr wrap="square">
            <a:spAutoFit/>
          </a:bodyPr>
          <a:lstStyle/>
          <a:p>
            <a:pPr algn="ctr"/>
            <a:r>
              <a:rPr sz="3800" b="1" i="0">
                <a:solidFill>
                  <a:srgbClr val="D4AF37"/>
                </a:solidFill>
              </a:rPr>
              <a:t>LSH</a:t>
            </a:r>
          </a:p>
        </p:txBody>
      </p:sp>
      <p:sp>
        <p:nvSpPr>
          <p:cNvPr id="13" name="TextBox 12"/>
          <p:cNvSpPr txBox="1"/>
          <p:nvPr/>
        </p:nvSpPr>
        <p:spPr>
          <a:xfrm>
            <a:off x="252000" y="3114000"/>
            <a:ext cx="3240000" cy="306000"/>
          </a:xfrm>
          <a:prstGeom prst="rect">
            <a:avLst/>
          </a:prstGeom>
          <a:noFill/>
        </p:spPr>
        <p:txBody>
          <a:bodyPr wrap="square">
            <a:spAutoFit/>
          </a:bodyPr>
          <a:lstStyle/>
          <a:p>
            <a:pPr algn="ctr"/>
            <a:r>
              <a:rPr sz="1300" b="1" i="0">
                <a:solidFill>
                  <a:srgbClr val="FFFFFF"/>
                </a:solidFill>
              </a:rPr>
              <a:t>LELE SIAKA Hernandez</a:t>
            </a:r>
          </a:p>
        </p:txBody>
      </p:sp>
      <p:sp>
        <p:nvSpPr>
          <p:cNvPr id="14" name="TextBox 13"/>
          <p:cNvSpPr txBox="1"/>
          <p:nvPr/>
        </p:nvSpPr>
        <p:spPr>
          <a:xfrm>
            <a:off x="252000" y="3420000"/>
            <a:ext cx="3240000" cy="216000"/>
          </a:xfrm>
          <a:prstGeom prst="rect">
            <a:avLst/>
          </a:prstGeom>
          <a:noFill/>
        </p:spPr>
        <p:txBody>
          <a:bodyPr wrap="square">
            <a:spAutoFit/>
          </a:bodyPr>
          <a:lstStyle/>
          <a:p>
            <a:pPr algn="ctr"/>
            <a:r>
              <a:rPr sz="1000" b="0" i="1">
                <a:solidFill>
                  <a:srgbClr val="D4AF37"/>
                </a:solidFill>
              </a:rPr>
              <a:t>CEO &amp; Fondateur — YUKPO</a:t>
            </a:r>
          </a:p>
        </p:txBody>
      </p:sp>
      <p:sp>
        <p:nvSpPr>
          <p:cNvPr id="15" name="TextBox 14"/>
          <p:cNvSpPr txBox="1"/>
          <p:nvPr/>
        </p:nvSpPr>
        <p:spPr>
          <a:xfrm>
            <a:off x="252000" y="3654000"/>
            <a:ext cx="3240000" cy="216000"/>
          </a:xfrm>
          <a:prstGeom prst="rect">
            <a:avLst/>
          </a:prstGeom>
          <a:noFill/>
        </p:spPr>
        <p:txBody>
          <a:bodyPr wrap="square">
            <a:spAutoFit/>
          </a:bodyPr>
          <a:lstStyle/>
          <a:p>
            <a:pPr algn="ctr"/>
            <a:r>
              <a:rPr sz="1000" b="0" i="0">
                <a:solidFill>
                  <a:srgbClr val="4FC3F7"/>
                </a:solidFill>
              </a:rPr>
              <a:t>+237 697 49 06 61  /  +237 674 54 68 95</a:t>
            </a:r>
          </a:p>
        </p:txBody>
      </p:sp>
      <p:sp>
        <p:nvSpPr>
          <p:cNvPr id="16" name="TextBox 15"/>
          <p:cNvSpPr txBox="1"/>
          <p:nvPr/>
        </p:nvSpPr>
        <p:spPr>
          <a:xfrm>
            <a:off x="252000" y="3880800"/>
            <a:ext cx="3240000" cy="208800"/>
          </a:xfrm>
          <a:prstGeom prst="rect">
            <a:avLst/>
          </a:prstGeom>
          <a:noFill/>
        </p:spPr>
        <p:txBody>
          <a:bodyPr wrap="square">
            <a:spAutoFit/>
          </a:bodyPr>
          <a:lstStyle/>
          <a:p>
            <a:pPr algn="ctr"/>
            <a:r>
              <a:rPr sz="900" b="0" i="0">
                <a:solidFill>
                  <a:srgbClr val="B0C4DE"/>
                </a:solidFill>
              </a:rPr>
              <a:t>lelehernandez2007@gmail.com</a:t>
            </a:r>
          </a:p>
        </p:txBody>
      </p:sp>
      <p:sp>
        <p:nvSpPr>
          <p:cNvPr id="17" name="Rectangle 16"/>
          <p:cNvSpPr/>
          <p:nvPr/>
        </p:nvSpPr>
        <p:spPr>
          <a:xfrm>
            <a:off x="360000" y="4122000"/>
            <a:ext cx="298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2000" y="4194000"/>
            <a:ext cx="3240000" cy="1980000"/>
          </a:xfrm>
          <a:prstGeom prst="rect">
            <a:avLst/>
          </a:prstGeom>
          <a:noFill/>
        </p:spPr>
        <p:txBody>
          <a:bodyPr wrap="square">
            <a:spAutoFit/>
          </a:bodyPr>
          <a:lstStyle/>
          <a:p>
            <a:pPr algn="l"/>
            <a:r>
              <a:rPr sz="1000" b="0" i="0">
                <a:solidFill>
                  <a:srgbClr val="B0C4DE"/>
                </a:solidFill>
              </a:rPr>
              <a:t>Statisticien — Spécialiste Gouvernance des Données
13 ans d'expérience (dont 6 ans en assurance / CIMA)
Développeur Full Stack :
Backend Rust/Axum · Frontend React/TypeScript
Architecture PostgreSQL · APIs RESTful
Exp. : CEPS-BID / BIsD-UNICEF — 5 ans
(Suivi-évaluation, 6 régions, 61 districts de santé)</a:t>
            </a:r>
          </a:p>
        </p:txBody>
      </p:sp>
      <p:sp>
        <p:nvSpPr>
          <p:cNvPr id="19" name="Rectangle 18"/>
          <p:cNvSpPr/>
          <p:nvPr/>
        </p:nvSpPr>
        <p:spPr>
          <a:xfrm>
            <a:off x="3708000" y="1440000"/>
            <a:ext cx="2628000" cy="226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8000" y="1440000"/>
            <a:ext cx="262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28001" y="1548000"/>
            <a:ext cx="900000" cy="1872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28001" y="1548000"/>
            <a:ext cx="900000" cy="187200"/>
          </a:xfrm>
          <a:prstGeom prst="rect">
            <a:avLst/>
          </a:prstGeom>
          <a:noFill/>
        </p:spPr>
        <p:txBody>
          <a:bodyPr wrap="square">
            <a:spAutoFit/>
          </a:bodyPr>
          <a:lstStyle/>
          <a:p>
            <a:pPr algn="ctr"/>
            <a:r>
              <a:rPr sz="900" b="0" i="1">
                <a:solidFill>
                  <a:srgbClr val="4FC3F7"/>
                </a:solidFill>
              </a:rPr>
              <a:t>À recruter</a:t>
            </a:r>
          </a:p>
        </p:txBody>
      </p:sp>
      <p:sp>
        <p:nvSpPr>
          <p:cNvPr id="23" name="TextBox 22"/>
          <p:cNvSpPr txBox="1"/>
          <p:nvPr/>
        </p:nvSpPr>
        <p:spPr>
          <a:xfrm>
            <a:off x="3816000" y="1771200"/>
            <a:ext cx="2448000" cy="306000"/>
          </a:xfrm>
          <a:prstGeom prst="rect">
            <a:avLst/>
          </a:prstGeom>
          <a:noFill/>
        </p:spPr>
        <p:txBody>
          <a:bodyPr wrap="square">
            <a:spAutoFit/>
          </a:bodyPr>
          <a:lstStyle/>
          <a:p>
            <a:pPr algn="l"/>
            <a:r>
              <a:rPr sz="1200" b="1" i="0">
                <a:solidFill>
                  <a:srgbClr val="FFFFFF"/>
                </a:solidFill>
              </a:rPr>
              <a:t>Développeur Mobile Senior</a:t>
            </a:r>
          </a:p>
        </p:txBody>
      </p:sp>
      <p:sp>
        <p:nvSpPr>
          <p:cNvPr id="24" name="Rectangle 23"/>
          <p:cNvSpPr/>
          <p:nvPr/>
        </p:nvSpPr>
        <p:spPr>
          <a:xfrm>
            <a:off x="3816000" y="2113200"/>
            <a:ext cx="2412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16000" y="2177999"/>
            <a:ext cx="2448000" cy="1476000"/>
          </a:xfrm>
          <a:prstGeom prst="rect">
            <a:avLst/>
          </a:prstGeom>
          <a:noFill/>
        </p:spPr>
        <p:txBody>
          <a:bodyPr wrap="square">
            <a:spAutoFit/>
          </a:bodyPr>
          <a:lstStyle/>
          <a:p>
            <a:pPr algn="l"/>
            <a:r>
              <a:rPr sz="1100" b="0" i="0">
                <a:solidFill>
                  <a:srgbClr val="B0C4DE"/>
                </a:solidFill>
              </a:rPr>
              <a:t>Développement des apps iOS &amp; Android.
React Native / Expo.
Intégration API, performance, UX mobile.</a:t>
            </a:r>
          </a:p>
        </p:txBody>
      </p:sp>
      <p:sp>
        <p:nvSpPr>
          <p:cNvPr id="26" name="Rectangle 25"/>
          <p:cNvSpPr/>
          <p:nvPr/>
        </p:nvSpPr>
        <p:spPr>
          <a:xfrm>
            <a:off x="6472800" y="1440000"/>
            <a:ext cx="2628000" cy="226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72800" y="1440000"/>
            <a:ext cx="262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801" y="1548000"/>
            <a:ext cx="900000" cy="1872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801" y="1548000"/>
            <a:ext cx="900000" cy="187200"/>
          </a:xfrm>
          <a:prstGeom prst="rect">
            <a:avLst/>
          </a:prstGeom>
          <a:noFill/>
        </p:spPr>
        <p:txBody>
          <a:bodyPr wrap="square">
            <a:spAutoFit/>
          </a:bodyPr>
          <a:lstStyle/>
          <a:p>
            <a:pPr algn="ctr"/>
            <a:r>
              <a:rPr sz="900" b="0" i="1">
                <a:solidFill>
                  <a:srgbClr val="D4AF37"/>
                </a:solidFill>
              </a:rPr>
              <a:t>À recruter</a:t>
            </a:r>
          </a:p>
        </p:txBody>
      </p:sp>
      <p:sp>
        <p:nvSpPr>
          <p:cNvPr id="30" name="TextBox 29"/>
          <p:cNvSpPr txBox="1"/>
          <p:nvPr/>
        </p:nvSpPr>
        <p:spPr>
          <a:xfrm>
            <a:off x="6580800" y="1771200"/>
            <a:ext cx="2448000" cy="306000"/>
          </a:xfrm>
          <a:prstGeom prst="rect">
            <a:avLst/>
          </a:prstGeom>
          <a:noFill/>
        </p:spPr>
        <p:txBody>
          <a:bodyPr wrap="square">
            <a:spAutoFit/>
          </a:bodyPr>
          <a:lstStyle/>
          <a:p>
            <a:pPr algn="l"/>
            <a:r>
              <a:rPr sz="1200" b="1" i="0">
                <a:solidFill>
                  <a:srgbClr val="FFFFFF"/>
                </a:solidFill>
              </a:rPr>
              <a:t>Ingénieur Backend &amp; DevOps</a:t>
            </a:r>
          </a:p>
        </p:txBody>
      </p:sp>
      <p:sp>
        <p:nvSpPr>
          <p:cNvPr id="31" name="Rectangle 30"/>
          <p:cNvSpPr/>
          <p:nvPr/>
        </p:nvSpPr>
        <p:spPr>
          <a:xfrm>
            <a:off x="6580800" y="2113200"/>
            <a:ext cx="2412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0800" y="2177999"/>
            <a:ext cx="2448000" cy="1476000"/>
          </a:xfrm>
          <a:prstGeom prst="rect">
            <a:avLst/>
          </a:prstGeom>
          <a:noFill/>
        </p:spPr>
        <p:txBody>
          <a:bodyPr wrap="square">
            <a:spAutoFit/>
          </a:bodyPr>
          <a:lstStyle/>
          <a:p>
            <a:pPr algn="l"/>
            <a:r>
              <a:rPr sz="1100" b="0" i="0">
                <a:solidFill>
                  <a:srgbClr val="B0C4DE"/>
                </a:solidFill>
              </a:rPr>
              <a:t>Rust/Axum, PostgreSQL, Redis.
Déploiement Cloud, CI/CD, sécurité.
Scalabilité infrastructure.</a:t>
            </a:r>
          </a:p>
        </p:txBody>
      </p:sp>
      <p:sp>
        <p:nvSpPr>
          <p:cNvPr id="33" name="Rectangle 32"/>
          <p:cNvSpPr/>
          <p:nvPr/>
        </p:nvSpPr>
        <p:spPr>
          <a:xfrm>
            <a:off x="3708000" y="3844800"/>
            <a:ext cx="2628000" cy="226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08000" y="3844800"/>
            <a:ext cx="262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28001" y="3952800"/>
            <a:ext cx="900000" cy="1872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28001" y="3952800"/>
            <a:ext cx="900000" cy="187200"/>
          </a:xfrm>
          <a:prstGeom prst="rect">
            <a:avLst/>
          </a:prstGeom>
          <a:noFill/>
        </p:spPr>
        <p:txBody>
          <a:bodyPr wrap="square">
            <a:spAutoFit/>
          </a:bodyPr>
          <a:lstStyle/>
          <a:p>
            <a:pPr algn="ctr"/>
            <a:r>
              <a:rPr sz="900" b="0" i="1">
                <a:solidFill>
                  <a:srgbClr val="00C87A"/>
                </a:solidFill>
              </a:rPr>
              <a:t>À recruter</a:t>
            </a:r>
          </a:p>
        </p:txBody>
      </p:sp>
      <p:sp>
        <p:nvSpPr>
          <p:cNvPr id="37" name="TextBox 36"/>
          <p:cNvSpPr txBox="1"/>
          <p:nvPr/>
        </p:nvSpPr>
        <p:spPr>
          <a:xfrm>
            <a:off x="3816000" y="4176000"/>
            <a:ext cx="2448000" cy="306000"/>
          </a:xfrm>
          <a:prstGeom prst="rect">
            <a:avLst/>
          </a:prstGeom>
          <a:noFill/>
        </p:spPr>
        <p:txBody>
          <a:bodyPr wrap="square">
            <a:spAutoFit/>
          </a:bodyPr>
          <a:lstStyle/>
          <a:p>
            <a:pPr algn="l"/>
            <a:r>
              <a:rPr sz="1200" b="1" i="0">
                <a:solidFill>
                  <a:srgbClr val="FFFFFF"/>
                </a:solidFill>
              </a:rPr>
              <a:t>Commercial Terrain — Yaoundé</a:t>
            </a:r>
          </a:p>
        </p:txBody>
      </p:sp>
      <p:sp>
        <p:nvSpPr>
          <p:cNvPr id="38" name="Rectangle 37"/>
          <p:cNvSpPr/>
          <p:nvPr/>
        </p:nvSpPr>
        <p:spPr>
          <a:xfrm>
            <a:off x="3816000" y="4518000"/>
            <a:ext cx="2412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6000" y="4582799"/>
            <a:ext cx="2448000" cy="1476000"/>
          </a:xfrm>
          <a:prstGeom prst="rect">
            <a:avLst/>
          </a:prstGeom>
          <a:noFill/>
        </p:spPr>
        <p:txBody>
          <a:bodyPr wrap="square">
            <a:spAutoFit/>
          </a:bodyPr>
          <a:lstStyle/>
          <a:p>
            <a:pPr algn="l"/>
            <a:r>
              <a:rPr sz="1100" b="0" i="0">
                <a:solidFill>
                  <a:srgbClr val="B0C4DE"/>
                </a:solidFill>
              </a:rPr>
              <a:t>Acquisition prestataires &amp; boutiques.
Démarchage quartiers, marchés.
Formation et onboarding partenaires.</a:t>
            </a:r>
          </a:p>
        </p:txBody>
      </p:sp>
      <p:sp>
        <p:nvSpPr>
          <p:cNvPr id="40" name="Rectangle 39"/>
          <p:cNvSpPr/>
          <p:nvPr/>
        </p:nvSpPr>
        <p:spPr>
          <a:xfrm>
            <a:off x="6472800" y="3844800"/>
            <a:ext cx="2628000" cy="2268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72800" y="3844800"/>
            <a:ext cx="2628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92801" y="3952800"/>
            <a:ext cx="900000" cy="1872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92801" y="3952800"/>
            <a:ext cx="900000" cy="187200"/>
          </a:xfrm>
          <a:prstGeom prst="rect">
            <a:avLst/>
          </a:prstGeom>
          <a:noFill/>
        </p:spPr>
        <p:txBody>
          <a:bodyPr wrap="square">
            <a:spAutoFit/>
          </a:bodyPr>
          <a:lstStyle/>
          <a:p>
            <a:pPr algn="ctr"/>
            <a:r>
              <a:rPr sz="900" b="0" i="1">
                <a:solidFill>
                  <a:srgbClr val="FF9933"/>
                </a:solidFill>
              </a:rPr>
              <a:t>À recruter</a:t>
            </a:r>
          </a:p>
        </p:txBody>
      </p:sp>
      <p:sp>
        <p:nvSpPr>
          <p:cNvPr id="44" name="TextBox 43"/>
          <p:cNvSpPr txBox="1"/>
          <p:nvPr/>
        </p:nvSpPr>
        <p:spPr>
          <a:xfrm>
            <a:off x="6580800" y="4176000"/>
            <a:ext cx="2448000" cy="306000"/>
          </a:xfrm>
          <a:prstGeom prst="rect">
            <a:avLst/>
          </a:prstGeom>
          <a:noFill/>
        </p:spPr>
        <p:txBody>
          <a:bodyPr wrap="square">
            <a:spAutoFit/>
          </a:bodyPr>
          <a:lstStyle/>
          <a:p>
            <a:pPr algn="l"/>
            <a:r>
              <a:rPr sz="1200" b="1" i="0">
                <a:solidFill>
                  <a:srgbClr val="FFFFFF"/>
                </a:solidFill>
              </a:rPr>
              <a:t>Commercial Terrain — Douala</a:t>
            </a:r>
          </a:p>
        </p:txBody>
      </p:sp>
      <p:sp>
        <p:nvSpPr>
          <p:cNvPr id="45" name="Rectangle 44"/>
          <p:cNvSpPr/>
          <p:nvPr/>
        </p:nvSpPr>
        <p:spPr>
          <a:xfrm>
            <a:off x="6580800" y="4518000"/>
            <a:ext cx="2412000" cy="1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0800" y="4582799"/>
            <a:ext cx="2448000" cy="1476000"/>
          </a:xfrm>
          <a:prstGeom prst="rect">
            <a:avLst/>
          </a:prstGeom>
          <a:noFill/>
        </p:spPr>
        <p:txBody>
          <a:bodyPr wrap="square">
            <a:spAutoFit/>
          </a:bodyPr>
          <a:lstStyle/>
          <a:p>
            <a:pPr algn="l"/>
            <a:r>
              <a:rPr sz="1100" b="0" i="0">
                <a:solidFill>
                  <a:srgbClr val="B0C4DE"/>
                </a:solidFill>
              </a:rPr>
              <a:t>Même mission sur Douala.
Réseau B2B entreprises &amp; hôtels.
Ambassadeurs &amp; animation terrain.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15</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Modalités de Financement — 3 Options Disponibles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Prêt bancaire, caution bancaire ou entrée au capital — chaque option est indépendante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58000"/>
            <a:ext cx="2718000" cy="450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58000"/>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300" y="1602000"/>
            <a:ext cx="2538000" cy="295200"/>
          </a:xfrm>
          <a:prstGeom prst="rect">
            <a:avLst/>
          </a:prstGeom>
          <a:noFill/>
        </p:spPr>
        <p:txBody>
          <a:bodyPr wrap="square">
            <a:spAutoFit/>
          </a:bodyPr>
          <a:lstStyle/>
          <a:p>
            <a:pPr algn="l"/>
            <a:r>
              <a:rPr sz="1300" b="1" i="0">
                <a:solidFill>
                  <a:srgbClr val="D4AF37"/>
                </a:solidFill>
              </a:rPr>
              <a:t>Prêt Bancaire</a:t>
            </a:r>
          </a:p>
        </p:txBody>
      </p:sp>
      <p:sp>
        <p:nvSpPr>
          <p:cNvPr id="12" name="TextBox 11"/>
          <p:cNvSpPr txBox="1"/>
          <p:nvPr/>
        </p:nvSpPr>
        <p:spPr>
          <a:xfrm>
            <a:off x="366300" y="1908000"/>
            <a:ext cx="2538000" cy="540000"/>
          </a:xfrm>
          <a:prstGeom prst="rect">
            <a:avLst/>
          </a:prstGeom>
          <a:noFill/>
        </p:spPr>
        <p:txBody>
          <a:bodyPr wrap="square">
            <a:spAutoFit/>
          </a:bodyPr>
          <a:lstStyle/>
          <a:p>
            <a:pPr algn="ctr"/>
            <a:r>
              <a:rPr sz="1400" b="1" i="0">
                <a:solidFill>
                  <a:srgbClr val="FFFFFF"/>
                </a:solidFill>
              </a:rPr>
              <a:t>Montant :
80 – 120 M FCFA</a:t>
            </a:r>
          </a:p>
        </p:txBody>
      </p:sp>
      <p:sp>
        <p:nvSpPr>
          <p:cNvPr id="13" name="Rectangle 12"/>
          <p:cNvSpPr/>
          <p:nvPr/>
        </p:nvSpPr>
        <p:spPr>
          <a:xfrm>
            <a:off x="391500" y="2473200"/>
            <a:ext cx="2430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300" y="2538000"/>
            <a:ext cx="2538000" cy="1080000"/>
          </a:xfrm>
          <a:prstGeom prst="rect">
            <a:avLst/>
          </a:prstGeom>
          <a:noFill/>
        </p:spPr>
        <p:txBody>
          <a:bodyPr wrap="square">
            <a:spAutoFit/>
          </a:bodyPr>
          <a:lstStyle/>
          <a:p>
            <a:pPr algn="l"/>
            <a:r>
              <a:rPr sz="1000" b="0" i="0">
                <a:solidFill>
                  <a:srgbClr val="B0C4DE"/>
                </a:solidFill>
              </a:rPr>
              <a:t>Durée : 3 à 5 ans
Taux négocié avec la banque
Remboursement mensuel
sur les revenus YUKPO</a:t>
            </a:r>
          </a:p>
        </p:txBody>
      </p:sp>
      <p:sp>
        <p:nvSpPr>
          <p:cNvPr id="15" name="Rectangle 14"/>
          <p:cNvSpPr/>
          <p:nvPr/>
        </p:nvSpPr>
        <p:spPr>
          <a:xfrm>
            <a:off x="391500" y="3654000"/>
            <a:ext cx="2430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6300" y="3708000"/>
            <a:ext cx="2538000" cy="223200"/>
          </a:xfrm>
          <a:prstGeom prst="rect">
            <a:avLst/>
          </a:prstGeom>
          <a:noFill/>
        </p:spPr>
        <p:txBody>
          <a:bodyPr wrap="square">
            <a:spAutoFit/>
          </a:bodyPr>
          <a:lstStyle/>
          <a:p>
            <a:pPr algn="l"/>
            <a:r>
              <a:rPr sz="1000" b="1" i="0">
                <a:solidFill>
                  <a:srgbClr val="D4AF37"/>
                </a:solidFill>
              </a:rPr>
              <a:t>Modalités clés</a:t>
            </a:r>
          </a:p>
        </p:txBody>
      </p:sp>
      <p:sp>
        <p:nvSpPr>
          <p:cNvPr id="17" name="TextBox 16"/>
          <p:cNvSpPr txBox="1"/>
          <p:nvPr/>
        </p:nvSpPr>
        <p:spPr>
          <a:xfrm>
            <a:off x="366300" y="3942000"/>
            <a:ext cx="2538000" cy="1944000"/>
          </a:xfrm>
          <a:prstGeom prst="rect">
            <a:avLst/>
          </a:prstGeom>
          <a:noFill/>
        </p:spPr>
        <p:txBody>
          <a:bodyPr wrap="square">
            <a:spAutoFit/>
          </a:bodyPr>
          <a:lstStyle/>
          <a:p>
            <a:pPr algn="l"/>
            <a:r>
              <a:rPr sz="1000" b="0" i="0">
                <a:solidFill>
                  <a:srgbClr val="B0C4DE"/>
                </a:solidFill>
              </a:rPr>
              <a:t>Garantie par le chiffre d'affaires
prévu et les actifs de la société.
Option idéale pour
préserver la structure du capital.</a:t>
            </a:r>
          </a:p>
        </p:txBody>
      </p:sp>
      <p:sp>
        <p:nvSpPr>
          <p:cNvPr id="18" name="Rectangle 17"/>
          <p:cNvSpPr/>
          <p:nvPr/>
        </p:nvSpPr>
        <p:spPr>
          <a:xfrm>
            <a:off x="3213000" y="1458000"/>
            <a:ext cx="2718000" cy="4500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13000" y="1458000"/>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1800" y="1602000"/>
            <a:ext cx="2538000" cy="295200"/>
          </a:xfrm>
          <a:prstGeom prst="rect">
            <a:avLst/>
          </a:prstGeom>
          <a:noFill/>
        </p:spPr>
        <p:txBody>
          <a:bodyPr wrap="square">
            <a:spAutoFit/>
          </a:bodyPr>
          <a:lstStyle/>
          <a:p>
            <a:pPr algn="l"/>
            <a:r>
              <a:rPr sz="1300" b="1" i="0">
                <a:solidFill>
                  <a:srgbClr val="4FC3F7"/>
                </a:solidFill>
              </a:rPr>
              <a:t>Caution Bancaire</a:t>
            </a:r>
          </a:p>
        </p:txBody>
      </p:sp>
      <p:sp>
        <p:nvSpPr>
          <p:cNvPr id="21" name="TextBox 20"/>
          <p:cNvSpPr txBox="1"/>
          <p:nvPr/>
        </p:nvSpPr>
        <p:spPr>
          <a:xfrm>
            <a:off x="3331800" y="1908000"/>
            <a:ext cx="2538000" cy="540000"/>
          </a:xfrm>
          <a:prstGeom prst="rect">
            <a:avLst/>
          </a:prstGeom>
          <a:noFill/>
        </p:spPr>
        <p:txBody>
          <a:bodyPr wrap="square">
            <a:spAutoFit/>
          </a:bodyPr>
          <a:lstStyle/>
          <a:p>
            <a:pPr algn="ctr"/>
            <a:r>
              <a:rPr sz="1400" b="1" i="0">
                <a:solidFill>
                  <a:srgbClr val="FFFFFF"/>
                </a:solidFill>
              </a:rPr>
              <a:t>Montant :
50 – 120 M FCFA</a:t>
            </a:r>
          </a:p>
        </p:txBody>
      </p:sp>
      <p:sp>
        <p:nvSpPr>
          <p:cNvPr id="22" name="Rectangle 21"/>
          <p:cNvSpPr/>
          <p:nvPr/>
        </p:nvSpPr>
        <p:spPr>
          <a:xfrm>
            <a:off x="3357000" y="2473200"/>
            <a:ext cx="2430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1800" y="2538000"/>
            <a:ext cx="2538000" cy="1080000"/>
          </a:xfrm>
          <a:prstGeom prst="rect">
            <a:avLst/>
          </a:prstGeom>
          <a:noFill/>
        </p:spPr>
        <p:txBody>
          <a:bodyPr wrap="square">
            <a:spAutoFit/>
          </a:bodyPr>
          <a:lstStyle/>
          <a:p>
            <a:pPr algn="l"/>
            <a:r>
              <a:rPr sz="1000" b="0" i="0">
                <a:solidFill>
                  <a:srgbClr val="B0C4DE"/>
                </a:solidFill>
              </a:rPr>
              <a:t>La banque se porte caution
pour YUKPO auprès
de partenaires et
fournisseurs stratégiques</a:t>
            </a:r>
          </a:p>
        </p:txBody>
      </p:sp>
      <p:sp>
        <p:nvSpPr>
          <p:cNvPr id="24" name="Rectangle 23"/>
          <p:cNvSpPr/>
          <p:nvPr/>
        </p:nvSpPr>
        <p:spPr>
          <a:xfrm>
            <a:off x="3357000" y="3654000"/>
            <a:ext cx="2430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1800" y="3708000"/>
            <a:ext cx="2538000" cy="223200"/>
          </a:xfrm>
          <a:prstGeom prst="rect">
            <a:avLst/>
          </a:prstGeom>
          <a:noFill/>
        </p:spPr>
        <p:txBody>
          <a:bodyPr wrap="square">
            <a:spAutoFit/>
          </a:bodyPr>
          <a:lstStyle/>
          <a:p>
            <a:pPr algn="l"/>
            <a:r>
              <a:rPr sz="1000" b="1" i="0">
                <a:solidFill>
                  <a:srgbClr val="4FC3F7"/>
                </a:solidFill>
              </a:rPr>
              <a:t>Avantages</a:t>
            </a:r>
          </a:p>
        </p:txBody>
      </p:sp>
      <p:sp>
        <p:nvSpPr>
          <p:cNvPr id="26" name="TextBox 25"/>
          <p:cNvSpPr txBox="1"/>
          <p:nvPr/>
        </p:nvSpPr>
        <p:spPr>
          <a:xfrm>
            <a:off x="3331800" y="3942000"/>
            <a:ext cx="2538000" cy="1944000"/>
          </a:xfrm>
          <a:prstGeom prst="rect">
            <a:avLst/>
          </a:prstGeom>
          <a:noFill/>
        </p:spPr>
        <p:txBody>
          <a:bodyPr wrap="square">
            <a:spAutoFit/>
          </a:bodyPr>
          <a:lstStyle/>
          <a:p>
            <a:pPr algn="l"/>
            <a:r>
              <a:rPr sz="1000" b="0" i="0">
                <a:solidFill>
                  <a:srgbClr val="B0C4DE"/>
                </a:solidFill>
              </a:rPr>
              <a:t>Déblocage de contrats
commerciaux importants.
Levier de crédibilité marché
sans dilution du capital.</a:t>
            </a:r>
          </a:p>
        </p:txBody>
      </p:sp>
      <p:sp>
        <p:nvSpPr>
          <p:cNvPr id="27" name="Rectangle 26"/>
          <p:cNvSpPr/>
          <p:nvPr/>
        </p:nvSpPr>
        <p:spPr>
          <a:xfrm>
            <a:off x="6178500" y="1458000"/>
            <a:ext cx="2718000" cy="4500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8500" y="1458000"/>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7300" y="1602000"/>
            <a:ext cx="2538000" cy="295200"/>
          </a:xfrm>
          <a:prstGeom prst="rect">
            <a:avLst/>
          </a:prstGeom>
          <a:noFill/>
        </p:spPr>
        <p:txBody>
          <a:bodyPr wrap="square">
            <a:spAutoFit/>
          </a:bodyPr>
          <a:lstStyle/>
          <a:p>
            <a:pPr algn="l"/>
            <a:r>
              <a:rPr sz="1300" b="1" i="0">
                <a:solidFill>
                  <a:srgbClr val="00C87A"/>
                </a:solidFill>
              </a:rPr>
              <a:t>Entrée dans le Capital</a:t>
            </a:r>
          </a:p>
        </p:txBody>
      </p:sp>
      <p:sp>
        <p:nvSpPr>
          <p:cNvPr id="30" name="TextBox 29"/>
          <p:cNvSpPr txBox="1"/>
          <p:nvPr/>
        </p:nvSpPr>
        <p:spPr>
          <a:xfrm>
            <a:off x="6297300" y="1908000"/>
            <a:ext cx="2538000" cy="540000"/>
          </a:xfrm>
          <a:prstGeom prst="rect">
            <a:avLst/>
          </a:prstGeom>
          <a:noFill/>
        </p:spPr>
        <p:txBody>
          <a:bodyPr wrap="square">
            <a:spAutoFit/>
          </a:bodyPr>
          <a:lstStyle/>
          <a:p>
            <a:pPr algn="ctr"/>
            <a:r>
              <a:rPr sz="1400" b="1" i="0">
                <a:solidFill>
                  <a:srgbClr val="FFFFFF"/>
                </a:solidFill>
              </a:rPr>
              <a:t>Part max : 20 %
(16,7 % pour 120 M)</a:t>
            </a:r>
          </a:p>
        </p:txBody>
      </p:sp>
      <p:sp>
        <p:nvSpPr>
          <p:cNvPr id="31" name="Rectangle 30"/>
          <p:cNvSpPr/>
          <p:nvPr/>
        </p:nvSpPr>
        <p:spPr>
          <a:xfrm>
            <a:off x="6322500" y="2473200"/>
            <a:ext cx="2430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7300" y="2538000"/>
            <a:ext cx="2538000" cy="1080000"/>
          </a:xfrm>
          <a:prstGeom prst="rect">
            <a:avLst/>
          </a:prstGeom>
          <a:noFill/>
        </p:spPr>
        <p:txBody>
          <a:bodyPr wrap="square">
            <a:spAutoFit/>
          </a:bodyPr>
          <a:lstStyle/>
          <a:p>
            <a:pPr algn="l"/>
            <a:r>
              <a:rPr sz="1000" b="0" i="0">
                <a:solidFill>
                  <a:srgbClr val="B0C4DE"/>
                </a:solidFill>
              </a:rPr>
              <a:t>Valorisation : &gt; 600 M FCFA
20 000+ heures dev.
Post-money : 720 M FCFA
ROI cible : 3× à 5×</a:t>
            </a:r>
          </a:p>
        </p:txBody>
      </p:sp>
      <p:sp>
        <p:nvSpPr>
          <p:cNvPr id="33" name="Rectangle 32"/>
          <p:cNvSpPr/>
          <p:nvPr/>
        </p:nvSpPr>
        <p:spPr>
          <a:xfrm>
            <a:off x="6322500" y="3654000"/>
            <a:ext cx="2430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7300" y="3708000"/>
            <a:ext cx="2538000" cy="223200"/>
          </a:xfrm>
          <a:prstGeom prst="rect">
            <a:avLst/>
          </a:prstGeom>
          <a:noFill/>
        </p:spPr>
        <p:txBody>
          <a:bodyPr wrap="square">
            <a:spAutoFit/>
          </a:bodyPr>
          <a:lstStyle/>
          <a:p>
            <a:pPr algn="l"/>
            <a:r>
              <a:rPr sz="1000" b="1" i="0">
                <a:solidFill>
                  <a:srgbClr val="00C87A"/>
                </a:solidFill>
              </a:rPr>
              <a:t>Conditions</a:t>
            </a:r>
          </a:p>
        </p:txBody>
      </p:sp>
      <p:sp>
        <p:nvSpPr>
          <p:cNvPr id="35" name="TextBox 34"/>
          <p:cNvSpPr txBox="1"/>
          <p:nvPr/>
        </p:nvSpPr>
        <p:spPr>
          <a:xfrm>
            <a:off x="6297300" y="3942000"/>
            <a:ext cx="2538000" cy="1944000"/>
          </a:xfrm>
          <a:prstGeom prst="rect">
            <a:avLst/>
          </a:prstGeom>
          <a:noFill/>
        </p:spPr>
        <p:txBody>
          <a:bodyPr wrap="square">
            <a:spAutoFit/>
          </a:bodyPr>
          <a:lstStyle/>
          <a:p>
            <a:pPr algn="l"/>
            <a:r>
              <a:rPr sz="1000" b="0" i="0">
                <a:solidFill>
                  <a:srgbClr val="B0C4DE"/>
                </a:solidFill>
              </a:rPr>
              <a:t>Structure : YUKPO COMPANY SARL
Horizon sortie : 3 à 5 ans
Reporting trimestriel
Siège observateur optionnel</a:t>
            </a:r>
          </a:p>
        </p:txBody>
      </p:sp>
      <p:sp>
        <p:nvSpPr>
          <p:cNvPr id="36" name="Rectangle 35"/>
          <p:cNvSpPr/>
          <p:nvPr/>
        </p:nvSpPr>
        <p:spPr>
          <a:xfrm>
            <a:off x="144000" y="6083999"/>
            <a:ext cx="8856000" cy="63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4000" y="6083999"/>
            <a:ext cx="97200" cy="630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4000" y="6148799"/>
            <a:ext cx="1980000" cy="259200"/>
          </a:xfrm>
          <a:prstGeom prst="rect">
            <a:avLst/>
          </a:prstGeom>
          <a:noFill/>
        </p:spPr>
        <p:txBody>
          <a:bodyPr wrap="square">
            <a:spAutoFit/>
          </a:bodyPr>
          <a:lstStyle/>
          <a:p>
            <a:pPr algn="l"/>
            <a:r>
              <a:rPr sz="1200" b="1" i="0">
                <a:solidFill>
                  <a:srgbClr val="D4AF37"/>
                </a:solidFill>
              </a:rPr>
              <a:t>Combinaison possible</a:t>
            </a:r>
          </a:p>
        </p:txBody>
      </p:sp>
      <p:sp>
        <p:nvSpPr>
          <p:cNvPr id="39" name="TextBox 38"/>
          <p:cNvSpPr txBox="1"/>
          <p:nvPr/>
        </p:nvSpPr>
        <p:spPr>
          <a:xfrm>
            <a:off x="2340000" y="6137999"/>
            <a:ext cx="6588000" cy="558000"/>
          </a:xfrm>
          <a:prstGeom prst="rect">
            <a:avLst/>
          </a:prstGeom>
          <a:noFill/>
        </p:spPr>
        <p:txBody>
          <a:bodyPr wrap="square">
            <a:spAutoFit/>
          </a:bodyPr>
          <a:lstStyle/>
          <a:p>
            <a:pPr algn="l"/>
            <a:r>
              <a:rPr sz="1100" b="0" i="0">
                <a:solidFill>
                  <a:srgbClr val="B0C4DE"/>
                </a:solidFill>
              </a:rPr>
              <a:t>Ces trois options ne sont pas exclusives. Selon votre profil et vos contraintes, vous pouvez opter pour l'une, l'autre, ou une combinaison personnalisée. Toute proposition sera étudiée avec ouverture et flexibilité.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16</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Feuille de Route — 36 Mois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Des jalons concrets et géographiquement orientés vers le leadership africain</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360000" y="3679200"/>
            <a:ext cx="8424000" cy="57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2800" y="3520800"/>
            <a:ext cx="374400" cy="374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2800" y="3520800"/>
            <a:ext cx="374400" cy="374400"/>
          </a:xfrm>
          <a:prstGeom prst="rect">
            <a:avLst/>
          </a:prstGeom>
          <a:noFill/>
        </p:spPr>
        <p:txBody>
          <a:bodyPr wrap="square">
            <a:spAutoFit/>
          </a:bodyPr>
          <a:lstStyle/>
          <a:p>
            <a:pPr algn="ctr"/>
            <a:r>
              <a:rPr sz="1000" b="1" i="0">
                <a:solidFill>
                  <a:srgbClr val="0B1E42"/>
                </a:solidFill>
              </a:rPr>
              <a:t>1</a:t>
            </a:r>
          </a:p>
        </p:txBody>
      </p:sp>
      <p:sp>
        <p:nvSpPr>
          <p:cNvPr id="12" name="Rectangle 11"/>
          <p:cNvSpPr/>
          <p:nvPr/>
        </p:nvSpPr>
        <p:spPr>
          <a:xfrm>
            <a:off x="-198000" y="1558800"/>
            <a:ext cx="1116000" cy="187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8000" y="1558800"/>
            <a:ext cx="1116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3200" y="1666800"/>
            <a:ext cx="1000800" cy="198000"/>
          </a:xfrm>
          <a:prstGeom prst="rect">
            <a:avLst/>
          </a:prstGeom>
          <a:noFill/>
        </p:spPr>
        <p:txBody>
          <a:bodyPr wrap="square">
            <a:spAutoFit/>
          </a:bodyPr>
          <a:lstStyle/>
          <a:p>
            <a:pPr algn="ctr"/>
            <a:r>
              <a:rPr sz="800" b="1" i="0">
                <a:solidFill>
                  <a:srgbClr val="D4AF37"/>
                </a:solidFill>
              </a:rPr>
              <a:t>T2 2026</a:t>
            </a:r>
          </a:p>
        </p:txBody>
      </p:sp>
      <p:sp>
        <p:nvSpPr>
          <p:cNvPr id="15" name="TextBox 14"/>
          <p:cNvSpPr txBox="1"/>
          <p:nvPr/>
        </p:nvSpPr>
        <p:spPr>
          <a:xfrm>
            <a:off x="-133200" y="1875600"/>
            <a:ext cx="1000800" cy="486000"/>
          </a:xfrm>
          <a:prstGeom prst="rect">
            <a:avLst/>
          </a:prstGeom>
          <a:noFill/>
        </p:spPr>
        <p:txBody>
          <a:bodyPr wrap="square">
            <a:spAutoFit/>
          </a:bodyPr>
          <a:lstStyle/>
          <a:p>
            <a:pPr algn="ctr"/>
            <a:r>
              <a:rPr sz="1100" b="1" i="0">
                <a:solidFill>
                  <a:srgbClr val="FFFFFF"/>
                </a:solidFill>
              </a:rPr>
              <a:t>Lancement
Yaoundé+Douala</a:t>
            </a:r>
          </a:p>
        </p:txBody>
      </p:sp>
      <p:sp>
        <p:nvSpPr>
          <p:cNvPr id="16" name="TextBox 15"/>
          <p:cNvSpPr txBox="1"/>
          <p:nvPr/>
        </p:nvSpPr>
        <p:spPr>
          <a:xfrm>
            <a:off x="-133200" y="2379599"/>
            <a:ext cx="1000800" cy="990000"/>
          </a:xfrm>
          <a:prstGeom prst="rect">
            <a:avLst/>
          </a:prstGeom>
          <a:noFill/>
        </p:spPr>
        <p:txBody>
          <a:bodyPr wrap="square">
            <a:spAutoFit/>
          </a:bodyPr>
          <a:lstStyle/>
          <a:p>
            <a:pPr algn="ctr"/>
            <a:r>
              <a:rPr sz="900" b="0" i="0">
                <a:solidFill>
                  <a:srgbClr val="B0C4DE"/>
                </a:solidFill>
              </a:rPr>
              <a:t>9 services + Bourse
du Livre actifs</a:t>
            </a:r>
          </a:p>
        </p:txBody>
      </p:sp>
      <p:sp>
        <p:nvSpPr>
          <p:cNvPr id="17" name="Rectangle 16"/>
          <p:cNvSpPr/>
          <p:nvPr/>
        </p:nvSpPr>
        <p:spPr>
          <a:xfrm>
            <a:off x="1576800" y="3520800"/>
            <a:ext cx="374400" cy="3744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6800" y="3520800"/>
            <a:ext cx="374400" cy="374400"/>
          </a:xfrm>
          <a:prstGeom prst="rect">
            <a:avLst/>
          </a:prstGeom>
          <a:noFill/>
        </p:spPr>
        <p:txBody>
          <a:bodyPr wrap="square">
            <a:spAutoFit/>
          </a:bodyPr>
          <a:lstStyle/>
          <a:p>
            <a:pPr algn="ctr"/>
            <a:r>
              <a:rPr sz="1000" b="1" i="0">
                <a:solidFill>
                  <a:srgbClr val="0B1E42"/>
                </a:solidFill>
              </a:rPr>
              <a:t>2</a:t>
            </a:r>
          </a:p>
        </p:txBody>
      </p:sp>
      <p:sp>
        <p:nvSpPr>
          <p:cNvPr id="19" name="Rectangle 18"/>
          <p:cNvSpPr/>
          <p:nvPr/>
        </p:nvSpPr>
        <p:spPr>
          <a:xfrm>
            <a:off x="1206000" y="3985200"/>
            <a:ext cx="1116000" cy="187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6000" y="3985200"/>
            <a:ext cx="1116000" cy="7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0800" y="4093200"/>
            <a:ext cx="1000800" cy="198000"/>
          </a:xfrm>
          <a:prstGeom prst="rect">
            <a:avLst/>
          </a:prstGeom>
          <a:noFill/>
        </p:spPr>
        <p:txBody>
          <a:bodyPr wrap="square">
            <a:spAutoFit/>
          </a:bodyPr>
          <a:lstStyle/>
          <a:p>
            <a:pPr algn="ctr"/>
            <a:r>
              <a:rPr sz="800" b="1" i="0">
                <a:solidFill>
                  <a:srgbClr val="FF9933"/>
                </a:solidFill>
              </a:rPr>
              <a:t>T3 2026</a:t>
            </a:r>
          </a:p>
        </p:txBody>
      </p:sp>
      <p:sp>
        <p:nvSpPr>
          <p:cNvPr id="22" name="TextBox 21"/>
          <p:cNvSpPr txBox="1"/>
          <p:nvPr/>
        </p:nvSpPr>
        <p:spPr>
          <a:xfrm>
            <a:off x="1270800" y="4302000"/>
            <a:ext cx="1000800" cy="486000"/>
          </a:xfrm>
          <a:prstGeom prst="rect">
            <a:avLst/>
          </a:prstGeom>
          <a:noFill/>
        </p:spPr>
        <p:txBody>
          <a:bodyPr wrap="square">
            <a:spAutoFit/>
          </a:bodyPr>
          <a:lstStyle/>
          <a:p>
            <a:pPr algn="ctr"/>
            <a:r>
              <a:rPr sz="1100" b="1" i="0">
                <a:solidFill>
                  <a:srgbClr val="FFFFFF"/>
                </a:solidFill>
              </a:rPr>
              <a:t>Bourse
du Livre</a:t>
            </a:r>
          </a:p>
        </p:txBody>
      </p:sp>
      <p:sp>
        <p:nvSpPr>
          <p:cNvPr id="23" name="TextBox 22"/>
          <p:cNvSpPr txBox="1"/>
          <p:nvPr/>
        </p:nvSpPr>
        <p:spPr>
          <a:xfrm>
            <a:off x="1270800" y="4805999"/>
            <a:ext cx="1000800" cy="990000"/>
          </a:xfrm>
          <a:prstGeom prst="rect">
            <a:avLst/>
          </a:prstGeom>
          <a:noFill/>
        </p:spPr>
        <p:txBody>
          <a:bodyPr wrap="square">
            <a:spAutoFit/>
          </a:bodyPr>
          <a:lstStyle/>
          <a:p>
            <a:pPr algn="ctr"/>
            <a:r>
              <a:rPr sz="900" b="0" i="0">
                <a:solidFill>
                  <a:srgbClr val="B0C4DE"/>
                </a:solidFill>
              </a:rPr>
              <a:t>Levier scolaire :
50 000+ familles ciblées</a:t>
            </a:r>
          </a:p>
        </p:txBody>
      </p:sp>
      <p:sp>
        <p:nvSpPr>
          <p:cNvPr id="24" name="Rectangle 23"/>
          <p:cNvSpPr/>
          <p:nvPr/>
        </p:nvSpPr>
        <p:spPr>
          <a:xfrm>
            <a:off x="2980800" y="3520800"/>
            <a:ext cx="374400" cy="3744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0800" y="3520800"/>
            <a:ext cx="374400" cy="374400"/>
          </a:xfrm>
          <a:prstGeom prst="rect">
            <a:avLst/>
          </a:prstGeom>
          <a:noFill/>
        </p:spPr>
        <p:txBody>
          <a:bodyPr wrap="square">
            <a:spAutoFit/>
          </a:bodyPr>
          <a:lstStyle/>
          <a:p>
            <a:pPr algn="ctr"/>
            <a:r>
              <a:rPr sz="1000" b="1" i="0">
                <a:solidFill>
                  <a:srgbClr val="0B1E42"/>
                </a:solidFill>
              </a:rPr>
              <a:t>3</a:t>
            </a:r>
          </a:p>
        </p:txBody>
      </p:sp>
      <p:sp>
        <p:nvSpPr>
          <p:cNvPr id="26" name="Rectangle 25"/>
          <p:cNvSpPr/>
          <p:nvPr/>
        </p:nvSpPr>
        <p:spPr>
          <a:xfrm>
            <a:off x="2610000" y="1558800"/>
            <a:ext cx="1116000" cy="1872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10000" y="1558800"/>
            <a:ext cx="1116000" cy="79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74800" y="1666800"/>
            <a:ext cx="1000800" cy="198000"/>
          </a:xfrm>
          <a:prstGeom prst="rect">
            <a:avLst/>
          </a:prstGeom>
          <a:noFill/>
        </p:spPr>
        <p:txBody>
          <a:bodyPr wrap="square">
            <a:spAutoFit/>
          </a:bodyPr>
          <a:lstStyle/>
          <a:p>
            <a:pPr algn="ctr"/>
            <a:r>
              <a:rPr sz="800" b="1" i="0">
                <a:solidFill>
                  <a:srgbClr val="4FC3F7"/>
                </a:solidFill>
              </a:rPr>
              <a:t>T4 2026</a:t>
            </a:r>
          </a:p>
        </p:txBody>
      </p:sp>
      <p:sp>
        <p:nvSpPr>
          <p:cNvPr id="29" name="TextBox 28"/>
          <p:cNvSpPr txBox="1"/>
          <p:nvPr/>
        </p:nvSpPr>
        <p:spPr>
          <a:xfrm>
            <a:off x="2674800" y="1875600"/>
            <a:ext cx="1000800" cy="486000"/>
          </a:xfrm>
          <a:prstGeom prst="rect">
            <a:avLst/>
          </a:prstGeom>
          <a:noFill/>
        </p:spPr>
        <p:txBody>
          <a:bodyPr wrap="square">
            <a:spAutoFit/>
          </a:bodyPr>
          <a:lstStyle/>
          <a:p>
            <a:pPr algn="ctr"/>
            <a:r>
              <a:rPr sz="1100" b="1" i="0">
                <a:solidFill>
                  <a:srgbClr val="FFFFFF"/>
                </a:solidFill>
              </a:rPr>
              <a:t>30 000
utilisateurs</a:t>
            </a:r>
          </a:p>
        </p:txBody>
      </p:sp>
      <p:sp>
        <p:nvSpPr>
          <p:cNvPr id="30" name="TextBox 29"/>
          <p:cNvSpPr txBox="1"/>
          <p:nvPr/>
        </p:nvSpPr>
        <p:spPr>
          <a:xfrm>
            <a:off x="2674800" y="2379599"/>
            <a:ext cx="1000800" cy="990000"/>
          </a:xfrm>
          <a:prstGeom prst="rect">
            <a:avLst/>
          </a:prstGeom>
          <a:noFill/>
        </p:spPr>
        <p:txBody>
          <a:bodyPr wrap="square">
            <a:spAutoFit/>
          </a:bodyPr>
          <a:lstStyle/>
          <a:p>
            <a:pPr algn="ctr"/>
            <a:r>
              <a:rPr sz="900" b="0" i="0">
                <a:solidFill>
                  <a:srgbClr val="B0C4DE"/>
                </a:solidFill>
              </a:rPr>
              <a:t>Croissance organique
campagnes actives</a:t>
            </a:r>
          </a:p>
        </p:txBody>
      </p:sp>
      <p:sp>
        <p:nvSpPr>
          <p:cNvPr id="31" name="Rectangle 30"/>
          <p:cNvSpPr/>
          <p:nvPr/>
        </p:nvSpPr>
        <p:spPr>
          <a:xfrm>
            <a:off x="4384800" y="3520800"/>
            <a:ext cx="374400" cy="374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4800" y="3520800"/>
            <a:ext cx="374400" cy="374400"/>
          </a:xfrm>
          <a:prstGeom prst="rect">
            <a:avLst/>
          </a:prstGeom>
          <a:noFill/>
        </p:spPr>
        <p:txBody>
          <a:bodyPr wrap="square">
            <a:spAutoFit/>
          </a:bodyPr>
          <a:lstStyle/>
          <a:p>
            <a:pPr algn="ctr"/>
            <a:r>
              <a:rPr sz="1000" b="1" i="0">
                <a:solidFill>
                  <a:srgbClr val="0B1E42"/>
                </a:solidFill>
              </a:rPr>
              <a:t>4</a:t>
            </a:r>
          </a:p>
        </p:txBody>
      </p:sp>
      <p:sp>
        <p:nvSpPr>
          <p:cNvPr id="33" name="Rectangle 32"/>
          <p:cNvSpPr/>
          <p:nvPr/>
        </p:nvSpPr>
        <p:spPr>
          <a:xfrm>
            <a:off x="4014000" y="3985200"/>
            <a:ext cx="1116000" cy="187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014000" y="3985200"/>
            <a:ext cx="1116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78800" y="4093200"/>
            <a:ext cx="1000800" cy="198000"/>
          </a:xfrm>
          <a:prstGeom prst="rect">
            <a:avLst/>
          </a:prstGeom>
          <a:noFill/>
        </p:spPr>
        <p:txBody>
          <a:bodyPr wrap="square">
            <a:spAutoFit/>
          </a:bodyPr>
          <a:lstStyle/>
          <a:p>
            <a:pPr algn="ctr"/>
            <a:r>
              <a:rPr sz="800" b="1" i="0">
                <a:solidFill>
                  <a:srgbClr val="D4AF37"/>
                </a:solidFill>
              </a:rPr>
              <a:t>T1 2027</a:t>
            </a:r>
          </a:p>
        </p:txBody>
      </p:sp>
      <p:sp>
        <p:nvSpPr>
          <p:cNvPr id="36" name="TextBox 35"/>
          <p:cNvSpPr txBox="1"/>
          <p:nvPr/>
        </p:nvSpPr>
        <p:spPr>
          <a:xfrm>
            <a:off x="4078800" y="4302000"/>
            <a:ext cx="1000800" cy="486000"/>
          </a:xfrm>
          <a:prstGeom prst="rect">
            <a:avLst/>
          </a:prstGeom>
          <a:noFill/>
        </p:spPr>
        <p:txBody>
          <a:bodyPr wrap="square">
            <a:spAutoFit/>
          </a:bodyPr>
          <a:lstStyle/>
          <a:p>
            <a:pPr algn="ctr"/>
            <a:r>
              <a:rPr sz="1100" b="1" i="0">
                <a:solidFill>
                  <a:srgbClr val="FFFFFF"/>
                </a:solidFill>
              </a:rPr>
              <a:t>Bafoussam
+ densif.</a:t>
            </a:r>
          </a:p>
        </p:txBody>
      </p:sp>
      <p:sp>
        <p:nvSpPr>
          <p:cNvPr id="37" name="TextBox 36"/>
          <p:cNvSpPr txBox="1"/>
          <p:nvPr/>
        </p:nvSpPr>
        <p:spPr>
          <a:xfrm>
            <a:off x="4078800" y="4805999"/>
            <a:ext cx="1000800" cy="990000"/>
          </a:xfrm>
          <a:prstGeom prst="rect">
            <a:avLst/>
          </a:prstGeom>
          <a:noFill/>
        </p:spPr>
        <p:txBody>
          <a:bodyPr wrap="square">
            <a:spAutoFit/>
          </a:bodyPr>
          <a:lstStyle/>
          <a:p>
            <a:pPr algn="ctr"/>
            <a:r>
              <a:rPr sz="900" b="0" i="0">
                <a:solidFill>
                  <a:srgbClr val="B0C4DE"/>
                </a:solidFill>
              </a:rPr>
              <a:t>3e ville + réseau
national camerounais</a:t>
            </a:r>
          </a:p>
        </p:txBody>
      </p:sp>
      <p:sp>
        <p:nvSpPr>
          <p:cNvPr id="38" name="Rectangle 37"/>
          <p:cNvSpPr/>
          <p:nvPr/>
        </p:nvSpPr>
        <p:spPr>
          <a:xfrm>
            <a:off x="5788800" y="3520800"/>
            <a:ext cx="374400" cy="3744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88800" y="3520800"/>
            <a:ext cx="374400" cy="374400"/>
          </a:xfrm>
          <a:prstGeom prst="rect">
            <a:avLst/>
          </a:prstGeom>
          <a:noFill/>
        </p:spPr>
        <p:txBody>
          <a:bodyPr wrap="square">
            <a:spAutoFit/>
          </a:bodyPr>
          <a:lstStyle/>
          <a:p>
            <a:pPr algn="ctr"/>
            <a:r>
              <a:rPr sz="1000" b="1" i="0">
                <a:solidFill>
                  <a:srgbClr val="0B1E42"/>
                </a:solidFill>
              </a:rPr>
              <a:t>5</a:t>
            </a:r>
          </a:p>
        </p:txBody>
      </p:sp>
      <p:sp>
        <p:nvSpPr>
          <p:cNvPr id="40" name="Rectangle 39"/>
          <p:cNvSpPr/>
          <p:nvPr/>
        </p:nvSpPr>
        <p:spPr>
          <a:xfrm>
            <a:off x="5418000" y="1558800"/>
            <a:ext cx="1116000" cy="187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18000" y="1558800"/>
            <a:ext cx="1116000" cy="7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2800" y="1666800"/>
            <a:ext cx="1000800" cy="198000"/>
          </a:xfrm>
          <a:prstGeom prst="rect">
            <a:avLst/>
          </a:prstGeom>
          <a:noFill/>
        </p:spPr>
        <p:txBody>
          <a:bodyPr wrap="square">
            <a:spAutoFit/>
          </a:bodyPr>
          <a:lstStyle/>
          <a:p>
            <a:pPr algn="ctr"/>
            <a:r>
              <a:rPr sz="800" b="1" i="0">
                <a:solidFill>
                  <a:srgbClr val="00C87A"/>
                </a:solidFill>
              </a:rPr>
              <a:t>Q4 2027</a:t>
            </a:r>
          </a:p>
        </p:txBody>
      </p:sp>
      <p:sp>
        <p:nvSpPr>
          <p:cNvPr id="43" name="TextBox 42"/>
          <p:cNvSpPr txBox="1"/>
          <p:nvPr/>
        </p:nvSpPr>
        <p:spPr>
          <a:xfrm>
            <a:off x="5482800" y="1875600"/>
            <a:ext cx="1000800" cy="486000"/>
          </a:xfrm>
          <a:prstGeom prst="rect">
            <a:avLst/>
          </a:prstGeom>
          <a:noFill/>
        </p:spPr>
        <p:txBody>
          <a:bodyPr wrap="square">
            <a:spAutoFit/>
          </a:bodyPr>
          <a:lstStyle/>
          <a:p>
            <a:pPr algn="ctr"/>
            <a:r>
              <a:rPr sz="1100" b="1" i="0">
                <a:solidFill>
                  <a:srgbClr val="FFFFFF"/>
                </a:solidFill>
              </a:rPr>
              <a:t>Côte
d'Ivoire</a:t>
            </a:r>
          </a:p>
        </p:txBody>
      </p:sp>
      <p:sp>
        <p:nvSpPr>
          <p:cNvPr id="44" name="TextBox 43"/>
          <p:cNvSpPr txBox="1"/>
          <p:nvPr/>
        </p:nvSpPr>
        <p:spPr>
          <a:xfrm>
            <a:off x="5482800" y="2379599"/>
            <a:ext cx="1000800" cy="990000"/>
          </a:xfrm>
          <a:prstGeom prst="rect">
            <a:avLst/>
          </a:prstGeom>
          <a:noFill/>
        </p:spPr>
        <p:txBody>
          <a:bodyPr wrap="square">
            <a:spAutoFit/>
          </a:bodyPr>
          <a:lstStyle/>
          <a:p>
            <a:pPr algn="ctr"/>
            <a:r>
              <a:rPr sz="900" b="0" i="0">
                <a:solidFill>
                  <a:srgbClr val="B0C4DE"/>
                </a:solidFill>
              </a:rPr>
              <a:t>Abidjan — 1er marché
international</a:t>
            </a:r>
          </a:p>
        </p:txBody>
      </p:sp>
      <p:sp>
        <p:nvSpPr>
          <p:cNvPr id="45" name="Rectangle 44"/>
          <p:cNvSpPr/>
          <p:nvPr/>
        </p:nvSpPr>
        <p:spPr>
          <a:xfrm>
            <a:off x="7192800" y="3520800"/>
            <a:ext cx="374400" cy="3744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92800" y="3520800"/>
            <a:ext cx="374400" cy="374400"/>
          </a:xfrm>
          <a:prstGeom prst="rect">
            <a:avLst/>
          </a:prstGeom>
          <a:noFill/>
        </p:spPr>
        <p:txBody>
          <a:bodyPr wrap="square">
            <a:spAutoFit/>
          </a:bodyPr>
          <a:lstStyle/>
          <a:p>
            <a:pPr algn="ctr"/>
            <a:r>
              <a:rPr sz="1000" b="1" i="0">
                <a:solidFill>
                  <a:srgbClr val="0B1E42"/>
                </a:solidFill>
              </a:rPr>
              <a:t>6</a:t>
            </a:r>
          </a:p>
        </p:txBody>
      </p:sp>
      <p:sp>
        <p:nvSpPr>
          <p:cNvPr id="47" name="Rectangle 46"/>
          <p:cNvSpPr/>
          <p:nvPr/>
        </p:nvSpPr>
        <p:spPr>
          <a:xfrm>
            <a:off x="6822000" y="3985200"/>
            <a:ext cx="1116000" cy="187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22000" y="3985200"/>
            <a:ext cx="1116000" cy="7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86800" y="4093200"/>
            <a:ext cx="1000800" cy="198000"/>
          </a:xfrm>
          <a:prstGeom prst="rect">
            <a:avLst/>
          </a:prstGeom>
          <a:noFill/>
        </p:spPr>
        <p:txBody>
          <a:bodyPr wrap="square">
            <a:spAutoFit/>
          </a:bodyPr>
          <a:lstStyle/>
          <a:p>
            <a:pPr algn="ctr"/>
            <a:r>
              <a:rPr sz="800" b="1" i="0">
                <a:solidFill>
                  <a:srgbClr val="00C87A"/>
                </a:solidFill>
              </a:rPr>
              <a:t>T1 2028</a:t>
            </a:r>
          </a:p>
        </p:txBody>
      </p:sp>
      <p:sp>
        <p:nvSpPr>
          <p:cNvPr id="50" name="TextBox 49"/>
          <p:cNvSpPr txBox="1"/>
          <p:nvPr/>
        </p:nvSpPr>
        <p:spPr>
          <a:xfrm>
            <a:off x="6886800" y="4302000"/>
            <a:ext cx="1000800" cy="486000"/>
          </a:xfrm>
          <a:prstGeom prst="rect">
            <a:avLst/>
          </a:prstGeom>
          <a:noFill/>
        </p:spPr>
        <p:txBody>
          <a:bodyPr wrap="square">
            <a:spAutoFit/>
          </a:bodyPr>
          <a:lstStyle/>
          <a:p>
            <a:pPr algn="ctr"/>
            <a:r>
              <a:rPr sz="1100" b="1" i="0">
                <a:solidFill>
                  <a:srgbClr val="FFFFFF"/>
                </a:solidFill>
              </a:rPr>
              <a:t>Rentabilité
Nette</a:t>
            </a:r>
          </a:p>
        </p:txBody>
      </p:sp>
      <p:sp>
        <p:nvSpPr>
          <p:cNvPr id="51" name="TextBox 50"/>
          <p:cNvSpPr txBox="1"/>
          <p:nvPr/>
        </p:nvSpPr>
        <p:spPr>
          <a:xfrm>
            <a:off x="6886800" y="4805999"/>
            <a:ext cx="1000800" cy="990000"/>
          </a:xfrm>
          <a:prstGeom prst="rect">
            <a:avLst/>
          </a:prstGeom>
          <a:noFill/>
        </p:spPr>
        <p:txBody>
          <a:bodyPr wrap="square">
            <a:spAutoFit/>
          </a:bodyPr>
          <a:lstStyle/>
          <a:p>
            <a:pPr algn="ctr"/>
            <a:r>
              <a:rPr sz="900" b="0" i="0">
                <a:solidFill>
                  <a:srgbClr val="B0C4DE"/>
                </a:solidFill>
              </a:rPr>
              <a:t>+27 M FCFA/mois
meilleur des cas</a:t>
            </a:r>
          </a:p>
        </p:txBody>
      </p:sp>
      <p:sp>
        <p:nvSpPr>
          <p:cNvPr id="52" name="Rectangle 51"/>
          <p:cNvSpPr/>
          <p:nvPr/>
        </p:nvSpPr>
        <p:spPr>
          <a:xfrm>
            <a:off x="8596800" y="3520800"/>
            <a:ext cx="374400" cy="3744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96800" y="3520800"/>
            <a:ext cx="374400" cy="374400"/>
          </a:xfrm>
          <a:prstGeom prst="rect">
            <a:avLst/>
          </a:prstGeom>
          <a:noFill/>
        </p:spPr>
        <p:txBody>
          <a:bodyPr wrap="square">
            <a:spAutoFit/>
          </a:bodyPr>
          <a:lstStyle/>
          <a:p>
            <a:pPr algn="ctr"/>
            <a:r>
              <a:rPr sz="1000" b="1" i="0">
                <a:solidFill>
                  <a:srgbClr val="0B1E42"/>
                </a:solidFill>
              </a:rPr>
              <a:t>7</a:t>
            </a:r>
          </a:p>
        </p:txBody>
      </p:sp>
      <p:sp>
        <p:nvSpPr>
          <p:cNvPr id="54" name="Rectangle 53"/>
          <p:cNvSpPr/>
          <p:nvPr/>
        </p:nvSpPr>
        <p:spPr>
          <a:xfrm>
            <a:off x="8226000" y="1558800"/>
            <a:ext cx="1116000" cy="187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26000" y="1558800"/>
            <a:ext cx="1116000" cy="7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90800" y="1666800"/>
            <a:ext cx="1000800" cy="198000"/>
          </a:xfrm>
          <a:prstGeom prst="rect">
            <a:avLst/>
          </a:prstGeom>
          <a:noFill/>
        </p:spPr>
        <p:txBody>
          <a:bodyPr wrap="square">
            <a:spAutoFit/>
          </a:bodyPr>
          <a:lstStyle/>
          <a:p>
            <a:pPr algn="ctr"/>
            <a:r>
              <a:rPr sz="800" b="1" i="0">
                <a:solidFill>
                  <a:srgbClr val="FF9933"/>
                </a:solidFill>
              </a:rPr>
              <a:t>S2 2028+</a:t>
            </a:r>
          </a:p>
        </p:txBody>
      </p:sp>
      <p:sp>
        <p:nvSpPr>
          <p:cNvPr id="57" name="TextBox 56"/>
          <p:cNvSpPr txBox="1"/>
          <p:nvPr/>
        </p:nvSpPr>
        <p:spPr>
          <a:xfrm>
            <a:off x="8290800" y="1875600"/>
            <a:ext cx="1000800" cy="486000"/>
          </a:xfrm>
          <a:prstGeom prst="rect">
            <a:avLst/>
          </a:prstGeom>
          <a:noFill/>
        </p:spPr>
        <p:txBody>
          <a:bodyPr wrap="square">
            <a:spAutoFit/>
          </a:bodyPr>
          <a:lstStyle/>
          <a:p>
            <a:pPr algn="ctr"/>
            <a:r>
              <a:rPr sz="1100" b="1" i="0">
                <a:solidFill>
                  <a:srgbClr val="FFFFFF"/>
                </a:solidFill>
              </a:rPr>
              <a:t>Sénégal &amp;
Afrique</a:t>
            </a:r>
          </a:p>
        </p:txBody>
      </p:sp>
      <p:sp>
        <p:nvSpPr>
          <p:cNvPr id="58" name="TextBox 57"/>
          <p:cNvSpPr txBox="1"/>
          <p:nvPr/>
        </p:nvSpPr>
        <p:spPr>
          <a:xfrm>
            <a:off x="8290800" y="2379599"/>
            <a:ext cx="1000800" cy="990000"/>
          </a:xfrm>
          <a:prstGeom prst="rect">
            <a:avLst/>
          </a:prstGeom>
          <a:noFill/>
        </p:spPr>
        <p:txBody>
          <a:bodyPr wrap="square">
            <a:spAutoFit/>
          </a:bodyPr>
          <a:lstStyle/>
          <a:p>
            <a:pPr algn="ctr"/>
            <a:r>
              <a:rPr sz="900" b="0" i="0">
                <a:solidFill>
                  <a:srgbClr val="B0C4DE"/>
                </a:solidFill>
              </a:rPr>
              <a:t>Dakar + leadership
pan-africain 2030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600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2000"/>
            <a:ext cx="792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64800" y="162000"/>
            <a:ext cx="792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20000" y="216000"/>
            <a:ext cx="2304000" cy="115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ng"/>
          <p:cNvPicPr>
            <a:picLocks noChangeAspect="1"/>
          </p:cNvPicPr>
          <p:nvPr/>
        </p:nvPicPr>
        <p:blipFill>
          <a:blip r:embed="rId2"/>
          <a:stretch>
            <a:fillRect/>
          </a:stretch>
        </p:blipFill>
        <p:spPr>
          <a:xfrm>
            <a:off x="3420000" y="216000"/>
            <a:ext cx="2304000" cy="1152000"/>
          </a:xfrm>
          <a:prstGeom prst="rect">
            <a:avLst/>
          </a:prstGeom>
        </p:spPr>
      </p:pic>
      <p:sp>
        <p:nvSpPr>
          <p:cNvPr id="8" name="TextBox 7"/>
          <p:cNvSpPr txBox="1"/>
          <p:nvPr/>
        </p:nvSpPr>
        <p:spPr>
          <a:xfrm>
            <a:off x="360000" y="1368000"/>
            <a:ext cx="8424000" cy="720000"/>
          </a:xfrm>
          <a:prstGeom prst="rect">
            <a:avLst/>
          </a:prstGeom>
          <a:noFill/>
        </p:spPr>
        <p:txBody>
          <a:bodyPr wrap="square">
            <a:spAutoFit/>
          </a:bodyPr>
          <a:lstStyle/>
          <a:p>
            <a:pPr algn="ctr"/>
            <a:r>
              <a:rPr sz="2400" b="1" i="0">
                <a:solidFill>
                  <a:srgbClr val="D4AF37"/>
                </a:solidFill>
              </a:rPr>
              <a:t>Investissons Ensemble dans l'Avenir Numérique de l'Afrique</a:t>
            </a:r>
          </a:p>
        </p:txBody>
      </p:sp>
      <p:sp>
        <p:nvSpPr>
          <p:cNvPr id="9" name="Rectangle 8"/>
          <p:cNvSpPr/>
          <p:nvPr/>
        </p:nvSpPr>
        <p:spPr>
          <a:xfrm>
            <a:off x="1620000" y="2106000"/>
            <a:ext cx="5904000" cy="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196000"/>
            <a:ext cx="8424000" cy="270000"/>
          </a:xfrm>
          <a:prstGeom prst="rect">
            <a:avLst/>
          </a:prstGeom>
          <a:noFill/>
        </p:spPr>
        <p:txBody>
          <a:bodyPr wrap="square">
            <a:spAutoFit/>
          </a:bodyPr>
          <a:lstStyle/>
          <a:p>
            <a:pPr algn="ctr"/>
            <a:r>
              <a:rPr sz="1300" b="1" i="0">
                <a:solidFill>
                  <a:srgbClr val="FFFFFF"/>
                </a:solidFill>
              </a:rPr>
              <a:t>CONNECT. CREATE. SOLVE.</a:t>
            </a:r>
          </a:p>
        </p:txBody>
      </p:sp>
      <p:sp>
        <p:nvSpPr>
          <p:cNvPr id="11" name="Rectangle 10"/>
          <p:cNvSpPr/>
          <p:nvPr/>
        </p:nvSpPr>
        <p:spPr>
          <a:xfrm>
            <a:off x="456000" y="2592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6000" y="2592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000" y="2717999"/>
            <a:ext cx="3654000" cy="234000"/>
          </a:xfrm>
          <a:prstGeom prst="rect">
            <a:avLst/>
          </a:prstGeom>
          <a:noFill/>
        </p:spPr>
        <p:txBody>
          <a:bodyPr wrap="square">
            <a:spAutoFit/>
          </a:bodyPr>
          <a:lstStyle/>
          <a:p>
            <a:pPr algn="l"/>
            <a:r>
              <a:rPr sz="1100" b="1" i="0">
                <a:solidFill>
                  <a:srgbClr val="D4AF37"/>
                </a:solidFill>
              </a:rPr>
              <a:t>Email</a:t>
            </a:r>
          </a:p>
        </p:txBody>
      </p:sp>
      <p:sp>
        <p:nvSpPr>
          <p:cNvPr id="14" name="TextBox 13"/>
          <p:cNvSpPr txBox="1"/>
          <p:nvPr/>
        </p:nvSpPr>
        <p:spPr>
          <a:xfrm>
            <a:off x="600000" y="2952000"/>
            <a:ext cx="3654000" cy="594000"/>
          </a:xfrm>
          <a:prstGeom prst="rect">
            <a:avLst/>
          </a:prstGeom>
          <a:noFill/>
        </p:spPr>
        <p:txBody>
          <a:bodyPr wrap="square">
            <a:spAutoFit/>
          </a:bodyPr>
          <a:lstStyle/>
          <a:p>
            <a:pPr algn="ctr"/>
            <a:r>
              <a:rPr sz="1400" b="1" i="0">
                <a:solidFill>
                  <a:srgbClr val="FFFFFF"/>
                </a:solidFill>
              </a:rPr>
              <a:t>lelehernandez2007@gmail.com</a:t>
            </a:r>
          </a:p>
        </p:txBody>
      </p:sp>
      <p:sp>
        <p:nvSpPr>
          <p:cNvPr id="15" name="Rectangle 14"/>
          <p:cNvSpPr/>
          <p:nvPr/>
        </p:nvSpPr>
        <p:spPr>
          <a:xfrm>
            <a:off x="4800000" y="2592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0000" y="2592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44000" y="2717999"/>
            <a:ext cx="3654000" cy="234000"/>
          </a:xfrm>
          <a:prstGeom prst="rect">
            <a:avLst/>
          </a:prstGeom>
          <a:noFill/>
        </p:spPr>
        <p:txBody>
          <a:bodyPr wrap="square">
            <a:spAutoFit/>
          </a:bodyPr>
          <a:lstStyle/>
          <a:p>
            <a:pPr algn="l"/>
            <a:r>
              <a:rPr sz="1100" b="1" i="0">
                <a:solidFill>
                  <a:srgbClr val="D4AF37"/>
                </a:solidFill>
              </a:rPr>
              <a:t>Téléphone</a:t>
            </a:r>
          </a:p>
        </p:txBody>
      </p:sp>
      <p:sp>
        <p:nvSpPr>
          <p:cNvPr id="18" name="TextBox 17"/>
          <p:cNvSpPr txBox="1"/>
          <p:nvPr/>
        </p:nvSpPr>
        <p:spPr>
          <a:xfrm>
            <a:off x="4944000" y="2952000"/>
            <a:ext cx="3654000" cy="594000"/>
          </a:xfrm>
          <a:prstGeom prst="rect">
            <a:avLst/>
          </a:prstGeom>
          <a:noFill/>
        </p:spPr>
        <p:txBody>
          <a:bodyPr wrap="square">
            <a:spAutoFit/>
          </a:bodyPr>
          <a:lstStyle/>
          <a:p>
            <a:pPr algn="ctr"/>
            <a:r>
              <a:rPr sz="1400" b="1" i="0">
                <a:solidFill>
                  <a:srgbClr val="FFFFFF"/>
                </a:solidFill>
              </a:rPr>
              <a:t>+237 697 49 06 61  /  +237 674 54 68 95</a:t>
            </a:r>
          </a:p>
        </p:txBody>
      </p:sp>
      <p:sp>
        <p:nvSpPr>
          <p:cNvPr id="19" name="Rectangle 18"/>
          <p:cNvSpPr/>
          <p:nvPr/>
        </p:nvSpPr>
        <p:spPr>
          <a:xfrm>
            <a:off x="456000" y="3780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6000" y="3780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000" y="3905999"/>
            <a:ext cx="3654000" cy="234000"/>
          </a:xfrm>
          <a:prstGeom prst="rect">
            <a:avLst/>
          </a:prstGeom>
          <a:noFill/>
        </p:spPr>
        <p:txBody>
          <a:bodyPr wrap="square">
            <a:spAutoFit/>
          </a:bodyPr>
          <a:lstStyle/>
          <a:p>
            <a:pPr algn="l"/>
            <a:r>
              <a:rPr sz="1100" b="1" i="0">
                <a:solidFill>
                  <a:srgbClr val="D4AF37"/>
                </a:solidFill>
              </a:rPr>
              <a:t>Web</a:t>
            </a:r>
          </a:p>
        </p:txBody>
      </p:sp>
      <p:sp>
        <p:nvSpPr>
          <p:cNvPr id="22" name="TextBox 21"/>
          <p:cNvSpPr txBox="1"/>
          <p:nvPr/>
        </p:nvSpPr>
        <p:spPr>
          <a:xfrm>
            <a:off x="600000" y="4140000"/>
            <a:ext cx="3654000" cy="594000"/>
          </a:xfrm>
          <a:prstGeom prst="rect">
            <a:avLst/>
          </a:prstGeom>
          <a:noFill/>
        </p:spPr>
        <p:txBody>
          <a:bodyPr wrap="square">
            <a:spAutoFit/>
          </a:bodyPr>
          <a:lstStyle/>
          <a:p>
            <a:pPr algn="ctr"/>
            <a:r>
              <a:rPr sz="1400" b="1" i="0">
                <a:solidFill>
                  <a:srgbClr val="FFFFFF"/>
                </a:solidFill>
              </a:rPr>
              <a:t>yukpomnang.com</a:t>
            </a:r>
          </a:p>
        </p:txBody>
      </p:sp>
      <p:sp>
        <p:nvSpPr>
          <p:cNvPr id="23" name="Rectangle 22"/>
          <p:cNvSpPr/>
          <p:nvPr/>
        </p:nvSpPr>
        <p:spPr>
          <a:xfrm>
            <a:off x="4800000" y="3780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00000" y="3780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44000" y="3905999"/>
            <a:ext cx="3654000" cy="234000"/>
          </a:xfrm>
          <a:prstGeom prst="rect">
            <a:avLst/>
          </a:prstGeom>
          <a:noFill/>
        </p:spPr>
        <p:txBody>
          <a:bodyPr wrap="square">
            <a:spAutoFit/>
          </a:bodyPr>
          <a:lstStyle/>
          <a:p>
            <a:pPr algn="l"/>
            <a:r>
              <a:rPr sz="1100" b="1" i="0">
                <a:solidFill>
                  <a:srgbClr val="D4AF37"/>
                </a:solidFill>
              </a:rPr>
              <a:t>Localisation</a:t>
            </a:r>
          </a:p>
        </p:txBody>
      </p:sp>
      <p:sp>
        <p:nvSpPr>
          <p:cNvPr id="26" name="TextBox 25"/>
          <p:cNvSpPr txBox="1"/>
          <p:nvPr/>
        </p:nvSpPr>
        <p:spPr>
          <a:xfrm>
            <a:off x="4944000" y="4140000"/>
            <a:ext cx="3654000" cy="594000"/>
          </a:xfrm>
          <a:prstGeom prst="rect">
            <a:avLst/>
          </a:prstGeom>
          <a:noFill/>
        </p:spPr>
        <p:txBody>
          <a:bodyPr wrap="square">
            <a:spAutoFit/>
          </a:bodyPr>
          <a:lstStyle/>
          <a:p>
            <a:pPr algn="ctr"/>
            <a:r>
              <a:rPr sz="1400" b="1" i="0">
                <a:solidFill>
                  <a:srgbClr val="FFFFFF"/>
                </a:solidFill>
              </a:rPr>
              <a:t>Yaoundé, Cameroun</a:t>
            </a:r>
          </a:p>
        </p:txBody>
      </p:sp>
      <p:sp>
        <p:nvSpPr>
          <p:cNvPr id="27" name="TextBox 26"/>
          <p:cNvSpPr txBox="1"/>
          <p:nvPr/>
        </p:nvSpPr>
        <p:spPr>
          <a:xfrm>
            <a:off x="360000" y="5040000"/>
            <a:ext cx="8424000" cy="295200"/>
          </a:xfrm>
          <a:prstGeom prst="rect">
            <a:avLst/>
          </a:prstGeom>
          <a:noFill/>
        </p:spPr>
        <p:txBody>
          <a:bodyPr wrap="square">
            <a:spAutoFit/>
          </a:bodyPr>
          <a:lstStyle/>
          <a:p>
            <a:pPr algn="ctr"/>
            <a:r>
              <a:rPr sz="1300" b="1" i="0">
                <a:solidFill>
                  <a:srgbClr val="FFFFFF"/>
                </a:solidFill>
              </a:rPr>
              <a:t>LELE SIAKA Hernandez  |  CEO &amp; Fondateur — YUKPO COMPANY SARL</a:t>
            </a:r>
          </a:p>
        </p:txBody>
      </p:sp>
      <p:sp>
        <p:nvSpPr>
          <p:cNvPr id="28" name="TextBox 27"/>
          <p:cNvSpPr txBox="1"/>
          <p:nvPr/>
        </p:nvSpPr>
        <p:spPr>
          <a:xfrm>
            <a:off x="360000" y="5364000"/>
            <a:ext cx="8424000" cy="295200"/>
          </a:xfrm>
          <a:prstGeom prst="rect">
            <a:avLst/>
          </a:prstGeom>
          <a:noFill/>
        </p:spPr>
        <p:txBody>
          <a:bodyPr wrap="square">
            <a:spAutoFit/>
          </a:bodyPr>
          <a:lstStyle/>
          <a:p>
            <a:pPr algn="ctr"/>
            <a:r>
              <a:rPr sz="1500" b="1" i="1">
                <a:solidFill>
                  <a:srgbClr val="D4AF37"/>
                </a:solidFill>
              </a:rPr>
              <a:t>"CONNECT. CREATE. SOLVE."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