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63440" y="0"/>
            <a:ext cx="11887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18F01"/>
                </a:solidFill>
                <a:latin typeface="Calibri Light"/>
              </a:rPr>
              <a:t>GUIDE FORMATEUR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4160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EVALUATION
DES ACQUIS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29000"/>
            <a:ext cx="3749039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611880"/>
            <a:ext cx="4160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DEE"/>
                </a:solidFill>
                <a:latin typeface="Calibri"/>
              </a:rPr>
              <a:t>Gestion des Sinistres
Toutes Branches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63440"/>
            <a:ext cx="4160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Formateur : TALOM Eric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166360"/>
            <a:ext cx="4160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BBDD"/>
                </a:solidFill>
                <a:latin typeface="Calibri"/>
              </a:rPr>
              <a:t>Avril 2026  |  Confidentiel Formateur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280160"/>
            <a:ext cx="6858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3A5C"/>
                </a:solidFill>
                <a:latin typeface="Calibri"/>
              </a:rPr>
              <a:t>ÉVALUATION &amp;
VALIDATION
DES ACQUIS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3794760"/>
            <a:ext cx="5029200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977639"/>
            <a:ext cx="6766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  <a:latin typeface="Calibri"/>
              </a:rPr>
              <a:t>Formation de Remise à Niveau
Professionnels de l'Assurance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12064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8F01"/>
                </a:solidFill>
                <a:latin typeface="Calibri"/>
              </a:rPr>
              <a:t>QCM (30 questions)  |  Cas Pratiques (3 dossiers)  |  Mise en Situation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62356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  <a:latin typeface="Calibri"/>
              </a:rPr>
              <a:t>Durée totale : 2h15  |  Note minimale : 70%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ÉVALUATION —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Instructions Générales — Évaluation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3749039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53312"/>
            <a:ext cx="3749039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389888"/>
            <a:ext cx="36027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PARTIE 1 — QCM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847088"/>
            <a:ext cx="3602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Duree : 30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347471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▸  30 questions à choix unique (1 seule bonne réponse par question)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▸  Valeur : 0,5 point par question correcte — 0 point si fausse ou non répondue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▸  Score maximum : 15 points | Seuil de validation : 10,5 pts (70%)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▸  Aucune calculatrice, ni document autorisé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1353312"/>
            <a:ext cx="3749039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42816" y="1353312"/>
            <a:ext cx="3749039" cy="777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389888"/>
            <a:ext cx="36027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PARTIE 2 — CAS PRATIQUES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1847088"/>
            <a:ext cx="3602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Duree : 60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194560"/>
            <a:ext cx="347471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▸  3 dossiers indépendants (Automobile, Incendie, Santé)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▸  Valeur : 10 points par dossier — Score maximum : 30 points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▸  Seuil de validation par dossier : 7/10 | Global : 21/30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▸  Justifiez toujours vos calculs et référencez les articles CIMA pertinents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65592" y="1353312"/>
            <a:ext cx="3749039" cy="5349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65592" y="1353312"/>
            <a:ext cx="3749039" cy="77724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1389888"/>
            <a:ext cx="360273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PARTIE 3 — MISE EN SITUATION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847088"/>
            <a:ext cx="3602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Duree : 45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194560"/>
            <a:ext cx="347471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▸  Simulation en binômes (assuré / gestionnaire) sur 3 scénarios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▸  Évaluation par grille comportementale : 20 points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▸  Seuil de validation : 14/20 | Critères : communication, maîtrise, gestion conflit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▸  Rotation des rôles toutes les 15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PARTIE 1
QCM THEORIQUE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4160520"/>
            <a:ext cx="4572000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43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  <a:latin typeface="Calibri"/>
              </a:rPr>
              <a:t>30 questions — Connaissances &amp; Reglementation CIMA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PARTIE 1 — QCM THEORIQUE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QCM — Questions 1 a 5  — Connaissances Generales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325880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325880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1371600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62456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Quel article du Code CIMA fixe le délai de 30 jours pour la proposition d'indemnisation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362456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Art. 12
B. Art. 15
C. Art. 16  ✓
D. Art.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2395728"/>
            <a:ext cx="11786616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2395728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41448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32304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Le principe indemnitaire signifie que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432304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L'assuré peut s'enrichir grâce à l'assurance
B. L'indemnité ne peut dépasser la valeur du préjudice réel subi  ✓
C. L'assureur peut refuser tout sinistre sans motif
D. L'assuré est toujours indemnisé à 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465576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3465576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511296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02152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Quelle est la durée légale de prescription des actions nées d'un contrat d'assurance selon le Code CIMA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502152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1 an
B. 2 ans  ✓
C. 5 ans
D. 10 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4535424"/>
            <a:ext cx="11786616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" y="4535424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" y="4581144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La subrogation en assurance consiste à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572000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Annuler le contrat après un sinistre
B. Permettre à l'assureur de se substituer à l'assuré pour exercer un recours contre le tiers responsable  ✓
C. Obliger l'assuré à rembourser l'assureur dans tous les cas
D. Suspendre les garanties après déclaration de sinistre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5605272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5605272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5650992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41848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Qu'est-ce qu'une franchise absolue 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641848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Une somme déduite de l'indemnité, quelle que soit l'importance du sinistre  ✓
B. Une garantie couvrant tous les sinistres sans plafond
C. Un sinistre inférieur à la franchise qui reste entièrement à charge de l'assureur
D. Un plafond au-delà duquel l'assureur ne couvre plus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PARTIE 1 — QCM THEORIQUE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QCM — Questions 6 a 10 — Connaissances Generales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325880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325880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1371600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62456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En cas de double assurance (même risque assuré par deux assureurs différents), chaque assureur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362456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Doit payer la totalité du sinistre
B. Peut refuser d'indemniser
C. Contribue proportionnellement à hauteur de sa quote-part  ✓
D. Est totalement déchargé de sa responsabilité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2395728"/>
            <a:ext cx="11786616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2395728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41448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32304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Quelle est la première action du gestionnaire sinistres à réception d'une déclaration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432304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Mandater l'expert immédiatement
B. Envoyer un refus de garantie
C. Enregistrer le dossier et envoyer un accusé de réception sous 24-48h  ✓
D. Contacter les pompiers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465576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3465576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511296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02152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La règle proportionnelle s'applique quand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502152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L'assuré a déclaré la valeur exacte de ses biens
B. La valeur assurée est inférieure à la valeur réelle du bien  ✓
C. L'assureur refuse la garantie
D. Le sinistre dépasse le plafond de garantie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4535424"/>
            <a:ext cx="11786616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" y="4535424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" y="4581144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Qu'est-ce que la déchéance de garantie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572000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Un avenant au contrat réduisant les primes
B. La perte du droit à indemnisation suite au non-respect d'une obligation contractuelle  ✓
C. Une extension de garantie automatique
D. Un remboursement partiel de la prime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5605272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5605272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5650992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41848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La vétusté en assurance représente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641848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La prime supplémentaire due après un sinistre
B. L'augmentation de valeur d'un bien avec le temps
C. La dépréciation d'un bien due à l'usure et au vieillissement  ✓
D. Un type de franchise applicable aux biens anciens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PARTIE 1 — QCM THEORIQUE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QCM — Questions 11 a 15 — Connaissances Generales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325880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325880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1371600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62456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En branche automobile, la Convention IDA (Indemnisation Directe de l'Assuré) permet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362456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À l'assureur de refuser d'indemniser en cas de responsabilité partagée
B. À l'assuré d'être indemnisé directement par son propre assureur sans attendre le recours contre le tiers  ✓
C. Aux deux assureurs de partager les frais d'expertise
D. De supprimer la franchise pour les accidents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2395728"/>
            <a:ext cx="11786616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2395728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41448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32304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En branche incendie, les 'dégâts des eaux' (DDO) sont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432304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Toujours couverts automatiquement sans option
B. Une extension facultative à souscrire spécifiquement  ✓
C. Exclus de toutes les polices incendie sans exception
D. Couverts uniquement pour les entreprises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465576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3465576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511296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02152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En transports facultés maritimes, le connaissement (Bill of Lading) est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502152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Un simple bon de commande
B. Un titre de propriété de la marchandise faisant preuve du contrat de transport  ✓
C. Un certificat phytosanitaire
D. Une facture douanière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4535424"/>
            <a:ext cx="11786616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" y="4535424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" y="4581144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En branche santé, le tiers payant signifie que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572000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L'assuré paie une partie des soins
B. L'assureur règle directement le prestataire sans avance de frais par l'assuré  ✓
C. Un tiers garant se substitue à l'assuré défaillant
D. Les frais sont remboursés 3 mois après les soins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5605272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5605272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5650992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41848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La consolidation en branche Individuel Accident désigne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641848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La fusion de deux polices d'assurance
B. La date à partir de laquelle l'état de santé de la victime est stabilisé et ne nécessite plus de soins  ✓
C. Le remboursement total des frais médicaux
D. La clôture administrative du dossier sinistre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PARTIE 1 — QCM THEORIQUE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QCM — Questions 16 a 20 — Connaissances Generales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325880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325880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1371600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62456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La Clause A en assurance transport facultés maritimes couvre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362456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Uniquement les naufrages et échouages
B. Les risques listés de manière limitative
C. Tous les risques sauf les exclusions expressément prévues (all risks)  ✓
D. Uniquement les avaries communes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2395728"/>
            <a:ext cx="11786616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2395728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41448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32304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En cas de destruction totale d'un véhicule assuré en dommages, l'indemnité nette est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432304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La valeur à neuf du véhicule
B. Le coût de réparation estimé
C. La valeur vénale au jour du sinistre moins la valeur de l'épave  ✓
D. Le capital souscrit dans la police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465576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3465576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511296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02152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L'avarie commune en transport maritime se produit lorsque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502152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Un seul colis est endommagé lors du transport
B. Le capitaine prend une décision volontaire et raisonnable pour sauver l'expédition commune en péril  ✓
C. Le transporteur refuse de livrer la marchandise
D. L'assureur refuse la garantie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4535424"/>
            <a:ext cx="11786616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" y="4535424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" y="4581144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En branche individuel accident, l'ITT (Incapacité Temporaire Totale) ouvre droit à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572000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Un capital unique versé en fin d'arrêt
B. Une indemnité journalière versée pendant la durée de l'arrêt de travail (hors franchise)  ✓
C. Une rente viagère mensuelle
D. Le remboursement des frais médicaux uniquement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5605272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5605272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5650992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41848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Le délai légal de conservation des dossiers sinistres clos selon le Code CIMA est de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641848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2 ans
B. 5 ans
C. 10 ans  ✓
D. 30 ans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PARTIE 1 — QCM THEORIQUE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QCM — Questions 21 a 25 — Reglementation CIMA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325880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325880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1371600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62456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Le Code CIMA a été institué par le Traité signé à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362456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Dakar le 14 juillet 1990
B. Yaoundé le 10 juillet 1992  ✓
C. Abidjan le 1er janvier 1995
D. Paris le 5 mars 1988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2395728"/>
            <a:ext cx="11786616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2395728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41448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32304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L'article 15 du Code CIMA concerne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432304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Le calcul des primes d'assurance
B. L'obligation d'accusé de réception et d'instruction de la déclaration de sinistre  ✓
C. Les conditions de résiliation du contrat
D. La nomination des experts agréés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465576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3465576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511296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02152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Selon l'article 18 du Code CIMA, en cas de retard de règlement, les pénalités dues par l'assureur sont 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502152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Les intérêts légaux uniquement
B. Une pénalité forfaitaire de 10% du capital
C. Les intérêts légaux majorés de 50%  ✓
D. Aucune pénalité n'est prévue par la loi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4535424"/>
            <a:ext cx="11786616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" y="4535424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" y="4581144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La CIMA regroupe actuellement combien d'États membres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572000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7
B. 10
C. 14  ✓
D. 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5605272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5605272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5650992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41848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En assurance vie et individuel accident, la fausse déclaration intentionnelle entraîne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641848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Une réduction proportionnelle de l'indemnité
B. La nullité du contrat avec conservation des primes par l'assureur  ✓
C. Une simple majoration de prime
D. Un avertissement sans conséquence financière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PARTIE 1 — QCM THEORIQUE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QCM — Questions 26 a 30 — Reglementation CIMA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325880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1325880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1371600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62456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En assurance RC automobile obligatoire, la victime d'un accident peut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362456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Seulement agir contre le conducteur responsable
B. Agir directement contre l'assureur du responsable (action directe)  ✓
C. Agir uniquement devant les juridictions civiles
D. Seulement demander réparation à l'État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2395728"/>
            <a:ext cx="11786616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2395728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41448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432304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Un sinistre est déclaré 3 ans après sa survenance. En droit CIMA, cette action est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432304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Recevable, car aucun délai n'est prévu
B. Prescrite, car le délai légal de 2 ans est dépassé  ✓
C. Recevable si l'assuré fournit une bonne raison
D. Prescrite uniquement en assurance vie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465576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3465576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511296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02152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Quelle est l'autorité de supervision des compagnies d'assurance dans l'espace CIMA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502152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La Banque Centrale (BCEAO / BEAC)
B. La Commission Régionale de Contrôle des Assurances (CRCA)  ✓
C. Le Ministère des Finances de chaque État
D. L'UEMOA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4535424"/>
            <a:ext cx="11786616" cy="1033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" y="4535424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" y="4581144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La RC automobile est qualifiée d'obligatoire car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572000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Elle est souscrite volontairement par tous les conducteurs
B. La loi impose à tout propriétaire de véhicule de couvrir sa responsabilité envers les tiers  ✓
C. Elle est imposée uniquement aux flottes d'entreprises
D. Elle est exigée uniquement pour les véhicules de plus de 5 ans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5605272"/>
            <a:ext cx="11786616" cy="10332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5605272"/>
            <a:ext cx="502920" cy="10332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" y="5650992"/>
            <a:ext cx="502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41848"/>
            <a:ext cx="52120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5C"/>
                </a:solidFill>
                <a:latin typeface="Calibri"/>
              </a:rPr>
              <a:t>En cas de désaccord entre l'assuré et l'assureur sur le montant de l'indemnité, l'assuré peut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641848"/>
            <a:ext cx="539496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A. Uniquement accepter la proposition de l'assureur
B. Demander une contre-expertise aux frais exclusifs de l'assureur
C. Demander une contre-expertise contradictoire, les frais étant partagés en cas de désaccord persistant  ✓
D. Saisir immédiatement le tribunal sans autre recours préalable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PARTIE 1 — CORRIGE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Corrige QCM — Tableau des Reponses Correctes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25880"/>
          <a:ext cx="3749039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1249679"/>
                <a:gridCol w="1249681"/>
              </a:tblGrid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N°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Bonne Reponse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Categorie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97680" y="1325880"/>
          <a:ext cx="3749039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1249679"/>
                <a:gridCol w="1249681"/>
              </a:tblGrid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N°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Bonne Reponse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Categorie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Connaissance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0" y="1325880"/>
          <a:ext cx="3749039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79"/>
                <a:gridCol w="1249679"/>
                <a:gridCol w="1249681"/>
              </a:tblGrid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N°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Bonne Reponse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Categorie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Réglementati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Réglementati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Réglementati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Réglementati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Réglementati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Réglementati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Réglementati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Réglementati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045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Réglementati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904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7AE6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Réglementati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PARTIE 2
CAS PRATIQUES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4160520"/>
            <a:ext cx="4572000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43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  <a:latin typeface="Calibri"/>
              </a:rPr>
              <a:t>3 dossiers — Automobile | Incendie | Sante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PARTIE 2 — CAS PRATIQUES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Cas Pratique 1 — Branche AUTOMOBILE (20 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AB"/>
                </a:solidFill>
                <a:latin typeface="Calibri"/>
              </a:rPr>
              <a:t>Sinistre RC — Collision en agglomération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11640312" cy="1920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109728" cy="1920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6AB"/>
                </a:solidFill>
                <a:latin typeface="Calibri"/>
              </a:rPr>
              <a:t>CONTEXTE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11430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M. KOUASSI Aimé, assuré chez ASSUR-PLUS depuis 4 ans, déclare un accident de la circulation survenu le 15 mars 2026 à 14h30, avenue de l'Indépendance à Abidjan. Son véhicule Toyota Corolla (immatriculé CI-1234-AB, valeur vénale estimée : 7 500 000 FCFA) a été percuté à l'arrière par le véhicule de M. BAMBA Seydou alors que M. KOUASSI était à l'arrêt à un feu rouge. M. BAMBA reconnaît sa responsabilité totale sur le constat amiable. Devis de réparation du garage agréé : 1 850 000 FCFA. Franchise contractuelle : 75 000 FCFA.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5C"/>
                </a:solidFill>
                <a:latin typeface="Calibri"/>
              </a:rPr>
              <a:t>QUESTIONS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096512"/>
            <a:ext cx="11521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Q1. Listez les documents que vous devez réclamer à M. KOUASSI pour instruire ce dossier.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Q2. Quelle garantie de sa police M. KOUASSI peut-il actionner ? Justifiez.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Q3. Quel est le montant net de l'indemnité à verser à M. KOUASSI 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Q4. L'assureur peut-il exercer un recours ? Contre qui et sur quel fondement 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Q5. Quel délai maximum avez-vous pour formuler votre proposition d'indemnisation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PARTIE 2 — CORRIGE FORMATEUR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Corrige — Cas Pratique 1 : AUTOMOBILE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6AB"/>
                </a:solidFill>
                <a:latin typeface="Calibri"/>
              </a:rPr>
              <a:t>Sinistre RC — Collision en agglomération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19072"/>
            <a:ext cx="11521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Q1. Documents : constat amiable signé des deux parties, carte grise, permis de conduire, attestation d'assurance valide, devis de réparation du garage agréé, photos des dommages, PV de police si disponible.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Q2. Garantie 'Dommages Collision' (sinistre avec tiers identifié et responsable) — ou 'Dommages Tous Accidents' si souscrite. La RC de M. BAMBA est également engagée.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Q3. Indemnité nette = 1 850 000 − 75 000 (franchise) = 1 775 000 FCFA.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Q4. Oui — recours subrogatoire contre l'assureur RC de M. BAMBA via la Convention IRSA. Base : responsabilité totale de M. BAMBA reconnue sur le constat.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Q5. 30 jours maximum à compter de la réception de toutes les pièces justificatives (Art. 16 CIMA).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PARTIE 2 — CAS PRATIQUES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Cas Pratique 2 — Branche INCENDIE (20 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Incendie d'un commerce — Règle proportionnelle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11640312" cy="1920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109728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CONTEXTE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11430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Mme DIALLO Fatou exploite une boutique de prêt-à-porter à Dakar. Elle a souscrit une police incendie avec une valeur assurée de 15 000 000 FCFA pour les marchandises. Le 02 avril 2026 à 02h15, un incendie d'origine électrique détruit 60% de ses stocks. L'expertise contradictoire évalue : — Valeur réelle des marchandises au jour du sinistre : 25 000 000 FCFA. — Dommages constatés : 12 000 000 FCFA. Franchise absolue : 250 000 FCFA. Mme DIALLO demande une indemnité de 12 000 000 FCFA.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5C"/>
                </a:solidFill>
                <a:latin typeface="Calibri"/>
              </a:rPr>
              <a:t>QUESTIONS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096512"/>
            <a:ext cx="11521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Q1. Quels documents constitutifs du dossier sinistre devez-vous rassembler 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Q2. La valeur assurée est-elle suffisante ? Quelle conséquence cela entraîne-t-il 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Q3. Calculez le montant de l'indemnité nette due à Mme DIALLO (montrez le calcul).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Q4. Mme DIALLO conteste votre décision. Quel est son recours possible 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Q5. Comment ce dossier doit-il être archivé et pendant combien de temps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PARTIE 2 — CORRIGE FORMATEUR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Corrige — Cas Pratique 2 : INCENDIE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Incendie d'un commerce — Règle proportionnelle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19072"/>
            <a:ext cx="11521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Q1. Documents : déclaration écrite, PV pompiers, PV police si incendie criminel suspecté, inventaire des marchandises détruites, factures d'achat, rapport d'expertise contradictoire, photos des dommages.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Q2. VA (15M) &lt; VR (25M) → insuffisance d'assurance. La règle proportionnelle s'applique : Mme DIALLO est son propre assureur pour 10/25 de la valeur.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Q3. Indemnité brute = 12 000 000 × (15 000 000 / 25 000 000) = 12 000 000 × 0,60 = 7 200 000 FCFA. Indemnité nette = 7 200 000 − 250 000 (franchise) = 6 950 000 FCFA.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Q4. Mme DIALLO peut demander une contre-expertise contradictoire. En cas de désaccord persistant, un tiers arbitre est désigné par les deux experts.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Q5. Archivage physique (chemise Incendie) + scan GED, indexé au numéro de sinistre. Conservation : 10 ans minimum après clôture (prescription biennale + délais recours).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PARTIE 2 — CAS PRATIQUES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Cas Pratique 3 — Branche SANTÉ (20 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Calibri"/>
              </a:rPr>
              <a:t>Hospitalisation — Prise en charge et liquidation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11640312" cy="19202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109728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CONTEXTE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11430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M. TOSSOU Rodrigue, salarié dans une entreprise abonnée au contrat collectif santé d'ASSUR-VIE, est hospitalisé en urgence le 10 avril 2026 pour appendicite aiguë. Durée d'hospitalisation : 4 jours. Facture de la clinique agréée : 890 000 FCFA (dont honoraires chirurgien : 250 000 FCFA, frais de séjour : 480 000 FCFA, médicaments : 160 000 FCFA). Tableau de garanties : hospitalisation prise en charge à 80%, médicaments à 70%. Ticket modérateur à charge de l'assuré : 20% sur séjour + honoraires, 30% sur médicaments. Forfait journalier : non applicable (clinique agréée réseau).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5C"/>
                </a:solidFill>
                <a:latin typeface="Calibri"/>
              </a:rPr>
              <a:t>QUESTIONS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096512"/>
            <a:ext cx="11521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Q1. M. TOSSOU a été hospitalisé en urgence. La PEC préalable était-elle obligatoire ? Quel protocole appliquer 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Q2. Quels documents devez-vous exiger pour traiter la demande de remboursement 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Q3. Calculez le montant pris en charge par l'assureur et le ticket modérateur de M. TOSSOU.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Q4. Dans quel délai devez-vous régler la facture une fois le dossier complet reçu ?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44444"/>
                </a:solidFill>
                <a:latin typeface="Calibri"/>
              </a:rPr>
              <a:t>Q5. Citez deux motifs légaux de refus de prise en charge en branche santé.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PARTIE 2 — CORRIGE FORMATEUR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Corrige — Cas Pratique 3 : SANTÉ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Calibri"/>
              </a:rPr>
              <a:t>Hospitalisation — Prise en charge et liquidation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19072"/>
            <a:ext cx="11521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Q1. En urgence, la PEC préalable n'est pas obligatoire avant l'admission. Le protocole est : PEC rétroactive dans les 72h suivant l'admission, sur présentation du certificat médical d'urgence.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Q2. Documents : bulletin d'hospitalisation, certificat médical (urgence), facture détaillée de la clinique, ordonnances médicales, carte d'assuré valide, bulletin de prise en charge (BPC).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Q3. Séjour + honoraires : (250 000 + 480 000) × 80% = 584 000 FCFA pris en charge. Médicaments : 160 000 × 70% = 112 000 FCFA. TOTAL assureur = 696 000 FCFA. Ticket modérateur M. TOSSOU = 890 000 − 696 000 = 194 000 FCFA.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Q4. Délai de règlement : 10 jours ouvrables maximum après réception du dossier complet (conditions générales du contrat).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B3A5C"/>
                </a:solidFill>
                <a:latin typeface="Calibri"/>
              </a:rPr>
              <a:t>Q5. Motifs légaux de refus : (a) soins antérieurs à la date de prise d'effet (délai de carence non respecté) ; (b) actes ou pathologies expressément exclus (esthétique, maladies antérieures non déclarées, etc.).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PARTIE 3
MISE EN SITUATION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4160520"/>
            <a:ext cx="4572000" cy="731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43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  <a:latin typeface="Calibri"/>
              </a:rPr>
              <a:t>Grille comportementale — Simulation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PARTIE 3 — MISE EN 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Grille d'Evaluation — Mise en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353312"/>
          <a:ext cx="1152144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486400"/>
                <a:gridCol w="1371600"/>
                <a:gridCol w="1463040"/>
              </a:tblGrid>
              <a:tr h="76417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Critere d'Evaluation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Descripteurs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Bareme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Note Obtenue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Communication &amp; Accueil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Vocabulaire adapté, ton professionnel, empathie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/4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Écoute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Reformulation, questions pertinentes, prise de 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Maîtrise réglementaire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Respect des délais CIMA cités, justification des décisions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/4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Gestion du conflit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Calme, argumentation factuelle, proposition de 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/4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417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Rédaction courrier de règlement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Clarté, structure, mentions obligatoires, ton adapté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>/4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76417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18F01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18F01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18F01"/>
                          </a:solidFill>
                          <a:latin typeface="Calibri"/>
                        </a:rPr>
                        <a:t>/20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18F01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  <a:latin typeface="Calibri"/>
              </a:rPr>
              <a:t>SYNTHESE — BAREME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Bareme de Notation — Recapitulatif General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64592" cy="565099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417320"/>
          <a:ext cx="103601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657600"/>
                <a:gridCol w="1828800"/>
                <a:gridCol w="194767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Partie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Detail du Bareme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Points Maximum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Seuil de Validation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QCM Théorique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30 questions × 0,5 pt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15 pts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10,5 pts (70%)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Cas Pratiques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3 dossiers × 10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30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21 pts (70%)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Mise en Situation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Grille comportementale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20 pts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14 pts (70%)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Participation 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Attitude, assiduité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5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44444"/>
                          </a:solidFill>
                          <a:latin typeface="Calibri"/>
                        </a:rPr>
                        <a:t>Appréciation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18F01"/>
                          </a:solidFill>
                          <a:latin typeface="Calibri"/>
                        </a:rPr>
                        <a:t>TOTAL GÉNÉRAL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18F01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18F01"/>
                          </a:solidFill>
                          <a:latin typeface="Calibri"/>
                        </a:rPr>
                        <a:t>70 pts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18F01"/>
                          </a:solidFill>
                          <a:latin typeface="Calibri"/>
                        </a:rPr>
                        <a:t>49 pts (70%)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66928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3A5C"/>
                </a:solidFill>
                <a:latin typeface="Calibri"/>
              </a:rPr>
              <a:t>Note minimale de validation : 49 / 70  (70%)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199632"/>
            <a:ext cx="10360152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44444"/>
                </a:solidFill>
                <a:latin typeface="Calibri"/>
              </a:rPr>
              <a:t>Formateur : TALOM Eric  |  Avril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