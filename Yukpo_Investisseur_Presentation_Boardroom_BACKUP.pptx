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4" r:id="rId15"/>
    <p:sldId id="266" r:id="rId17"/>
    <p:sldId id="268" r:id="rId19"/>
    <p:sldId id="270" r:id="rId21"/>
    <p:sldId id="272" r:id="rId23"/>
    <p:sldId id="274" r:id="rId25"/>
    <p:sldId id="276" r:id="rId27"/>
    <p:sldId id="278" r:id="rId29"/>
    <p:sldId id="280" r:id="rId31"/>
    <p:sldId id="281" r:id="rId32"/>
    <p:sldId id="282" r:id="rId33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Millions FCFA</c:v>
                </c:pt>
              </c:strCache>
            </c:strRef>
          </c:tx>
          <c:spPr>
            <a:solidFill>
              <a:srgbClr val="1E5AB8"/>
            </a:solidFill>
          </c:spPr>
          <c:cat>
            <c:strRef>
              <c:f>Sheet1!$A$2:$A$7</c:f>
              <c:strCache>
                <c:ptCount val="6"/>
                <c:pt idx="0">
                  <c:v>Marketing</c:v>
                </c:pt>
                <c:pt idx="1">
                  <c:v>Personnel</c:v>
                </c:pt>
                <c:pt idx="2">
                  <c:v>Tech</c:v>
                </c:pt>
                <c:pt idx="3">
                  <c:v>Juridique</c:v>
                </c:pt>
                <c:pt idx="4">
                  <c:v>Frais</c:v>
                </c:pt>
                <c:pt idx="5">
                  <c:v>Réserve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42.0</c:v>
                </c:pt>
                <c:pt idx="2">
                  <c:v>18.0</c:v>
                </c:pt>
                <c:pt idx="3">
                  <c:v>8.0</c:v>
                </c:pt>
                <c:pt idx="4">
                  <c:v>7.0</c:v>
                </c:pt>
                <c:pt idx="5">
                  <c:v>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80" b="1">
                  <a:solidFill>
                    <a:srgbClr val="122A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8E2E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5555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Yukpo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Besoin de financement : 200 millions FCFA · déploiement mai 2026 – fin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00200"/>
            <a:ext cx="3803904" cy="21945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200 M</a:t>
            </a:r>
          </a:p>
          <a:p>
            <a:pPr algn="ctr">
              <a:spcBef>
                <a:spcPts val="1000"/>
              </a:spcBef>
              <a:defRPr sz="1250">
                <a:solidFill>
                  <a:srgbClr val="DDE5F5"/>
                </a:solidFill>
              </a:defRPr>
            </a:pPr>
            <a:r>
              <a:t>Enveloppe demandée</a:t>
            </a:r>
          </a:p>
          <a:p>
            <a:pPr algn="ctr">
              <a:spcBef>
                <a:spcPts val="600"/>
              </a:spcBef>
              <a:defRPr sz="1050">
                <a:solidFill>
                  <a:srgbClr val="BBCCDD"/>
                </a:solidFill>
              </a:defRPr>
            </a:pPr>
            <a:r>
              <a:t>Budget marketing &amp; équipe renforcés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00200"/>
            <a:ext cx="3803904" cy="219456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Juillet 2026</a:t>
            </a:r>
          </a:p>
          <a:p>
            <a:pPr algn="ctr">
              <a:spcBef>
                <a:spcPts val="1000"/>
              </a:spcBef>
              <a:defRPr sz="1250">
                <a:solidFill>
                  <a:srgbClr val="DDE5F5"/>
                </a:solidFill>
              </a:defRPr>
            </a:pPr>
            <a:r>
              <a:t>Mise en ligne effective</a:t>
            </a:r>
          </a:p>
          <a:p>
            <a:pPr algn="ctr">
              <a:spcBef>
                <a:spcPts val="600"/>
              </a:spcBef>
              <a:defRPr sz="1050">
                <a:solidFill>
                  <a:srgbClr val="BBCCDD"/>
                </a:solidFill>
              </a:defRPr>
            </a:pPr>
            <a:r>
              <a:t>18 mois de production suivis dans le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A4A"/>
                </a:solidFill>
              </a:defRPr>
            </a:pPr>
            <a:r>
              <a:t>Hernandez LELE — CEO, Yukpo Company</a:t>
            </a:r>
          </a:p>
          <a:p>
            <a:pPr algn="ctr">
              <a:spcBef>
                <a:spcPts val="800"/>
              </a:spcBef>
              <a:defRPr sz="1050">
                <a:solidFill>
                  <a:srgbClr val="555555"/>
                </a:solidFill>
              </a:defRPr>
            </a:pPr>
            <a:r>
              <a:t>Entrée au capital possible jusqu’à 15 % (discussion encadrée)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10" name="Picture 9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 / 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Marché informel &amp; besoin réel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Une opportunité de structuration, pas seulement « du digital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63040"/>
            <a:ext cx="7790688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Une part majeure de l’activité économique repose sur des échanges peu ou pas digitalisés : visibilité faible, prix et délais peu.</a:t>
            </a:r>
          </a:p>
          <a:p>
            <a:pPr>
              <a:spcAft>
                <a:spcPts val="1000"/>
              </a:spcAft>
              <a:defRPr sz="1200"/>
            </a:pPr>
            <a:r>
              <a:t>Les ménages jonglent entre plusieurs canaux (boutique, téléphone, réseaux sociaux) pour se loger, se soigner, transporter des biens.</a:t>
            </a:r>
          </a:p>
          <a:p>
            <a:pPr>
              <a:spcAft>
                <a:spcPts val="1000"/>
              </a:spcAft>
              <a:defRPr sz="1200"/>
            </a:pPr>
            <a:r>
              <a:t>La demande existe : ce qui manque souvent, c’est une couche simple, en français, mobile, qui relie l’offre locale à la demande sans.</a:t>
            </a:r>
          </a:p>
          <a:p>
            <a:pPr>
              <a:spcAft>
                <a:spcPts val="1000"/>
              </a:spcAft>
              <a:defRPr sz="1200"/>
            </a:pPr>
            <a:r>
              <a:t>Yukpo vise à capter cette demande en regroupant des usages du quotidien dans une seule application, avec un modèle où chaque.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Pourquoi investir maintenant ?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Une masse de besoins peu digitalisée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85 % env.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Peu visibles en ligne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Commerces locaux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2384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100K – 1M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Coût d’une boutique web classique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Barrière pour les TPE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05856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2 à 5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Applications en parallèle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Fatigue pour les familles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La réponse Yukpo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Une application unique pour plusieurs vies quotidiennes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≈ 5 min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Mise en ligne guidée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Pour le marchand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2384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9 leviers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E-commerce, navigation, santé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Même compte utilisateur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05856" y="1417320"/>
            <a:ext cx="2523744" cy="205740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B8C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122A4A"/>
                </a:solidFill>
              </a:defRPr>
            </a:pPr>
            <a:r>
              <a:t>1 ville</a:t>
            </a:r>
          </a:p>
          <a:p>
            <a:pPr algn="ctr">
              <a:spcBef>
                <a:spcPts val="800"/>
              </a:spcBef>
              <a:defRPr sz="1250" b="1">
                <a:solidFill>
                  <a:srgbClr val="333333"/>
                </a:solidFill>
              </a:defRPr>
            </a:pPr>
            <a:r>
              <a:t>Densifier puis étendre</a:t>
            </a:r>
          </a:p>
          <a:p>
            <a:pPr algn="ctr">
              <a:spcBef>
                <a:spcPts val="500"/>
              </a:spcBef>
              <a:defRPr sz="1050">
                <a:solidFill>
                  <a:srgbClr val="555555"/>
                </a:solidFill>
              </a:defRPr>
            </a:pPr>
            <a:r>
              <a:t>Stratégie progressive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E-commerce &amp; vitrines marchands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Commerce local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Des milliers de boutiques physiques n’ont aucune vitrine fiable en ligne : les clients ne peuvent ni comparer ni commander sans.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réseaux sociaux servent de catalogue improvisé : pas de stock clair, pas de livraison intégrée, pas de paiement traçable.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Parcours guidé : photos, prix, disponibilité, promotions — sans compétence web préalable.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5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Livraison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Dernier kilomètre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livraisons sont négociées au téléphone, prix variables, aucune traçabilité en cas de litige.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commerçants perdent des ventes faute de livreur disponible au bon moment.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Mise en relation automatique commande ↔ livreur avec estimation de temps et suivi GPS.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7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Transport &amp; mobilité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Déplacements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Billets interurbains et trajets urbains passent encore par files d’attente, groupes WhatsApp ou intermédiaires peu transparents.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chauffeurs et opérateurs subissent des commissions opaques et une faible fidélisation des clients.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Billetterie et options de trajet regroupées avec paiement et reçu numérique (QR).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9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Navigation intelligente (NavigationScreen)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Carte &amp; itinéraires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conducteurs et piétons jonglent entre plusieurs apps ou l’absence totale d’itinéraire fiable hors des axes principaux ; le.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alertes « terrain » (travaux, zones sensibles, communauté) sont aujourd’hui dispersées sur des groupes ou des bouches-à-oreille.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Carte temps réel (Google Maps), itinéraires avec trafic, polylignes, étapes détaillées et plusieurs options de trajet.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11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Santé &amp; accès aux soins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Orientation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En cas d’urgence modérée ou de besoin courant, beaucoup de gens ne savent pas où aller en premier : pharmacie, clinique, spécialiste.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professionnels de santé manquent de visibilité au-delà de leur clientèle habituelle.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Annuaire géolocalisé avec types de structures et spécialités (dans le respect du cadre légal national).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13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Immobilier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Logement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Loyers et colocations circulent sur des canaux non structurés : arnaques, doubles locations, photos trompeuses.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bailleurs perdent du temps à filtrer des candidats non sérieux.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Annonces géolocalisées avec critères (loyer, chambres, meublé, proximité écoles / transports).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15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Vie pratique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Services du quotidien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Réparations, cours à domicile, ménage, événements : tout repose sur le réseau personnel, donc long à trouver en urgence.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Peu d’avis vérifiables : l’utilisateur hésite à faire entrer un inconnu chez lui.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Fiches prestataires avec spécialités, zone d’intervention, créneaux et tarifs indicatifs.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17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Bourse du livre scolaire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Éducation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La rentrée représente un choc de dépenses : manuels neufs coûteux, occasion difficile à trouver au bon niveau.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enseignants et parents manquent parfois d’une vue claire des programmes requis par niveau.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Matching par classe, programme et état du livre (neuf / très bon / bon).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19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Supermarchés &amp; grande distribution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Retail moderne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supermarchés ont du stock et des promotions, mais l’information utile n’arrive pas assez vite aux familles et aux quartiers où.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Les enseignes manquent souvent d’un canal unifié pour publier les offres, traiter les commandes locales, et orchestrer la livraison.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Catalogue supermarché dynamique dans Yukpo : prix, promotions, disponibilité et comparaison de paniers en quelques clics.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21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Assurance &amp; protection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Couverture · Chaîne visuelle : problème → besoin réel → solution Yukpo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463040"/>
            <a:ext cx="2523744" cy="438912"/>
          </a:xfrm>
          <a:prstGeom prst="rect">
            <a:avLst/>
          </a:prstGeom>
          <a:solidFill>
            <a:srgbClr val="15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Problématique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Peu de comparabilité claire entre offres ; jargon incompréhensible pour une grande partie du public.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72384" y="1463040"/>
            <a:ext cx="2523744" cy="438912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Besoin utilisateur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En cas de sinistre, le suivi est souvent lourd : l’assuré ne sait pas où télécharger ou relancer.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4416" y="2852928"/>
            <a:ext cx="73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5AB8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5856" y="1463040"/>
            <a:ext cx="2523744" cy="3566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63040"/>
            <a:ext cx="2523744" cy="43891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517904"/>
            <a:ext cx="2377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FFFFF"/>
                </a:solidFill>
              </a:defRPr>
            </a:pPr>
            <a:r>
              <a:t>Solution digitale Yukpo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1975104"/>
            <a:ext cx="2340864" cy="2980944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pPr>
              <a:lnSpc>
                <a:spcPct val="116000"/>
              </a:lnSpc>
              <a:defRPr sz="1120">
                <a:solidFill>
                  <a:srgbClr val="2A2A2A"/>
                </a:solidFill>
              </a:defRPr>
            </a:pPr>
            <a:r>
              <a:t>Vitrine de produits partenaires (auto, santé, habitation, activité) avec langage simplifié.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1316736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084064"/>
            <a:ext cx="77906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Lecture investisseur : chaque segment part d’un besoin social réel, le transforme en usage mesurable, puis active plusieurs.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25" name="Picture 24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23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Concurrents identifiés &amp; positionnement Yukpo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Acteurs nommés : chacun couvre une partie du besoin, aucun ne relie tous les segments locaux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63040"/>
          <a:ext cx="7790688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2596896"/>
                <a:gridCol w="2596896"/>
              </a:tblGrid>
              <a:tr h="3566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 d’acteur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 qu’il fait bien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Limite pour l’usager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Jumia (e-commerce)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Catalogue et logistique e-commerce structurés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Faible profondeur multi-services du quotidien local (santé, orientation, vie pratique, éducation).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Glovo / Bolt Food (livraison)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Exécution rapide de livraison en zones denses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Couverture centrée restauration/livraison ; faible intégration super-app transversale pour ménages et TPE.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Yango / Heetch (mobilité)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Trajets urbains et disponibilité transport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Peu de passerelles natives vers commerce local, bourse du livre, immobilier et services ménagers.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Facebook Marketplace / WhatsApp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Audience massive et adoption spontanée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Transactions peu sécurisées, traçabilité faible, parcours paiement/livraison non unifié.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defRPr sz="1080" b="1"/>
                      </a:pPr>
                      <a:r>
                        <a:t>Yukpo (positionnement cible)</a:t>
                      </a:r>
                    </a:p>
                  </a:txBody>
                  <a:tcPr>
                    <a:solidFill>
                      <a:srgbClr val="E8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 b="1"/>
                      </a:pPr>
                      <a:r>
                        <a:t>Super-app locale : commerce + livraison + mobilité + éducation + services</a:t>
                      </a:r>
                    </a:p>
                  </a:txBody>
                  <a:tcPr>
                    <a:solidFill>
                      <a:srgbClr val="E8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 b="1"/>
                      </a:pPr>
                      <a:r>
                        <a:t>Exécution opérationnelle à tenir ville par ville ; avantage compétitif lié à l’intégration segmentaire.</a:t>
                      </a:r>
                    </a:p>
                  </a:txBody>
                  <a:tcPr>
                    <a:solidFill>
                      <a:srgbClr val="E8EF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Stratégie marketing — principes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Toucher chaque segment sans disperser le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63040"/>
            <a:ext cx="7790688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/>
            </a:pPr>
            <a:r>
              <a:t>Un seul nom de marque (Yukpo), plusieurs « portes d’entrée » : commerce, livraison, santé, logement, etc.</a:t>
            </a:r>
          </a:p>
          <a:p>
            <a:pPr>
              <a:spcAft>
                <a:spcPts val="1200"/>
              </a:spcAft>
              <a:defRPr sz="1250"/>
            </a:pPr>
            <a:r>
              <a:t>Contenus courts et concrets (vidéos, témoignages marchands, avant/après) plutôt que jargon technologique.</a:t>
            </a:r>
          </a:p>
          <a:p>
            <a:pPr>
              <a:spcAft>
                <a:spcPts val="1200"/>
              </a:spcAft>
              <a:defRPr sz="1250"/>
            </a:pPr>
            <a:r>
              <a:t>Acquisition payante ciblée par ville ou par quartier pour densifier l’offre avant d’élargir.</a:t>
            </a:r>
          </a:p>
          <a:p>
            <a:pPr>
              <a:spcAft>
                <a:spcPts val="1200"/>
              </a:spcAft>
              <a:defRPr sz="1250"/>
            </a:pPr>
            <a:r>
              <a:t>Partenariats : écoles, associations, commerçants influents, radios locales — pour emprunter la confiance déjà installée.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Déploiement marketing — lignes de dépenses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Poste acquisition &amp; notoriété : 118 M FCFA (enveloppe 200 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79068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2596896"/>
                <a:gridCol w="2596896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Ligne de dépense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Montant indicatif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du poste marketing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Acquisition digitale (social, UAC, ASO, remarketing)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38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32 %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Terrain &amp; ambassadeurs (villes pilotes, micro-influence locale)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28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24 %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Contenus &amp; création (vidéos, studios légers, UGC)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15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13 %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Partenariats médias, écoles, radios, associations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12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10 %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Événements &amp; saisons fortes (rentrée, fêtes, salons)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9 %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Outils, CRM acquisition, mesure &amp; analytics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8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7 %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Marge de manœuvre / tests 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≈ 5 %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5257800"/>
            <a:ext cx="779068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Les parts sont indicatives : elles permettent d’aligner équipes et investisseurs sur les « poches » où l’argent part réellement.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27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Poches de consommation &amp; levier de croissance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Où dépense l’utilisateur — comment ça fait bouger les indicateurs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44752"/>
            <a:ext cx="779068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122A4A"/>
                </a:solidFill>
              </a:defRPr>
            </a:pPr>
            <a:r>
              <a:t>Jeunes actifs &amp; étudiants</a:t>
            </a:r>
          </a:p>
          <a:p>
            <a:pPr>
              <a:spcAft>
                <a:spcPts val="400"/>
              </a:spcAft>
              <a:defRPr sz="1050"/>
            </a:pPr>
            <a:r>
              <a:t>Livraison rapide, mobilité, navigation, bourse du livre, vie pratique.</a:t>
            </a:r>
          </a:p>
          <a:p>
            <a:pPr>
              <a:spcBef>
                <a:spcPts val="1200"/>
              </a:spcBef>
              <a:defRPr b="1" sz="1200">
                <a:solidFill>
                  <a:srgbClr val="122A4A"/>
                </a:solidFill>
              </a:defRPr>
            </a:pPr>
            <a:r>
              <a:t>Ménages &amp; familles</a:t>
            </a:r>
          </a:p>
          <a:p>
            <a:pPr>
              <a:spcAft>
                <a:spcPts val="400"/>
              </a:spcAft>
              <a:defRPr sz="1050"/>
            </a:pPr>
            <a:r>
              <a:t>Courses, santé, logement, assurance, école.</a:t>
            </a:r>
          </a:p>
          <a:p>
            <a:pPr>
              <a:spcBef>
                <a:spcPts val="1200"/>
              </a:spcBef>
              <a:defRPr b="1" sz="1200">
                <a:solidFill>
                  <a:srgbClr val="122A4A"/>
                </a:solidFill>
              </a:defRPr>
            </a:pPr>
            <a:r>
              <a:t>Commerçants &amp; TPE</a:t>
            </a:r>
          </a:p>
          <a:p>
            <a:pPr>
              <a:spcAft>
                <a:spcPts val="400"/>
              </a:spcAft>
              <a:defRPr sz="1050"/>
            </a:pPr>
            <a:r>
              <a:t>E-commerce, visibilité, livraison.</a:t>
            </a:r>
          </a:p>
          <a:p>
            <a:pPr>
              <a:spcBef>
                <a:spcPts val="1200"/>
              </a:spcBef>
              <a:defRPr b="1" sz="1200">
                <a:solidFill>
                  <a:srgbClr val="122A4A"/>
                </a:solidFill>
              </a:defRPr>
            </a:pPr>
            <a:r>
              <a:t>Usagers de la mobilité quotidienne</a:t>
            </a:r>
          </a:p>
          <a:p>
            <a:pPr>
              <a:spcAft>
                <a:spcPts val="400"/>
              </a:spcAft>
              <a:defRPr sz="1050"/>
            </a:pPr>
            <a:r>
              <a:t>Navigation intelligente, transport, trajets.</a:t>
            </a:r>
          </a:p>
          <a:p>
            <a:pPr>
              <a:spcBef>
                <a:spcPts val="1200"/>
              </a:spcBef>
              <a:defRPr b="1" sz="1200">
                <a:solidFill>
                  <a:srgbClr val="122A4A"/>
                </a:solidFill>
              </a:defRPr>
            </a:pPr>
            <a:r>
              <a:t>Saison scolaire &amp; rentrée</a:t>
            </a:r>
          </a:p>
          <a:p>
            <a:pPr>
              <a:spcAft>
                <a:spcPts val="400"/>
              </a:spcAft>
              <a:defRPr sz="1050"/>
            </a:pPr>
            <a:r>
              <a:t>Bourse du livre, orientation.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Calendrier marketing &amp; modules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Aligné sur le déploiement Douala / Yaoundé / Bafoussam puis international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63040"/>
          <a:ext cx="7635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14884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Période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Modules mis en avant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Objectif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T2 2026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Teasing bourse du livre + e-commerce, livraison, navigation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Préparer la rentrée : pré-inscriptions parents/élèves, collecte de stock et partenaires écoles/libraires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T3 2026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Accent fort bourse du livre + orientation + campagnes terrain écoles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Capteur principal rentrée de septembre ; forte acquisition organique et preuve d’impact social immédiat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T4 2026 – T2 2027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Transport, santé, supermarchés, vie pratique + renfort bourse du livre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Consolidation Cameroun et démarrage Côte d’Ivoire avec hausse du panier moyen</a:t>
                      </a:r>
                    </a:p>
                  </a:txBody>
                  <a:tcPr>
                    <a:solidFill>
                      <a:srgbClr val="FFF6D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T3 – T4 2027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Immobilier, assurance, optimisation multi-pays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Segments à ticket élevé + amélioration de la marge et baisse du coût d’acquisition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5285232"/>
            <a:ext cx="77906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22A4A"/>
                </a:solidFill>
              </a:defRPr>
            </a:pPr>
            <a:r>
              <a:t>Priorité marketing 2026 : bourse du livre dès T2 puis campagne forte en T3 pour capter la rentrée de septembre.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Déploiement géographique — calendrier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Cameroun d’abord · extension Afrique de l’Ouest ensuite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6352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691640"/>
                <a:gridCol w="406908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Période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Objectif opérationnel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T3 2026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Douala &amp; Yaoundé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Lancement national priorisé sur les deux pôles économiques : densification commerçants, livraison, navigation, acquisition digitale + terrain.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T4 2026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Côte d’Ivoire (Abidjan)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Démarrage extension internationale avec noyau opérationnel local ; adaptation marketing et conformité avant montée en charge.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T1 – T2 2027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Bafoussam + consolidation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Ouverture de l’ouest camerounais et renforcement des zones ouvertes (Cameroun + Abidjan) : preuve de scalabilité multi-villes.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T3 – T4 2027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Côte d’Ivoire (extension) + optimisation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Extension hors Abidjan et optimisation unit economics sur les marchés déjà ouverts.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2028 (cible)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Sénégal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80"/>
                      </a:pPr>
                      <a:r>
                        <a:t>Après stabilisation Cameroun + Côte d’Ivoire : hub Dakar avec le même playbook produit/marketing adapté.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5349240"/>
            <a:ext cx="779068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L’ordre Cameroun → Côte d’Ivoire → Sénégal maximise la proximité culturelle et linguistique avant élargissement UEMOA / régional.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Répartition du besoin (millions FCFA)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Les deux premiers postes concentrent 80 % de l’enveloppe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8912.0" y="1417320.0"/>
          <a:ext cx="7790688.0" cy="3319272.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4791456"/>
            <a:ext cx="77906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Total : 200 millions FCFA — hypothèses arrondies pour la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Détail du besoin — 200 millions FCFA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Ventilation par poste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36092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169164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Poste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Montant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Marketing &amp;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118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59 %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Personnel &amp; rémunérations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42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21 %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Technologie &amp;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18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9 %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Juridique &amp; conformité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8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4 %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Frais opérationnels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4 %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Réserve / imprévus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7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4 %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3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 b="1"/>
                      </a:pPr>
                      <a:r>
                        <a:t>200 M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 b="1"/>
                      </a:pPr>
                      <a:r>
                        <a:t>100 %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Répartition des charges sur deux ans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Mai 2026 – avril 2028 (cohérent avec l’enveloppe 200 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4980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48840"/>
                <a:gridCol w="214884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Poste de charge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1ʳᵉ année (mai 26 – avr. 27)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2ᵉ année (mai 27 – avr. 28)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Marketing &amp;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78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40 M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Personnel &amp; rémunérations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18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24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Technologie &amp;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11 M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Juridique &amp; conformité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4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4 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Frais opérationnels &amp; réserve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3 M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118 M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82 M</a:t>
                      </a:r>
                    </a:p>
                  </a:txBody>
                  <a:tcPr>
                    <a:solidFill>
                      <a:srgbClr val="E0E8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5074920"/>
            <a:ext cx="779068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Logique : gros investissement acquisition en 1ʳᵉ année ; en 2ᵉ année, hausse volontaire des coûts tech (infra, sécurité,.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Plan de financement — vue d’ensemble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200 millions FCFA sur 20 mois · lancement effectif juillet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63040"/>
            <a:ext cx="779068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/>
            </a:pPr>
            <a:r>
              <a:t>Les fonds servent avant tout à faire connaître l’application et à recruter les bons profils pour activer chaque segment (commerce,.</a:t>
            </a:r>
          </a:p>
          <a:p>
            <a:pPr>
              <a:spcAft>
                <a:spcPts val="1100"/>
              </a:spcAft>
              <a:defRPr sz="1200"/>
            </a:pPr>
            <a:r>
              <a:t>Le budget marketing et le budget « équipe » sont volontairement élevés : ce sont les deux leviers qui transforment un produit déjà.</a:t>
            </a:r>
          </a:p>
          <a:p>
            <a:pPr>
              <a:spcAft>
                <a:spcPts val="1100"/>
              </a:spcAft>
              <a:defRPr sz="1200"/>
            </a:pPr>
            <a:r>
              <a:t>Technologie : budget qui augmente avec la charge (hébergement, sécurité, évolutions) — voir répartition sur deux ans.</a:t>
            </a:r>
          </a:p>
          <a:p>
            <a:pPr>
              <a:spcAft>
                <a:spcPts val="1100"/>
              </a:spcAft>
              <a:defRPr sz="1200"/>
            </a:pPr>
            <a:r>
              <a:t>Calendrier : dépenses à partir de mai 2026 ; application en production à partir de juillet 2026 ; suivi budgétaire sur 20 mois.</a:t>
            </a:r>
          </a:p>
          <a:p>
            <a:pPr>
              <a:spcAft>
                <a:spcPts val="1100"/>
              </a:spcAft>
              <a:defRPr sz="1200"/>
            </a:pPr>
            <a:r>
              <a:t>Pour le capital : toute entrée d’investisseur reste discutée avec un plafond de 15 % pour protéger le contrôle du projet.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Comment financer les 200 millions ?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Plusieurs combinaisons possibles — à valider avec votre banque et vos conseils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81328"/>
            <a:ext cx="779068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122A4A"/>
                </a:solidFill>
              </a:defRPr>
            </a:pPr>
            <a:r>
              <a:t>Prêt ou ligne de crédit</a:t>
            </a:r>
          </a:p>
          <a:p>
            <a:pPr>
              <a:spcAft>
                <a:spcPts val="400"/>
              </a:spcAft>
              <a:defRPr sz="1200"/>
            </a:pPr>
            <a:r>
              <a:t>Vous empruntez une partie de la somme et vous remboursez selon un calendrier convenu.</a:t>
            </a:r>
          </a:p>
          <a:p>
            <a:pPr>
              <a:spcBef>
                <a:spcPts val="1400"/>
              </a:spcBef>
              <a:defRPr b="1" sz="1300">
                <a:solidFill>
                  <a:srgbClr val="122A4A"/>
                </a:solidFill>
              </a:defRPr>
            </a:pPr>
            <a:r>
              <a:t>Caution ou garantie bancaire</a:t>
            </a:r>
          </a:p>
          <a:p>
            <a:pPr>
              <a:spcAft>
                <a:spcPts val="400"/>
              </a:spcAft>
              <a:defRPr sz="1200"/>
            </a:pPr>
            <a:r>
              <a:t>Une banque ou un tiers peut garantir votre emprunt pour réduire le risque perçu.</a:t>
            </a:r>
          </a:p>
          <a:p>
            <a:pPr>
              <a:spcBef>
                <a:spcPts val="1400"/>
              </a:spcBef>
              <a:defRPr b="1" sz="1300">
                <a:solidFill>
                  <a:srgbClr val="122A4A"/>
                </a:solidFill>
              </a:defRPr>
            </a:pPr>
            <a:r>
              <a:t>Investisseur au capital (minoritaire)</a:t>
            </a:r>
          </a:p>
          <a:p>
            <a:pPr>
              <a:spcAft>
                <a:spcPts val="400"/>
              </a:spcAft>
              <a:defRPr sz="1200"/>
            </a:pPr>
            <a:r>
              <a:t>Échange d’argent contre une part limitée des actions — dans ce dossier, plafonnée à 15 % pour encadrer la dilution.</a:t>
            </a:r>
          </a:p>
          <a:p>
            <a:pPr>
              <a:spcBef>
                <a:spcPts val="1400"/>
              </a:spcBef>
              <a:defRPr b="1" sz="1300">
                <a:solidFill>
                  <a:srgbClr val="122A4A"/>
                </a:solidFill>
              </a:defRPr>
            </a:pPr>
            <a:r>
              <a:t>Mélange des trois</a:t>
            </a:r>
          </a:p>
          <a:p>
            <a:pPr>
              <a:spcAft>
                <a:spcPts val="400"/>
              </a:spcAft>
              <a:defRPr sz="1200"/>
            </a:pPr>
            <a:r>
              <a:t>Exemple : une partie en prêt, une petite part au capital, une garantie sur le reste — à modéliser avec un professionnel.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Acquisition &amp; traction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Objectifs indicatifs — pilotage mensuel recommandé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463040"/>
          <a:ext cx="779068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2596896"/>
                <a:gridCol w="2596896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Fin 1ʳᵉ année d’exploitation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Fin 2ᵉ année d’exploitation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Utilisateurs actifs cumulés (milliers)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95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Commerçants / vendeurs actifs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2 200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8 500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Commandes &amp; prestations / mois (milliers, fin période)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145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Revenus annuels agrégés (M FCFA)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62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30"/>
                      </a:pPr>
                      <a:r>
                        <a:t>≈ 106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8912" y="4892040"/>
            <a:ext cx="7790688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La densité d’utilisateurs et de marchands fait croître les revenus plus vite que les coûts fixes — levier central pour dépasser 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9" name="Picture 8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Comment les revenus sont évalués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Méthode de calcul utilisée pour les simulations trimestrielles et le bilan annuel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44752"/>
            <a:ext cx="7790688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Formule principale : revenus = (transactions validées × panier moyen × commission nette) + abonnements partenaires + mises en avant.</a:t>
            </a:r>
          </a:p>
          <a:p>
            <a:pPr>
              <a:spcAft>
                <a:spcPts val="1000"/>
              </a:spcAft>
              <a:defRPr sz="1200"/>
            </a:pPr>
            <a:r>
              <a:t>Commissions nettes retenues : intervalle prudent de 8 % à 12 % selon le segment (commerce, livraison, transport, immobilier,.</a:t>
            </a:r>
          </a:p>
          <a:p>
            <a:pPr>
              <a:spcAft>
                <a:spcPts val="1000"/>
              </a:spcAft>
              <a:defRPr sz="1200"/>
            </a:pPr>
            <a:r>
              <a:t>Montée en charge : progression du volume trimestriel via l’augmentation des utilisateurs actifs, marchands actifs et commandes.</a:t>
            </a:r>
          </a:p>
          <a:p>
            <a:pPr>
              <a:spcAft>
                <a:spcPts val="1000"/>
              </a:spcAft>
              <a:defRPr sz="1200"/>
            </a:pPr>
            <a:r>
              <a:t>Cohérence stricte : somme des 4 trimestres année 1 = 62 M et année 2 = 106 M, identique au bilan annuel.</a:t>
            </a:r>
          </a:p>
          <a:p>
            <a:pPr>
              <a:spcAft>
                <a:spcPts val="1000"/>
              </a:spcAft>
              <a:defRPr sz="1200"/>
            </a:pPr>
            <a:r>
              <a:t>Hypothèse conservatrice : pas de revenus exceptionnels intégrés, uniquement revenus d’exploitation récurrents.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Simulation trimestrielle (1/2)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Juil. 2026 – juin 2027 · millions FCFA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79068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137"/>
                <a:gridCol w="1558137"/>
                <a:gridCol w="1558137"/>
                <a:gridCol w="1558137"/>
                <a:gridCol w="15581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Indicateur (M)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T3 26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T4 26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T1 27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T2 27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Revenus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-10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4663440"/>
            <a:ext cx="779068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Base de calcul revenus : volume de transactions × panier moyen × taux de commission net + abonnements marchands.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Simulation trimestrielle (2/2)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Juil. 2027 – juin 2028 · accélération des revenus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44752"/>
          <a:ext cx="779068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137"/>
                <a:gridCol w="1558137"/>
                <a:gridCol w="1558137"/>
                <a:gridCol w="1558137"/>
                <a:gridCol w="15581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Indicateur (M)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T3 27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T4 27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T1 28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T2 28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Revenus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21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80" b="1"/>
                      </a:pPr>
                      <a:r>
                        <a:t>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80"/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4572000"/>
            <a:ext cx="779068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Sur les 8 trimestres : revenus cumulés ≈ 168 M ; charges d’activité ≈ 200 M (cohérent avec les deux bilans annuels).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Bilan par exercice — rentabilité en 2ᵉ année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Hypothèses de synthèse (mai 2026 – avril 2028)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" y="1481328"/>
          <a:ext cx="7790688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2596896"/>
                <a:gridCol w="2596896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1ʳᵉ année (mai 26 – avr. 27)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2ᵉ année (mai 27 – avr. 28)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Revenus agrégés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106 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Charges 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 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Résultat (revenus – charges)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5A2E"/>
                          </a:solidFill>
                        </a:defRPr>
                      </a:pPr>
                      <a:r>
                        <a:t>−56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5A2E"/>
                          </a:solidFill>
                        </a:defRPr>
                      </a:pPr>
                      <a:r>
                        <a:t>+24 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4434840"/>
            <a:ext cx="7790688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333333"/>
                </a:solidFill>
              </a:defRPr>
            </a:pPr>
            <a:r>
              <a:t>À la fin de la 2ᵉ année complète, les revenus dépassent les charges : l’entreprise peut être rentable sur cette base (hors nouveaux.</a:t>
            </a:r>
          </a:p>
          <a:p>
            <a:pPr>
              <a:spcBef>
                <a:spcPts val="800"/>
              </a:spcBef>
              <a:defRPr sz="1050">
                <a:solidFill>
                  <a:srgbClr val="555555"/>
                </a:solidFill>
              </a:defRPr>
            </a:pPr>
            <a:r>
              <a:t>Ordres de grandeur pour discussion — à confirmer avec la comptabilité de gestion.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7" name="Picture 6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Équipe &amp; profils recherchés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42 millions FCFA sur 200 — charges salariales croissantes en 2ᵉ année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444752"/>
            <a:ext cx="7790688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22A4A"/>
                </a:solidFill>
              </a:defRPr>
            </a:pPr>
            <a:r>
              <a:t>Hernandez LELE — fondateur &amp; CEO (13 ans d’expérience, institutionnel &amp; terrain).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050"/>
            </a:pPr>
            <a:r>
              <a:t>Responsable acquisition terrain &amp; partenariats (marchands, écoles, radios).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50"/>
            </a:pPr>
            <a:r>
              <a:t>Chargé(e) marketing digital &amp; contenus (réseaux, créatives, influence locale).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50"/>
            </a:pPr>
            <a:r>
              <a:t>Chef de projet opérations livraison / logistique (qualité de service, coursiers).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50"/>
            </a:pPr>
            <a:r>
              <a:t>Support client &amp; onboarding (réduction du churn, formation utilisateurs).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50"/>
            </a:pPr>
            <a:r>
              <a:t>Commerciaux B2B à temps partagé ou mission (secteur santé, assurance, immobilier).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50"/>
            </a:pPr>
            <a:r>
              <a:t>Renfort technique à la montée en charge : supervision cloud, sécurité, astreinte (en lien avec la hausse du poste tech).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Périmètre géographique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Cameroun d’abord — extension Afrique francophone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737360"/>
            <a:ext cx="779068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2A4A"/>
                </a:solidFill>
              </a:defRPr>
            </a:pPr>
            <a:r>
              <a:t>Déploiement progressif : preuve locale avant 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790688" cy="1078992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Technologie</a:t>
            </a:r>
          </a:p>
          <a:p>
            <a:pPr>
              <a:spcBef>
                <a:spcPts val="500"/>
              </a:spcBef>
              <a:defRPr sz="1250">
                <a:solidFill>
                  <a:srgbClr val="555555"/>
                </a:solidFill>
              </a:defRPr>
            </a:pPr>
            <a:r>
              <a:t>Prête à encaisser la montée en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81328"/>
            <a:ext cx="7790688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400"/>
            </a:pPr>
            <a:r>
              <a:t>Backend performant (Rust) — API et temps réel.</a:t>
            </a:r>
          </a:p>
          <a:p>
            <a:pPr>
              <a:spcAft>
                <a:spcPts val="1100"/>
              </a:spcAft>
              <a:defRPr sz="1400"/>
            </a:pPr>
            <a:r>
              <a:t>Application mobile (React Native) — parcours unifiés pour tous les segments.</a:t>
            </a:r>
          </a:p>
          <a:p>
            <a:pPr>
              <a:spcAft>
                <a:spcPts val="1100"/>
              </a:spcAft>
              <a:defRPr sz="1400"/>
            </a:pPr>
            <a:r>
              <a:t>Budget global tech (18 M sur 200 M) : les décaissements augmentent avec les utilisateurs (cloud, monitoring, mises à jour).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Confidentiel — Yukpo</a:t>
            </a:r>
          </a:p>
        </p:txBody>
      </p:sp>
      <p:pic>
        <p:nvPicPr>
          <p:cNvPr id="6" name="Picture 5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82296" cy="507492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" y="804672"/>
            <a:ext cx="27432" cy="5074920"/>
          </a:xfrm>
          <a:prstGeom prst="rect">
            <a:avLst/>
          </a:prstGeom>
          <a:solidFill>
            <a:srgbClr val="E8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01168"/>
            <a:ext cx="7790688" cy="749808"/>
          </a:xfrm>
          <a:prstGeom prst="rect">
            <a:avLst/>
          </a:prstGeom>
          <a:noFill/>
        </p:spPr>
        <p:txBody>
          <a:bodyPr wrap="square" bIns="50800">
            <a:noAutofit/>
          </a:bodyPr>
          <a:lstStyle/>
          <a:p>
            <a:pPr>
              <a:defRPr sz="2800" b="1">
                <a:solidFill>
                  <a:srgbClr val="122A4A"/>
                </a:solidFill>
              </a:defRPr>
            </a:pPr>
            <a: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62456"/>
            <a:ext cx="7790688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22A4A"/>
                </a:solidFill>
              </a:defRPr>
            </a:pPr>
            <a:r>
              <a:t>Hernandez LELE</a:t>
            </a:r>
          </a:p>
          <a:p>
            <a:pPr>
              <a:spcAft>
                <a:spcPts val="1000"/>
              </a:spcAft>
              <a:defRPr sz="1500" b="0">
                <a:solidFill>
                  <a:srgbClr val="333333"/>
                </a:solidFill>
              </a:defRPr>
            </a:pPr>
            <a:r>
              <a:t>lelehernandez2007@yahoo.fr</a:t>
            </a:r>
          </a:p>
          <a:p>
            <a:pPr>
              <a:spcAft>
                <a:spcPts val="1000"/>
              </a:spcAft>
              <a:defRPr sz="1500" b="0">
                <a:solidFill>
                  <a:srgbClr val="333333"/>
                </a:solidFill>
              </a:defRPr>
            </a:pPr>
            <a:r>
              <a:t>+237 674 546 895</a:t>
            </a:r>
          </a:p>
          <a:p>
            <a:pPr>
              <a:spcAft>
                <a:spcPts val="1000"/>
              </a:spcAft>
              <a:defRPr sz="1500" b="0">
                <a:solidFill>
                  <a:srgbClr val="333333"/>
                </a:solidFill>
              </a:defRPr>
            </a:pPr>
            <a:r>
              <a:t>yukpomnang.com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NDA possible — data room sur demande</a:t>
            </a:r>
          </a:p>
        </p:txBody>
      </p:sp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1264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4360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99999"/>
                </a:solidFill>
              </a:defRPr>
            </a:pPr>
            <a:r>
              <a:t>45 /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