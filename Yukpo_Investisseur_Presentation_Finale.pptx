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Revenus (M FCFA)</c:v>
                </c:pt>
              </c:strCache>
            </c:strRef>
          </c:tx>
          <c:spPr>
            <a:solidFill>
              <a:srgbClr val="D4AF37"/>
            </a:solidFill>
          </c:spPr>
          <c:cat>
            <c:strRef>
              <c:f>Sheet1!$A$2:$A$7</c:f>
              <c:strCache>
                <c:ptCount val="6"/>
                <c:pt idx="0">
                  <c:v>T3 2026</c:v>
                </c:pt>
                <c:pt idx="1">
                  <c:v>T4 2026</c:v>
                </c:pt>
                <c:pt idx="2">
                  <c:v>T1 2027</c:v>
                </c:pt>
                <c:pt idx="3">
                  <c:v>T2 2027</c:v>
                </c:pt>
                <c:pt idx="4">
                  <c:v>T3 2027</c:v>
                </c:pt>
                <c:pt idx="5">
                  <c:v>T4 2027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</c:v>
                </c:pt>
                <c:pt idx="1">
                  <c:v>2.0</c:v>
                </c:pt>
                <c:pt idx="2">
                  <c:v>4.5</c:v>
                </c:pt>
                <c:pt idx="3">
                  <c:v>7.5</c:v>
                </c:pt>
                <c:pt idx="4">
                  <c:v>12.0</c:v>
                </c:pt>
                <c:pt idx="5">
                  <c:v>18.5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3999" y="540000"/>
            <a:ext cx="72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D4AF37"/>
                </a:solidFill>
                <a:latin typeface="Calibri"/>
              </a:rPr>
              <a:t>YUKPO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2160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Une app. Tout le quotidien.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3999" y="2736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C4DE"/>
                </a:solidFill>
                <a:latin typeface="Calibri"/>
              </a:rPr>
              <a:t>La super-app des ménages camerounais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706000"/>
            <a:ext cx="12193200" cy="1152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4000" y="5814000"/>
            <a:ext cx="388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4AF37"/>
                </a:solidFill>
                <a:latin typeface="Calibri"/>
              </a:rPr>
              <a:t>120 M FCFA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000" y="6156000"/>
            <a:ext cx="3884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Financement demandé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4400" y="5814000"/>
            <a:ext cx="18000" cy="792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8400" y="5814000"/>
            <a:ext cx="388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Juillet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8400" y="6156000"/>
            <a:ext cx="3884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Lancement effectif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800" y="5814000"/>
            <a:ext cx="18000" cy="792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2800" y="5814000"/>
            <a:ext cx="388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87A"/>
                </a:solidFill>
                <a:latin typeface="Calibri"/>
              </a:rPr>
              <a:t>Décembre 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2800" y="6156000"/>
            <a:ext cx="3884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Break-even garanti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999" y="5238000"/>
            <a:ext cx="93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Hernandez LELE — CEO, Yukpo Company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999" y="5454001"/>
            <a:ext cx="93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  <a:latin typeface="Calibri"/>
              </a:rPr>
              <a:t>Entrée au capital : jusqu’à 20 %  ·  Confidentiel  ·  VERSION FINALE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4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9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Un marché immense, encore peu digitalisé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58000"/>
            <a:ext cx="1008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  <a:latin typeface="Calibri"/>
              </a:rPr>
              <a:t>Le Cameroun en chiffres — les fondamentaux de l’opportunité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0"/>
            <a:ext cx="12193200" cy="251999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66312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Confidentiel — Yukpo  ·  NDA sur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0" y="66312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  <a:latin typeface="Calibri"/>
              </a:rPr>
              <a:t>2 /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480600" y="972000"/>
            <a:ext cx="2592000" cy="144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0600" y="972000"/>
            <a:ext cx="2592000" cy="72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8600" y="1152000"/>
            <a:ext cx="237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D4AF37"/>
                </a:solidFill>
                <a:latin typeface="Calibri"/>
              </a:rPr>
              <a:t>27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8600" y="1692000"/>
            <a:ext cx="2376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Calibri"/>
              </a:rPr>
              <a:t>Camerounais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600" y="972000"/>
            <a:ext cx="2592000" cy="144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0600" y="972000"/>
            <a:ext cx="2592000" cy="72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68600" y="1152000"/>
            <a:ext cx="237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4FC3F7"/>
                </a:solidFill>
                <a:latin typeface="Calibri"/>
              </a:rPr>
              <a:t>60 %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8600" y="1692000"/>
            <a:ext cx="2376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Calibri"/>
              </a:rPr>
              <a:t>de moins de 30 ans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0600" y="972000"/>
            <a:ext cx="2592000" cy="144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0600" y="972000"/>
            <a:ext cx="2592000" cy="7200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8600" y="1152000"/>
            <a:ext cx="237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9933"/>
                </a:solidFill>
                <a:latin typeface="Calibri"/>
              </a:rPr>
              <a:t>85 %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8600" y="1692000"/>
            <a:ext cx="2376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Calibri"/>
              </a:rPr>
              <a:t>des commerces sans vitrine digitale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20600" y="972000"/>
            <a:ext cx="2592000" cy="144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20600" y="972000"/>
            <a:ext cx="2592000" cy="7200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28600" y="1152000"/>
            <a:ext cx="237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C87A"/>
                </a:solidFill>
                <a:latin typeface="Calibri"/>
              </a:rPr>
              <a:t>5 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8600" y="1692000"/>
            <a:ext cx="2376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Calibri"/>
              </a:rPr>
              <a:t>ménages urbains cibles en 3 villes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0000" y="5220000"/>
            <a:ext cx="11473200" cy="90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0000" y="5292000"/>
            <a:ext cx="111132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💡 Comme M-Pesa au Kenya ou Jumia en Afrique de l'Ouest — Yukpo est l'équivalent camerounais, mais en multi-services.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4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9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Aujourd'hui, les familles se battent seules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58000"/>
            <a:ext cx="1008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  <a:latin typeface="Calibri"/>
              </a:rPr>
              <a:t>Fragmentation = temps perdu, argent gâché, mauvaises décisions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0"/>
            <a:ext cx="12193200" cy="251999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66312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Confidentiel — Yukpo  ·  NDA sur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0" y="66312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  <a:latin typeface="Calibri"/>
              </a:rPr>
              <a:t>3 /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600" y="1080000"/>
            <a:ext cx="3240000" cy="288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8600" y="1080000"/>
            <a:ext cx="3240000" cy="90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2600" y="1260000"/>
            <a:ext cx="295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📱 2 à 5 apps différentes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2600" y="1872000"/>
            <a:ext cx="2952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Calibri"/>
              </a:rPr>
              <a:t>Pour acheter, se faire livrer, trouver un logement, consulter un médecin.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6600" y="1080000"/>
            <a:ext cx="3240000" cy="288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76600" y="1080000"/>
            <a:ext cx="3240000" cy="90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0600" y="1260000"/>
            <a:ext cx="295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📞 Tout par téléphone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0600" y="1872000"/>
            <a:ext cx="2952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Calibri"/>
              </a:rPr>
              <a:t>Prix négociés sans transparence, aucune traçabilité, risque d'arnaques.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4600" y="1080000"/>
            <a:ext cx="3240000" cy="288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4600" y="1080000"/>
            <a:ext cx="3240000" cy="90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8600" y="1260000"/>
            <a:ext cx="295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🚶 Déplacements inutiles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8600" y="1872000"/>
            <a:ext cx="2952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Calibri"/>
              </a:rPr>
              <a:t>Se déplacer pour vérifier un prix, un stock, une disponibilité.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4500000"/>
            <a:ext cx="10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AF37"/>
                </a:solidFill>
                <a:latin typeface="Calibri"/>
              </a:rPr>
              <a:t>→  Yukpo résout tout ça avec une seule application.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4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9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Yukpo — tout en un, conçu pour l'Afrique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58000"/>
            <a:ext cx="1008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  <a:latin typeface="Calibri"/>
              </a:rPr>
              <a:t>9 services dans une seule app  ·  un seul compte  ·  une seule expérience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0"/>
            <a:ext cx="12193200" cy="251999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66312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Confidentiel — Yukpo  ·  NDA sur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0" y="66312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  <a:latin typeface="Calibri"/>
              </a:rPr>
              <a:t>4 /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70600" y="1044000"/>
            <a:ext cx="3528000" cy="126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0600" y="1044000"/>
            <a:ext cx="72000" cy="126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0600" y="1368000"/>
            <a:ext cx="3276001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🛒 Commerce local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2600" y="1044000"/>
            <a:ext cx="3528000" cy="126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2600" y="1044000"/>
            <a:ext cx="72000" cy="126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2600" y="1368000"/>
            <a:ext cx="3276001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🏍 Livraison rapide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4600" y="1044000"/>
            <a:ext cx="3528000" cy="126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4600" y="1044000"/>
            <a:ext cx="72000" cy="126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4600" y="1368000"/>
            <a:ext cx="3276001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🚌 Transport &amp; billets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0600" y="2520000"/>
            <a:ext cx="3528000" cy="126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0600" y="2520000"/>
            <a:ext cx="72000" cy="126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600" y="2844000"/>
            <a:ext cx="3276001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🗺 Navigation GPS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32600" y="2520000"/>
            <a:ext cx="3528000" cy="126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32600" y="2520000"/>
            <a:ext cx="72000" cy="126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12600" y="2844000"/>
            <a:ext cx="3276001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🏥 Santé &amp; pharmacies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4600" y="2520000"/>
            <a:ext cx="3528000" cy="126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4600" y="2520000"/>
            <a:ext cx="72000" cy="126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4600" y="2844000"/>
            <a:ext cx="3276001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🏠 Immobilier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0600" y="3996000"/>
            <a:ext cx="3528000" cy="126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0600" y="3996000"/>
            <a:ext cx="72000" cy="126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0600" y="4320000"/>
            <a:ext cx="3276001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🔧 Services à domicile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32600" y="3996000"/>
            <a:ext cx="3528000" cy="126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32600" y="3996000"/>
            <a:ext cx="72000" cy="126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12600" y="4320000"/>
            <a:ext cx="3276001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📚 Livres scolaires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94600" y="3996000"/>
            <a:ext cx="3528000" cy="126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94600" y="3996000"/>
            <a:ext cx="72000" cy="126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4600" y="4320000"/>
            <a:ext cx="3276001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🛍 Supermarchés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5832000"/>
            <a:ext cx="12193200" cy="64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0" y="5903999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1E42"/>
                </a:solidFill>
                <a:latin typeface="Calibri"/>
              </a:rPr>
              <a:t>+ Assurance &amp; protection partenaires  ·  Recherche vocale et par image (IA intégrée)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4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9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Comment Yukpo gagne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58000"/>
            <a:ext cx="1008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  <a:latin typeface="Calibri"/>
              </a:rPr>
              <a:t>Un modèle simple, diversifié, qui grandit avec le nombre d'utilisateurs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0"/>
            <a:ext cx="12193200" cy="251999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66312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Confidentiel — Yukpo  ·  NDA sur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0" y="66312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  <a:latin typeface="Calibri"/>
              </a:rPr>
              <a:t>5 /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498600" y="1007999"/>
            <a:ext cx="3420000" cy="324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8600" y="1007999"/>
            <a:ext cx="3420000" cy="9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600" y="1187999"/>
            <a:ext cx="313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💰 Commissions sur ventes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600" y="1763999"/>
            <a:ext cx="31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AF37"/>
                </a:solidFill>
                <a:latin typeface="Calibri"/>
              </a:rPr>
              <a:t>8 à 12 % par transaction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600" y="2123999"/>
            <a:ext cx="3132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Sur chaque commande, livraison ou billet vendu via l'app.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6600" y="1007999"/>
            <a:ext cx="3420000" cy="324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6600" y="1007999"/>
            <a:ext cx="3420000" cy="90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0600" y="1187999"/>
            <a:ext cx="313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📋 Abonnements marchands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0600" y="1763999"/>
            <a:ext cx="31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FC3F7"/>
                </a:solidFill>
                <a:latin typeface="Calibri"/>
              </a:rPr>
              <a:t>Visibilité premium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0600" y="2123999"/>
            <a:ext cx="3132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Les commerçants paient pour être mis en avant dans les résultats.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4600" y="1007999"/>
            <a:ext cx="3420000" cy="324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4600" y="1007999"/>
            <a:ext cx="3420000" cy="9000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8600" y="1187999"/>
            <a:ext cx="313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📢 Publicité locale ciblée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8600" y="1763999"/>
            <a:ext cx="31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9933"/>
                </a:solidFill>
                <a:latin typeface="Calibri"/>
              </a:rPr>
              <a:t>Géolocalisation précise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8600" y="2123999"/>
            <a:ext cx="3132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Les enseignes touchent les familles dans leur quartier.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0000" y="4752000"/>
            <a:ext cx="11473200" cy="648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0000" y="4752000"/>
            <a:ext cx="11473200" cy="54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0000" y="4806000"/>
            <a:ext cx="109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📈  Plus il y a d'utilisateurs, plus les revenus augmentent automatiquement — sans coût fixe supplémentaire.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4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9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Un marché de plusieurs milliers de milliards FCFA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58000"/>
            <a:ext cx="1008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  <a:latin typeface="Calibri"/>
              </a:rPr>
              <a:t>Notre objectif : capter 0,02 % — un potentiel immense avec peu d'ambition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0"/>
            <a:ext cx="12193200" cy="251999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66312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Confidentiel — Yukpo  ·  NDA sur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0" y="66312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  <a:latin typeface="Calibri"/>
              </a:rPr>
              <a:t>6 /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696600" y="1152000"/>
            <a:ext cx="10800000" cy="126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6600" y="1152000"/>
            <a:ext cx="10800000" cy="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6600" y="1260000"/>
            <a:ext cx="104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🌍 Commerce informel camerounais 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600" y="1728000"/>
            <a:ext cx="104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~12 000 Mds FCFA / 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6600" y="2663999"/>
            <a:ext cx="9720000" cy="1260000"/>
          </a:xfrm>
          <a:prstGeom prst="rect">
            <a:avLst/>
          </a:prstGeom>
          <a:solidFill>
            <a:srgbClr val="16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36600" y="2663999"/>
            <a:ext cx="9720000" cy="54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6600" y="2771999"/>
            <a:ext cx="93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📱 Part digitalisable (5 %)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6600" y="3239999"/>
            <a:ext cx="93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FC3F7"/>
                </a:solidFill>
                <a:latin typeface="Calibri"/>
              </a:rPr>
              <a:t>~600 Mds FCFA / 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76600" y="4175998"/>
            <a:ext cx="8640000" cy="1260000"/>
          </a:xfrm>
          <a:prstGeom prst="rect">
            <a:avLst/>
          </a:prstGeom>
          <a:solidFill>
            <a:srgbClr val="1E4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76600" y="4175998"/>
            <a:ext cx="8640000" cy="54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56600" y="4283998"/>
            <a:ext cx="82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🎯 Cible Yukpo 2028 (0,02 %)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56600" y="4751998"/>
            <a:ext cx="82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4AF37"/>
                </a:solidFill>
                <a:latin typeface="Calibri"/>
              </a:rPr>
              <a:t>~110 M FCFA de revenus annuels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4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9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Personne ne fait ce que Yukpo fait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58000"/>
            <a:ext cx="1008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  <a:latin typeface="Calibri"/>
              </a:rPr>
              <a:t>Les concurrents couvrent un service. Yukpo les couvre tous.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0"/>
            <a:ext cx="12193200" cy="251999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66312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Confidentiel — Yukpo  ·  NDA sur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0" y="66312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  <a:latin typeface="Calibri"/>
              </a:rPr>
              <a:t>7 / 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96600.0" y="936000"/>
          <a:ext cx="10080000" cy="48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1440000"/>
                <a:gridCol w="1260000"/>
                <a:gridCol w="1620000"/>
                <a:gridCol w="1620000"/>
                <a:gridCol w="1620000"/>
              </a:tblGrid>
              <a:tr h="54000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32B5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Jumia</a:t>
                      </a:r>
                    </a:p>
                  </a:txBody>
                  <a:tcPr>
                    <a:solidFill>
                      <a:srgbClr val="132B5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OLX</a:t>
                      </a:r>
                    </a:p>
                  </a:txBody>
                  <a:tcPr>
                    <a:solidFill>
                      <a:srgbClr val="132B5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WhatsApp Biz</a:t>
                      </a:r>
                    </a:p>
                  </a:txBody>
                  <a:tcPr>
                    <a:solidFill>
                      <a:srgbClr val="132B5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MTN MoMo</a:t>
                      </a:r>
                    </a:p>
                  </a:txBody>
                  <a:tcPr>
                    <a:solidFill>
                      <a:srgbClr val="132B5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YUKPO ✓</a:t>
                      </a:r>
                    </a:p>
                  </a:txBody>
                  <a:tcPr>
                    <a:solidFill>
                      <a:srgbClr val="132B5E"/>
                    </a:solidFill>
                  </a:tcPr>
                </a:tc>
              </a:tr>
              <a:tr h="54000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B0C4DE"/>
                          </a:solidFill>
                          <a:latin typeface="Calibri"/>
                        </a:rPr>
                        <a:t>Commerce local</a:t>
                      </a:r>
                    </a:p>
                  </a:txBody>
                  <a:tcPr>
                    <a:solidFill>
                      <a:srgbClr val="132B5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00C87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132B5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F9933"/>
                          </a:solidFill>
                          <a:latin typeface="Calibri"/>
                        </a:rPr>
                        <a:t>△</a:t>
                      </a:r>
                    </a:p>
                  </a:txBody>
                  <a:tcPr>
                    <a:solidFill>
                      <a:srgbClr val="132B5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F9933"/>
                          </a:solidFill>
                          <a:latin typeface="Calibri"/>
                        </a:rPr>
                        <a:t>△</a:t>
                      </a:r>
                    </a:p>
                  </a:txBody>
                  <a:tcPr>
                    <a:solidFill>
                      <a:srgbClr val="132B5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F6B6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132B5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00C87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0A2010"/>
                    </a:solidFill>
                  </a:tcPr>
                </a:tc>
              </a:tr>
              <a:tr h="54000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B0C4DE"/>
                          </a:solidFill>
                          <a:latin typeface="Calibri"/>
                        </a:rPr>
                        <a:t>Livraison</a:t>
                      </a:r>
                    </a:p>
                  </a:txBody>
                  <a:tcPr>
                    <a:solidFill>
                      <a:srgbClr val="0B1E4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00C87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0B1E4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F6B6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0B1E4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F6B6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0B1E4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F6B6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0B1E4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00C87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0A2010"/>
                    </a:solidFill>
                  </a:tcPr>
                </a:tc>
              </a:tr>
              <a:tr h="54000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B0C4DE"/>
                          </a:solidFill>
                          <a:latin typeface="Calibri"/>
                        </a:rPr>
                        <a:t>Transport &amp; billets</a:t>
                      </a:r>
                    </a:p>
                  </a:txBody>
                  <a:tcPr>
                    <a:solidFill>
                      <a:srgbClr val="132B5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F6B6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132B5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F6B6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132B5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F6B6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132B5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F6B6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132B5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00C87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0A2010"/>
                    </a:solidFill>
                  </a:tcPr>
                </a:tc>
              </a:tr>
              <a:tr h="54000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B0C4DE"/>
                          </a:solidFill>
                          <a:latin typeface="Calibri"/>
                        </a:rPr>
                        <a:t>Navigation GPS</a:t>
                      </a:r>
                    </a:p>
                  </a:txBody>
                  <a:tcPr>
                    <a:solidFill>
                      <a:srgbClr val="0B1E4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F6B6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0B1E4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F6B6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0B1E4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F6B6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0B1E4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F6B6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0B1E4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00C87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0A2010"/>
                    </a:solidFill>
                  </a:tcPr>
                </a:tc>
              </a:tr>
              <a:tr h="54000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B0C4DE"/>
                          </a:solidFill>
                          <a:latin typeface="Calibri"/>
                        </a:rPr>
                        <a:t>Santé &amp; pharmacies</a:t>
                      </a:r>
                    </a:p>
                  </a:txBody>
                  <a:tcPr>
                    <a:solidFill>
                      <a:srgbClr val="132B5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F6B6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132B5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F6B6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132B5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F6B6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132B5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F6B6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132B5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00C87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0A2010"/>
                    </a:solidFill>
                  </a:tcPr>
                </a:tc>
              </a:tr>
              <a:tr h="54000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B0C4DE"/>
                          </a:solidFill>
                          <a:latin typeface="Calibri"/>
                        </a:rPr>
                        <a:t>Immobilier</a:t>
                      </a:r>
                    </a:p>
                  </a:txBody>
                  <a:tcPr>
                    <a:solidFill>
                      <a:srgbClr val="0B1E4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F6B6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0B1E4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00C87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0B1E4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F6B6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0B1E4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F6B6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0B1E4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00C87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0A2010"/>
                    </a:solidFill>
                  </a:tcPr>
                </a:tc>
              </a:tr>
              <a:tr h="54000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B0C4DE"/>
                          </a:solidFill>
                          <a:latin typeface="Calibri"/>
                        </a:rPr>
                        <a:t>Services à domicile</a:t>
                      </a:r>
                    </a:p>
                  </a:txBody>
                  <a:tcPr>
                    <a:solidFill>
                      <a:srgbClr val="132B5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F6B6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132B5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F6B6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132B5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F6B6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132B5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F6B6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132B5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00C87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0A2010"/>
                    </a:solidFill>
                  </a:tcPr>
                </a:tc>
              </a:tr>
              <a:tr h="54000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B0C4DE"/>
                          </a:solidFill>
                          <a:latin typeface="Calibri"/>
                        </a:rPr>
                        <a:t>Paiement intégré</a:t>
                      </a:r>
                    </a:p>
                  </a:txBody>
                  <a:tcPr>
                    <a:solidFill>
                      <a:srgbClr val="0B1E4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F9933"/>
                          </a:solidFill>
                          <a:latin typeface="Calibri"/>
                        </a:rPr>
                        <a:t>△</a:t>
                      </a:r>
                    </a:p>
                  </a:txBody>
                  <a:tcPr>
                    <a:solidFill>
                      <a:srgbClr val="0B1E4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F6B6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0B1E4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F6B6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0B1E4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00C87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0B1E4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00C87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0A201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4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9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Lancement au Cameroun, expansion en Afrique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58000"/>
            <a:ext cx="1008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  <a:latin typeface="Calibri"/>
              </a:rPr>
              <a:t>Densifier d'abord, étendre ensuite — une ville à la fois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0"/>
            <a:ext cx="12193200" cy="251999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66312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Confidentiel — Yukpo  ·  NDA sur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0" y="66312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  <a:latin typeface="Calibri"/>
              </a:rPr>
              <a:t>8 /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4031999"/>
            <a:ext cx="11113200" cy="54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8000" y="1907999"/>
            <a:ext cx="2340000" cy="198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8000" y="1907999"/>
            <a:ext cx="2340000" cy="72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6000" y="2051999"/>
            <a:ext cx="21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F37"/>
                </a:solidFill>
                <a:latin typeface="Calibri"/>
              </a:rPr>
              <a:t>Juil.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6000" y="2339999"/>
            <a:ext cx="21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Douala 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000" y="2771999"/>
            <a:ext cx="2124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Lancement · 500+ marchands · 5 000 utilisateurs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46000" y="3959999"/>
            <a:ext cx="144000" cy="19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48000" y="4175999"/>
            <a:ext cx="2340000" cy="198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48000" y="4175999"/>
            <a:ext cx="2340000" cy="72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6000" y="4319999"/>
            <a:ext cx="21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C3F7"/>
                </a:solidFill>
                <a:latin typeface="Calibri"/>
              </a:rPr>
              <a:t>Déc.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000" y="4607999"/>
            <a:ext cx="21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Yaóundé + Bafoussam 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000" y="5039999"/>
            <a:ext cx="2124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Déploiement · 15 000 utilisateurs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46000" y="3959999"/>
            <a:ext cx="144000" cy="19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48000" y="1907999"/>
            <a:ext cx="2340000" cy="198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48000" y="1907999"/>
            <a:ext cx="2340000" cy="7200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56000" y="2051999"/>
            <a:ext cx="21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933"/>
                </a:solidFill>
                <a:latin typeface="Calibri"/>
              </a:rPr>
              <a:t>Juin 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6000" y="2339999"/>
            <a:ext cx="21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Cameroun national 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56000" y="2771999"/>
            <a:ext cx="2124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Couverture nationale · break-even approche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46000" y="3959999"/>
            <a:ext cx="144000" cy="19800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748000" y="4175999"/>
            <a:ext cx="2340000" cy="198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48000" y="4175999"/>
            <a:ext cx="2340000" cy="7200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56000" y="4319999"/>
            <a:ext cx="21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7A"/>
                </a:solidFill>
                <a:latin typeface="Calibri"/>
              </a:rPr>
              <a:t>2028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56000" y="4607999"/>
            <a:ext cx="21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Côte d'Ivoire + Sénégal 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56000" y="5039999"/>
            <a:ext cx="2124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Expansion UEMOA · Série 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46000" y="3959999"/>
            <a:ext cx="144000" cy="19800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4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9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L'acquisition ciblée, puis la croissance organique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58000"/>
            <a:ext cx="1008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  <a:latin typeface="Calibri"/>
              </a:rPr>
              <a:t>Des ambassadeurs terrain + digital ciblé + un accélérateur saisonnier massif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0"/>
            <a:ext cx="12193200" cy="251999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66312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Confidentiel — Yukpo  ·  NDA sur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0" y="66312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  <a:latin typeface="Calibri"/>
              </a:rPr>
              <a:t>9 /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498600" y="1007999"/>
            <a:ext cx="3420000" cy="342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8600" y="1007999"/>
            <a:ext cx="3420000" cy="90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600" y="1187999"/>
            <a:ext cx="31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📱 Digital ciblé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600" y="1655999"/>
            <a:ext cx="31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FC3F7"/>
                </a:solidFill>
                <a:latin typeface="Calibri"/>
              </a:rPr>
              <a:t>~40 M FCFA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600" y="2015998"/>
            <a:ext cx="3132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Réseaux sociaux, YouTube, Google. Campagnes géolocalisées par quartier. Créatives renouvellées chaque mois.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6600" y="1007999"/>
            <a:ext cx="3420000" cy="342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6600" y="1007999"/>
            <a:ext cx="3420000" cy="9000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0600" y="1187999"/>
            <a:ext cx="31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🤝 Équipe terrain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0600" y="1655999"/>
            <a:ext cx="31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9933"/>
                </a:solidFill>
                <a:latin typeface="Calibri"/>
              </a:rPr>
              <a:t>~20 M FCFA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0600" y="2015998"/>
            <a:ext cx="3132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Ambassadeurs dans les marchés. Onboarding gratuit des commerçants. Radios locales et associations.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4600" y="1007999"/>
            <a:ext cx="3420000" cy="342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4600" y="1007999"/>
            <a:ext cx="3420000" cy="9000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8600" y="1187999"/>
            <a:ext cx="31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📚 Rentrée scolaire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8600" y="1655999"/>
            <a:ext cx="31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87A"/>
                </a:solidFill>
                <a:latin typeface="Calibri"/>
              </a:rPr>
              <a:t>~10 M FCFA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8600" y="2015998"/>
            <a:ext cx="3132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La bourse du livre = levier massif. Millions de familles cherchent des livres chaque septembre.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0000" y="4932000"/>
            <a:ext cx="11473200" cy="648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0000" y="4932000"/>
            <a:ext cx="11473200" cy="54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0000" y="4986000"/>
            <a:ext cx="109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🎯  Après 12 mois, la croissance devient organique : bouche-à-oreille digital, effet réseau, partenariats établis.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4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9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120 millions FCFA — investis avec précision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58000"/>
            <a:ext cx="1008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  <a:latin typeface="Calibri"/>
              </a:rPr>
              <a:t>L'app est déjà construite  ·  cet argent sert à la faire connaître et à recruter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0"/>
            <a:ext cx="12193200" cy="251999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66312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Confidentiel — Yukpo  ·  NDA sur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0" y="66312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  <a:latin typeface="Calibri"/>
              </a:rPr>
              <a:t>10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188000"/>
            <a:ext cx="39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Marketing &amp; Acquisition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476000"/>
            <a:ext cx="39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  <a:latin typeface="Calibri"/>
              </a:rPr>
              <a:t>70 M FCFA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0000" y="1296000"/>
            <a:ext cx="7200000" cy="18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80000" y="1296000"/>
            <a:ext cx="4175999" cy="18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28000" y="1242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AF37"/>
                </a:solidFill>
                <a:latin typeface="Calibri"/>
              </a:rPr>
              <a:t>57 %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2268000"/>
            <a:ext cx="39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Équipe &amp; RH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000" y="2556000"/>
            <a:ext cx="39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C3F7"/>
                </a:solidFill>
                <a:latin typeface="Calibri"/>
              </a:rPr>
              <a:t>26 M FCFA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80000" y="2376000"/>
            <a:ext cx="7200000" cy="18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80000" y="2376000"/>
            <a:ext cx="1584000" cy="180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000" y="2322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FC3F7"/>
                </a:solidFill>
                <a:latin typeface="Calibri"/>
              </a:rPr>
              <a:t>22 %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" y="3348000"/>
            <a:ext cx="39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Technologie &amp; Infrastructure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3636000"/>
            <a:ext cx="39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933"/>
                </a:solidFill>
                <a:latin typeface="Calibri"/>
              </a:rPr>
              <a:t>14 M FCFA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0000" y="3456000"/>
            <a:ext cx="7200000" cy="18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80000" y="3456000"/>
            <a:ext cx="864000" cy="18000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16000" y="3402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9933"/>
                </a:solidFill>
                <a:latin typeface="Calibri"/>
              </a:rPr>
              <a:t>12 %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" y="4428000"/>
            <a:ext cx="39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Opérations &amp; Fonds de roulement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000" y="4716000"/>
            <a:ext cx="39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7A"/>
                </a:solidFill>
                <a:latin typeface="Calibri"/>
              </a:rPr>
              <a:t>10 M FCFA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80000" y="4536000"/>
            <a:ext cx="7200000" cy="18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80000" y="4536000"/>
            <a:ext cx="576000" cy="18000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28000" y="4482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87A"/>
                </a:solidFill>
                <a:latin typeface="Calibri"/>
              </a:rPr>
              <a:t>8 %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0000" y="5112000"/>
            <a:ext cx="11113200" cy="648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0000" y="5112000"/>
            <a:ext cx="11113200" cy="54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0000" y="5184000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4AF37"/>
                </a:solidFill>
                <a:latin typeface="Calibri"/>
              </a:rPr>
              <a:t>TOTAL : 120 M FCFA  ·  20 mois  ·  mai 2026 → décembre 2027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4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9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Croissance régulière, accélération confirmée en 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58000"/>
            <a:ext cx="1008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  <a:latin typeface="Calibri"/>
              </a:rPr>
              <a:t>Revenus trimestriels en millions FCFA — hypothèses conservatives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0"/>
            <a:ext cx="12193200" cy="251999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66312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Confidentiel — Yukpo  ·  NDA sur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0" y="66312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  <a:latin typeface="Calibri"/>
              </a:rPr>
              <a:t>11 / 17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0000" y="936000"/>
          <a:ext cx="6480000" cy="21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60000" y="1007999"/>
            <a:ext cx="41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0,8 M - T3 2026 · Lancement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0" y="1439999"/>
            <a:ext cx="41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2,0 M - T4 2026 · Montée en charge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60000" y="1871999"/>
            <a:ext cx="41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FC3F7"/>
                </a:solidFill>
                <a:latin typeface="Calibri"/>
              </a:rPr>
              <a:t>4,5 M - T1 2027 · Accélération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60000" y="2303999"/>
            <a:ext cx="41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FC3F7"/>
                </a:solidFill>
                <a:latin typeface="Calibri"/>
              </a:rPr>
              <a:t>7,5 M - T2 2027 · Momentum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0000" y="2735999"/>
            <a:ext cx="41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9933"/>
                </a:solidFill>
                <a:latin typeface="Calibri"/>
              </a:rPr>
              <a:t>12,0 M - T3 2027 · Forte croissance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0000" y="3167999"/>
            <a:ext cx="41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7A"/>
                </a:solidFill>
                <a:latin typeface="Calibri"/>
              </a:rPr>
              <a:t>18,5 M - T4 2027 · Rentabilité 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" y="3528000"/>
            <a:ext cx="11113200" cy="432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" y="3581999"/>
            <a:ext cx="10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4AF37"/>
                </a:solidFill>
                <a:latin typeface="Calibri"/>
              </a:rPr>
              <a:t>≈ 45 M FCFA cumulés à fin 2027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4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9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Rentable dès décembre 2027 — au pire des 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58000"/>
            <a:ext cx="1008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  <a:latin typeface="Calibri"/>
              </a:rPr>
              <a:t>Le break-even mensuel est atteint avant la fin du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0"/>
            <a:ext cx="12193200" cy="251999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66312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Confidentiel — Yukpo  ·  NDA sur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0" y="66312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  <a:latin typeface="Calibri"/>
              </a:rPr>
              <a:t>12 /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080000"/>
            <a:ext cx="4680000" cy="2880000"/>
          </a:xfrm>
          <a:prstGeom prst="rect">
            <a:avLst/>
          </a:prstGeom>
          <a:solidFill>
            <a:srgbClr val="0A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1260000"/>
            <a:ext cx="43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📈 Revenus/mois · T4 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1728000"/>
            <a:ext cx="43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C87A"/>
                </a:solidFill>
                <a:latin typeface="Calibri"/>
              </a:rPr>
              <a:t>6,5 M FCFA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2700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par mois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0" y="2160000"/>
            <a:ext cx="1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F37"/>
                </a:solidFill>
                <a:latin typeface="Calibri"/>
              </a:rPr>
              <a:t>VS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20000" y="1080000"/>
            <a:ext cx="4680000" cy="2880000"/>
          </a:xfrm>
          <a:prstGeom prst="rect">
            <a:avLst/>
          </a:prstGeom>
          <a:solidFill>
            <a:srgbClr val="300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0000" y="1260000"/>
            <a:ext cx="43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💸 Charges récurrentes/mois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0" y="1728000"/>
            <a:ext cx="43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6B6B"/>
                </a:solidFill>
                <a:latin typeface="Calibri"/>
              </a:rPr>
              <a:t>4,5 M FCFA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0" y="2700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salaires + tech + marketing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4320000"/>
            <a:ext cx="11160000" cy="648000"/>
          </a:xfrm>
          <a:prstGeom prst="rect">
            <a:avLst/>
          </a:prstGeom>
          <a:solidFill>
            <a:srgbClr val="0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0000" y="4392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87A"/>
                </a:solidFill>
                <a:latin typeface="Calibri"/>
              </a:rPr>
              <a:t>✅ PROFIT MENSUEL : +2 M FCFA dès décembre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5220000"/>
            <a:ext cx="10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Calibri"/>
              </a:rPr>
              <a:t>2028 — Première année pleinement rentable : 90 à 110 M FCFA de revenus annuels projetés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4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9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Ce que votre investissement rapporte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58000"/>
            <a:ext cx="1008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  <a:latin typeface="Calibri"/>
              </a:rPr>
              <a:t>Projection 2028 — valorisation conservative à 10× les revenus annuels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0"/>
            <a:ext cx="12193200" cy="251999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66312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Confidentiel — Yukpo  ·  NDA sur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0" y="66312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  <a:latin typeface="Calibri"/>
              </a:rPr>
              <a:t>13 /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080000"/>
            <a:ext cx="10980000" cy="90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4000" y="1331999"/>
            <a:ext cx="41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Investissement apporté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2000" y="1260000"/>
            <a:ext cx="295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120 M FCFA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92000" y="1331999"/>
            <a:ext cx="34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Calibri"/>
              </a:rPr>
              <a:t>20 % du capital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000" y="2034000"/>
            <a:ext cx="10980000" cy="900000"/>
          </a:xfrm>
          <a:prstGeom prst="rect">
            <a:avLst/>
          </a:prstGeom>
          <a:solidFill>
            <a:srgbClr val="0B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4000" y="2285999"/>
            <a:ext cx="41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Valorisation 2028 (10× revenus)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2000" y="2214000"/>
            <a:ext cx="295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0C4DE"/>
                </a:solidFill>
                <a:latin typeface="Calibri"/>
              </a:rPr>
              <a:t>1 Milliard FCFA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2000" y="2285999"/>
            <a:ext cx="34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Calibri"/>
              </a:rPr>
              <a:t>Base : 100 M × 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" y="2988000"/>
            <a:ext cx="10980000" cy="90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4000" y="3239999"/>
            <a:ext cx="41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AF37"/>
                </a:solidFill>
                <a:latin typeface="Calibri"/>
              </a:rPr>
              <a:t>Valeur de votre part (20 %)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2000" y="3168000"/>
            <a:ext cx="295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AF37"/>
                </a:solidFill>
                <a:latin typeface="Calibri"/>
              </a:rPr>
              <a:t>200 M FCFA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2000" y="3239999"/>
            <a:ext cx="34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Calibri"/>
              </a:rPr>
              <a:t>+ 67 % sur 2 ans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0000" y="3942000"/>
            <a:ext cx="10980000" cy="900000"/>
          </a:xfrm>
          <a:prstGeom prst="rect">
            <a:avLst/>
          </a:prstGeom>
          <a:solidFill>
            <a:srgbClr val="0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4000" y="4193999"/>
            <a:ext cx="41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7A"/>
                </a:solidFill>
                <a:latin typeface="Calibri"/>
              </a:rPr>
              <a:t>Rendement annualisé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2000" y="4122000"/>
            <a:ext cx="295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7A"/>
                </a:solidFill>
                <a:latin typeface="Calibri"/>
              </a:rPr>
              <a:t>~30 % / 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2000" y="4193999"/>
            <a:ext cx="34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Calibri"/>
              </a:rPr>
              <a:t>Scénario conservateur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000" y="54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4DE"/>
                </a:solidFill>
                <a:latin typeface="Calibri"/>
              </a:rPr>
              <a:t>Projections indicatives — à valider avec vos conseillers. Data room disponible sur NDA.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4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9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L'équipe qui le fait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58000"/>
            <a:ext cx="1008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  <a:latin typeface="Calibri"/>
              </a:rPr>
              <a:t>Un fondateur terrain + une équipe à construire avec les fonds levés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0"/>
            <a:ext cx="12193200" cy="251999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66312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Confidentiel — Yukpo  ·  NDA sur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0" y="66312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  <a:latin typeface="Calibri"/>
              </a:rPr>
              <a:t>14 /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007999"/>
            <a:ext cx="4500000" cy="450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0000" y="1007999"/>
            <a:ext cx="4500000" cy="9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2000" y="1224000"/>
            <a:ext cx="1080000" cy="108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000" y="1368000"/>
            <a:ext cx="1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B1E42"/>
                </a:solidFill>
                <a:latin typeface="Calibri"/>
              </a:rPr>
              <a:t>HL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000" y="2520000"/>
            <a:ext cx="39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Hernandez LELE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2880000"/>
            <a:ext cx="39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AF37"/>
                </a:solidFill>
                <a:latin typeface="Calibri"/>
              </a:rPr>
              <a:t>Fondateur &amp; CEO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3240000"/>
            <a:ext cx="39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13 ans d'expérience  ·  institutionnel &amp; terrain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3671999"/>
            <a:ext cx="39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FC3F7"/>
                </a:solidFill>
                <a:latin typeface="Calibri"/>
              </a:rPr>
              <a:t>lelehernandez2007@yahoo.fr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3960000"/>
            <a:ext cx="39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FC3F7"/>
                </a:solidFill>
                <a:latin typeface="Calibri"/>
              </a:rPr>
              <a:t>+237 674 546 895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0" y="1007999"/>
            <a:ext cx="3240000" cy="1368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00000" y="1007999"/>
            <a:ext cx="3240000" cy="72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08000" y="1151999"/>
            <a:ext cx="30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🎯 Responsable Acquisition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08000" y="1547999"/>
            <a:ext cx="302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Marchands, écoles, partenaires locaux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56000" y="1007999"/>
            <a:ext cx="3240000" cy="1368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56000" y="1007999"/>
            <a:ext cx="3240000" cy="72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4000" y="1151999"/>
            <a:ext cx="30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📱 Marketing Digital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4000" y="1547999"/>
            <a:ext cx="302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Réseaux sociaux, créatives, influence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00000" y="2591999"/>
            <a:ext cx="3240000" cy="1368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00000" y="2591999"/>
            <a:ext cx="3240000" cy="72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08000" y="2735999"/>
            <a:ext cx="30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🛴 Chef Opérations Livraison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08000" y="3131999"/>
            <a:ext cx="302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Qualité de service, réseau coursiers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56000" y="2591999"/>
            <a:ext cx="3240000" cy="1368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856000" y="2591999"/>
            <a:ext cx="3240000" cy="72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4000" y="2735999"/>
            <a:ext cx="30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🎓 Support &amp; Onboarding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4000" y="3131999"/>
            <a:ext cx="302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Formation utilisateurs, réduction du churn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4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9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Les conditions d'investissement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58000"/>
            <a:ext cx="1008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  <a:latin typeface="Calibri"/>
              </a:rPr>
              <a:t>Un ticket optimisé — une opportunité africaine unique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0"/>
            <a:ext cx="12193200" cy="251999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66312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Confidentiel — Yukpo  ·  NDA sur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0" y="66312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  <a:latin typeface="Calibri"/>
              </a:rPr>
              <a:t>15 /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52604" y="1152000"/>
            <a:ext cx="2015999" cy="378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2604" y="1152000"/>
            <a:ext cx="2015999" cy="9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604" y="1332000"/>
            <a:ext cx="183599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💵 Montant demandé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604" y="2232000"/>
            <a:ext cx="183599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AF37"/>
                </a:solidFill>
                <a:latin typeface="Calibri"/>
              </a:rPr>
              <a:t>120 M FCFA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604" y="3132000"/>
            <a:ext cx="1835999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En un ou plusieurs apports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20602" y="1152000"/>
            <a:ext cx="2015999" cy="378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20602" y="1152000"/>
            <a:ext cx="2015999" cy="90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10602" y="1332000"/>
            <a:ext cx="183599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📊 Capital cédé (max)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0602" y="2232000"/>
            <a:ext cx="183599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FC3F7"/>
                </a:solidFill>
                <a:latin typeface="Calibri"/>
              </a:rPr>
              <a:t>20 %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10602" y="3132000"/>
            <a:ext cx="1835999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Négociable selon le montant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8600" y="1152000"/>
            <a:ext cx="2015999" cy="378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88600" y="1152000"/>
            <a:ext cx="2015999" cy="9000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78600" y="1332000"/>
            <a:ext cx="183599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📅 Durée du 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8600" y="2232000"/>
            <a:ext cx="183599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9933"/>
                </a:solidFill>
                <a:latin typeface="Calibri"/>
              </a:rPr>
              <a:t>20 mois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8600" y="3132000"/>
            <a:ext cx="1835999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Mai 2026 → Décembre 2027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56598" y="1152000"/>
            <a:ext cx="2015999" cy="378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56598" y="1152000"/>
            <a:ext cx="2015999" cy="9000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46598" y="1332000"/>
            <a:ext cx="183599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📈 Break-even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46598" y="2232000"/>
            <a:ext cx="183599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7A"/>
                </a:solidFill>
                <a:latin typeface="Calibri"/>
              </a:rPr>
              <a:t>Déc. 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6598" y="3132000"/>
            <a:ext cx="1835999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Rentabilité mensuelle garantie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24596" y="1152000"/>
            <a:ext cx="2015999" cy="378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24596" y="1152000"/>
            <a:ext cx="2015999" cy="9000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14596" y="1332000"/>
            <a:ext cx="183599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🔒 Protection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14596" y="2232000"/>
            <a:ext cx="183599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0C4DE"/>
                </a:solidFill>
                <a:latin typeface="Calibri"/>
              </a:rPr>
              <a:t>NDA + Data Room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4596" y="3132000"/>
            <a:ext cx="1835999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Documents complets sur demande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4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9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Les jalons clés — de l'investissement à la rentabilité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58000"/>
            <a:ext cx="1008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  <a:latin typeface="Calibri"/>
              </a:rPr>
              <a:t>Un plan en 6 étapes, chaque étape mesurable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0"/>
            <a:ext cx="12193200" cy="251999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66312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Confidentiel — Yukpo  ·  NDA sur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0" y="66312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  <a:latin typeface="Calibri"/>
              </a:rPr>
              <a:t>16 /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3888000"/>
            <a:ext cx="11113200" cy="54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8000" y="1944000"/>
            <a:ext cx="1620000" cy="180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8000" y="1944000"/>
            <a:ext cx="1620000" cy="72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8000" y="2088000"/>
            <a:ext cx="14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MAI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000" y="2447999"/>
            <a:ext cx="144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Closing financement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6000" y="3816000"/>
            <a:ext cx="144000" cy="19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19999" y="4032000"/>
            <a:ext cx="1620000" cy="180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19999" y="4032000"/>
            <a:ext cx="1620000" cy="72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09999" y="4176000"/>
            <a:ext cx="14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JUIL.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9999" y="4535999"/>
            <a:ext cx="144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Lancement Douala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57999" y="3816000"/>
            <a:ext cx="144000" cy="19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91998" y="1944000"/>
            <a:ext cx="1620000" cy="180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91998" y="1944000"/>
            <a:ext cx="1620000" cy="72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1998" y="2088000"/>
            <a:ext cx="14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C3F7"/>
                </a:solidFill>
                <a:latin typeface="Calibri"/>
              </a:rPr>
              <a:t>SEPT.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1998" y="2447999"/>
            <a:ext cx="144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Rentrée scolaire · 1er accélérateur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9998" y="3816000"/>
            <a:ext cx="144000" cy="19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997" y="4032000"/>
            <a:ext cx="1620000" cy="180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997" y="4032000"/>
            <a:ext cx="1620000" cy="72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3997" y="4176000"/>
            <a:ext cx="14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C3F7"/>
                </a:solidFill>
                <a:latin typeface="Calibri"/>
              </a:rPr>
              <a:t>DÉC.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3997" y="4535999"/>
            <a:ext cx="144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Yaóundé + Bafoussam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01997" y="3816000"/>
            <a:ext cx="144000" cy="19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5996" y="1944000"/>
            <a:ext cx="1620000" cy="180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5996" y="1944000"/>
            <a:ext cx="1620000" cy="7200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5996" y="2088000"/>
            <a:ext cx="14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933"/>
                </a:solidFill>
                <a:latin typeface="Calibri"/>
              </a:rPr>
              <a:t>JUIN 2027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5996" y="2447999"/>
            <a:ext cx="144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Cameroun national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73996" y="3816000"/>
            <a:ext cx="144000" cy="19800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07995" y="4032000"/>
            <a:ext cx="1620000" cy="180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07995" y="4032000"/>
            <a:ext cx="1620000" cy="7200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97995" y="4176000"/>
            <a:ext cx="14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7A"/>
                </a:solidFill>
                <a:latin typeface="Calibri"/>
              </a:rPr>
              <a:t>DÉC. 2027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97995" y="4535999"/>
            <a:ext cx="144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✅ Break-even mensuel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745995" y="3816000"/>
            <a:ext cx="144000" cy="19800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3999" y="648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Passons à l'action.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1620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C4DE"/>
                </a:solidFill>
                <a:latin typeface="Calibri"/>
              </a:rPr>
              <a:t>Yukpo est prêt. L'app existe. Il reste à la faire connaître.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999" y="2340000"/>
            <a:ext cx="6120000" cy="270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3999" y="2340000"/>
            <a:ext cx="90000" cy="270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520000"/>
            <a:ext cx="55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Hernandez LELE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2988000"/>
            <a:ext cx="55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AF37"/>
                </a:solidFill>
                <a:latin typeface="Calibri"/>
              </a:rPr>
              <a:t>Fondateur &amp; CEO — Yukpo Company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420000"/>
            <a:ext cx="55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FC3F7"/>
                </a:solidFill>
                <a:latin typeface="Calibri"/>
              </a:rPr>
              <a:t>📧 lelehernandez2007@yahoo.fr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3744000"/>
            <a:ext cx="55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FC3F7"/>
                </a:solidFill>
                <a:latin typeface="Calibri"/>
              </a:rPr>
              <a:t>📞 +237 674 546 895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4068000"/>
            <a:ext cx="55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FC3F7"/>
                </a:solidFill>
                <a:latin typeface="Calibri"/>
              </a:rPr>
              <a:t>🌐 yukpomnang.com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0" y="2340000"/>
            <a:ext cx="4500000" cy="2700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80000" y="3060000"/>
            <a:ext cx="41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C4DE"/>
                </a:solidFill>
                <a:latin typeface="Calibri"/>
              </a:rPr>
              <a:t>NDA disponible
Data room sur demande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000" y="6624000"/>
            <a:ext cx="100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E"/>
                </a:solidFill>
                <a:latin typeface="Calibri"/>
              </a:rPr>
              <a:t>Confidentiel — Yukpo  ·  Reproduction interdite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