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trimestriels (M FCFA)</c:v>
                </c:pt>
              </c:strCache>
            </c:strRef>
          </c:tx>
          <c:spPr>
            <a:solidFill>
              <a:srgbClr val="D4AF3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Sheet1!$B$2:$B$9</c:f>
              <c:numCache>
                <c:formatCode>General</c:formatCode>
                <c:ptCount val="8"/>
                <c:pt idx="0">
                  <c:v>3</c:v>
                </c:pt>
                <c:pt idx="1">
                  <c:v>8</c:v>
                </c:pt>
                <c:pt idx="2">
                  <c:v>14</c:v>
                </c:pt>
                <c:pt idx="3">
                  <c:v>22</c:v>
                </c:pt>
                <c:pt idx="4">
                  <c:v>33</c:v>
                </c:pt>
                <c:pt idx="5">
                  <c:v>48</c:v>
                </c:pt>
                <c:pt idx="6">
                  <c:v>65</c:v>
                </c:pt>
                <c:pt idx="7">
                  <c:v>88</c:v>
                </c:pt>
              </c:numCache>
            </c:numRef>
          </c:val>
        </c:ser>
        <c:ser>
          <c:idx val="1"/>
          <c:order val="1"/>
          <c:tx>
            <c:strRef>
              <c:f>Sheet1!$C$1</c:f>
              <c:strCache>
                <c:ptCount val="1"/>
                <c:pt idx="0">
                  <c:v>Charges trimestrielles (M FCFA)</c:v>
                </c:pt>
              </c:strCache>
            </c:strRef>
          </c:tx>
          <c:spPr>
            <a:solidFill>
              <a:srgbClr val="FF6B6B"/>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Sheet1!$C$2:$C$9</c:f>
              <c:numCache>
                <c:formatCode>General</c:formatCode>
                <c:ptCount val="8"/>
                <c:pt idx="0">
                  <c:v>28</c:v>
                </c:pt>
                <c:pt idx="1">
                  <c:v>25</c:v>
                </c:pt>
                <c:pt idx="2">
                  <c:v>22</c:v>
                </c:pt>
                <c:pt idx="3">
                  <c:v>26</c:v>
                </c:pt>
                <c:pt idx="4">
                  <c:v>30</c:v>
                </c:pt>
                <c:pt idx="5">
                  <c:v>34</c:v>
                </c:pt>
                <c:pt idx="6">
                  <c:v>38</c:v>
                </c:pt>
                <c:pt idx="7">
                  <c:v>42</c:v>
                </c:pt>
              </c:numCache>
            </c:numRef>
          </c:val>
        </c:ser>
        <c:ser>
          <c:idx val="2"/>
          <c:order val="2"/>
          <c:tx>
            <c:strRef>
              <c:f>Sheet1!$D$1</c:f>
              <c:strCache>
                <c:ptCount val="1"/>
                <c:pt idx="0">
                  <c:v>Trésorerie disponible (M FCFA)</c:v>
                </c:pt>
              </c:strCache>
            </c:strRef>
          </c:tx>
          <c:spPr>
            <a:solidFill>
              <a:srgbClr val="4FC3F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Sheet1!$D$2:$D$9</c:f>
              <c:numCache>
                <c:formatCode>General</c:formatCode>
                <c:ptCount val="8"/>
                <c:pt idx="0">
                  <c:v>95</c:v>
                </c:pt>
                <c:pt idx="1">
                  <c:v>78</c:v>
                </c:pt>
                <c:pt idx="2">
                  <c:v>70</c:v>
                </c:pt>
                <c:pt idx="3">
                  <c:v>66</c:v>
                </c:pt>
                <c:pt idx="4">
                  <c:v>69</c:v>
                </c:pt>
                <c:pt idx="5">
                  <c:v>83</c:v>
                </c:pt>
                <c:pt idx="6">
                  <c:v>110</c:v>
                </c:pt>
                <c:pt idx="7">
                  <c:v>156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TextBox 9"/>
          <p:cNvSpPr txBox="1"/>
          <p:nvPr/>
        </p:nvSpPr>
        <p:spPr>
          <a:xfrm>
            <a:off x="251999" y="2764800"/>
            <a:ext cx="3240000" cy="223200"/>
          </a:xfrm>
          <a:prstGeom prst="rect">
            <a:avLst/>
          </a:prstGeom>
          <a:noFill/>
        </p:spPr>
        <p:txBody>
          <a:bodyPr wrap="square">
            <a:spAutoFit/>
          </a:bodyPr>
          <a:lstStyle/>
          <a:p>
            <a:pPr algn="ctr"/>
            <a:r>
              <a:rPr sz="1000" b="0" i="1">
                <a:solidFill>
                  <a:srgbClr val="D4AF37"/>
                </a:solidFill>
              </a:rPr>
              <a:t>| BOARDROOM EDITION</a:t>
            </a:r>
          </a:p>
        </p:txBody>
      </p:sp>
      <p:sp>
        <p:nvSpPr>
          <p:cNvPr id="11" name="Rectangle 10"/>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4" name="TextBox 13"/>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5" name="Rectangle 14"/>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8" name="TextBox 17"/>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9" name="Rectangle 18"/>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2" name="TextBox 21"/>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3" name="TextBox 22"/>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4" name="TextBox 23"/>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022000"/>
            <a:ext cx="8784000" cy="2700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
        <p:nvSpPr>
          <p:cNvPr id="35" name="Rectangle 34"/>
          <p:cNvSpPr/>
          <p:nvPr/>
        </p:nvSpPr>
        <p:spPr>
          <a:xfrm>
            <a:off x="180000" y="5346000"/>
            <a:ext cx="8784000" cy="61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0000" y="5346000"/>
            <a:ext cx="79200" cy="61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4000" y="5374800"/>
            <a:ext cx="8568000" cy="558000"/>
          </a:xfrm>
          <a:prstGeom prst="rect">
            <a:avLst/>
          </a:prstGeom>
          <a:noFill/>
        </p:spPr>
        <p:txBody>
          <a:bodyPr wrap="square">
            <a:spAutoFit/>
          </a:bodyPr>
          <a:lstStyle/>
          <a:p>
            <a:pPr algn="l"/>
            <a:r>
              <a:rPr sz="900" b="0" i="1">
                <a:solidFill>
                  <a:srgbClr val="FF9933"/>
                </a:solidFill>
              </a:rPr>
              <a:t>Note : l'estimation de 8,5 Mrd FCFA est limitée aux services numériques immédiats (alimentation, boutiques, Creator Studio, Annonce Rapide). Elle n'intègre PAS : transport, immobilier, santé, Bourse du Livre, publicité in-app — secteurs dont YUKPO adresse aussi le besoin. Le marché réel total est bien supérieur.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le bon médicament dans la bonne pharmacie
(sans faire la tournée de 5 officines), un artisan disponible...
Chaque démarche prend des heures. 2 h perdues par jour en moyenne.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Localisation médicaments dispo, cliniques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Transactions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1 à 5 %
selon le service</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artisan ou vente réalisée, YUKPO prélève une commission plafonnée à 5 %. Transport &amp; Bourse du Livre : 5 %, alimentation : 4 %, boutiques : 3 %, immobilier : 2 %. Pharmacie : service de localisation sans commission sur les médicaments.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Forfaits Prestataires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3 000 – 10 000 F
par mois</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prestataire, boutique ou vendeur paie un forfait mensuel pour apparaître sur la plateforme. Revenu récurrent et prévisible, indépendant du volume de transactions. Bourse du Livre, Creator Studio et Annonce Rapide inclus.</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premium
sponsoring &amp; publicité</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acteurs souhaitant apparaître en 1re position, lancer des promotions ciblées ou diffuser des publicités in-app paient des forfaits additionnels. Revenu passif haute marge, non corrélé au volume de commandes.</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120 000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25 000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8 000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/5 sur 6 dimensions clés — YUKPO domine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584000" cy="413999"/>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30000"/>
            <a:ext cx="1476000" cy="305999"/>
          </a:xfrm>
          <a:prstGeom prst="rect">
            <a:avLst/>
          </a:prstGeom>
          <a:noFill/>
        </p:spPr>
        <p:txBody>
          <a:bodyPr wrap="square">
            <a:spAutoFit/>
          </a:bodyPr>
          <a:lstStyle/>
          <a:p>
            <a:pPr algn="ctr"/>
            <a:r>
              <a:rPr sz="1000" b="1" i="0">
                <a:solidFill>
                  <a:srgbClr val="B0C4DE"/>
                </a:solidFill>
              </a:rPr>
              <a:t>Dimension clé</a:t>
            </a:r>
          </a:p>
        </p:txBody>
      </p:sp>
      <p:sp>
        <p:nvSpPr>
          <p:cNvPr id="11" name="Rectangle 10"/>
          <p:cNvSpPr/>
          <p:nvPr/>
        </p:nvSpPr>
        <p:spPr>
          <a:xfrm>
            <a:off x="1728000" y="1458000"/>
            <a:ext cx="1004400" cy="413999"/>
          </a:xfrm>
          <a:prstGeom prst="rect">
            <a:avLst/>
          </a:prstGeom>
          <a:solidFill>
            <a:srgbClr val="D4AF3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64000" y="1530000"/>
            <a:ext cx="954000" cy="305999"/>
          </a:xfrm>
          <a:prstGeom prst="rect">
            <a:avLst/>
          </a:prstGeom>
          <a:noFill/>
        </p:spPr>
        <p:txBody>
          <a:bodyPr wrap="square">
            <a:spAutoFit/>
          </a:bodyPr>
          <a:lstStyle/>
          <a:p>
            <a:pPr algn="ctr"/>
            <a:r>
              <a:rPr sz="1100" b="1" i="0">
                <a:solidFill>
                  <a:srgbClr val="0B1E42"/>
                </a:solidFill>
              </a:rPr>
              <a:t>YUKPO</a:t>
            </a:r>
          </a:p>
        </p:txBody>
      </p:sp>
      <p:sp>
        <p:nvSpPr>
          <p:cNvPr id="13" name="Rectangle 12"/>
          <p:cNvSpPr/>
          <p:nvPr/>
        </p:nvSpPr>
        <p:spPr>
          <a:xfrm>
            <a:off x="2754000" y="1458000"/>
            <a:ext cx="1004400" cy="413999"/>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0000" y="1530000"/>
            <a:ext cx="954000" cy="305999"/>
          </a:xfrm>
          <a:prstGeom prst="rect">
            <a:avLst/>
          </a:prstGeom>
          <a:noFill/>
        </p:spPr>
        <p:txBody>
          <a:bodyPr wrap="square">
            <a:spAutoFit/>
          </a:bodyPr>
          <a:lstStyle/>
          <a:p>
            <a:pPr algn="ctr"/>
            <a:r>
              <a:rPr sz="1100" b="1" i="0">
                <a:solidFill>
                  <a:srgbClr val="4FC3F7"/>
                </a:solidFill>
              </a:rPr>
              <a:t>Yango</a:t>
            </a:r>
          </a:p>
        </p:txBody>
      </p:sp>
      <p:sp>
        <p:nvSpPr>
          <p:cNvPr id="15" name="Rectangle 14"/>
          <p:cNvSpPr/>
          <p:nvPr/>
        </p:nvSpPr>
        <p:spPr>
          <a:xfrm>
            <a:off x="3780000" y="1458000"/>
            <a:ext cx="1004400" cy="413999"/>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6000" y="1530000"/>
            <a:ext cx="954000" cy="305999"/>
          </a:xfrm>
          <a:prstGeom prst="rect">
            <a:avLst/>
          </a:prstGeom>
          <a:noFill/>
        </p:spPr>
        <p:txBody>
          <a:bodyPr wrap="square">
            <a:spAutoFit/>
          </a:bodyPr>
          <a:lstStyle/>
          <a:p>
            <a:pPr algn="ctr"/>
            <a:r>
              <a:rPr sz="1100" b="1" i="0">
                <a:solidFill>
                  <a:srgbClr val="00C87A"/>
                </a:solidFill>
              </a:rPr>
              <a:t>Jumia Food</a:t>
            </a:r>
          </a:p>
        </p:txBody>
      </p:sp>
      <p:sp>
        <p:nvSpPr>
          <p:cNvPr id="17" name="Rectangle 16"/>
          <p:cNvSpPr/>
          <p:nvPr/>
        </p:nvSpPr>
        <p:spPr>
          <a:xfrm>
            <a:off x="4806000" y="1458000"/>
            <a:ext cx="1004400" cy="413999"/>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2000" y="1530000"/>
            <a:ext cx="954000" cy="305999"/>
          </a:xfrm>
          <a:prstGeom prst="rect">
            <a:avLst/>
          </a:prstGeom>
          <a:noFill/>
        </p:spPr>
        <p:txBody>
          <a:bodyPr wrap="square">
            <a:spAutoFit/>
          </a:bodyPr>
          <a:lstStyle/>
          <a:p>
            <a:pPr algn="ctr"/>
            <a:r>
              <a:rPr sz="1100" b="1" i="0">
                <a:solidFill>
                  <a:srgbClr val="FF9933"/>
                </a:solidFill>
              </a:rPr>
              <a:t>Locaux</a:t>
            </a:r>
          </a:p>
        </p:txBody>
      </p:sp>
      <p:sp>
        <p:nvSpPr>
          <p:cNvPr id="19" name="Rectangle 18"/>
          <p:cNvSpPr/>
          <p:nvPr/>
        </p:nvSpPr>
        <p:spPr>
          <a:xfrm>
            <a:off x="144000" y="1871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4000" y="1925999"/>
            <a:ext cx="1440000" cy="666000"/>
          </a:xfrm>
          <a:prstGeom prst="rect">
            <a:avLst/>
          </a:prstGeom>
          <a:noFill/>
        </p:spPr>
        <p:txBody>
          <a:bodyPr wrap="square">
            <a:spAutoFit/>
          </a:bodyPr>
          <a:lstStyle/>
          <a:p>
            <a:pPr algn="l"/>
            <a:r>
              <a:rPr sz="1000" b="0" i="0">
                <a:solidFill>
                  <a:srgbClr val="FFFFFF"/>
                </a:solidFill>
              </a:rPr>
              <a:t>Services intégrés</a:t>
            </a:r>
          </a:p>
        </p:txBody>
      </p:sp>
      <p:sp>
        <p:nvSpPr>
          <p:cNvPr id="21" name="Rectangle 20"/>
          <p:cNvSpPr/>
          <p:nvPr/>
        </p:nvSpPr>
        <p:spPr>
          <a:xfrm>
            <a:off x="1728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34000" y="204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34000" y="2042999"/>
            <a:ext cx="413999" cy="413999"/>
          </a:xfrm>
          <a:prstGeom prst="rect">
            <a:avLst/>
          </a:prstGeom>
          <a:noFill/>
        </p:spPr>
        <p:txBody>
          <a:bodyPr wrap="square">
            <a:spAutoFit/>
          </a:bodyPr>
          <a:lstStyle/>
          <a:p>
            <a:pPr algn="ctr"/>
            <a:r>
              <a:rPr sz="1400" b="1" i="0">
                <a:solidFill>
                  <a:srgbClr val="0B1E42"/>
                </a:solidFill>
              </a:rPr>
              <a:t>5</a:t>
            </a:r>
          </a:p>
        </p:txBody>
      </p:sp>
      <p:sp>
        <p:nvSpPr>
          <p:cNvPr id="24" name="Rectangle 23"/>
          <p:cNvSpPr/>
          <p:nvPr/>
        </p:nvSpPr>
        <p:spPr>
          <a:xfrm>
            <a:off x="2754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60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0000" y="2042999"/>
            <a:ext cx="413999" cy="413999"/>
          </a:xfrm>
          <a:prstGeom prst="rect">
            <a:avLst/>
          </a:prstGeom>
          <a:noFill/>
        </p:spPr>
        <p:txBody>
          <a:bodyPr wrap="square">
            <a:spAutoFit/>
          </a:bodyPr>
          <a:lstStyle/>
          <a:p>
            <a:pPr algn="ctr"/>
            <a:r>
              <a:rPr sz="1400" b="1" i="0">
                <a:solidFill>
                  <a:srgbClr val="0B1E42"/>
                </a:solidFill>
              </a:rPr>
              <a:t>2</a:t>
            </a:r>
          </a:p>
        </p:txBody>
      </p:sp>
      <p:sp>
        <p:nvSpPr>
          <p:cNvPr id="27" name="Rectangle 26"/>
          <p:cNvSpPr/>
          <p:nvPr/>
        </p:nvSpPr>
        <p:spPr>
          <a:xfrm>
            <a:off x="3780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086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86000" y="2042999"/>
            <a:ext cx="413999" cy="413999"/>
          </a:xfrm>
          <a:prstGeom prst="rect">
            <a:avLst/>
          </a:prstGeom>
          <a:noFill/>
        </p:spPr>
        <p:txBody>
          <a:bodyPr wrap="square">
            <a:spAutoFit/>
          </a:bodyPr>
          <a:lstStyle/>
          <a:p>
            <a:pPr algn="ctr"/>
            <a:r>
              <a:rPr sz="1400" b="1" i="0">
                <a:solidFill>
                  <a:srgbClr val="0B1E42"/>
                </a:solidFill>
              </a:rPr>
              <a:t>2</a:t>
            </a:r>
          </a:p>
        </p:txBody>
      </p:sp>
      <p:sp>
        <p:nvSpPr>
          <p:cNvPr id="30" name="Rectangle 29"/>
          <p:cNvSpPr/>
          <p:nvPr/>
        </p:nvSpPr>
        <p:spPr>
          <a:xfrm>
            <a:off x="4806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12000" y="204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12000" y="2042999"/>
            <a:ext cx="413999" cy="413999"/>
          </a:xfrm>
          <a:prstGeom prst="rect">
            <a:avLst/>
          </a:prstGeom>
          <a:noFill/>
        </p:spPr>
        <p:txBody>
          <a:bodyPr wrap="square">
            <a:spAutoFit/>
          </a:bodyPr>
          <a:lstStyle/>
          <a:p>
            <a:pPr algn="ctr"/>
            <a:r>
              <a:rPr sz="1400" b="1" i="0">
                <a:solidFill>
                  <a:srgbClr val="FFFFFF"/>
                </a:solidFill>
              </a:rPr>
              <a:t>1</a:t>
            </a:r>
          </a:p>
        </p:txBody>
      </p:sp>
      <p:sp>
        <p:nvSpPr>
          <p:cNvPr id="33" name="Rectangle 32"/>
          <p:cNvSpPr/>
          <p:nvPr/>
        </p:nvSpPr>
        <p:spPr>
          <a:xfrm>
            <a:off x="144000" y="2627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4000" y="2681999"/>
            <a:ext cx="1440000" cy="666000"/>
          </a:xfrm>
          <a:prstGeom prst="rect">
            <a:avLst/>
          </a:prstGeom>
          <a:noFill/>
        </p:spPr>
        <p:txBody>
          <a:bodyPr wrap="square">
            <a:spAutoFit/>
          </a:bodyPr>
          <a:lstStyle/>
          <a:p>
            <a:pPr algn="l"/>
            <a:r>
              <a:rPr sz="1000" b="0" i="0">
                <a:solidFill>
                  <a:srgbClr val="FFFFFF"/>
                </a:solidFill>
              </a:rPr>
              <a:t>Présence locale</a:t>
            </a:r>
          </a:p>
        </p:txBody>
      </p:sp>
      <p:sp>
        <p:nvSpPr>
          <p:cNvPr id="35" name="Rectangle 34"/>
          <p:cNvSpPr/>
          <p:nvPr/>
        </p:nvSpPr>
        <p:spPr>
          <a:xfrm>
            <a:off x="1728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34000" y="2798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34000" y="2798999"/>
            <a:ext cx="413999" cy="413999"/>
          </a:xfrm>
          <a:prstGeom prst="rect">
            <a:avLst/>
          </a:prstGeom>
          <a:noFill/>
        </p:spPr>
        <p:txBody>
          <a:bodyPr wrap="square">
            <a:spAutoFit/>
          </a:bodyPr>
          <a:lstStyle/>
          <a:p>
            <a:pPr algn="ctr"/>
            <a:r>
              <a:rPr sz="1400" b="1" i="0">
                <a:solidFill>
                  <a:srgbClr val="0B1E42"/>
                </a:solidFill>
              </a:rPr>
              <a:t>5</a:t>
            </a:r>
          </a:p>
        </p:txBody>
      </p:sp>
      <p:sp>
        <p:nvSpPr>
          <p:cNvPr id="38" name="Rectangle 37"/>
          <p:cNvSpPr/>
          <p:nvPr/>
        </p:nvSpPr>
        <p:spPr>
          <a:xfrm>
            <a:off x="2754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060000" y="2798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000" y="2798999"/>
            <a:ext cx="413999" cy="413999"/>
          </a:xfrm>
          <a:prstGeom prst="rect">
            <a:avLst/>
          </a:prstGeom>
          <a:noFill/>
        </p:spPr>
        <p:txBody>
          <a:bodyPr wrap="square">
            <a:spAutoFit/>
          </a:bodyPr>
          <a:lstStyle/>
          <a:p>
            <a:pPr algn="ctr"/>
            <a:r>
              <a:rPr sz="1400" b="1" i="0">
                <a:solidFill>
                  <a:srgbClr val="0B1E42"/>
                </a:solidFill>
              </a:rPr>
              <a:t>3</a:t>
            </a:r>
          </a:p>
        </p:txBody>
      </p:sp>
      <p:sp>
        <p:nvSpPr>
          <p:cNvPr id="41" name="Rectangle 40"/>
          <p:cNvSpPr/>
          <p:nvPr/>
        </p:nvSpPr>
        <p:spPr>
          <a:xfrm>
            <a:off x="3780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86000" y="2798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86000" y="2798999"/>
            <a:ext cx="413999" cy="413999"/>
          </a:xfrm>
          <a:prstGeom prst="rect">
            <a:avLst/>
          </a:prstGeom>
          <a:noFill/>
        </p:spPr>
        <p:txBody>
          <a:bodyPr wrap="square">
            <a:spAutoFit/>
          </a:bodyPr>
          <a:lstStyle/>
          <a:p>
            <a:pPr algn="ctr"/>
            <a:r>
              <a:rPr sz="1400" b="1" i="0">
                <a:solidFill>
                  <a:srgbClr val="0B1E42"/>
                </a:solidFill>
              </a:rPr>
              <a:t>2</a:t>
            </a:r>
          </a:p>
        </p:txBody>
      </p:sp>
      <p:sp>
        <p:nvSpPr>
          <p:cNvPr id="44" name="Rectangle 43"/>
          <p:cNvSpPr/>
          <p:nvPr/>
        </p:nvSpPr>
        <p:spPr>
          <a:xfrm>
            <a:off x="4806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112000" y="2798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2798999"/>
            <a:ext cx="413999" cy="413999"/>
          </a:xfrm>
          <a:prstGeom prst="rect">
            <a:avLst/>
          </a:prstGeom>
          <a:noFill/>
        </p:spPr>
        <p:txBody>
          <a:bodyPr wrap="square">
            <a:spAutoFit/>
          </a:bodyPr>
          <a:lstStyle/>
          <a:p>
            <a:pPr algn="ctr"/>
            <a:r>
              <a:rPr sz="1400" b="1" i="0">
                <a:solidFill>
                  <a:srgbClr val="0B1E42"/>
                </a:solidFill>
              </a:rPr>
              <a:t>4</a:t>
            </a:r>
          </a:p>
        </p:txBody>
      </p:sp>
      <p:sp>
        <p:nvSpPr>
          <p:cNvPr id="47" name="Rectangle 46"/>
          <p:cNvSpPr/>
          <p:nvPr/>
        </p:nvSpPr>
        <p:spPr>
          <a:xfrm>
            <a:off x="144000" y="3383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4000" y="3437999"/>
            <a:ext cx="1440000" cy="666000"/>
          </a:xfrm>
          <a:prstGeom prst="rect">
            <a:avLst/>
          </a:prstGeom>
          <a:noFill/>
        </p:spPr>
        <p:txBody>
          <a:bodyPr wrap="square">
            <a:spAutoFit/>
          </a:bodyPr>
          <a:lstStyle/>
          <a:p>
            <a:pPr algn="l"/>
            <a:r>
              <a:rPr sz="1000" b="0" i="0">
                <a:solidFill>
                  <a:srgbClr val="FFFFFF"/>
                </a:solidFill>
              </a:rPr>
              <a:t>Fiabilité &amp; Avis</a:t>
            </a:r>
          </a:p>
        </p:txBody>
      </p:sp>
      <p:sp>
        <p:nvSpPr>
          <p:cNvPr id="49" name="Rectangle 48"/>
          <p:cNvSpPr/>
          <p:nvPr/>
        </p:nvSpPr>
        <p:spPr>
          <a:xfrm>
            <a:off x="1728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34000" y="3554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34000" y="3554999"/>
            <a:ext cx="413999" cy="413999"/>
          </a:xfrm>
          <a:prstGeom prst="rect">
            <a:avLst/>
          </a:prstGeom>
          <a:noFill/>
        </p:spPr>
        <p:txBody>
          <a:bodyPr wrap="square">
            <a:spAutoFit/>
          </a:bodyPr>
          <a:lstStyle/>
          <a:p>
            <a:pPr algn="ctr"/>
            <a:r>
              <a:rPr sz="1400" b="1" i="0">
                <a:solidFill>
                  <a:srgbClr val="0B1E42"/>
                </a:solidFill>
              </a:rPr>
              <a:t>5</a:t>
            </a:r>
          </a:p>
        </p:txBody>
      </p:sp>
      <p:sp>
        <p:nvSpPr>
          <p:cNvPr id="52" name="Rectangle 51"/>
          <p:cNvSpPr/>
          <p:nvPr/>
        </p:nvSpPr>
        <p:spPr>
          <a:xfrm>
            <a:off x="2754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060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060000" y="3554999"/>
            <a:ext cx="413999" cy="413999"/>
          </a:xfrm>
          <a:prstGeom prst="rect">
            <a:avLst/>
          </a:prstGeom>
          <a:noFill/>
        </p:spPr>
        <p:txBody>
          <a:bodyPr wrap="square">
            <a:spAutoFit/>
          </a:bodyPr>
          <a:lstStyle/>
          <a:p>
            <a:pPr algn="ctr"/>
            <a:r>
              <a:rPr sz="1400" b="1" i="0">
                <a:solidFill>
                  <a:srgbClr val="0B1E42"/>
                </a:solidFill>
              </a:rPr>
              <a:t>3</a:t>
            </a:r>
          </a:p>
        </p:txBody>
      </p:sp>
      <p:sp>
        <p:nvSpPr>
          <p:cNvPr id="55" name="Rectangle 54"/>
          <p:cNvSpPr/>
          <p:nvPr/>
        </p:nvSpPr>
        <p:spPr>
          <a:xfrm>
            <a:off x="3780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086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86000" y="3554999"/>
            <a:ext cx="413999" cy="413999"/>
          </a:xfrm>
          <a:prstGeom prst="rect">
            <a:avLst/>
          </a:prstGeom>
          <a:noFill/>
        </p:spPr>
        <p:txBody>
          <a:bodyPr wrap="square">
            <a:spAutoFit/>
          </a:bodyPr>
          <a:lstStyle/>
          <a:p>
            <a:pPr algn="ctr"/>
            <a:r>
              <a:rPr sz="1400" b="1" i="0">
                <a:solidFill>
                  <a:srgbClr val="0B1E42"/>
                </a:solidFill>
              </a:rPr>
              <a:t>3</a:t>
            </a:r>
          </a:p>
        </p:txBody>
      </p:sp>
      <p:sp>
        <p:nvSpPr>
          <p:cNvPr id="58" name="Rectangle 57"/>
          <p:cNvSpPr/>
          <p:nvPr/>
        </p:nvSpPr>
        <p:spPr>
          <a:xfrm>
            <a:off x="4806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112000" y="3554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12000" y="3554999"/>
            <a:ext cx="413999" cy="413999"/>
          </a:xfrm>
          <a:prstGeom prst="rect">
            <a:avLst/>
          </a:prstGeom>
          <a:noFill/>
        </p:spPr>
        <p:txBody>
          <a:bodyPr wrap="square">
            <a:spAutoFit/>
          </a:bodyPr>
          <a:lstStyle/>
          <a:p>
            <a:pPr algn="ctr"/>
            <a:r>
              <a:rPr sz="1400" b="1" i="0">
                <a:solidFill>
                  <a:srgbClr val="0B1E42"/>
                </a:solidFill>
              </a:rPr>
              <a:t>2</a:t>
            </a:r>
          </a:p>
        </p:txBody>
      </p:sp>
      <p:sp>
        <p:nvSpPr>
          <p:cNvPr id="61" name="Rectangle 60"/>
          <p:cNvSpPr/>
          <p:nvPr/>
        </p:nvSpPr>
        <p:spPr>
          <a:xfrm>
            <a:off x="144000" y="4139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4000" y="4193999"/>
            <a:ext cx="1440000" cy="666000"/>
          </a:xfrm>
          <a:prstGeom prst="rect">
            <a:avLst/>
          </a:prstGeom>
          <a:noFill/>
        </p:spPr>
        <p:txBody>
          <a:bodyPr wrap="square">
            <a:spAutoFit/>
          </a:bodyPr>
          <a:lstStyle/>
          <a:p>
            <a:pPr algn="l"/>
            <a:r>
              <a:rPr sz="1000" b="0" i="0">
                <a:solidFill>
                  <a:srgbClr val="FFFFFF"/>
                </a:solidFill>
              </a:rPr>
              <a:t>Innovation IA</a:t>
            </a:r>
          </a:p>
        </p:txBody>
      </p:sp>
      <p:sp>
        <p:nvSpPr>
          <p:cNvPr id="63" name="Rectangle 62"/>
          <p:cNvSpPr/>
          <p:nvPr/>
        </p:nvSpPr>
        <p:spPr>
          <a:xfrm>
            <a:off x="1728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34000" y="4310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034000" y="4310999"/>
            <a:ext cx="413999" cy="413999"/>
          </a:xfrm>
          <a:prstGeom prst="rect">
            <a:avLst/>
          </a:prstGeom>
          <a:noFill/>
        </p:spPr>
        <p:txBody>
          <a:bodyPr wrap="square">
            <a:spAutoFit/>
          </a:bodyPr>
          <a:lstStyle/>
          <a:p>
            <a:pPr algn="ctr"/>
            <a:r>
              <a:rPr sz="1400" b="1" i="0">
                <a:solidFill>
                  <a:srgbClr val="0B1E42"/>
                </a:solidFill>
              </a:rPr>
              <a:t>5</a:t>
            </a:r>
          </a:p>
        </p:txBody>
      </p:sp>
      <p:sp>
        <p:nvSpPr>
          <p:cNvPr id="66" name="Rectangle 65"/>
          <p:cNvSpPr/>
          <p:nvPr/>
        </p:nvSpPr>
        <p:spPr>
          <a:xfrm>
            <a:off x="2754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060000" y="4310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60000" y="4310999"/>
            <a:ext cx="413999" cy="413999"/>
          </a:xfrm>
          <a:prstGeom prst="rect">
            <a:avLst/>
          </a:prstGeom>
          <a:noFill/>
        </p:spPr>
        <p:txBody>
          <a:bodyPr wrap="square">
            <a:spAutoFit/>
          </a:bodyPr>
          <a:lstStyle/>
          <a:p>
            <a:pPr algn="ctr"/>
            <a:r>
              <a:rPr sz="1400" b="1" i="0">
                <a:solidFill>
                  <a:srgbClr val="0B1E42"/>
                </a:solidFill>
              </a:rPr>
              <a:t>2</a:t>
            </a:r>
          </a:p>
        </p:txBody>
      </p:sp>
      <p:sp>
        <p:nvSpPr>
          <p:cNvPr id="69" name="Rectangle 68"/>
          <p:cNvSpPr/>
          <p:nvPr/>
        </p:nvSpPr>
        <p:spPr>
          <a:xfrm>
            <a:off x="3780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6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086000" y="4310999"/>
            <a:ext cx="413999" cy="413999"/>
          </a:xfrm>
          <a:prstGeom prst="rect">
            <a:avLst/>
          </a:prstGeom>
          <a:noFill/>
        </p:spPr>
        <p:txBody>
          <a:bodyPr wrap="square">
            <a:spAutoFit/>
          </a:bodyPr>
          <a:lstStyle/>
          <a:p>
            <a:pPr algn="ctr"/>
            <a:r>
              <a:rPr sz="1400" b="1" i="0">
                <a:solidFill>
                  <a:srgbClr val="FFFFFF"/>
                </a:solidFill>
              </a:rPr>
              <a:t>1</a:t>
            </a:r>
          </a:p>
        </p:txBody>
      </p:sp>
      <p:sp>
        <p:nvSpPr>
          <p:cNvPr id="72" name="Rectangle 71"/>
          <p:cNvSpPr/>
          <p:nvPr/>
        </p:nvSpPr>
        <p:spPr>
          <a:xfrm>
            <a:off x="4806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112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12000" y="4310999"/>
            <a:ext cx="413999" cy="413999"/>
          </a:xfrm>
          <a:prstGeom prst="rect">
            <a:avLst/>
          </a:prstGeom>
          <a:noFill/>
        </p:spPr>
        <p:txBody>
          <a:bodyPr wrap="square">
            <a:spAutoFit/>
          </a:bodyPr>
          <a:lstStyle/>
          <a:p>
            <a:pPr algn="ctr"/>
            <a:r>
              <a:rPr sz="1400" b="1" i="0">
                <a:solidFill>
                  <a:srgbClr val="FFFFFF"/>
                </a:solidFill>
              </a:rPr>
              <a:t>1</a:t>
            </a:r>
          </a:p>
        </p:txBody>
      </p:sp>
      <p:sp>
        <p:nvSpPr>
          <p:cNvPr id="75" name="Rectangle 74"/>
          <p:cNvSpPr/>
          <p:nvPr/>
        </p:nvSpPr>
        <p:spPr>
          <a:xfrm>
            <a:off x="144000" y="4895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34000" y="4949999"/>
            <a:ext cx="1440000" cy="666000"/>
          </a:xfrm>
          <a:prstGeom prst="rect">
            <a:avLst/>
          </a:prstGeom>
          <a:noFill/>
        </p:spPr>
        <p:txBody>
          <a:bodyPr wrap="square">
            <a:spAutoFit/>
          </a:bodyPr>
          <a:lstStyle/>
          <a:p>
            <a:pPr algn="l"/>
            <a:r>
              <a:rPr sz="1000" b="0" i="0">
                <a:solidFill>
                  <a:srgbClr val="FFFFFF"/>
                </a:solidFill>
              </a:rPr>
              <a:t>Expér. utilisateur</a:t>
            </a:r>
          </a:p>
        </p:txBody>
      </p:sp>
      <p:sp>
        <p:nvSpPr>
          <p:cNvPr id="77" name="Rectangle 76"/>
          <p:cNvSpPr/>
          <p:nvPr/>
        </p:nvSpPr>
        <p:spPr>
          <a:xfrm>
            <a:off x="1728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034000" y="5066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034000" y="5066999"/>
            <a:ext cx="413999" cy="413999"/>
          </a:xfrm>
          <a:prstGeom prst="rect">
            <a:avLst/>
          </a:prstGeom>
          <a:noFill/>
        </p:spPr>
        <p:txBody>
          <a:bodyPr wrap="square">
            <a:spAutoFit/>
          </a:bodyPr>
          <a:lstStyle/>
          <a:p>
            <a:pPr algn="ctr"/>
            <a:r>
              <a:rPr sz="1400" b="1" i="0">
                <a:solidFill>
                  <a:srgbClr val="0B1E42"/>
                </a:solidFill>
              </a:rPr>
              <a:t>5</a:t>
            </a:r>
          </a:p>
        </p:txBody>
      </p:sp>
      <p:sp>
        <p:nvSpPr>
          <p:cNvPr id="80" name="Rectangle 79"/>
          <p:cNvSpPr/>
          <p:nvPr/>
        </p:nvSpPr>
        <p:spPr>
          <a:xfrm>
            <a:off x="2754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60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60000" y="5066999"/>
            <a:ext cx="413999" cy="413999"/>
          </a:xfrm>
          <a:prstGeom prst="rect">
            <a:avLst/>
          </a:prstGeom>
          <a:noFill/>
        </p:spPr>
        <p:txBody>
          <a:bodyPr wrap="square">
            <a:spAutoFit/>
          </a:bodyPr>
          <a:lstStyle/>
          <a:p>
            <a:pPr algn="ctr"/>
            <a:r>
              <a:rPr sz="1400" b="1" i="0">
                <a:solidFill>
                  <a:srgbClr val="0B1E42"/>
                </a:solidFill>
              </a:rPr>
              <a:t>3</a:t>
            </a:r>
          </a:p>
        </p:txBody>
      </p:sp>
      <p:sp>
        <p:nvSpPr>
          <p:cNvPr id="83" name="Rectangle 82"/>
          <p:cNvSpPr/>
          <p:nvPr/>
        </p:nvSpPr>
        <p:spPr>
          <a:xfrm>
            <a:off x="3780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086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086000" y="5066999"/>
            <a:ext cx="413999" cy="413999"/>
          </a:xfrm>
          <a:prstGeom prst="rect">
            <a:avLst/>
          </a:prstGeom>
          <a:noFill/>
        </p:spPr>
        <p:txBody>
          <a:bodyPr wrap="square">
            <a:spAutoFit/>
          </a:bodyPr>
          <a:lstStyle/>
          <a:p>
            <a:pPr algn="ctr"/>
            <a:r>
              <a:rPr sz="1400" b="1" i="0">
                <a:solidFill>
                  <a:srgbClr val="0B1E42"/>
                </a:solidFill>
              </a:rPr>
              <a:t>3</a:t>
            </a:r>
          </a:p>
        </p:txBody>
      </p:sp>
      <p:sp>
        <p:nvSpPr>
          <p:cNvPr id="86" name="Rectangle 85"/>
          <p:cNvSpPr/>
          <p:nvPr/>
        </p:nvSpPr>
        <p:spPr>
          <a:xfrm>
            <a:off x="4806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12000" y="5066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12000" y="5066999"/>
            <a:ext cx="413999" cy="413999"/>
          </a:xfrm>
          <a:prstGeom prst="rect">
            <a:avLst/>
          </a:prstGeom>
          <a:noFill/>
        </p:spPr>
        <p:txBody>
          <a:bodyPr wrap="square">
            <a:spAutoFit/>
          </a:bodyPr>
          <a:lstStyle/>
          <a:p>
            <a:pPr algn="ctr"/>
            <a:r>
              <a:rPr sz="1400" b="1" i="0">
                <a:solidFill>
                  <a:srgbClr val="0B1E42"/>
                </a:solidFill>
              </a:rPr>
              <a:t>2</a:t>
            </a:r>
          </a:p>
        </p:txBody>
      </p:sp>
      <p:sp>
        <p:nvSpPr>
          <p:cNvPr id="89" name="Rectangle 88"/>
          <p:cNvSpPr/>
          <p:nvPr/>
        </p:nvSpPr>
        <p:spPr>
          <a:xfrm>
            <a:off x="144000" y="5651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34000" y="5705999"/>
            <a:ext cx="1440000" cy="666000"/>
          </a:xfrm>
          <a:prstGeom prst="rect">
            <a:avLst/>
          </a:prstGeom>
          <a:noFill/>
        </p:spPr>
        <p:txBody>
          <a:bodyPr wrap="square">
            <a:spAutoFit/>
          </a:bodyPr>
          <a:lstStyle/>
          <a:p>
            <a:pPr algn="l"/>
            <a:r>
              <a:rPr sz="1000" b="0" i="0">
                <a:solidFill>
                  <a:srgbClr val="FFFFFF"/>
                </a:solidFill>
              </a:rPr>
              <a:t>Transparence prix</a:t>
            </a:r>
          </a:p>
        </p:txBody>
      </p:sp>
      <p:sp>
        <p:nvSpPr>
          <p:cNvPr id="91" name="Rectangle 90"/>
          <p:cNvSpPr/>
          <p:nvPr/>
        </p:nvSpPr>
        <p:spPr>
          <a:xfrm>
            <a:off x="1728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034000" y="582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34000" y="5822999"/>
            <a:ext cx="413999" cy="413999"/>
          </a:xfrm>
          <a:prstGeom prst="rect">
            <a:avLst/>
          </a:prstGeom>
          <a:noFill/>
        </p:spPr>
        <p:txBody>
          <a:bodyPr wrap="square">
            <a:spAutoFit/>
          </a:bodyPr>
          <a:lstStyle/>
          <a:p>
            <a:pPr algn="ctr"/>
            <a:r>
              <a:rPr sz="1400" b="1" i="0">
                <a:solidFill>
                  <a:srgbClr val="0B1E42"/>
                </a:solidFill>
              </a:rPr>
              <a:t>5</a:t>
            </a:r>
          </a:p>
        </p:txBody>
      </p:sp>
      <p:sp>
        <p:nvSpPr>
          <p:cNvPr id="94" name="Rectangle 93"/>
          <p:cNvSpPr/>
          <p:nvPr/>
        </p:nvSpPr>
        <p:spPr>
          <a:xfrm>
            <a:off x="2754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060000" y="582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060000" y="5822999"/>
            <a:ext cx="413999" cy="413999"/>
          </a:xfrm>
          <a:prstGeom prst="rect">
            <a:avLst/>
          </a:prstGeom>
          <a:noFill/>
        </p:spPr>
        <p:txBody>
          <a:bodyPr wrap="square">
            <a:spAutoFit/>
          </a:bodyPr>
          <a:lstStyle/>
          <a:p>
            <a:pPr algn="ctr"/>
            <a:r>
              <a:rPr sz="1400" b="1" i="0">
                <a:solidFill>
                  <a:srgbClr val="0B1E42"/>
                </a:solidFill>
              </a:rPr>
              <a:t>2</a:t>
            </a:r>
          </a:p>
        </p:txBody>
      </p:sp>
      <p:sp>
        <p:nvSpPr>
          <p:cNvPr id="97" name="Rectangle 96"/>
          <p:cNvSpPr/>
          <p:nvPr/>
        </p:nvSpPr>
        <p:spPr>
          <a:xfrm>
            <a:off x="3780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086000" y="5822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086000" y="5822999"/>
            <a:ext cx="413999" cy="413999"/>
          </a:xfrm>
          <a:prstGeom prst="rect">
            <a:avLst/>
          </a:prstGeom>
          <a:noFill/>
        </p:spPr>
        <p:txBody>
          <a:bodyPr wrap="square">
            <a:spAutoFit/>
          </a:bodyPr>
          <a:lstStyle/>
          <a:p>
            <a:pPr algn="ctr"/>
            <a:r>
              <a:rPr sz="1400" b="1" i="0">
                <a:solidFill>
                  <a:srgbClr val="0B1E42"/>
                </a:solidFill>
              </a:rPr>
              <a:t>4</a:t>
            </a:r>
          </a:p>
        </p:txBody>
      </p:sp>
      <p:sp>
        <p:nvSpPr>
          <p:cNvPr id="100" name="Rectangle 99"/>
          <p:cNvSpPr/>
          <p:nvPr/>
        </p:nvSpPr>
        <p:spPr>
          <a:xfrm>
            <a:off x="4806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112000" y="582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112000" y="5822999"/>
            <a:ext cx="413999" cy="413999"/>
          </a:xfrm>
          <a:prstGeom prst="rect">
            <a:avLst/>
          </a:prstGeom>
          <a:noFill/>
        </p:spPr>
        <p:txBody>
          <a:bodyPr wrap="square">
            <a:spAutoFit/>
          </a:bodyPr>
          <a:lstStyle/>
          <a:p>
            <a:pPr algn="ctr"/>
            <a:r>
              <a:rPr sz="1400" b="1" i="0">
                <a:solidFill>
                  <a:srgbClr val="FFFFFF"/>
                </a:solidFill>
              </a:rPr>
              <a:t>1</a:t>
            </a:r>
          </a:p>
        </p:txBody>
      </p:sp>
      <p:sp>
        <p:nvSpPr>
          <p:cNvPr id="103" name="TextBox 102"/>
          <p:cNvSpPr txBox="1"/>
          <p:nvPr/>
        </p:nvSpPr>
        <p:spPr>
          <a:xfrm>
            <a:off x="144000" y="6515999"/>
            <a:ext cx="720000" cy="259200"/>
          </a:xfrm>
          <a:prstGeom prst="rect">
            <a:avLst/>
          </a:prstGeom>
          <a:noFill/>
        </p:spPr>
        <p:txBody>
          <a:bodyPr wrap="square">
            <a:spAutoFit/>
          </a:bodyPr>
          <a:lstStyle/>
          <a:p>
            <a:pPr algn="l"/>
            <a:r>
              <a:rPr sz="900" b="0" i="1">
                <a:solidFill>
                  <a:srgbClr val="B0C4DE"/>
                </a:solidFill>
              </a:rPr>
              <a:t>Légende :</a:t>
            </a:r>
          </a:p>
        </p:txBody>
      </p:sp>
      <p:sp>
        <p:nvSpPr>
          <p:cNvPr id="104" name="Rectangle 103"/>
          <p:cNvSpPr/>
          <p:nvPr/>
        </p:nvSpPr>
        <p:spPr>
          <a:xfrm>
            <a:off x="936000" y="6515999"/>
            <a:ext cx="270000" cy="25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36000" y="6515999"/>
            <a:ext cx="270000" cy="259200"/>
          </a:xfrm>
          <a:prstGeom prst="rect">
            <a:avLst/>
          </a:prstGeom>
          <a:noFill/>
        </p:spPr>
        <p:txBody>
          <a:bodyPr wrap="square">
            <a:spAutoFit/>
          </a:bodyPr>
          <a:lstStyle/>
          <a:p>
            <a:pPr algn="ctr"/>
            <a:r>
              <a:rPr sz="1000" b="1" i="0">
                <a:solidFill>
                  <a:srgbClr val="0B1E42"/>
                </a:solidFill>
              </a:rPr>
              <a:t>5</a:t>
            </a:r>
          </a:p>
        </p:txBody>
      </p:sp>
      <p:sp>
        <p:nvSpPr>
          <p:cNvPr id="106" name="TextBox 105"/>
          <p:cNvSpPr txBox="1"/>
          <p:nvPr/>
        </p:nvSpPr>
        <p:spPr>
          <a:xfrm>
            <a:off x="1231200" y="6515999"/>
            <a:ext cx="540000" cy="259200"/>
          </a:xfrm>
          <a:prstGeom prst="rect">
            <a:avLst/>
          </a:prstGeom>
          <a:noFill/>
        </p:spPr>
        <p:txBody>
          <a:bodyPr wrap="square">
            <a:spAutoFit/>
          </a:bodyPr>
          <a:lstStyle/>
          <a:p>
            <a:pPr algn="l"/>
            <a:r>
              <a:rPr sz="900" b="0" i="0">
                <a:solidFill>
                  <a:srgbClr val="B0C4DE"/>
                </a:solidFill>
              </a:rPr>
              <a:t>Leader</a:t>
            </a:r>
          </a:p>
        </p:txBody>
      </p:sp>
      <p:sp>
        <p:nvSpPr>
          <p:cNvPr id="107" name="Rectangle 106"/>
          <p:cNvSpPr/>
          <p:nvPr/>
        </p:nvSpPr>
        <p:spPr>
          <a:xfrm>
            <a:off x="1800000" y="6515999"/>
            <a:ext cx="270000" cy="25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800000" y="6515999"/>
            <a:ext cx="270000" cy="259200"/>
          </a:xfrm>
          <a:prstGeom prst="rect">
            <a:avLst/>
          </a:prstGeom>
          <a:noFill/>
        </p:spPr>
        <p:txBody>
          <a:bodyPr wrap="square">
            <a:spAutoFit/>
          </a:bodyPr>
          <a:lstStyle/>
          <a:p>
            <a:pPr algn="ctr"/>
            <a:r>
              <a:rPr sz="1000" b="1" i="0">
                <a:solidFill>
                  <a:srgbClr val="0B1E42"/>
                </a:solidFill>
              </a:rPr>
              <a:t>4</a:t>
            </a:r>
          </a:p>
        </p:txBody>
      </p:sp>
      <p:sp>
        <p:nvSpPr>
          <p:cNvPr id="109" name="TextBox 108"/>
          <p:cNvSpPr txBox="1"/>
          <p:nvPr/>
        </p:nvSpPr>
        <p:spPr>
          <a:xfrm>
            <a:off x="2095200" y="6515999"/>
            <a:ext cx="540000" cy="259200"/>
          </a:xfrm>
          <a:prstGeom prst="rect">
            <a:avLst/>
          </a:prstGeom>
          <a:noFill/>
        </p:spPr>
        <p:txBody>
          <a:bodyPr wrap="square">
            <a:spAutoFit/>
          </a:bodyPr>
          <a:lstStyle/>
          <a:p>
            <a:pPr algn="l"/>
            <a:r>
              <a:rPr sz="900" b="0" i="0">
                <a:solidFill>
                  <a:srgbClr val="B0C4DE"/>
                </a:solidFill>
              </a:rPr>
              <a:t>Fort</a:t>
            </a:r>
          </a:p>
        </p:txBody>
      </p:sp>
      <p:sp>
        <p:nvSpPr>
          <p:cNvPr id="110" name="Rectangle 109"/>
          <p:cNvSpPr/>
          <p:nvPr/>
        </p:nvSpPr>
        <p:spPr>
          <a:xfrm>
            <a:off x="2664000" y="6515999"/>
            <a:ext cx="270000" cy="25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664000" y="6515999"/>
            <a:ext cx="270000" cy="259200"/>
          </a:xfrm>
          <a:prstGeom prst="rect">
            <a:avLst/>
          </a:prstGeom>
          <a:noFill/>
        </p:spPr>
        <p:txBody>
          <a:bodyPr wrap="square">
            <a:spAutoFit/>
          </a:bodyPr>
          <a:lstStyle/>
          <a:p>
            <a:pPr algn="ctr"/>
            <a:r>
              <a:rPr sz="1000" b="1" i="0">
                <a:solidFill>
                  <a:srgbClr val="0B1E42"/>
                </a:solidFill>
              </a:rPr>
              <a:t>3</a:t>
            </a:r>
          </a:p>
        </p:txBody>
      </p:sp>
      <p:sp>
        <p:nvSpPr>
          <p:cNvPr id="112" name="TextBox 111"/>
          <p:cNvSpPr txBox="1"/>
          <p:nvPr/>
        </p:nvSpPr>
        <p:spPr>
          <a:xfrm>
            <a:off x="2959200" y="6515999"/>
            <a:ext cx="540000" cy="259200"/>
          </a:xfrm>
          <a:prstGeom prst="rect">
            <a:avLst/>
          </a:prstGeom>
          <a:noFill/>
        </p:spPr>
        <p:txBody>
          <a:bodyPr wrap="square">
            <a:spAutoFit/>
          </a:bodyPr>
          <a:lstStyle/>
          <a:p>
            <a:pPr algn="l"/>
            <a:r>
              <a:rPr sz="900" b="0" i="0">
                <a:solidFill>
                  <a:srgbClr val="B0C4DE"/>
                </a:solidFill>
              </a:rPr>
              <a:t>Moyen</a:t>
            </a:r>
          </a:p>
        </p:txBody>
      </p:sp>
      <p:sp>
        <p:nvSpPr>
          <p:cNvPr id="113" name="Rectangle 112"/>
          <p:cNvSpPr/>
          <p:nvPr/>
        </p:nvSpPr>
        <p:spPr>
          <a:xfrm>
            <a:off x="3528000" y="6515999"/>
            <a:ext cx="2700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528000" y="6515999"/>
            <a:ext cx="270000" cy="259200"/>
          </a:xfrm>
          <a:prstGeom prst="rect">
            <a:avLst/>
          </a:prstGeom>
          <a:noFill/>
        </p:spPr>
        <p:txBody>
          <a:bodyPr wrap="square">
            <a:spAutoFit/>
          </a:bodyPr>
          <a:lstStyle/>
          <a:p>
            <a:pPr algn="ctr"/>
            <a:r>
              <a:rPr sz="1000" b="1" i="0">
                <a:solidFill>
                  <a:srgbClr val="0B1E42"/>
                </a:solidFill>
              </a:rPr>
              <a:t>2</a:t>
            </a:r>
          </a:p>
        </p:txBody>
      </p:sp>
      <p:sp>
        <p:nvSpPr>
          <p:cNvPr id="115" name="TextBox 114"/>
          <p:cNvSpPr txBox="1"/>
          <p:nvPr/>
        </p:nvSpPr>
        <p:spPr>
          <a:xfrm>
            <a:off x="3823200" y="6515999"/>
            <a:ext cx="540000" cy="259200"/>
          </a:xfrm>
          <a:prstGeom prst="rect">
            <a:avLst/>
          </a:prstGeom>
          <a:noFill/>
        </p:spPr>
        <p:txBody>
          <a:bodyPr wrap="square">
            <a:spAutoFit/>
          </a:bodyPr>
          <a:lstStyle/>
          <a:p>
            <a:pPr algn="l"/>
            <a:r>
              <a:rPr sz="900" b="0" i="0">
                <a:solidFill>
                  <a:srgbClr val="B0C4DE"/>
                </a:solidFill>
              </a:rPr>
              <a:t>Faible</a:t>
            </a:r>
          </a:p>
        </p:txBody>
      </p:sp>
      <p:sp>
        <p:nvSpPr>
          <p:cNvPr id="116" name="Rectangle 115"/>
          <p:cNvSpPr/>
          <p:nvPr/>
        </p:nvSpPr>
        <p:spPr>
          <a:xfrm>
            <a:off x="4392000" y="6515999"/>
            <a:ext cx="270000" cy="259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392000" y="6515999"/>
            <a:ext cx="270000" cy="259200"/>
          </a:xfrm>
          <a:prstGeom prst="rect">
            <a:avLst/>
          </a:prstGeom>
          <a:noFill/>
        </p:spPr>
        <p:txBody>
          <a:bodyPr wrap="square">
            <a:spAutoFit/>
          </a:bodyPr>
          <a:lstStyle/>
          <a:p>
            <a:pPr algn="ctr"/>
            <a:r>
              <a:rPr sz="1000" b="1" i="0">
                <a:solidFill>
                  <a:srgbClr val="FFFFFF"/>
                </a:solidFill>
              </a:rPr>
              <a:t>1</a:t>
            </a:r>
          </a:p>
        </p:txBody>
      </p:sp>
      <p:sp>
        <p:nvSpPr>
          <p:cNvPr id="118" name="TextBox 117"/>
          <p:cNvSpPr txBox="1"/>
          <p:nvPr/>
        </p:nvSpPr>
        <p:spPr>
          <a:xfrm>
            <a:off x="4687200" y="6515999"/>
            <a:ext cx="540000" cy="259200"/>
          </a:xfrm>
          <a:prstGeom prst="rect">
            <a:avLst/>
          </a:prstGeom>
          <a:noFill/>
        </p:spPr>
        <p:txBody>
          <a:bodyPr wrap="square">
            <a:spAutoFit/>
          </a:bodyPr>
          <a:lstStyle/>
          <a:p>
            <a:pPr algn="l"/>
            <a:r>
              <a:rPr sz="900" b="0" i="0">
                <a:solidFill>
                  <a:srgbClr val="B0C4DE"/>
                </a:solidFill>
              </a:rPr>
              <a:t>Absent</a:t>
            </a:r>
          </a:p>
        </p:txBody>
      </p:sp>
      <p:sp>
        <p:nvSpPr>
          <p:cNvPr id="119" name="Rectangle 118"/>
          <p:cNvSpPr/>
          <p:nvPr/>
        </p:nvSpPr>
        <p:spPr>
          <a:xfrm>
            <a:off x="5976000" y="1458000"/>
            <a:ext cx="3024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976000" y="1458000"/>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138000" y="1522800"/>
            <a:ext cx="2790000" cy="432000"/>
          </a:xfrm>
          <a:prstGeom prst="rect">
            <a:avLst/>
          </a:prstGeom>
          <a:noFill/>
        </p:spPr>
        <p:txBody>
          <a:bodyPr wrap="square">
            <a:spAutoFit/>
          </a:bodyPr>
          <a:lstStyle/>
          <a:p>
            <a:pPr algn="l"/>
            <a:r>
              <a:rPr sz="1300" b="1" i="0">
                <a:solidFill>
                  <a:srgbClr val="D4AF37"/>
                </a:solidFill>
              </a:rPr>
              <a:t>12 services
unifiés</a:t>
            </a:r>
          </a:p>
        </p:txBody>
      </p:sp>
      <p:sp>
        <p:nvSpPr>
          <p:cNvPr id="122" name="TextBox 121"/>
          <p:cNvSpPr txBox="1"/>
          <p:nvPr/>
        </p:nvSpPr>
        <p:spPr>
          <a:xfrm>
            <a:off x="6138000" y="1961999"/>
            <a:ext cx="2790000"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23" name="Rectangle 122"/>
          <p:cNvSpPr/>
          <p:nvPr/>
        </p:nvSpPr>
        <p:spPr>
          <a:xfrm>
            <a:off x="5976000" y="2664000"/>
            <a:ext cx="3024000"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976000" y="2664000"/>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138000" y="2728800"/>
            <a:ext cx="2790000" cy="432000"/>
          </a:xfrm>
          <a:prstGeom prst="rect">
            <a:avLst/>
          </a:prstGeom>
          <a:noFill/>
        </p:spPr>
        <p:txBody>
          <a:bodyPr wrap="square">
            <a:spAutoFit/>
          </a:bodyPr>
          <a:lstStyle/>
          <a:p>
            <a:pPr algn="l"/>
            <a:r>
              <a:rPr sz="1300" b="1" i="0">
                <a:solidFill>
                  <a:srgbClr val="9B59B6"/>
                </a:solidFill>
              </a:rPr>
              <a:t>YukpoIA</a:t>
            </a:r>
          </a:p>
        </p:txBody>
      </p:sp>
      <p:sp>
        <p:nvSpPr>
          <p:cNvPr id="126" name="TextBox 125"/>
          <p:cNvSpPr txBox="1"/>
          <p:nvPr/>
        </p:nvSpPr>
        <p:spPr>
          <a:xfrm>
            <a:off x="6138000" y="3167999"/>
            <a:ext cx="2790000" cy="504000"/>
          </a:xfrm>
          <a:prstGeom prst="rect">
            <a:avLst/>
          </a:prstGeom>
          <a:noFill/>
        </p:spPr>
        <p:txBody>
          <a:bodyPr wrap="square">
            <a:spAutoFit/>
          </a:bodyPr>
          <a:lstStyle/>
          <a:p>
            <a:pPr algn="l"/>
            <a:r>
              <a:rPr sz="1000" b="0" i="0">
                <a:solidFill>
                  <a:srgbClr val="B0C4DE"/>
                </a:solidFill>
              </a:rPr>
              <a:t>Assistant IA intégré
24h/24 — unique Afrique</a:t>
            </a:r>
          </a:p>
        </p:txBody>
      </p:sp>
      <p:sp>
        <p:nvSpPr>
          <p:cNvPr id="127" name="Rectangle 126"/>
          <p:cNvSpPr/>
          <p:nvPr/>
        </p:nvSpPr>
        <p:spPr>
          <a:xfrm>
            <a:off x="5976000" y="3870000"/>
            <a:ext cx="3024000"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6000" y="3870000"/>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138000" y="3934800"/>
            <a:ext cx="2790000" cy="432000"/>
          </a:xfrm>
          <a:prstGeom prst="rect">
            <a:avLst/>
          </a:prstGeom>
          <a:noFill/>
        </p:spPr>
        <p:txBody>
          <a:bodyPr wrap="square">
            <a:spAutoFit/>
          </a:bodyPr>
          <a:lstStyle/>
          <a:p>
            <a:pPr algn="l"/>
            <a:r>
              <a:rPr sz="1300" b="1" i="0">
                <a:solidFill>
                  <a:srgbClr val="00C87A"/>
                </a:solidFill>
              </a:rPr>
              <a:t>Creator Studio</a:t>
            </a:r>
          </a:p>
        </p:txBody>
      </p:sp>
      <p:sp>
        <p:nvSpPr>
          <p:cNvPr id="130" name="TextBox 129"/>
          <p:cNvSpPr txBox="1"/>
          <p:nvPr/>
        </p:nvSpPr>
        <p:spPr>
          <a:xfrm>
            <a:off x="6138000" y="4373999"/>
            <a:ext cx="2790000" cy="504000"/>
          </a:xfrm>
          <a:prstGeom prst="rect">
            <a:avLst/>
          </a:prstGeom>
          <a:noFill/>
        </p:spPr>
        <p:txBody>
          <a:bodyPr wrap="square">
            <a:spAutoFit/>
          </a:bodyPr>
          <a:lstStyle/>
          <a:p>
            <a:pPr algn="l"/>
            <a:r>
              <a:rPr sz="1000" b="0" i="0">
                <a:solidFill>
                  <a:srgbClr val="B0C4DE"/>
                </a:solidFill>
              </a:rPr>
              <a:t>Vidéo &amp; visuels
directement dans l'app</a:t>
            </a:r>
          </a:p>
        </p:txBody>
      </p:sp>
      <p:sp>
        <p:nvSpPr>
          <p:cNvPr id="131" name="Rectangle 130"/>
          <p:cNvSpPr/>
          <p:nvPr/>
        </p:nvSpPr>
        <p:spPr>
          <a:xfrm>
            <a:off x="5976000" y="5076000"/>
            <a:ext cx="3024000"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976000" y="5076000"/>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38000" y="5140800"/>
            <a:ext cx="2790000" cy="432000"/>
          </a:xfrm>
          <a:prstGeom prst="rect">
            <a:avLst/>
          </a:prstGeom>
          <a:noFill/>
        </p:spPr>
        <p:txBody>
          <a:bodyPr wrap="square">
            <a:spAutoFit/>
          </a:bodyPr>
          <a:lstStyle/>
          <a:p>
            <a:pPr algn="l"/>
            <a:r>
              <a:rPr sz="1300" b="1" i="0">
                <a:solidFill>
                  <a:srgbClr val="FF9933"/>
                </a:solidFill>
              </a:rPr>
              <a:t>Bourse du Livre</a:t>
            </a:r>
          </a:p>
        </p:txBody>
      </p:sp>
      <p:sp>
        <p:nvSpPr>
          <p:cNvPr id="134" name="TextBox 133"/>
          <p:cNvSpPr txBox="1"/>
          <p:nvPr/>
        </p:nvSpPr>
        <p:spPr>
          <a:xfrm>
            <a:off x="6138000" y="5579999"/>
            <a:ext cx="2790000" cy="504000"/>
          </a:xfrm>
          <a:prstGeom prst="rect">
            <a:avLst/>
          </a:prstGeom>
          <a:noFill/>
        </p:spPr>
        <p:txBody>
          <a:bodyPr wrap="square">
            <a:spAutoFit/>
          </a:bodyPr>
          <a:lstStyle/>
          <a:p>
            <a:pPr algn="l"/>
            <a:r>
              <a:rPr sz="1000" b="0" i="0">
                <a:solidFill>
                  <a:srgbClr val="B0C4DE"/>
                </a:solidFill>
              </a:rPr>
              <a:t>Marché scolaire num.
exclusif au Cameroun</a:t>
            </a:r>
          </a:p>
        </p:txBody>
      </p:sp>
      <p:sp>
        <p:nvSpPr>
          <p:cNvPr id="135" name="TextBox 134"/>
          <p:cNvSpPr txBox="1"/>
          <p:nvPr/>
        </p:nvSpPr>
        <p:spPr>
          <a:xfrm>
            <a:off x="144000" y="6263999"/>
            <a:ext cx="8856000" cy="259200"/>
          </a:xfrm>
          <a:prstGeom prst="rect">
            <a:avLst/>
          </a:prstGeom>
          <a:noFill/>
        </p:spPr>
        <p:txBody>
          <a:bodyPr wrap="square">
            <a:spAutoFit/>
          </a:bodyPr>
          <a:lstStyle/>
          <a:p>
            <a:pPr algn="ctr"/>
            <a:r>
              <a:rPr sz="1200" b="1" i="1">
                <a:solidFill>
                  <a:srgbClr val="D4AF37"/>
                </a:solidFill>
              </a:rPr>
              <a:t>YUKPO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25 000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26" name="Rectangle 25"/>
          <p:cNvSpPr/>
          <p:nvPr/>
        </p:nvSpPr>
        <p:spPr>
          <a:xfrm>
            <a:off x="3024000" y="406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FF9933"/>
                </a:solidFill>
              </a:rPr>
              <a:t>15 %</a:t>
            </a:r>
          </a:p>
        </p:txBody>
      </p:sp>
      <p:sp>
        <p:nvSpPr>
          <p:cNvPr id="28" name="Rectangle 27"/>
          <p:cNvSpPr/>
          <p:nvPr/>
        </p:nvSpPr>
        <p:spPr>
          <a:xfrm>
            <a:off x="3780000" y="406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33" name="Rectangle 32"/>
          <p:cNvSpPr/>
          <p:nvPr/>
        </p:nvSpPr>
        <p:spPr>
          <a:xfrm>
            <a:off x="3024000" y="532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00C87A"/>
                </a:solidFill>
              </a:rPr>
              <a:t>15 %</a:t>
            </a:r>
          </a:p>
        </p:txBody>
      </p:sp>
      <p:sp>
        <p:nvSpPr>
          <p:cNvPr id="35" name="Rectangle 34"/>
          <p:cNvSpPr/>
          <p:nvPr/>
        </p:nvSpPr>
        <p:spPr>
          <a:xfrm>
            <a:off x="3780000" y="532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 Financière — Hypothèse Basse · 2026-2028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minimisés · Charges élargies (acquisitions services incluses) · Seuil cumulatif T1 2028</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1962000" cy="316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854000" cy="252000"/>
          </a:xfrm>
          <a:prstGeom prst="rect">
            <a:avLst/>
          </a:prstGeom>
          <a:noFill/>
        </p:spPr>
        <p:txBody>
          <a:bodyPr wrap="square">
            <a:spAutoFit/>
          </a:bodyPr>
          <a:lstStyle/>
          <a:p>
            <a:pPr algn="l"/>
            <a:r>
              <a:rPr sz="900" b="1" i="1">
                <a:solidFill>
                  <a:srgbClr val="B0C4DE"/>
                </a:solidFill>
              </a:rPr>
              <a:t>Indicateur</a:t>
            </a:r>
          </a:p>
        </p:txBody>
      </p:sp>
      <p:sp>
        <p:nvSpPr>
          <p:cNvPr id="11" name="Rectangle 10"/>
          <p:cNvSpPr/>
          <p:nvPr/>
        </p:nvSpPr>
        <p:spPr>
          <a:xfrm>
            <a:off x="2106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20400" y="1504799"/>
            <a:ext cx="825750" cy="2628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2967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82150" y="1504799"/>
            <a:ext cx="825750" cy="2628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829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3900" y="1504799"/>
            <a:ext cx="825750" cy="2628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6912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650" y="1504799"/>
            <a:ext cx="825750" cy="2628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553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400" y="1504799"/>
            <a:ext cx="825750" cy="2628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14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9150" y="1504799"/>
            <a:ext cx="825750" cy="2628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276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90900" y="1504799"/>
            <a:ext cx="825750" cy="2628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38250" y="1475999"/>
            <a:ext cx="840150" cy="316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52650" y="1504799"/>
            <a:ext cx="825750" cy="2628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2799"/>
            <a:ext cx="1962000" cy="691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2799"/>
            <a:ext cx="79200" cy="691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810800" cy="604800"/>
          </a:xfrm>
          <a:prstGeom prst="rect">
            <a:avLst/>
          </a:prstGeom>
          <a:noFill/>
        </p:spPr>
        <p:txBody>
          <a:bodyPr wrap="square">
            <a:spAutoFit/>
          </a:bodyPr>
          <a:lstStyle/>
          <a:p>
            <a:pPr algn="l"/>
            <a:r>
              <a:rPr sz="900" b="1" i="0">
                <a:solidFill>
                  <a:srgbClr val="D4AF37"/>
                </a:solidFill>
              </a:rPr>
              <a:t>Util. actifs / fin trimestre</a:t>
            </a:r>
          </a:p>
        </p:txBody>
      </p:sp>
      <p:sp>
        <p:nvSpPr>
          <p:cNvPr id="30" name="Rectangle 29"/>
          <p:cNvSpPr/>
          <p:nvPr/>
        </p:nvSpPr>
        <p:spPr>
          <a:xfrm>
            <a:off x="2106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20400" y="1871999"/>
            <a:ext cx="825750" cy="583200"/>
          </a:xfrm>
          <a:prstGeom prst="rect">
            <a:avLst/>
          </a:prstGeom>
          <a:noFill/>
        </p:spPr>
        <p:txBody>
          <a:bodyPr wrap="square">
            <a:spAutoFit/>
          </a:bodyPr>
          <a:lstStyle/>
          <a:p>
            <a:pPr algn="ctr"/>
            <a:r>
              <a:rPr sz="1000" b="0" i="0">
                <a:solidFill>
                  <a:srgbClr val="FFFFFF"/>
                </a:solidFill>
              </a:rPr>
              <a:t>2 000</a:t>
            </a:r>
          </a:p>
        </p:txBody>
      </p:sp>
      <p:sp>
        <p:nvSpPr>
          <p:cNvPr id="32" name="Rectangle 31"/>
          <p:cNvSpPr/>
          <p:nvPr/>
        </p:nvSpPr>
        <p:spPr>
          <a:xfrm>
            <a:off x="2967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82150" y="1871999"/>
            <a:ext cx="825750" cy="583200"/>
          </a:xfrm>
          <a:prstGeom prst="rect">
            <a:avLst/>
          </a:prstGeom>
          <a:noFill/>
        </p:spPr>
        <p:txBody>
          <a:bodyPr wrap="square">
            <a:spAutoFit/>
          </a:bodyPr>
          <a:lstStyle/>
          <a:p>
            <a:pPr algn="ctr"/>
            <a:r>
              <a:rPr sz="1000" b="0" i="0">
                <a:solidFill>
                  <a:srgbClr val="FFFFFF"/>
                </a:solidFill>
              </a:rPr>
              <a:t>5 500</a:t>
            </a:r>
          </a:p>
        </p:txBody>
      </p:sp>
      <p:sp>
        <p:nvSpPr>
          <p:cNvPr id="34" name="Rectangle 33"/>
          <p:cNvSpPr/>
          <p:nvPr/>
        </p:nvSpPr>
        <p:spPr>
          <a:xfrm>
            <a:off x="3829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3900" y="1871999"/>
            <a:ext cx="825750" cy="583200"/>
          </a:xfrm>
          <a:prstGeom prst="rect">
            <a:avLst/>
          </a:prstGeom>
          <a:noFill/>
        </p:spPr>
        <p:txBody>
          <a:bodyPr wrap="square">
            <a:spAutoFit/>
          </a:bodyPr>
          <a:lstStyle/>
          <a:p>
            <a:pPr algn="ctr"/>
            <a:r>
              <a:rPr sz="1000" b="0" i="0">
                <a:solidFill>
                  <a:srgbClr val="FFFFFF"/>
                </a:solidFill>
              </a:rPr>
              <a:t>11 000</a:t>
            </a:r>
          </a:p>
        </p:txBody>
      </p:sp>
      <p:sp>
        <p:nvSpPr>
          <p:cNvPr id="36" name="Rectangle 35"/>
          <p:cNvSpPr/>
          <p:nvPr/>
        </p:nvSpPr>
        <p:spPr>
          <a:xfrm>
            <a:off x="46912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05650" y="1871999"/>
            <a:ext cx="825750" cy="583200"/>
          </a:xfrm>
          <a:prstGeom prst="rect">
            <a:avLst/>
          </a:prstGeom>
          <a:noFill/>
        </p:spPr>
        <p:txBody>
          <a:bodyPr wrap="square">
            <a:spAutoFit/>
          </a:bodyPr>
          <a:lstStyle/>
          <a:p>
            <a:pPr algn="ctr"/>
            <a:r>
              <a:rPr sz="1000" b="0" i="0">
                <a:solidFill>
                  <a:srgbClr val="FFFFFF"/>
                </a:solidFill>
              </a:rPr>
              <a:t>18 000</a:t>
            </a:r>
          </a:p>
        </p:txBody>
      </p:sp>
      <p:sp>
        <p:nvSpPr>
          <p:cNvPr id="38" name="Rectangle 37"/>
          <p:cNvSpPr/>
          <p:nvPr/>
        </p:nvSpPr>
        <p:spPr>
          <a:xfrm>
            <a:off x="5553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67400" y="1871999"/>
            <a:ext cx="825750" cy="583200"/>
          </a:xfrm>
          <a:prstGeom prst="rect">
            <a:avLst/>
          </a:prstGeom>
          <a:noFill/>
        </p:spPr>
        <p:txBody>
          <a:bodyPr wrap="square">
            <a:spAutoFit/>
          </a:bodyPr>
          <a:lstStyle/>
          <a:p>
            <a:pPr algn="ctr"/>
            <a:r>
              <a:rPr sz="1000" b="0" i="0">
                <a:solidFill>
                  <a:srgbClr val="FFFFFF"/>
                </a:solidFill>
              </a:rPr>
              <a:t>28 000</a:t>
            </a:r>
          </a:p>
        </p:txBody>
      </p:sp>
      <p:sp>
        <p:nvSpPr>
          <p:cNvPr id="40" name="Rectangle 39"/>
          <p:cNvSpPr/>
          <p:nvPr/>
        </p:nvSpPr>
        <p:spPr>
          <a:xfrm>
            <a:off x="6414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29150" y="1871999"/>
            <a:ext cx="825750" cy="583200"/>
          </a:xfrm>
          <a:prstGeom prst="rect">
            <a:avLst/>
          </a:prstGeom>
          <a:noFill/>
        </p:spPr>
        <p:txBody>
          <a:bodyPr wrap="square">
            <a:spAutoFit/>
          </a:bodyPr>
          <a:lstStyle/>
          <a:p>
            <a:pPr algn="ctr"/>
            <a:r>
              <a:rPr sz="1000" b="0" i="0">
                <a:solidFill>
                  <a:srgbClr val="FFFFFF"/>
                </a:solidFill>
              </a:rPr>
              <a:t>40 000</a:t>
            </a:r>
          </a:p>
        </p:txBody>
      </p:sp>
      <p:sp>
        <p:nvSpPr>
          <p:cNvPr id="42" name="Rectangle 41"/>
          <p:cNvSpPr/>
          <p:nvPr/>
        </p:nvSpPr>
        <p:spPr>
          <a:xfrm>
            <a:off x="7276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90900" y="1871999"/>
            <a:ext cx="825750" cy="583200"/>
          </a:xfrm>
          <a:prstGeom prst="rect">
            <a:avLst/>
          </a:prstGeom>
          <a:noFill/>
        </p:spPr>
        <p:txBody>
          <a:bodyPr wrap="square">
            <a:spAutoFit/>
          </a:bodyPr>
          <a:lstStyle/>
          <a:p>
            <a:pPr algn="ctr"/>
            <a:r>
              <a:rPr sz="1000" b="0" i="0">
                <a:solidFill>
                  <a:srgbClr val="FFFFFF"/>
                </a:solidFill>
              </a:rPr>
              <a:t>55 000</a:t>
            </a:r>
          </a:p>
        </p:txBody>
      </p:sp>
      <p:sp>
        <p:nvSpPr>
          <p:cNvPr id="44" name="Rectangle 43"/>
          <p:cNvSpPr/>
          <p:nvPr/>
        </p:nvSpPr>
        <p:spPr>
          <a:xfrm>
            <a:off x="8138250" y="1792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52650" y="1871999"/>
            <a:ext cx="825750" cy="583200"/>
          </a:xfrm>
          <a:prstGeom prst="rect">
            <a:avLst/>
          </a:prstGeom>
          <a:noFill/>
        </p:spPr>
        <p:txBody>
          <a:bodyPr wrap="square">
            <a:spAutoFit/>
          </a:bodyPr>
          <a:lstStyle/>
          <a:p>
            <a:pPr algn="ctr"/>
            <a:r>
              <a:rPr sz="1000" b="0" i="0">
                <a:solidFill>
                  <a:srgbClr val="D4AF37"/>
                </a:solidFill>
              </a:rPr>
              <a:t>70 000</a:t>
            </a:r>
          </a:p>
        </p:txBody>
      </p:sp>
      <p:sp>
        <p:nvSpPr>
          <p:cNvPr id="46" name="Rectangle 45"/>
          <p:cNvSpPr/>
          <p:nvPr/>
        </p:nvSpPr>
        <p:spPr>
          <a:xfrm>
            <a:off x="144000" y="2505599"/>
            <a:ext cx="1962000" cy="691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505599"/>
            <a:ext cx="79200" cy="691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577599"/>
            <a:ext cx="1810800" cy="604800"/>
          </a:xfrm>
          <a:prstGeom prst="rect">
            <a:avLst/>
          </a:prstGeom>
          <a:noFill/>
        </p:spPr>
        <p:txBody>
          <a:bodyPr wrap="square">
            <a:spAutoFit/>
          </a:bodyPr>
          <a:lstStyle/>
          <a:p>
            <a:pPr algn="l"/>
            <a:r>
              <a:rPr sz="900" b="1" i="0">
                <a:solidFill>
                  <a:srgbClr val="4FC3F7"/>
                </a:solidFill>
              </a:rPr>
              <a:t>Revenus trim. (M FCFA)</a:t>
            </a:r>
          </a:p>
        </p:txBody>
      </p:sp>
      <p:sp>
        <p:nvSpPr>
          <p:cNvPr id="49" name="Rectangle 48"/>
          <p:cNvSpPr/>
          <p:nvPr/>
        </p:nvSpPr>
        <p:spPr>
          <a:xfrm>
            <a:off x="2106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20400" y="2584799"/>
            <a:ext cx="825750" cy="583200"/>
          </a:xfrm>
          <a:prstGeom prst="rect">
            <a:avLst/>
          </a:prstGeom>
          <a:noFill/>
        </p:spPr>
        <p:txBody>
          <a:bodyPr wrap="square">
            <a:spAutoFit/>
          </a:bodyPr>
          <a:lstStyle/>
          <a:p>
            <a:pPr algn="ctr"/>
            <a:r>
              <a:rPr sz="1000" b="0" i="0">
                <a:solidFill>
                  <a:srgbClr val="FFFFFF"/>
                </a:solidFill>
              </a:rPr>
              <a:t>3</a:t>
            </a:r>
          </a:p>
        </p:txBody>
      </p:sp>
      <p:sp>
        <p:nvSpPr>
          <p:cNvPr id="51" name="Rectangle 50"/>
          <p:cNvSpPr/>
          <p:nvPr/>
        </p:nvSpPr>
        <p:spPr>
          <a:xfrm>
            <a:off x="2967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82150" y="2584799"/>
            <a:ext cx="825750" cy="583200"/>
          </a:xfrm>
          <a:prstGeom prst="rect">
            <a:avLst/>
          </a:prstGeom>
          <a:noFill/>
        </p:spPr>
        <p:txBody>
          <a:bodyPr wrap="square">
            <a:spAutoFit/>
          </a:bodyPr>
          <a:lstStyle/>
          <a:p>
            <a:pPr algn="ctr"/>
            <a:r>
              <a:rPr sz="1000" b="0" i="0">
                <a:solidFill>
                  <a:srgbClr val="FFFFFF"/>
                </a:solidFill>
              </a:rPr>
              <a:t>8</a:t>
            </a:r>
          </a:p>
        </p:txBody>
      </p:sp>
      <p:sp>
        <p:nvSpPr>
          <p:cNvPr id="53" name="Rectangle 52"/>
          <p:cNvSpPr/>
          <p:nvPr/>
        </p:nvSpPr>
        <p:spPr>
          <a:xfrm>
            <a:off x="3829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43900" y="2584799"/>
            <a:ext cx="825750" cy="583200"/>
          </a:xfrm>
          <a:prstGeom prst="rect">
            <a:avLst/>
          </a:prstGeom>
          <a:noFill/>
        </p:spPr>
        <p:txBody>
          <a:bodyPr wrap="square">
            <a:spAutoFit/>
          </a:bodyPr>
          <a:lstStyle/>
          <a:p>
            <a:pPr algn="ctr"/>
            <a:r>
              <a:rPr sz="1000" b="0" i="0">
                <a:solidFill>
                  <a:srgbClr val="FFFFFF"/>
                </a:solidFill>
              </a:rPr>
              <a:t>14</a:t>
            </a:r>
          </a:p>
        </p:txBody>
      </p:sp>
      <p:sp>
        <p:nvSpPr>
          <p:cNvPr id="55" name="Rectangle 54"/>
          <p:cNvSpPr/>
          <p:nvPr/>
        </p:nvSpPr>
        <p:spPr>
          <a:xfrm>
            <a:off x="4691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05650" y="2584799"/>
            <a:ext cx="825750" cy="583200"/>
          </a:xfrm>
          <a:prstGeom prst="rect">
            <a:avLst/>
          </a:prstGeom>
          <a:noFill/>
        </p:spPr>
        <p:txBody>
          <a:bodyPr wrap="square">
            <a:spAutoFit/>
          </a:bodyPr>
          <a:lstStyle/>
          <a:p>
            <a:pPr algn="ctr"/>
            <a:r>
              <a:rPr sz="1000" b="0" i="0">
                <a:solidFill>
                  <a:srgbClr val="FFFFFF"/>
                </a:solidFill>
              </a:rPr>
              <a:t>22</a:t>
            </a:r>
          </a:p>
        </p:txBody>
      </p:sp>
      <p:sp>
        <p:nvSpPr>
          <p:cNvPr id="57" name="Rectangle 56"/>
          <p:cNvSpPr/>
          <p:nvPr/>
        </p:nvSpPr>
        <p:spPr>
          <a:xfrm>
            <a:off x="5553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67400" y="2584799"/>
            <a:ext cx="825750" cy="583200"/>
          </a:xfrm>
          <a:prstGeom prst="rect">
            <a:avLst/>
          </a:prstGeom>
          <a:noFill/>
        </p:spPr>
        <p:txBody>
          <a:bodyPr wrap="square">
            <a:spAutoFit/>
          </a:bodyPr>
          <a:lstStyle/>
          <a:p>
            <a:pPr algn="ctr"/>
            <a:r>
              <a:rPr sz="1000" b="0" i="0">
                <a:solidFill>
                  <a:srgbClr val="FFFFFF"/>
                </a:solidFill>
              </a:rPr>
              <a:t>33</a:t>
            </a:r>
          </a:p>
        </p:txBody>
      </p:sp>
      <p:sp>
        <p:nvSpPr>
          <p:cNvPr id="59" name="Rectangle 58"/>
          <p:cNvSpPr/>
          <p:nvPr/>
        </p:nvSpPr>
        <p:spPr>
          <a:xfrm>
            <a:off x="6414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29150" y="2584799"/>
            <a:ext cx="825750" cy="583200"/>
          </a:xfrm>
          <a:prstGeom prst="rect">
            <a:avLst/>
          </a:prstGeom>
          <a:noFill/>
        </p:spPr>
        <p:txBody>
          <a:bodyPr wrap="square">
            <a:spAutoFit/>
          </a:bodyPr>
          <a:lstStyle/>
          <a:p>
            <a:pPr algn="ctr"/>
            <a:r>
              <a:rPr sz="1000" b="0" i="0">
                <a:solidFill>
                  <a:srgbClr val="FFFFFF"/>
                </a:solidFill>
              </a:rPr>
              <a:t>48</a:t>
            </a:r>
          </a:p>
        </p:txBody>
      </p:sp>
      <p:sp>
        <p:nvSpPr>
          <p:cNvPr id="61" name="Rectangle 60"/>
          <p:cNvSpPr/>
          <p:nvPr/>
        </p:nvSpPr>
        <p:spPr>
          <a:xfrm>
            <a:off x="7276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0900" y="2584799"/>
            <a:ext cx="825750" cy="583200"/>
          </a:xfrm>
          <a:prstGeom prst="rect">
            <a:avLst/>
          </a:prstGeom>
          <a:noFill/>
        </p:spPr>
        <p:txBody>
          <a:bodyPr wrap="square">
            <a:spAutoFit/>
          </a:bodyPr>
          <a:lstStyle/>
          <a:p>
            <a:pPr algn="ctr"/>
            <a:r>
              <a:rPr sz="1000" b="0" i="0">
                <a:solidFill>
                  <a:srgbClr val="FFFFFF"/>
                </a:solidFill>
              </a:rPr>
              <a:t>65</a:t>
            </a:r>
          </a:p>
        </p:txBody>
      </p:sp>
      <p:sp>
        <p:nvSpPr>
          <p:cNvPr id="63" name="Rectangle 62"/>
          <p:cNvSpPr/>
          <p:nvPr/>
        </p:nvSpPr>
        <p:spPr>
          <a:xfrm>
            <a:off x="8138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52650" y="2584799"/>
            <a:ext cx="825750" cy="583200"/>
          </a:xfrm>
          <a:prstGeom prst="rect">
            <a:avLst/>
          </a:prstGeom>
          <a:noFill/>
        </p:spPr>
        <p:txBody>
          <a:bodyPr wrap="square">
            <a:spAutoFit/>
          </a:bodyPr>
          <a:lstStyle/>
          <a:p>
            <a:pPr algn="ctr"/>
            <a:r>
              <a:rPr sz="1000" b="1" i="0">
                <a:solidFill>
                  <a:srgbClr val="D4AF37"/>
                </a:solidFill>
              </a:rPr>
              <a:t>88</a:t>
            </a:r>
          </a:p>
        </p:txBody>
      </p:sp>
      <p:sp>
        <p:nvSpPr>
          <p:cNvPr id="65" name="Rectangle 64"/>
          <p:cNvSpPr/>
          <p:nvPr/>
        </p:nvSpPr>
        <p:spPr>
          <a:xfrm>
            <a:off x="144000" y="3218399"/>
            <a:ext cx="1962000" cy="691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218399"/>
            <a:ext cx="79200" cy="691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290399"/>
            <a:ext cx="1810800" cy="604800"/>
          </a:xfrm>
          <a:prstGeom prst="rect">
            <a:avLst/>
          </a:prstGeom>
          <a:noFill/>
        </p:spPr>
        <p:txBody>
          <a:bodyPr wrap="square">
            <a:spAutoFit/>
          </a:bodyPr>
          <a:lstStyle/>
          <a:p>
            <a:pPr algn="l"/>
            <a:r>
              <a:rPr sz="900" b="1" i="0">
                <a:solidFill>
                  <a:srgbClr val="FF9933"/>
                </a:solidFill>
              </a:rPr>
              <a:t>Charges trim. (M FCFA) *</a:t>
            </a:r>
          </a:p>
        </p:txBody>
      </p:sp>
      <p:sp>
        <p:nvSpPr>
          <p:cNvPr id="68" name="Rectangle 67"/>
          <p:cNvSpPr/>
          <p:nvPr/>
        </p:nvSpPr>
        <p:spPr>
          <a:xfrm>
            <a:off x="2106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120400" y="3297599"/>
            <a:ext cx="825750" cy="583200"/>
          </a:xfrm>
          <a:prstGeom prst="rect">
            <a:avLst/>
          </a:prstGeom>
          <a:noFill/>
        </p:spPr>
        <p:txBody>
          <a:bodyPr wrap="square">
            <a:spAutoFit/>
          </a:bodyPr>
          <a:lstStyle/>
          <a:p>
            <a:pPr algn="ctr"/>
            <a:r>
              <a:rPr sz="1000" b="0" i="0">
                <a:solidFill>
                  <a:srgbClr val="FFFFFF"/>
                </a:solidFill>
              </a:rPr>
              <a:t>28</a:t>
            </a:r>
          </a:p>
        </p:txBody>
      </p:sp>
      <p:sp>
        <p:nvSpPr>
          <p:cNvPr id="70" name="Rectangle 69"/>
          <p:cNvSpPr/>
          <p:nvPr/>
        </p:nvSpPr>
        <p:spPr>
          <a:xfrm>
            <a:off x="2967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82150" y="3297599"/>
            <a:ext cx="825750" cy="583200"/>
          </a:xfrm>
          <a:prstGeom prst="rect">
            <a:avLst/>
          </a:prstGeom>
          <a:noFill/>
        </p:spPr>
        <p:txBody>
          <a:bodyPr wrap="square">
            <a:spAutoFit/>
          </a:bodyPr>
          <a:lstStyle/>
          <a:p>
            <a:pPr algn="ctr"/>
            <a:r>
              <a:rPr sz="1000" b="0" i="0">
                <a:solidFill>
                  <a:srgbClr val="FFFFFF"/>
                </a:solidFill>
              </a:rPr>
              <a:t>25</a:t>
            </a:r>
          </a:p>
        </p:txBody>
      </p:sp>
      <p:sp>
        <p:nvSpPr>
          <p:cNvPr id="72" name="Rectangle 71"/>
          <p:cNvSpPr/>
          <p:nvPr/>
        </p:nvSpPr>
        <p:spPr>
          <a:xfrm>
            <a:off x="3829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843900" y="3297599"/>
            <a:ext cx="825750" cy="583200"/>
          </a:xfrm>
          <a:prstGeom prst="rect">
            <a:avLst/>
          </a:prstGeom>
          <a:noFill/>
        </p:spPr>
        <p:txBody>
          <a:bodyPr wrap="square">
            <a:spAutoFit/>
          </a:bodyPr>
          <a:lstStyle/>
          <a:p>
            <a:pPr algn="ctr"/>
            <a:r>
              <a:rPr sz="1000" b="0" i="0">
                <a:solidFill>
                  <a:srgbClr val="FFFFFF"/>
                </a:solidFill>
              </a:rPr>
              <a:t>22</a:t>
            </a:r>
          </a:p>
        </p:txBody>
      </p:sp>
      <p:sp>
        <p:nvSpPr>
          <p:cNvPr id="74" name="Rectangle 73"/>
          <p:cNvSpPr/>
          <p:nvPr/>
        </p:nvSpPr>
        <p:spPr>
          <a:xfrm>
            <a:off x="46912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05650" y="3297599"/>
            <a:ext cx="825750" cy="583200"/>
          </a:xfrm>
          <a:prstGeom prst="rect">
            <a:avLst/>
          </a:prstGeom>
          <a:noFill/>
        </p:spPr>
        <p:txBody>
          <a:bodyPr wrap="square">
            <a:spAutoFit/>
          </a:bodyPr>
          <a:lstStyle/>
          <a:p>
            <a:pPr algn="ctr"/>
            <a:r>
              <a:rPr sz="1000" b="0" i="0">
                <a:solidFill>
                  <a:srgbClr val="FFFFFF"/>
                </a:solidFill>
              </a:rPr>
              <a:t>26</a:t>
            </a:r>
          </a:p>
        </p:txBody>
      </p:sp>
      <p:sp>
        <p:nvSpPr>
          <p:cNvPr id="76" name="Rectangle 75"/>
          <p:cNvSpPr/>
          <p:nvPr/>
        </p:nvSpPr>
        <p:spPr>
          <a:xfrm>
            <a:off x="5553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567400" y="3297599"/>
            <a:ext cx="825750" cy="583200"/>
          </a:xfrm>
          <a:prstGeom prst="rect">
            <a:avLst/>
          </a:prstGeom>
          <a:noFill/>
        </p:spPr>
        <p:txBody>
          <a:bodyPr wrap="square">
            <a:spAutoFit/>
          </a:bodyPr>
          <a:lstStyle/>
          <a:p>
            <a:pPr algn="ctr"/>
            <a:r>
              <a:rPr sz="1000" b="0" i="0">
                <a:solidFill>
                  <a:srgbClr val="FFFFFF"/>
                </a:solidFill>
              </a:rPr>
              <a:t>30</a:t>
            </a:r>
          </a:p>
        </p:txBody>
      </p:sp>
      <p:sp>
        <p:nvSpPr>
          <p:cNvPr id="78" name="Rectangle 77"/>
          <p:cNvSpPr/>
          <p:nvPr/>
        </p:nvSpPr>
        <p:spPr>
          <a:xfrm>
            <a:off x="6414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29150" y="3297599"/>
            <a:ext cx="825750" cy="583200"/>
          </a:xfrm>
          <a:prstGeom prst="rect">
            <a:avLst/>
          </a:prstGeom>
          <a:noFill/>
        </p:spPr>
        <p:txBody>
          <a:bodyPr wrap="square">
            <a:spAutoFit/>
          </a:bodyPr>
          <a:lstStyle/>
          <a:p>
            <a:pPr algn="ctr"/>
            <a:r>
              <a:rPr sz="1000" b="0" i="0">
                <a:solidFill>
                  <a:srgbClr val="FFFFFF"/>
                </a:solidFill>
              </a:rPr>
              <a:t>34</a:t>
            </a:r>
          </a:p>
        </p:txBody>
      </p:sp>
      <p:sp>
        <p:nvSpPr>
          <p:cNvPr id="80" name="Rectangle 79"/>
          <p:cNvSpPr/>
          <p:nvPr/>
        </p:nvSpPr>
        <p:spPr>
          <a:xfrm>
            <a:off x="7276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90900" y="3297599"/>
            <a:ext cx="825750" cy="583200"/>
          </a:xfrm>
          <a:prstGeom prst="rect">
            <a:avLst/>
          </a:prstGeom>
          <a:noFill/>
        </p:spPr>
        <p:txBody>
          <a:bodyPr wrap="square">
            <a:spAutoFit/>
          </a:bodyPr>
          <a:lstStyle/>
          <a:p>
            <a:pPr algn="ctr"/>
            <a:r>
              <a:rPr sz="1000" b="0" i="0">
                <a:solidFill>
                  <a:srgbClr val="FFFFFF"/>
                </a:solidFill>
              </a:rPr>
              <a:t>38</a:t>
            </a:r>
          </a:p>
        </p:txBody>
      </p:sp>
      <p:sp>
        <p:nvSpPr>
          <p:cNvPr id="82" name="Rectangle 81"/>
          <p:cNvSpPr/>
          <p:nvPr/>
        </p:nvSpPr>
        <p:spPr>
          <a:xfrm>
            <a:off x="8138250" y="32183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52650" y="3297599"/>
            <a:ext cx="825750" cy="583200"/>
          </a:xfrm>
          <a:prstGeom prst="rect">
            <a:avLst/>
          </a:prstGeom>
          <a:noFill/>
        </p:spPr>
        <p:txBody>
          <a:bodyPr wrap="square">
            <a:spAutoFit/>
          </a:bodyPr>
          <a:lstStyle/>
          <a:p>
            <a:pPr algn="ctr"/>
            <a:r>
              <a:rPr sz="1000" b="0" i="0">
                <a:solidFill>
                  <a:srgbClr val="D4AF37"/>
                </a:solidFill>
              </a:rPr>
              <a:t>42</a:t>
            </a:r>
          </a:p>
        </p:txBody>
      </p:sp>
      <p:sp>
        <p:nvSpPr>
          <p:cNvPr id="84" name="Rectangle 83"/>
          <p:cNvSpPr/>
          <p:nvPr/>
        </p:nvSpPr>
        <p:spPr>
          <a:xfrm>
            <a:off x="144000" y="3931199"/>
            <a:ext cx="1962000" cy="691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931199"/>
            <a:ext cx="79200" cy="691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4003199"/>
            <a:ext cx="1810800" cy="604800"/>
          </a:xfrm>
          <a:prstGeom prst="rect">
            <a:avLst/>
          </a:prstGeom>
          <a:noFill/>
        </p:spPr>
        <p:txBody>
          <a:bodyPr wrap="square">
            <a:spAutoFit/>
          </a:bodyPr>
          <a:lstStyle/>
          <a:p>
            <a:pPr algn="l"/>
            <a:r>
              <a:rPr sz="900" b="1" i="0">
                <a:solidFill>
                  <a:srgbClr val="00C87A"/>
                </a:solidFill>
              </a:rPr>
              <a:t>Résultat net trim. (M)</a:t>
            </a:r>
          </a:p>
        </p:txBody>
      </p:sp>
      <p:sp>
        <p:nvSpPr>
          <p:cNvPr id="87" name="Rectangle 86"/>
          <p:cNvSpPr/>
          <p:nvPr/>
        </p:nvSpPr>
        <p:spPr>
          <a:xfrm>
            <a:off x="2106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120400" y="4010399"/>
            <a:ext cx="825750" cy="583200"/>
          </a:xfrm>
          <a:prstGeom prst="rect">
            <a:avLst/>
          </a:prstGeom>
          <a:noFill/>
        </p:spPr>
        <p:txBody>
          <a:bodyPr wrap="square">
            <a:spAutoFit/>
          </a:bodyPr>
          <a:lstStyle/>
          <a:p>
            <a:pPr algn="ctr"/>
            <a:r>
              <a:rPr sz="1000" b="0" i="0">
                <a:solidFill>
                  <a:srgbClr val="FF6B6B"/>
                </a:solidFill>
              </a:rPr>
              <a:t>−25</a:t>
            </a:r>
          </a:p>
        </p:txBody>
      </p:sp>
      <p:sp>
        <p:nvSpPr>
          <p:cNvPr id="89" name="Rectangle 88"/>
          <p:cNvSpPr/>
          <p:nvPr/>
        </p:nvSpPr>
        <p:spPr>
          <a:xfrm>
            <a:off x="2967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982150" y="4010399"/>
            <a:ext cx="825750" cy="583200"/>
          </a:xfrm>
          <a:prstGeom prst="rect">
            <a:avLst/>
          </a:prstGeom>
          <a:noFill/>
        </p:spPr>
        <p:txBody>
          <a:bodyPr wrap="square">
            <a:spAutoFit/>
          </a:bodyPr>
          <a:lstStyle/>
          <a:p>
            <a:pPr algn="ctr"/>
            <a:r>
              <a:rPr sz="1000" b="0" i="0">
                <a:solidFill>
                  <a:srgbClr val="FF6B6B"/>
                </a:solidFill>
              </a:rPr>
              <a:t>−17</a:t>
            </a:r>
          </a:p>
        </p:txBody>
      </p:sp>
      <p:sp>
        <p:nvSpPr>
          <p:cNvPr id="91" name="Rectangle 90"/>
          <p:cNvSpPr/>
          <p:nvPr/>
        </p:nvSpPr>
        <p:spPr>
          <a:xfrm>
            <a:off x="3829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843900" y="4010399"/>
            <a:ext cx="825750" cy="583200"/>
          </a:xfrm>
          <a:prstGeom prst="rect">
            <a:avLst/>
          </a:prstGeom>
          <a:noFill/>
        </p:spPr>
        <p:txBody>
          <a:bodyPr wrap="square">
            <a:spAutoFit/>
          </a:bodyPr>
          <a:lstStyle/>
          <a:p>
            <a:pPr algn="ctr"/>
            <a:r>
              <a:rPr sz="1000" b="0" i="0">
                <a:solidFill>
                  <a:srgbClr val="FF6B6B"/>
                </a:solidFill>
              </a:rPr>
              <a:t>−8</a:t>
            </a:r>
          </a:p>
        </p:txBody>
      </p:sp>
      <p:sp>
        <p:nvSpPr>
          <p:cNvPr id="93" name="Rectangle 92"/>
          <p:cNvSpPr/>
          <p:nvPr/>
        </p:nvSpPr>
        <p:spPr>
          <a:xfrm>
            <a:off x="46912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05650" y="4010399"/>
            <a:ext cx="825750" cy="583200"/>
          </a:xfrm>
          <a:prstGeom prst="rect">
            <a:avLst/>
          </a:prstGeom>
          <a:noFill/>
        </p:spPr>
        <p:txBody>
          <a:bodyPr wrap="square">
            <a:spAutoFit/>
          </a:bodyPr>
          <a:lstStyle/>
          <a:p>
            <a:pPr algn="ctr"/>
            <a:r>
              <a:rPr sz="1000" b="0" i="0">
                <a:solidFill>
                  <a:srgbClr val="FF6B6B"/>
                </a:solidFill>
              </a:rPr>
              <a:t>−4</a:t>
            </a:r>
          </a:p>
        </p:txBody>
      </p:sp>
      <p:sp>
        <p:nvSpPr>
          <p:cNvPr id="95" name="Rectangle 94"/>
          <p:cNvSpPr/>
          <p:nvPr/>
        </p:nvSpPr>
        <p:spPr>
          <a:xfrm>
            <a:off x="5553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567400" y="4010399"/>
            <a:ext cx="825750" cy="583200"/>
          </a:xfrm>
          <a:prstGeom prst="rect">
            <a:avLst/>
          </a:prstGeom>
          <a:noFill/>
        </p:spPr>
        <p:txBody>
          <a:bodyPr wrap="square">
            <a:spAutoFit/>
          </a:bodyPr>
          <a:lstStyle/>
          <a:p>
            <a:pPr algn="ctr"/>
            <a:r>
              <a:rPr sz="1000" b="0" i="0">
                <a:solidFill>
                  <a:srgbClr val="00C87A"/>
                </a:solidFill>
              </a:rPr>
              <a:t>+3</a:t>
            </a:r>
          </a:p>
        </p:txBody>
      </p:sp>
      <p:sp>
        <p:nvSpPr>
          <p:cNvPr id="97" name="Rectangle 96"/>
          <p:cNvSpPr/>
          <p:nvPr/>
        </p:nvSpPr>
        <p:spPr>
          <a:xfrm>
            <a:off x="6414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29150" y="4010399"/>
            <a:ext cx="825750" cy="583200"/>
          </a:xfrm>
          <a:prstGeom prst="rect">
            <a:avLst/>
          </a:prstGeom>
          <a:noFill/>
        </p:spPr>
        <p:txBody>
          <a:bodyPr wrap="square">
            <a:spAutoFit/>
          </a:bodyPr>
          <a:lstStyle/>
          <a:p>
            <a:pPr algn="ctr"/>
            <a:r>
              <a:rPr sz="1000" b="0" i="0">
                <a:solidFill>
                  <a:srgbClr val="00C87A"/>
                </a:solidFill>
              </a:rPr>
              <a:t>+14</a:t>
            </a:r>
          </a:p>
        </p:txBody>
      </p:sp>
      <p:sp>
        <p:nvSpPr>
          <p:cNvPr id="99" name="Rectangle 98"/>
          <p:cNvSpPr/>
          <p:nvPr/>
        </p:nvSpPr>
        <p:spPr>
          <a:xfrm>
            <a:off x="7276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290900" y="4010399"/>
            <a:ext cx="825750" cy="583200"/>
          </a:xfrm>
          <a:prstGeom prst="rect">
            <a:avLst/>
          </a:prstGeom>
          <a:noFill/>
        </p:spPr>
        <p:txBody>
          <a:bodyPr wrap="square">
            <a:spAutoFit/>
          </a:bodyPr>
          <a:lstStyle/>
          <a:p>
            <a:pPr algn="ctr"/>
            <a:r>
              <a:rPr sz="1000" b="0" i="0">
                <a:solidFill>
                  <a:srgbClr val="00C87A"/>
                </a:solidFill>
              </a:rPr>
              <a:t>+27</a:t>
            </a:r>
          </a:p>
        </p:txBody>
      </p:sp>
      <p:sp>
        <p:nvSpPr>
          <p:cNvPr id="101" name="Rectangle 100"/>
          <p:cNvSpPr/>
          <p:nvPr/>
        </p:nvSpPr>
        <p:spPr>
          <a:xfrm>
            <a:off x="8138250" y="39311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52650" y="4010399"/>
            <a:ext cx="825750" cy="583200"/>
          </a:xfrm>
          <a:prstGeom prst="rect">
            <a:avLst/>
          </a:prstGeom>
          <a:noFill/>
        </p:spPr>
        <p:txBody>
          <a:bodyPr wrap="square">
            <a:spAutoFit/>
          </a:bodyPr>
          <a:lstStyle/>
          <a:p>
            <a:pPr algn="ctr"/>
            <a:r>
              <a:rPr sz="1000" b="1" i="0">
                <a:solidFill>
                  <a:srgbClr val="00C87A"/>
                </a:solidFill>
              </a:rPr>
              <a:t>+46</a:t>
            </a:r>
          </a:p>
        </p:txBody>
      </p:sp>
      <p:sp>
        <p:nvSpPr>
          <p:cNvPr id="103" name="Rectangle 102"/>
          <p:cNvSpPr/>
          <p:nvPr/>
        </p:nvSpPr>
        <p:spPr>
          <a:xfrm>
            <a:off x="144000" y="4643999"/>
            <a:ext cx="1962000" cy="6912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643999"/>
            <a:ext cx="79200" cy="6912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715999"/>
            <a:ext cx="1810800" cy="604800"/>
          </a:xfrm>
          <a:prstGeom prst="rect">
            <a:avLst/>
          </a:prstGeom>
          <a:noFill/>
        </p:spPr>
        <p:txBody>
          <a:bodyPr wrap="square">
            <a:spAutoFit/>
          </a:bodyPr>
          <a:lstStyle/>
          <a:p>
            <a:pPr algn="l"/>
            <a:r>
              <a:rPr sz="900" b="1" i="0">
                <a:solidFill>
                  <a:srgbClr val="9B59B6"/>
                </a:solidFill>
              </a:rPr>
              <a:t>Cumulatif P&amp;L (M FCFA)</a:t>
            </a:r>
          </a:p>
        </p:txBody>
      </p:sp>
      <p:sp>
        <p:nvSpPr>
          <p:cNvPr id="106" name="Rectangle 105"/>
          <p:cNvSpPr/>
          <p:nvPr/>
        </p:nvSpPr>
        <p:spPr>
          <a:xfrm>
            <a:off x="2106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20400" y="4723199"/>
            <a:ext cx="825750" cy="583200"/>
          </a:xfrm>
          <a:prstGeom prst="rect">
            <a:avLst/>
          </a:prstGeom>
          <a:noFill/>
        </p:spPr>
        <p:txBody>
          <a:bodyPr wrap="square">
            <a:spAutoFit/>
          </a:bodyPr>
          <a:lstStyle/>
          <a:p>
            <a:pPr algn="ctr"/>
            <a:r>
              <a:rPr sz="1000" b="0" i="0">
                <a:solidFill>
                  <a:srgbClr val="FF6B6B"/>
                </a:solidFill>
              </a:rPr>
              <a:t>−25</a:t>
            </a:r>
          </a:p>
        </p:txBody>
      </p:sp>
      <p:sp>
        <p:nvSpPr>
          <p:cNvPr id="108" name="Rectangle 107"/>
          <p:cNvSpPr/>
          <p:nvPr/>
        </p:nvSpPr>
        <p:spPr>
          <a:xfrm>
            <a:off x="2967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982150" y="4723199"/>
            <a:ext cx="825750" cy="583200"/>
          </a:xfrm>
          <a:prstGeom prst="rect">
            <a:avLst/>
          </a:prstGeom>
          <a:noFill/>
        </p:spPr>
        <p:txBody>
          <a:bodyPr wrap="square">
            <a:spAutoFit/>
          </a:bodyPr>
          <a:lstStyle/>
          <a:p>
            <a:pPr algn="ctr"/>
            <a:r>
              <a:rPr sz="1000" b="0" i="0">
                <a:solidFill>
                  <a:srgbClr val="FF6B6B"/>
                </a:solidFill>
              </a:rPr>
              <a:t>−42</a:t>
            </a:r>
          </a:p>
        </p:txBody>
      </p:sp>
      <p:sp>
        <p:nvSpPr>
          <p:cNvPr id="110" name="Rectangle 109"/>
          <p:cNvSpPr/>
          <p:nvPr/>
        </p:nvSpPr>
        <p:spPr>
          <a:xfrm>
            <a:off x="3829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843900" y="4723199"/>
            <a:ext cx="825750" cy="583200"/>
          </a:xfrm>
          <a:prstGeom prst="rect">
            <a:avLst/>
          </a:prstGeom>
          <a:noFill/>
        </p:spPr>
        <p:txBody>
          <a:bodyPr wrap="square">
            <a:spAutoFit/>
          </a:bodyPr>
          <a:lstStyle/>
          <a:p>
            <a:pPr algn="ctr"/>
            <a:r>
              <a:rPr sz="1000" b="0" i="0">
                <a:solidFill>
                  <a:srgbClr val="FF6B6B"/>
                </a:solidFill>
              </a:rPr>
              <a:t>−50</a:t>
            </a:r>
          </a:p>
        </p:txBody>
      </p:sp>
      <p:sp>
        <p:nvSpPr>
          <p:cNvPr id="112" name="Rectangle 111"/>
          <p:cNvSpPr/>
          <p:nvPr/>
        </p:nvSpPr>
        <p:spPr>
          <a:xfrm>
            <a:off x="46912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05650" y="4723199"/>
            <a:ext cx="825750" cy="583200"/>
          </a:xfrm>
          <a:prstGeom prst="rect">
            <a:avLst/>
          </a:prstGeom>
          <a:noFill/>
        </p:spPr>
        <p:txBody>
          <a:bodyPr wrap="square">
            <a:spAutoFit/>
          </a:bodyPr>
          <a:lstStyle/>
          <a:p>
            <a:pPr algn="ctr"/>
            <a:r>
              <a:rPr sz="1000" b="0" i="0">
                <a:solidFill>
                  <a:srgbClr val="FF6B6B"/>
                </a:solidFill>
              </a:rPr>
              <a:t>−54</a:t>
            </a:r>
          </a:p>
        </p:txBody>
      </p:sp>
      <p:sp>
        <p:nvSpPr>
          <p:cNvPr id="114" name="Rectangle 113"/>
          <p:cNvSpPr/>
          <p:nvPr/>
        </p:nvSpPr>
        <p:spPr>
          <a:xfrm>
            <a:off x="5553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567400" y="4723199"/>
            <a:ext cx="825750" cy="583200"/>
          </a:xfrm>
          <a:prstGeom prst="rect">
            <a:avLst/>
          </a:prstGeom>
          <a:noFill/>
        </p:spPr>
        <p:txBody>
          <a:bodyPr wrap="square">
            <a:spAutoFit/>
          </a:bodyPr>
          <a:lstStyle/>
          <a:p>
            <a:pPr algn="ctr"/>
            <a:r>
              <a:rPr sz="1000" b="0" i="0">
                <a:solidFill>
                  <a:srgbClr val="FF6B6B"/>
                </a:solidFill>
              </a:rPr>
              <a:t>−51</a:t>
            </a:r>
          </a:p>
        </p:txBody>
      </p:sp>
      <p:sp>
        <p:nvSpPr>
          <p:cNvPr id="116" name="Rectangle 115"/>
          <p:cNvSpPr/>
          <p:nvPr/>
        </p:nvSpPr>
        <p:spPr>
          <a:xfrm>
            <a:off x="6414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29150" y="4723199"/>
            <a:ext cx="825750" cy="583200"/>
          </a:xfrm>
          <a:prstGeom prst="rect">
            <a:avLst/>
          </a:prstGeom>
          <a:noFill/>
        </p:spPr>
        <p:txBody>
          <a:bodyPr wrap="square">
            <a:spAutoFit/>
          </a:bodyPr>
          <a:lstStyle/>
          <a:p>
            <a:pPr algn="ctr"/>
            <a:r>
              <a:rPr sz="1000" b="0" i="0">
                <a:solidFill>
                  <a:srgbClr val="FF6B6B"/>
                </a:solidFill>
              </a:rPr>
              <a:t>−37</a:t>
            </a:r>
          </a:p>
        </p:txBody>
      </p:sp>
      <p:sp>
        <p:nvSpPr>
          <p:cNvPr id="118" name="Rectangle 117"/>
          <p:cNvSpPr/>
          <p:nvPr/>
        </p:nvSpPr>
        <p:spPr>
          <a:xfrm>
            <a:off x="7276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90900" y="4723199"/>
            <a:ext cx="825750" cy="583200"/>
          </a:xfrm>
          <a:prstGeom prst="rect">
            <a:avLst/>
          </a:prstGeom>
          <a:noFill/>
        </p:spPr>
        <p:txBody>
          <a:bodyPr wrap="square">
            <a:spAutoFit/>
          </a:bodyPr>
          <a:lstStyle/>
          <a:p>
            <a:pPr algn="ctr"/>
            <a:r>
              <a:rPr sz="1000" b="0" i="0">
                <a:solidFill>
                  <a:srgbClr val="FF6B6B"/>
                </a:solidFill>
              </a:rPr>
              <a:t>−10</a:t>
            </a:r>
          </a:p>
        </p:txBody>
      </p:sp>
      <p:sp>
        <p:nvSpPr>
          <p:cNvPr id="120" name="Rectangle 119"/>
          <p:cNvSpPr/>
          <p:nvPr/>
        </p:nvSpPr>
        <p:spPr>
          <a:xfrm>
            <a:off x="8138250" y="46439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52650" y="4723199"/>
            <a:ext cx="825750" cy="583200"/>
          </a:xfrm>
          <a:prstGeom prst="rect">
            <a:avLst/>
          </a:prstGeom>
          <a:noFill/>
        </p:spPr>
        <p:txBody>
          <a:bodyPr wrap="square">
            <a:spAutoFit/>
          </a:bodyPr>
          <a:lstStyle/>
          <a:p>
            <a:pPr algn="ctr"/>
            <a:r>
              <a:rPr sz="1000" b="1" i="0">
                <a:solidFill>
                  <a:srgbClr val="00C87A"/>
                </a:solidFill>
              </a:rPr>
              <a:t>+36</a:t>
            </a:r>
          </a:p>
        </p:txBody>
      </p:sp>
      <p:sp>
        <p:nvSpPr>
          <p:cNvPr id="122" name="Rectangle 121"/>
          <p:cNvSpPr/>
          <p:nvPr/>
        </p:nvSpPr>
        <p:spPr>
          <a:xfrm>
            <a:off x="144000" y="5356799"/>
            <a:ext cx="1962000" cy="691200"/>
          </a:xfrm>
          <a:prstGeom prst="rect">
            <a:avLst/>
          </a:prstGeom>
          <a:solidFill>
            <a:srgbClr val="0B1E42"/>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5356799"/>
            <a:ext cx="79200" cy="691200"/>
          </a:xfrm>
          <a:prstGeom prst="rect">
            <a:avLst/>
          </a:prstGeom>
          <a:solidFill>
            <a:srgbClr val="B0C4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5428799"/>
            <a:ext cx="1810800" cy="604800"/>
          </a:xfrm>
          <a:prstGeom prst="rect">
            <a:avLst/>
          </a:prstGeom>
          <a:noFill/>
        </p:spPr>
        <p:txBody>
          <a:bodyPr wrap="square">
            <a:spAutoFit/>
          </a:bodyPr>
          <a:lstStyle/>
          <a:p>
            <a:pPr algn="l"/>
            <a:r>
              <a:rPr sz="900" b="1" i="0">
                <a:solidFill>
                  <a:srgbClr val="B0C4DE"/>
                </a:solidFill>
              </a:rPr>
              <a:t>Trésorerie disponible (M) **</a:t>
            </a:r>
          </a:p>
        </p:txBody>
      </p:sp>
      <p:sp>
        <p:nvSpPr>
          <p:cNvPr id="125" name="Rectangle 124"/>
          <p:cNvSpPr/>
          <p:nvPr/>
        </p:nvSpPr>
        <p:spPr>
          <a:xfrm>
            <a:off x="2106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120400" y="5435999"/>
            <a:ext cx="825750" cy="583200"/>
          </a:xfrm>
          <a:prstGeom prst="rect">
            <a:avLst/>
          </a:prstGeom>
          <a:noFill/>
        </p:spPr>
        <p:txBody>
          <a:bodyPr wrap="square">
            <a:spAutoFit/>
          </a:bodyPr>
          <a:lstStyle/>
          <a:p>
            <a:pPr algn="ctr"/>
            <a:r>
              <a:rPr sz="1000" b="0" i="0">
                <a:solidFill>
                  <a:srgbClr val="FFFFFF"/>
                </a:solidFill>
              </a:rPr>
              <a:t>95</a:t>
            </a:r>
          </a:p>
        </p:txBody>
      </p:sp>
      <p:sp>
        <p:nvSpPr>
          <p:cNvPr id="127" name="Rectangle 126"/>
          <p:cNvSpPr/>
          <p:nvPr/>
        </p:nvSpPr>
        <p:spPr>
          <a:xfrm>
            <a:off x="2967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2982150" y="5435999"/>
            <a:ext cx="825750" cy="583200"/>
          </a:xfrm>
          <a:prstGeom prst="rect">
            <a:avLst/>
          </a:prstGeom>
          <a:noFill/>
        </p:spPr>
        <p:txBody>
          <a:bodyPr wrap="square">
            <a:spAutoFit/>
          </a:bodyPr>
          <a:lstStyle/>
          <a:p>
            <a:pPr algn="ctr"/>
            <a:r>
              <a:rPr sz="1000" b="0" i="0">
                <a:solidFill>
                  <a:srgbClr val="FFFFFF"/>
                </a:solidFill>
              </a:rPr>
              <a:t>78</a:t>
            </a:r>
          </a:p>
        </p:txBody>
      </p:sp>
      <p:sp>
        <p:nvSpPr>
          <p:cNvPr id="129" name="Rectangle 128"/>
          <p:cNvSpPr/>
          <p:nvPr/>
        </p:nvSpPr>
        <p:spPr>
          <a:xfrm>
            <a:off x="3829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843900" y="5435999"/>
            <a:ext cx="825750" cy="583200"/>
          </a:xfrm>
          <a:prstGeom prst="rect">
            <a:avLst/>
          </a:prstGeom>
          <a:noFill/>
        </p:spPr>
        <p:txBody>
          <a:bodyPr wrap="square">
            <a:spAutoFit/>
          </a:bodyPr>
          <a:lstStyle/>
          <a:p>
            <a:pPr algn="ctr"/>
            <a:r>
              <a:rPr sz="1000" b="0" i="0">
                <a:solidFill>
                  <a:srgbClr val="FFFFFF"/>
                </a:solidFill>
              </a:rPr>
              <a:t>70</a:t>
            </a:r>
          </a:p>
        </p:txBody>
      </p:sp>
      <p:sp>
        <p:nvSpPr>
          <p:cNvPr id="131" name="Rectangle 130"/>
          <p:cNvSpPr/>
          <p:nvPr/>
        </p:nvSpPr>
        <p:spPr>
          <a:xfrm>
            <a:off x="4691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05650" y="5435999"/>
            <a:ext cx="825750" cy="583200"/>
          </a:xfrm>
          <a:prstGeom prst="rect">
            <a:avLst/>
          </a:prstGeom>
          <a:noFill/>
        </p:spPr>
        <p:txBody>
          <a:bodyPr wrap="square">
            <a:spAutoFit/>
          </a:bodyPr>
          <a:lstStyle/>
          <a:p>
            <a:pPr algn="ctr"/>
            <a:r>
              <a:rPr sz="1000" b="0" i="0">
                <a:solidFill>
                  <a:srgbClr val="FFFFFF"/>
                </a:solidFill>
              </a:rPr>
              <a:t>66</a:t>
            </a:r>
          </a:p>
        </p:txBody>
      </p:sp>
      <p:sp>
        <p:nvSpPr>
          <p:cNvPr id="133" name="Rectangle 132"/>
          <p:cNvSpPr/>
          <p:nvPr/>
        </p:nvSpPr>
        <p:spPr>
          <a:xfrm>
            <a:off x="5553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567400" y="5435999"/>
            <a:ext cx="825750" cy="583200"/>
          </a:xfrm>
          <a:prstGeom prst="rect">
            <a:avLst/>
          </a:prstGeom>
          <a:noFill/>
        </p:spPr>
        <p:txBody>
          <a:bodyPr wrap="square">
            <a:spAutoFit/>
          </a:bodyPr>
          <a:lstStyle/>
          <a:p>
            <a:pPr algn="ctr"/>
            <a:r>
              <a:rPr sz="1000" b="0" i="0">
                <a:solidFill>
                  <a:srgbClr val="FFFFFF"/>
                </a:solidFill>
              </a:rPr>
              <a:t>69</a:t>
            </a:r>
          </a:p>
        </p:txBody>
      </p:sp>
      <p:sp>
        <p:nvSpPr>
          <p:cNvPr id="135" name="Rectangle 134"/>
          <p:cNvSpPr/>
          <p:nvPr/>
        </p:nvSpPr>
        <p:spPr>
          <a:xfrm>
            <a:off x="6414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29150" y="5435999"/>
            <a:ext cx="825750" cy="583200"/>
          </a:xfrm>
          <a:prstGeom prst="rect">
            <a:avLst/>
          </a:prstGeom>
          <a:noFill/>
        </p:spPr>
        <p:txBody>
          <a:bodyPr wrap="square">
            <a:spAutoFit/>
          </a:bodyPr>
          <a:lstStyle/>
          <a:p>
            <a:pPr algn="ctr"/>
            <a:r>
              <a:rPr sz="1000" b="0" i="0">
                <a:solidFill>
                  <a:srgbClr val="FFFFFF"/>
                </a:solidFill>
              </a:rPr>
              <a:t>83</a:t>
            </a:r>
          </a:p>
        </p:txBody>
      </p:sp>
      <p:sp>
        <p:nvSpPr>
          <p:cNvPr id="137" name="Rectangle 136"/>
          <p:cNvSpPr/>
          <p:nvPr/>
        </p:nvSpPr>
        <p:spPr>
          <a:xfrm>
            <a:off x="7276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290900" y="5435999"/>
            <a:ext cx="825750" cy="583200"/>
          </a:xfrm>
          <a:prstGeom prst="rect">
            <a:avLst/>
          </a:prstGeom>
          <a:noFill/>
        </p:spPr>
        <p:txBody>
          <a:bodyPr wrap="square">
            <a:spAutoFit/>
          </a:bodyPr>
          <a:lstStyle/>
          <a:p>
            <a:pPr algn="ctr"/>
            <a:r>
              <a:rPr sz="1000" b="0" i="0">
                <a:solidFill>
                  <a:srgbClr val="FFFFFF"/>
                </a:solidFill>
              </a:rPr>
              <a:t>110</a:t>
            </a:r>
          </a:p>
        </p:txBody>
      </p:sp>
      <p:sp>
        <p:nvSpPr>
          <p:cNvPr id="139" name="Rectangle 138"/>
          <p:cNvSpPr/>
          <p:nvPr/>
        </p:nvSpPr>
        <p:spPr>
          <a:xfrm>
            <a:off x="8138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52650" y="5435999"/>
            <a:ext cx="825750" cy="583200"/>
          </a:xfrm>
          <a:prstGeom prst="rect">
            <a:avLst/>
          </a:prstGeom>
          <a:noFill/>
        </p:spPr>
        <p:txBody>
          <a:bodyPr wrap="square">
            <a:spAutoFit/>
          </a:bodyPr>
          <a:lstStyle/>
          <a:p>
            <a:pPr algn="ctr"/>
            <a:r>
              <a:rPr sz="1000" b="0" i="0">
                <a:solidFill>
                  <a:srgbClr val="D4AF37"/>
                </a:solidFill>
              </a:rPr>
              <a:t>156</a:t>
            </a:r>
          </a:p>
        </p:txBody>
      </p:sp>
      <p:sp>
        <p:nvSpPr>
          <p:cNvPr id="141" name="Rectangle 140"/>
          <p:cNvSpPr/>
          <p:nvPr/>
        </p:nvSpPr>
        <p:spPr>
          <a:xfrm>
            <a:off x="144000" y="6134399"/>
            <a:ext cx="8856000" cy="39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6134399"/>
            <a:ext cx="79200" cy="39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69999" y="6170399"/>
            <a:ext cx="8640001" cy="360000"/>
          </a:xfrm>
          <a:prstGeom prst="rect">
            <a:avLst/>
          </a:prstGeom>
          <a:noFill/>
        </p:spPr>
        <p:txBody>
          <a:bodyPr wrap="square">
            <a:spAutoFit/>
          </a:bodyPr>
          <a:lstStyle/>
          <a:p>
            <a:pPr algn="l"/>
            <a:r>
              <a:rPr sz="800" b="0" i="1">
                <a:solidFill>
                  <a:srgbClr val="D4AF37"/>
                </a:solidFill>
              </a:rPr>
              <a:t>*  Charges incluent : acquisitions partenaires (transport, santé, immobilier, BdL...) + marketing, IT, équipe, logistique.  Total 2 ans = 245 M FCFA (financé par 120M invest. + 281 M revenus générés).
**  Tréso = 120M invest. + cumulatif P&amp;L.  Minimum = 66 M (T1'27) — jamais négatif.  Hypothèse basse sans Bourse du Livre ni immobilier/transport.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Décaissements — Cadence de Déploiement des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Plan de déploiement par poste budgétaire · Marketing ↑ aux extensions · IT ↑ aux nouveaux marchés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2088000" cy="324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980000" cy="259200"/>
          </a:xfrm>
          <a:prstGeom prst="rect">
            <a:avLst/>
          </a:prstGeom>
          <a:noFill/>
        </p:spPr>
        <p:txBody>
          <a:bodyPr wrap="square">
            <a:spAutoFit/>
          </a:bodyPr>
          <a:lstStyle/>
          <a:p>
            <a:pPr algn="l"/>
            <a:r>
              <a:rPr sz="900" b="1" i="1">
                <a:solidFill>
                  <a:srgbClr val="B0C4DE"/>
                </a:solidFill>
              </a:rPr>
              <a:t>Ligne budgétaire</a:t>
            </a:r>
          </a:p>
        </p:txBody>
      </p:sp>
      <p:sp>
        <p:nvSpPr>
          <p:cNvPr id="11" name="Rectangle 10"/>
          <p:cNvSpPr/>
          <p:nvPr/>
        </p:nvSpPr>
        <p:spPr>
          <a:xfrm>
            <a:off x="223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6400" y="1504799"/>
            <a:ext cx="810000" cy="2700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307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2400" y="1504799"/>
            <a:ext cx="810000" cy="2700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924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8400" y="1504799"/>
            <a:ext cx="810000" cy="2700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770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84400" y="1504799"/>
            <a:ext cx="810000" cy="2700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616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30400" y="1504799"/>
            <a:ext cx="810000" cy="2700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6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6400" y="1504799"/>
            <a:ext cx="810000" cy="2700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30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22400" y="1504799"/>
            <a:ext cx="810000" cy="2700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54000" y="1475999"/>
            <a:ext cx="824400" cy="32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68400" y="1504799"/>
            <a:ext cx="810000" cy="2700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9999"/>
            <a:ext cx="2088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99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936800" cy="518400"/>
          </a:xfrm>
          <a:prstGeom prst="rect">
            <a:avLst/>
          </a:prstGeom>
          <a:noFill/>
        </p:spPr>
        <p:txBody>
          <a:bodyPr wrap="square">
            <a:spAutoFit/>
          </a:bodyPr>
          <a:lstStyle/>
          <a:p>
            <a:pPr algn="l"/>
            <a:r>
              <a:rPr sz="900" b="1" i="0">
                <a:solidFill>
                  <a:srgbClr val="D4AF37"/>
                </a:solidFill>
              </a:rPr>
              <a:t>Marketing &amp; Acquisition (45%=54M)</a:t>
            </a:r>
          </a:p>
        </p:txBody>
      </p:sp>
      <p:sp>
        <p:nvSpPr>
          <p:cNvPr id="30" name="Rectangle 29"/>
          <p:cNvSpPr/>
          <p:nvPr/>
        </p:nvSpPr>
        <p:spPr>
          <a:xfrm>
            <a:off x="223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46400" y="1889999"/>
            <a:ext cx="810000" cy="482400"/>
          </a:xfrm>
          <a:prstGeom prst="rect">
            <a:avLst/>
          </a:prstGeom>
          <a:noFill/>
        </p:spPr>
        <p:txBody>
          <a:bodyPr wrap="square">
            <a:spAutoFit/>
          </a:bodyPr>
          <a:lstStyle/>
          <a:p>
            <a:pPr algn="ctr"/>
            <a:r>
              <a:rPr sz="1100" b="1" i="0">
                <a:solidFill>
                  <a:srgbClr val="D4AF37"/>
                </a:solidFill>
              </a:rPr>
              <a:t>12</a:t>
            </a:r>
          </a:p>
        </p:txBody>
      </p:sp>
      <p:sp>
        <p:nvSpPr>
          <p:cNvPr id="32" name="Rectangle 31"/>
          <p:cNvSpPr/>
          <p:nvPr/>
        </p:nvSpPr>
        <p:spPr>
          <a:xfrm>
            <a:off x="307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92400" y="1889999"/>
            <a:ext cx="810000" cy="482400"/>
          </a:xfrm>
          <a:prstGeom prst="rect">
            <a:avLst/>
          </a:prstGeom>
          <a:noFill/>
        </p:spPr>
        <p:txBody>
          <a:bodyPr wrap="square">
            <a:spAutoFit/>
          </a:bodyPr>
          <a:lstStyle/>
          <a:p>
            <a:pPr algn="ctr"/>
            <a:r>
              <a:rPr sz="1100" b="1" i="0">
                <a:solidFill>
                  <a:srgbClr val="D4AF37"/>
                </a:solidFill>
              </a:rPr>
              <a:t>10</a:t>
            </a:r>
          </a:p>
        </p:txBody>
      </p:sp>
      <p:sp>
        <p:nvSpPr>
          <p:cNvPr id="34" name="Rectangle 33"/>
          <p:cNvSpPr/>
          <p:nvPr/>
        </p:nvSpPr>
        <p:spPr>
          <a:xfrm>
            <a:off x="392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38400" y="1889999"/>
            <a:ext cx="810000" cy="482400"/>
          </a:xfrm>
          <a:prstGeom prst="rect">
            <a:avLst/>
          </a:prstGeom>
          <a:noFill/>
        </p:spPr>
        <p:txBody>
          <a:bodyPr wrap="square">
            <a:spAutoFit/>
          </a:bodyPr>
          <a:lstStyle/>
          <a:p>
            <a:pPr algn="ctr"/>
            <a:r>
              <a:rPr sz="1100" b="1" i="0">
                <a:solidFill>
                  <a:srgbClr val="D4AF37"/>
                </a:solidFill>
              </a:rPr>
              <a:t>8</a:t>
            </a:r>
          </a:p>
        </p:txBody>
      </p:sp>
      <p:sp>
        <p:nvSpPr>
          <p:cNvPr id="36" name="Rectangle 35"/>
          <p:cNvSpPr/>
          <p:nvPr/>
        </p:nvSpPr>
        <p:spPr>
          <a:xfrm>
            <a:off x="4770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84400" y="1889999"/>
            <a:ext cx="810000" cy="482400"/>
          </a:xfrm>
          <a:prstGeom prst="rect">
            <a:avLst/>
          </a:prstGeom>
          <a:noFill/>
        </p:spPr>
        <p:txBody>
          <a:bodyPr wrap="square">
            <a:spAutoFit/>
          </a:bodyPr>
          <a:lstStyle/>
          <a:p>
            <a:pPr algn="ctr"/>
            <a:r>
              <a:rPr sz="1100" b="1" i="0">
                <a:solidFill>
                  <a:srgbClr val="D4AF37"/>
                </a:solidFill>
              </a:rPr>
              <a:t>8</a:t>
            </a:r>
          </a:p>
        </p:txBody>
      </p:sp>
      <p:sp>
        <p:nvSpPr>
          <p:cNvPr id="38" name="Rectangle 37"/>
          <p:cNvSpPr/>
          <p:nvPr/>
        </p:nvSpPr>
        <p:spPr>
          <a:xfrm>
            <a:off x="5616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30400" y="1889999"/>
            <a:ext cx="810000" cy="482400"/>
          </a:xfrm>
          <a:prstGeom prst="rect">
            <a:avLst/>
          </a:prstGeom>
          <a:noFill/>
        </p:spPr>
        <p:txBody>
          <a:bodyPr wrap="square">
            <a:spAutoFit/>
          </a:bodyPr>
          <a:lstStyle/>
          <a:p>
            <a:pPr algn="ctr"/>
            <a:r>
              <a:rPr sz="1100" b="1" i="0">
                <a:solidFill>
                  <a:srgbClr val="D4AF37"/>
                </a:solidFill>
              </a:rPr>
              <a:t>7</a:t>
            </a:r>
          </a:p>
        </p:txBody>
      </p:sp>
      <p:sp>
        <p:nvSpPr>
          <p:cNvPr id="40" name="Rectangle 39"/>
          <p:cNvSpPr/>
          <p:nvPr/>
        </p:nvSpPr>
        <p:spPr>
          <a:xfrm>
            <a:off x="646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6400" y="1889999"/>
            <a:ext cx="810000" cy="482400"/>
          </a:xfrm>
          <a:prstGeom prst="rect">
            <a:avLst/>
          </a:prstGeom>
          <a:noFill/>
        </p:spPr>
        <p:txBody>
          <a:bodyPr wrap="square">
            <a:spAutoFit/>
          </a:bodyPr>
          <a:lstStyle/>
          <a:p>
            <a:pPr algn="ctr"/>
            <a:r>
              <a:rPr sz="1100" b="1" i="0">
                <a:solidFill>
                  <a:srgbClr val="D4AF37"/>
                </a:solidFill>
              </a:rPr>
              <a:t>5</a:t>
            </a:r>
          </a:p>
        </p:txBody>
      </p:sp>
      <p:sp>
        <p:nvSpPr>
          <p:cNvPr id="42" name="Rectangle 41"/>
          <p:cNvSpPr/>
          <p:nvPr/>
        </p:nvSpPr>
        <p:spPr>
          <a:xfrm>
            <a:off x="730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2400" y="1889999"/>
            <a:ext cx="810000" cy="482400"/>
          </a:xfrm>
          <a:prstGeom prst="rect">
            <a:avLst/>
          </a:prstGeom>
          <a:noFill/>
        </p:spPr>
        <p:txBody>
          <a:bodyPr wrap="square">
            <a:spAutoFit/>
          </a:bodyPr>
          <a:lstStyle/>
          <a:p>
            <a:pPr algn="ctr"/>
            <a:r>
              <a:rPr sz="1100" b="1" i="0">
                <a:solidFill>
                  <a:srgbClr val="D4AF37"/>
                </a:solidFill>
              </a:rPr>
              <a:t>3</a:t>
            </a:r>
          </a:p>
        </p:txBody>
      </p:sp>
      <p:sp>
        <p:nvSpPr>
          <p:cNvPr id="44" name="Rectangle 43"/>
          <p:cNvSpPr/>
          <p:nvPr/>
        </p:nvSpPr>
        <p:spPr>
          <a:xfrm>
            <a:off x="815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68400" y="1889999"/>
            <a:ext cx="810000" cy="482400"/>
          </a:xfrm>
          <a:prstGeom prst="rect">
            <a:avLst/>
          </a:prstGeom>
          <a:noFill/>
        </p:spPr>
        <p:txBody>
          <a:bodyPr wrap="square">
            <a:spAutoFit/>
          </a:bodyPr>
          <a:lstStyle/>
          <a:p>
            <a:pPr algn="ctr"/>
            <a:r>
              <a:rPr sz="1100" b="1" i="0">
                <a:solidFill>
                  <a:srgbClr val="D4AF37"/>
                </a:solidFill>
              </a:rPr>
              <a:t>1</a:t>
            </a:r>
          </a:p>
        </p:txBody>
      </p:sp>
      <p:sp>
        <p:nvSpPr>
          <p:cNvPr id="46" name="Rectangle 45"/>
          <p:cNvSpPr/>
          <p:nvPr/>
        </p:nvSpPr>
        <p:spPr>
          <a:xfrm>
            <a:off x="144000" y="2419199"/>
            <a:ext cx="2088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4191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483999"/>
            <a:ext cx="1936800" cy="518400"/>
          </a:xfrm>
          <a:prstGeom prst="rect">
            <a:avLst/>
          </a:prstGeom>
          <a:noFill/>
        </p:spPr>
        <p:txBody>
          <a:bodyPr wrap="square">
            <a:spAutoFit/>
          </a:bodyPr>
          <a:lstStyle/>
          <a:p>
            <a:pPr algn="l"/>
            <a:r>
              <a:rPr sz="900" b="1" i="0">
                <a:solidFill>
                  <a:srgbClr val="4FC3F7"/>
                </a:solidFill>
              </a:rPr>
              <a:t>Opérations &amp; Équipe (25%=30M)</a:t>
            </a:r>
          </a:p>
        </p:txBody>
      </p:sp>
      <p:sp>
        <p:nvSpPr>
          <p:cNvPr id="49" name="Rectangle 48"/>
          <p:cNvSpPr/>
          <p:nvPr/>
        </p:nvSpPr>
        <p:spPr>
          <a:xfrm>
            <a:off x="223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6400" y="2509199"/>
            <a:ext cx="810000" cy="482400"/>
          </a:xfrm>
          <a:prstGeom prst="rect">
            <a:avLst/>
          </a:prstGeom>
          <a:noFill/>
        </p:spPr>
        <p:txBody>
          <a:bodyPr wrap="square">
            <a:spAutoFit/>
          </a:bodyPr>
          <a:lstStyle/>
          <a:p>
            <a:pPr algn="ctr"/>
            <a:r>
              <a:rPr sz="1100" b="1" i="0">
                <a:solidFill>
                  <a:srgbClr val="4FC3F7"/>
                </a:solidFill>
              </a:rPr>
              <a:t>7</a:t>
            </a:r>
          </a:p>
        </p:txBody>
      </p:sp>
      <p:sp>
        <p:nvSpPr>
          <p:cNvPr id="51" name="Rectangle 50"/>
          <p:cNvSpPr/>
          <p:nvPr/>
        </p:nvSpPr>
        <p:spPr>
          <a:xfrm>
            <a:off x="307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92400" y="2509199"/>
            <a:ext cx="810000" cy="482400"/>
          </a:xfrm>
          <a:prstGeom prst="rect">
            <a:avLst/>
          </a:prstGeom>
          <a:noFill/>
        </p:spPr>
        <p:txBody>
          <a:bodyPr wrap="square">
            <a:spAutoFit/>
          </a:bodyPr>
          <a:lstStyle/>
          <a:p>
            <a:pPr algn="ctr"/>
            <a:r>
              <a:rPr sz="1100" b="1" i="0">
                <a:solidFill>
                  <a:srgbClr val="4FC3F7"/>
                </a:solidFill>
              </a:rPr>
              <a:t>6</a:t>
            </a:r>
          </a:p>
        </p:txBody>
      </p:sp>
      <p:sp>
        <p:nvSpPr>
          <p:cNvPr id="53" name="Rectangle 52"/>
          <p:cNvSpPr/>
          <p:nvPr/>
        </p:nvSpPr>
        <p:spPr>
          <a:xfrm>
            <a:off x="392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938400" y="2509199"/>
            <a:ext cx="810000" cy="482400"/>
          </a:xfrm>
          <a:prstGeom prst="rect">
            <a:avLst/>
          </a:prstGeom>
          <a:noFill/>
        </p:spPr>
        <p:txBody>
          <a:bodyPr wrap="square">
            <a:spAutoFit/>
          </a:bodyPr>
          <a:lstStyle/>
          <a:p>
            <a:pPr algn="ctr"/>
            <a:r>
              <a:rPr sz="1100" b="1" i="0">
                <a:solidFill>
                  <a:srgbClr val="4FC3F7"/>
                </a:solidFill>
              </a:rPr>
              <a:t>5</a:t>
            </a:r>
          </a:p>
        </p:txBody>
      </p:sp>
      <p:sp>
        <p:nvSpPr>
          <p:cNvPr id="55" name="Rectangle 54"/>
          <p:cNvSpPr/>
          <p:nvPr/>
        </p:nvSpPr>
        <p:spPr>
          <a:xfrm>
            <a:off x="4770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84400" y="2509199"/>
            <a:ext cx="810000" cy="482400"/>
          </a:xfrm>
          <a:prstGeom prst="rect">
            <a:avLst/>
          </a:prstGeom>
          <a:noFill/>
        </p:spPr>
        <p:txBody>
          <a:bodyPr wrap="square">
            <a:spAutoFit/>
          </a:bodyPr>
          <a:lstStyle/>
          <a:p>
            <a:pPr algn="ctr"/>
            <a:r>
              <a:rPr sz="1100" b="1" i="0">
                <a:solidFill>
                  <a:srgbClr val="4FC3F7"/>
                </a:solidFill>
              </a:rPr>
              <a:t>5</a:t>
            </a:r>
          </a:p>
        </p:txBody>
      </p:sp>
      <p:sp>
        <p:nvSpPr>
          <p:cNvPr id="57" name="Rectangle 56"/>
          <p:cNvSpPr/>
          <p:nvPr/>
        </p:nvSpPr>
        <p:spPr>
          <a:xfrm>
            <a:off x="5616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30400" y="2509199"/>
            <a:ext cx="810000" cy="482400"/>
          </a:xfrm>
          <a:prstGeom prst="rect">
            <a:avLst/>
          </a:prstGeom>
          <a:noFill/>
        </p:spPr>
        <p:txBody>
          <a:bodyPr wrap="square">
            <a:spAutoFit/>
          </a:bodyPr>
          <a:lstStyle/>
          <a:p>
            <a:pPr algn="ctr"/>
            <a:r>
              <a:rPr sz="1100" b="1" i="0">
                <a:solidFill>
                  <a:srgbClr val="4FC3F7"/>
                </a:solidFill>
              </a:rPr>
              <a:t>4</a:t>
            </a:r>
          </a:p>
        </p:txBody>
      </p:sp>
      <p:sp>
        <p:nvSpPr>
          <p:cNvPr id="59" name="Rectangle 58"/>
          <p:cNvSpPr/>
          <p:nvPr/>
        </p:nvSpPr>
        <p:spPr>
          <a:xfrm>
            <a:off x="646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76400" y="2509199"/>
            <a:ext cx="810000" cy="482400"/>
          </a:xfrm>
          <a:prstGeom prst="rect">
            <a:avLst/>
          </a:prstGeom>
          <a:noFill/>
        </p:spPr>
        <p:txBody>
          <a:bodyPr wrap="square">
            <a:spAutoFit/>
          </a:bodyPr>
          <a:lstStyle/>
          <a:p>
            <a:pPr algn="ctr"/>
            <a:r>
              <a:rPr sz="1100" b="1" i="0">
                <a:solidFill>
                  <a:srgbClr val="4FC3F7"/>
                </a:solidFill>
              </a:rPr>
              <a:t>2</a:t>
            </a:r>
          </a:p>
        </p:txBody>
      </p:sp>
      <p:sp>
        <p:nvSpPr>
          <p:cNvPr id="61" name="Rectangle 60"/>
          <p:cNvSpPr/>
          <p:nvPr/>
        </p:nvSpPr>
        <p:spPr>
          <a:xfrm>
            <a:off x="730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22400" y="2509199"/>
            <a:ext cx="810000" cy="482400"/>
          </a:xfrm>
          <a:prstGeom prst="rect">
            <a:avLst/>
          </a:prstGeom>
          <a:noFill/>
        </p:spPr>
        <p:txBody>
          <a:bodyPr wrap="square">
            <a:spAutoFit/>
          </a:bodyPr>
          <a:lstStyle/>
          <a:p>
            <a:pPr algn="ctr"/>
            <a:r>
              <a:rPr sz="1100" b="1" i="0">
                <a:solidFill>
                  <a:srgbClr val="4FC3F7"/>
                </a:solidFill>
              </a:rPr>
              <a:t>1</a:t>
            </a:r>
          </a:p>
        </p:txBody>
      </p:sp>
      <p:sp>
        <p:nvSpPr>
          <p:cNvPr id="63" name="Rectangle 62"/>
          <p:cNvSpPr/>
          <p:nvPr/>
        </p:nvSpPr>
        <p:spPr>
          <a:xfrm>
            <a:off x="815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68400" y="2509199"/>
            <a:ext cx="810000" cy="482400"/>
          </a:xfrm>
          <a:prstGeom prst="rect">
            <a:avLst/>
          </a:prstGeom>
          <a:noFill/>
        </p:spPr>
        <p:txBody>
          <a:bodyPr wrap="square">
            <a:spAutoFit/>
          </a:bodyPr>
          <a:lstStyle/>
          <a:p>
            <a:pPr algn="ctr"/>
            <a:r>
              <a:rPr sz="1100" b="0" i="0">
                <a:solidFill>
                  <a:srgbClr val="B0C4DE"/>
                </a:solidFill>
              </a:rPr>
              <a:t>—</a:t>
            </a:r>
          </a:p>
        </p:txBody>
      </p:sp>
      <p:sp>
        <p:nvSpPr>
          <p:cNvPr id="65" name="Rectangle 64"/>
          <p:cNvSpPr/>
          <p:nvPr/>
        </p:nvSpPr>
        <p:spPr>
          <a:xfrm>
            <a:off x="144000" y="3038399"/>
            <a:ext cx="2088000" cy="5976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038399"/>
            <a:ext cx="79200" cy="5976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103199"/>
            <a:ext cx="1936800" cy="518400"/>
          </a:xfrm>
          <a:prstGeom prst="rect">
            <a:avLst/>
          </a:prstGeom>
          <a:noFill/>
        </p:spPr>
        <p:txBody>
          <a:bodyPr wrap="square">
            <a:spAutoFit/>
          </a:bodyPr>
          <a:lstStyle/>
          <a:p>
            <a:pPr algn="l"/>
            <a:r>
              <a:rPr sz="900" b="1" i="0">
                <a:solidFill>
                  <a:srgbClr val="FF9933"/>
                </a:solidFill>
              </a:rPr>
              <a:t>Acq. Services &amp; Infra (15%=18M)</a:t>
            </a:r>
          </a:p>
        </p:txBody>
      </p:sp>
      <p:sp>
        <p:nvSpPr>
          <p:cNvPr id="68" name="Rectangle 67"/>
          <p:cNvSpPr/>
          <p:nvPr/>
        </p:nvSpPr>
        <p:spPr>
          <a:xfrm>
            <a:off x="223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46400" y="3128399"/>
            <a:ext cx="810000" cy="482400"/>
          </a:xfrm>
          <a:prstGeom prst="rect">
            <a:avLst/>
          </a:prstGeom>
          <a:noFill/>
        </p:spPr>
        <p:txBody>
          <a:bodyPr wrap="square">
            <a:spAutoFit/>
          </a:bodyPr>
          <a:lstStyle/>
          <a:p>
            <a:pPr algn="ctr"/>
            <a:r>
              <a:rPr sz="1100" b="1" i="0">
                <a:solidFill>
                  <a:srgbClr val="FF9933"/>
                </a:solidFill>
              </a:rPr>
              <a:t>7</a:t>
            </a:r>
          </a:p>
        </p:txBody>
      </p:sp>
      <p:sp>
        <p:nvSpPr>
          <p:cNvPr id="70" name="Rectangle 69"/>
          <p:cNvSpPr/>
          <p:nvPr/>
        </p:nvSpPr>
        <p:spPr>
          <a:xfrm>
            <a:off x="307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092400" y="3128399"/>
            <a:ext cx="810000" cy="482400"/>
          </a:xfrm>
          <a:prstGeom prst="rect">
            <a:avLst/>
          </a:prstGeom>
          <a:noFill/>
        </p:spPr>
        <p:txBody>
          <a:bodyPr wrap="square">
            <a:spAutoFit/>
          </a:bodyPr>
          <a:lstStyle/>
          <a:p>
            <a:pPr algn="ctr"/>
            <a:r>
              <a:rPr sz="1100" b="1" i="0">
                <a:solidFill>
                  <a:srgbClr val="FF9933"/>
                </a:solidFill>
              </a:rPr>
              <a:t>5</a:t>
            </a:r>
          </a:p>
        </p:txBody>
      </p:sp>
      <p:sp>
        <p:nvSpPr>
          <p:cNvPr id="72" name="Rectangle 71"/>
          <p:cNvSpPr/>
          <p:nvPr/>
        </p:nvSpPr>
        <p:spPr>
          <a:xfrm>
            <a:off x="392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938400" y="3128399"/>
            <a:ext cx="810000" cy="482400"/>
          </a:xfrm>
          <a:prstGeom prst="rect">
            <a:avLst/>
          </a:prstGeom>
          <a:noFill/>
        </p:spPr>
        <p:txBody>
          <a:bodyPr wrap="square">
            <a:spAutoFit/>
          </a:bodyPr>
          <a:lstStyle/>
          <a:p>
            <a:pPr algn="ctr"/>
            <a:r>
              <a:rPr sz="1100" b="1" i="0">
                <a:solidFill>
                  <a:srgbClr val="FF9933"/>
                </a:solidFill>
              </a:rPr>
              <a:t>3</a:t>
            </a:r>
          </a:p>
        </p:txBody>
      </p:sp>
      <p:sp>
        <p:nvSpPr>
          <p:cNvPr id="74" name="Rectangle 73"/>
          <p:cNvSpPr/>
          <p:nvPr/>
        </p:nvSpPr>
        <p:spPr>
          <a:xfrm>
            <a:off x="4770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84400" y="3128399"/>
            <a:ext cx="810000" cy="482400"/>
          </a:xfrm>
          <a:prstGeom prst="rect">
            <a:avLst/>
          </a:prstGeom>
          <a:noFill/>
        </p:spPr>
        <p:txBody>
          <a:bodyPr wrap="square">
            <a:spAutoFit/>
          </a:bodyPr>
          <a:lstStyle/>
          <a:p>
            <a:pPr algn="ctr"/>
            <a:r>
              <a:rPr sz="1100" b="1" i="0">
                <a:solidFill>
                  <a:srgbClr val="FF9933"/>
                </a:solidFill>
              </a:rPr>
              <a:t>2</a:t>
            </a:r>
          </a:p>
        </p:txBody>
      </p:sp>
      <p:sp>
        <p:nvSpPr>
          <p:cNvPr id="76" name="Rectangle 75"/>
          <p:cNvSpPr/>
          <p:nvPr/>
        </p:nvSpPr>
        <p:spPr>
          <a:xfrm>
            <a:off x="5616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30400" y="3128399"/>
            <a:ext cx="810000" cy="482400"/>
          </a:xfrm>
          <a:prstGeom prst="rect">
            <a:avLst/>
          </a:prstGeom>
          <a:noFill/>
        </p:spPr>
        <p:txBody>
          <a:bodyPr wrap="square">
            <a:spAutoFit/>
          </a:bodyPr>
          <a:lstStyle/>
          <a:p>
            <a:pPr algn="ctr"/>
            <a:r>
              <a:rPr sz="1100" b="1" i="0">
                <a:solidFill>
                  <a:srgbClr val="FF9933"/>
                </a:solidFill>
              </a:rPr>
              <a:t>1</a:t>
            </a:r>
          </a:p>
        </p:txBody>
      </p:sp>
      <p:sp>
        <p:nvSpPr>
          <p:cNvPr id="78" name="Rectangle 77"/>
          <p:cNvSpPr/>
          <p:nvPr/>
        </p:nvSpPr>
        <p:spPr>
          <a:xfrm>
            <a:off x="646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76400" y="3128399"/>
            <a:ext cx="810000" cy="482400"/>
          </a:xfrm>
          <a:prstGeom prst="rect">
            <a:avLst/>
          </a:prstGeom>
          <a:noFill/>
        </p:spPr>
        <p:txBody>
          <a:bodyPr wrap="square">
            <a:spAutoFit/>
          </a:bodyPr>
          <a:lstStyle/>
          <a:p>
            <a:pPr algn="ctr"/>
            <a:r>
              <a:rPr sz="1100" b="0" i="0">
                <a:solidFill>
                  <a:srgbClr val="B0C4DE"/>
                </a:solidFill>
              </a:rPr>
              <a:t>—</a:t>
            </a:r>
          </a:p>
        </p:txBody>
      </p:sp>
      <p:sp>
        <p:nvSpPr>
          <p:cNvPr id="80" name="Rectangle 79"/>
          <p:cNvSpPr/>
          <p:nvPr/>
        </p:nvSpPr>
        <p:spPr>
          <a:xfrm>
            <a:off x="730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322400" y="3128399"/>
            <a:ext cx="810000" cy="482400"/>
          </a:xfrm>
          <a:prstGeom prst="rect">
            <a:avLst/>
          </a:prstGeom>
          <a:noFill/>
        </p:spPr>
        <p:txBody>
          <a:bodyPr wrap="square">
            <a:spAutoFit/>
          </a:bodyPr>
          <a:lstStyle/>
          <a:p>
            <a:pPr algn="ctr"/>
            <a:r>
              <a:rPr sz="1100" b="0" i="0">
                <a:solidFill>
                  <a:srgbClr val="B0C4DE"/>
                </a:solidFill>
              </a:rPr>
              <a:t>—</a:t>
            </a:r>
          </a:p>
        </p:txBody>
      </p:sp>
      <p:sp>
        <p:nvSpPr>
          <p:cNvPr id="82" name="Rectangle 81"/>
          <p:cNvSpPr/>
          <p:nvPr/>
        </p:nvSpPr>
        <p:spPr>
          <a:xfrm>
            <a:off x="815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68400" y="3128399"/>
            <a:ext cx="810000" cy="482400"/>
          </a:xfrm>
          <a:prstGeom prst="rect">
            <a:avLst/>
          </a:prstGeom>
          <a:noFill/>
        </p:spPr>
        <p:txBody>
          <a:bodyPr wrap="square">
            <a:spAutoFit/>
          </a:bodyPr>
          <a:lstStyle/>
          <a:p>
            <a:pPr algn="ctr"/>
            <a:r>
              <a:rPr sz="1100" b="0" i="0">
                <a:solidFill>
                  <a:srgbClr val="B0C4DE"/>
                </a:solidFill>
              </a:rPr>
              <a:t>—</a:t>
            </a:r>
          </a:p>
        </p:txBody>
      </p:sp>
      <p:sp>
        <p:nvSpPr>
          <p:cNvPr id="84" name="Rectangle 83"/>
          <p:cNvSpPr/>
          <p:nvPr/>
        </p:nvSpPr>
        <p:spPr>
          <a:xfrm>
            <a:off x="144000" y="3657599"/>
            <a:ext cx="2088000" cy="5976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6575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3722399"/>
            <a:ext cx="1936800" cy="518400"/>
          </a:xfrm>
          <a:prstGeom prst="rect">
            <a:avLst/>
          </a:prstGeom>
          <a:noFill/>
        </p:spPr>
        <p:txBody>
          <a:bodyPr wrap="square">
            <a:spAutoFit/>
          </a:bodyPr>
          <a:lstStyle/>
          <a:p>
            <a:pPr algn="l"/>
            <a:r>
              <a:rPr sz="900" b="1" i="0">
                <a:solidFill>
                  <a:srgbClr val="00C87A"/>
                </a:solidFill>
              </a:rPr>
              <a:t>Réserve de Trésorerie (15%=18M)</a:t>
            </a:r>
          </a:p>
        </p:txBody>
      </p:sp>
      <p:sp>
        <p:nvSpPr>
          <p:cNvPr id="87" name="Rectangle 86"/>
          <p:cNvSpPr/>
          <p:nvPr/>
        </p:nvSpPr>
        <p:spPr>
          <a:xfrm>
            <a:off x="223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46400" y="3747599"/>
            <a:ext cx="810000" cy="482400"/>
          </a:xfrm>
          <a:prstGeom prst="rect">
            <a:avLst/>
          </a:prstGeom>
          <a:noFill/>
        </p:spPr>
        <p:txBody>
          <a:bodyPr wrap="square">
            <a:spAutoFit/>
          </a:bodyPr>
          <a:lstStyle/>
          <a:p>
            <a:pPr algn="ctr"/>
            <a:r>
              <a:rPr sz="1100" b="1" i="0">
                <a:solidFill>
                  <a:srgbClr val="00C87A"/>
                </a:solidFill>
              </a:rPr>
              <a:t>2</a:t>
            </a:r>
          </a:p>
        </p:txBody>
      </p:sp>
      <p:sp>
        <p:nvSpPr>
          <p:cNvPr id="89" name="Rectangle 88"/>
          <p:cNvSpPr/>
          <p:nvPr/>
        </p:nvSpPr>
        <p:spPr>
          <a:xfrm>
            <a:off x="307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092400" y="3747599"/>
            <a:ext cx="810000" cy="482400"/>
          </a:xfrm>
          <a:prstGeom prst="rect">
            <a:avLst/>
          </a:prstGeom>
          <a:noFill/>
        </p:spPr>
        <p:txBody>
          <a:bodyPr wrap="square">
            <a:spAutoFit/>
          </a:bodyPr>
          <a:lstStyle/>
          <a:p>
            <a:pPr algn="ctr"/>
            <a:r>
              <a:rPr sz="1100" b="1" i="0">
                <a:solidFill>
                  <a:srgbClr val="00C87A"/>
                </a:solidFill>
              </a:rPr>
              <a:t>4</a:t>
            </a:r>
          </a:p>
        </p:txBody>
      </p:sp>
      <p:sp>
        <p:nvSpPr>
          <p:cNvPr id="91" name="Rectangle 90"/>
          <p:cNvSpPr/>
          <p:nvPr/>
        </p:nvSpPr>
        <p:spPr>
          <a:xfrm>
            <a:off x="392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938400" y="3747599"/>
            <a:ext cx="810000" cy="482400"/>
          </a:xfrm>
          <a:prstGeom prst="rect">
            <a:avLst/>
          </a:prstGeom>
          <a:noFill/>
        </p:spPr>
        <p:txBody>
          <a:bodyPr wrap="square">
            <a:spAutoFit/>
          </a:bodyPr>
          <a:lstStyle/>
          <a:p>
            <a:pPr algn="ctr"/>
            <a:r>
              <a:rPr sz="1100" b="1" i="0">
                <a:solidFill>
                  <a:srgbClr val="00C87A"/>
                </a:solidFill>
              </a:rPr>
              <a:t>6</a:t>
            </a:r>
          </a:p>
        </p:txBody>
      </p:sp>
      <p:sp>
        <p:nvSpPr>
          <p:cNvPr id="93" name="Rectangle 92"/>
          <p:cNvSpPr/>
          <p:nvPr/>
        </p:nvSpPr>
        <p:spPr>
          <a:xfrm>
            <a:off x="4770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84400" y="3747599"/>
            <a:ext cx="810000" cy="482400"/>
          </a:xfrm>
          <a:prstGeom prst="rect">
            <a:avLst/>
          </a:prstGeom>
          <a:noFill/>
        </p:spPr>
        <p:txBody>
          <a:bodyPr wrap="square">
            <a:spAutoFit/>
          </a:bodyPr>
          <a:lstStyle/>
          <a:p>
            <a:pPr algn="ctr"/>
            <a:r>
              <a:rPr sz="1100" b="1" i="0">
                <a:solidFill>
                  <a:srgbClr val="00C87A"/>
                </a:solidFill>
              </a:rPr>
              <a:t>1</a:t>
            </a:r>
          </a:p>
        </p:txBody>
      </p:sp>
      <p:sp>
        <p:nvSpPr>
          <p:cNvPr id="95" name="Rectangle 94"/>
          <p:cNvSpPr/>
          <p:nvPr/>
        </p:nvSpPr>
        <p:spPr>
          <a:xfrm>
            <a:off x="5616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630400" y="3747599"/>
            <a:ext cx="810000" cy="482400"/>
          </a:xfrm>
          <a:prstGeom prst="rect">
            <a:avLst/>
          </a:prstGeom>
          <a:noFill/>
        </p:spPr>
        <p:txBody>
          <a:bodyPr wrap="square">
            <a:spAutoFit/>
          </a:bodyPr>
          <a:lstStyle/>
          <a:p>
            <a:pPr algn="ctr"/>
            <a:r>
              <a:rPr sz="1100" b="1" i="0">
                <a:solidFill>
                  <a:srgbClr val="00C87A"/>
                </a:solidFill>
              </a:rPr>
              <a:t>3</a:t>
            </a:r>
          </a:p>
        </p:txBody>
      </p:sp>
      <p:sp>
        <p:nvSpPr>
          <p:cNvPr id="97" name="Rectangle 96"/>
          <p:cNvSpPr/>
          <p:nvPr/>
        </p:nvSpPr>
        <p:spPr>
          <a:xfrm>
            <a:off x="646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76400" y="3747599"/>
            <a:ext cx="810000" cy="482400"/>
          </a:xfrm>
          <a:prstGeom prst="rect">
            <a:avLst/>
          </a:prstGeom>
          <a:noFill/>
        </p:spPr>
        <p:txBody>
          <a:bodyPr wrap="square">
            <a:spAutoFit/>
          </a:bodyPr>
          <a:lstStyle/>
          <a:p>
            <a:pPr algn="ctr"/>
            <a:r>
              <a:rPr sz="1100" b="1" i="0">
                <a:solidFill>
                  <a:srgbClr val="00C87A"/>
                </a:solidFill>
              </a:rPr>
              <a:t>1</a:t>
            </a:r>
          </a:p>
        </p:txBody>
      </p:sp>
      <p:sp>
        <p:nvSpPr>
          <p:cNvPr id="99" name="Rectangle 98"/>
          <p:cNvSpPr/>
          <p:nvPr/>
        </p:nvSpPr>
        <p:spPr>
          <a:xfrm>
            <a:off x="730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322400" y="3747599"/>
            <a:ext cx="810000" cy="482400"/>
          </a:xfrm>
          <a:prstGeom prst="rect">
            <a:avLst/>
          </a:prstGeom>
          <a:noFill/>
        </p:spPr>
        <p:txBody>
          <a:bodyPr wrap="square">
            <a:spAutoFit/>
          </a:bodyPr>
          <a:lstStyle/>
          <a:p>
            <a:pPr algn="ctr"/>
            <a:r>
              <a:rPr sz="1100" b="0" i="0">
                <a:solidFill>
                  <a:srgbClr val="B0C4DE"/>
                </a:solidFill>
              </a:rPr>
              <a:t>—</a:t>
            </a:r>
          </a:p>
        </p:txBody>
      </p:sp>
      <p:sp>
        <p:nvSpPr>
          <p:cNvPr id="101" name="Rectangle 100"/>
          <p:cNvSpPr/>
          <p:nvPr/>
        </p:nvSpPr>
        <p:spPr>
          <a:xfrm>
            <a:off x="815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68400" y="3747599"/>
            <a:ext cx="810000" cy="482400"/>
          </a:xfrm>
          <a:prstGeom prst="rect">
            <a:avLst/>
          </a:prstGeom>
          <a:noFill/>
        </p:spPr>
        <p:txBody>
          <a:bodyPr wrap="square">
            <a:spAutoFit/>
          </a:bodyPr>
          <a:lstStyle/>
          <a:p>
            <a:pPr algn="ctr"/>
            <a:r>
              <a:rPr sz="1100" b="1" i="0">
                <a:solidFill>
                  <a:srgbClr val="00C87A"/>
                </a:solidFill>
              </a:rPr>
              <a:t>1</a:t>
            </a:r>
          </a:p>
        </p:txBody>
      </p:sp>
      <p:sp>
        <p:nvSpPr>
          <p:cNvPr id="103" name="Rectangle 102"/>
          <p:cNvSpPr/>
          <p:nvPr/>
        </p:nvSpPr>
        <p:spPr>
          <a:xfrm>
            <a:off x="144000" y="4276799"/>
            <a:ext cx="8856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2767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341599"/>
            <a:ext cx="1936800" cy="518400"/>
          </a:xfrm>
          <a:prstGeom prst="rect">
            <a:avLst/>
          </a:prstGeom>
          <a:noFill/>
        </p:spPr>
        <p:txBody>
          <a:bodyPr wrap="square">
            <a:spAutoFit/>
          </a:bodyPr>
          <a:lstStyle/>
          <a:p>
            <a:pPr algn="l"/>
            <a:r>
              <a:rPr sz="900" b="1" i="0">
                <a:solidFill>
                  <a:srgbClr val="D4AF37"/>
                </a:solidFill>
              </a:rPr>
              <a:t>TOTAL décaissé / trimestre (M)</a:t>
            </a:r>
          </a:p>
        </p:txBody>
      </p:sp>
      <p:sp>
        <p:nvSpPr>
          <p:cNvPr id="106" name="Rectangle 105"/>
          <p:cNvSpPr/>
          <p:nvPr/>
        </p:nvSpPr>
        <p:spPr>
          <a:xfrm>
            <a:off x="223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46400" y="4366799"/>
            <a:ext cx="810000" cy="482400"/>
          </a:xfrm>
          <a:prstGeom prst="rect">
            <a:avLst/>
          </a:prstGeom>
          <a:noFill/>
        </p:spPr>
        <p:txBody>
          <a:bodyPr wrap="square">
            <a:spAutoFit/>
          </a:bodyPr>
          <a:lstStyle/>
          <a:p>
            <a:pPr algn="ctr"/>
            <a:r>
              <a:rPr sz="1200" b="1" i="0">
                <a:solidFill>
                  <a:srgbClr val="D4AF37"/>
                </a:solidFill>
              </a:rPr>
              <a:t>28</a:t>
            </a:r>
          </a:p>
        </p:txBody>
      </p:sp>
      <p:sp>
        <p:nvSpPr>
          <p:cNvPr id="108" name="Rectangle 107"/>
          <p:cNvSpPr/>
          <p:nvPr/>
        </p:nvSpPr>
        <p:spPr>
          <a:xfrm>
            <a:off x="307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092400" y="4366799"/>
            <a:ext cx="810000" cy="482400"/>
          </a:xfrm>
          <a:prstGeom prst="rect">
            <a:avLst/>
          </a:prstGeom>
          <a:noFill/>
        </p:spPr>
        <p:txBody>
          <a:bodyPr wrap="square">
            <a:spAutoFit/>
          </a:bodyPr>
          <a:lstStyle/>
          <a:p>
            <a:pPr algn="ctr"/>
            <a:r>
              <a:rPr sz="1200" b="1" i="0">
                <a:solidFill>
                  <a:srgbClr val="D4AF37"/>
                </a:solidFill>
              </a:rPr>
              <a:t>25</a:t>
            </a:r>
          </a:p>
        </p:txBody>
      </p:sp>
      <p:sp>
        <p:nvSpPr>
          <p:cNvPr id="110" name="Rectangle 109"/>
          <p:cNvSpPr/>
          <p:nvPr/>
        </p:nvSpPr>
        <p:spPr>
          <a:xfrm>
            <a:off x="392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938400" y="4366799"/>
            <a:ext cx="810000" cy="482400"/>
          </a:xfrm>
          <a:prstGeom prst="rect">
            <a:avLst/>
          </a:prstGeom>
          <a:noFill/>
        </p:spPr>
        <p:txBody>
          <a:bodyPr wrap="square">
            <a:spAutoFit/>
          </a:bodyPr>
          <a:lstStyle/>
          <a:p>
            <a:pPr algn="ctr"/>
            <a:r>
              <a:rPr sz="1200" b="1" i="0">
                <a:solidFill>
                  <a:srgbClr val="D4AF37"/>
                </a:solidFill>
              </a:rPr>
              <a:t>22</a:t>
            </a:r>
          </a:p>
        </p:txBody>
      </p:sp>
      <p:sp>
        <p:nvSpPr>
          <p:cNvPr id="112" name="Rectangle 111"/>
          <p:cNvSpPr/>
          <p:nvPr/>
        </p:nvSpPr>
        <p:spPr>
          <a:xfrm>
            <a:off x="4770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84400" y="4366799"/>
            <a:ext cx="810000" cy="482400"/>
          </a:xfrm>
          <a:prstGeom prst="rect">
            <a:avLst/>
          </a:prstGeom>
          <a:noFill/>
        </p:spPr>
        <p:txBody>
          <a:bodyPr wrap="square">
            <a:spAutoFit/>
          </a:bodyPr>
          <a:lstStyle/>
          <a:p>
            <a:pPr algn="ctr"/>
            <a:r>
              <a:rPr sz="1200" b="1" i="0">
                <a:solidFill>
                  <a:srgbClr val="D4AF37"/>
                </a:solidFill>
              </a:rPr>
              <a:t>16</a:t>
            </a:r>
          </a:p>
        </p:txBody>
      </p:sp>
      <p:sp>
        <p:nvSpPr>
          <p:cNvPr id="114" name="Rectangle 113"/>
          <p:cNvSpPr/>
          <p:nvPr/>
        </p:nvSpPr>
        <p:spPr>
          <a:xfrm>
            <a:off x="5616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630400" y="4366799"/>
            <a:ext cx="810000" cy="482400"/>
          </a:xfrm>
          <a:prstGeom prst="rect">
            <a:avLst/>
          </a:prstGeom>
          <a:noFill/>
        </p:spPr>
        <p:txBody>
          <a:bodyPr wrap="square">
            <a:spAutoFit/>
          </a:bodyPr>
          <a:lstStyle/>
          <a:p>
            <a:pPr algn="ctr"/>
            <a:r>
              <a:rPr sz="1200" b="1" i="0">
                <a:solidFill>
                  <a:srgbClr val="D4AF37"/>
                </a:solidFill>
              </a:rPr>
              <a:t>15</a:t>
            </a:r>
          </a:p>
        </p:txBody>
      </p:sp>
      <p:sp>
        <p:nvSpPr>
          <p:cNvPr id="116" name="Rectangle 115"/>
          <p:cNvSpPr/>
          <p:nvPr/>
        </p:nvSpPr>
        <p:spPr>
          <a:xfrm>
            <a:off x="646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76400" y="4366799"/>
            <a:ext cx="810000" cy="482400"/>
          </a:xfrm>
          <a:prstGeom prst="rect">
            <a:avLst/>
          </a:prstGeom>
          <a:noFill/>
        </p:spPr>
        <p:txBody>
          <a:bodyPr wrap="square">
            <a:spAutoFit/>
          </a:bodyPr>
          <a:lstStyle/>
          <a:p>
            <a:pPr algn="ctr"/>
            <a:r>
              <a:rPr sz="1200" b="1" i="0">
                <a:solidFill>
                  <a:srgbClr val="D4AF37"/>
                </a:solidFill>
              </a:rPr>
              <a:t>8</a:t>
            </a:r>
          </a:p>
        </p:txBody>
      </p:sp>
      <p:sp>
        <p:nvSpPr>
          <p:cNvPr id="118" name="Rectangle 117"/>
          <p:cNvSpPr/>
          <p:nvPr/>
        </p:nvSpPr>
        <p:spPr>
          <a:xfrm>
            <a:off x="730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322400" y="4366799"/>
            <a:ext cx="810000" cy="482400"/>
          </a:xfrm>
          <a:prstGeom prst="rect">
            <a:avLst/>
          </a:prstGeom>
          <a:noFill/>
        </p:spPr>
        <p:txBody>
          <a:bodyPr wrap="square">
            <a:spAutoFit/>
          </a:bodyPr>
          <a:lstStyle/>
          <a:p>
            <a:pPr algn="ctr"/>
            <a:r>
              <a:rPr sz="1200" b="1" i="0">
                <a:solidFill>
                  <a:srgbClr val="D4AF37"/>
                </a:solidFill>
              </a:rPr>
              <a:t>4</a:t>
            </a:r>
          </a:p>
        </p:txBody>
      </p:sp>
      <p:sp>
        <p:nvSpPr>
          <p:cNvPr id="120" name="Rectangle 119"/>
          <p:cNvSpPr/>
          <p:nvPr/>
        </p:nvSpPr>
        <p:spPr>
          <a:xfrm>
            <a:off x="815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68400" y="4366799"/>
            <a:ext cx="810000" cy="482400"/>
          </a:xfrm>
          <a:prstGeom prst="rect">
            <a:avLst/>
          </a:prstGeom>
          <a:noFill/>
        </p:spPr>
        <p:txBody>
          <a:bodyPr wrap="square">
            <a:spAutoFit/>
          </a:bodyPr>
          <a:lstStyle/>
          <a:p>
            <a:pPr algn="ctr"/>
            <a:r>
              <a:rPr sz="1200" b="1" i="0">
                <a:solidFill>
                  <a:srgbClr val="D4AF37"/>
                </a:solidFill>
              </a:rPr>
              <a:t>2</a:t>
            </a:r>
          </a:p>
        </p:txBody>
      </p:sp>
      <p:sp>
        <p:nvSpPr>
          <p:cNvPr id="122" name="Rectangle 121"/>
          <p:cNvSpPr/>
          <p:nvPr/>
        </p:nvSpPr>
        <p:spPr>
          <a:xfrm>
            <a:off x="144000" y="4895999"/>
            <a:ext cx="8856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48959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4960799"/>
            <a:ext cx="1936800" cy="518400"/>
          </a:xfrm>
          <a:prstGeom prst="rect">
            <a:avLst/>
          </a:prstGeom>
          <a:noFill/>
        </p:spPr>
        <p:txBody>
          <a:bodyPr wrap="square">
            <a:spAutoFit/>
          </a:bodyPr>
          <a:lstStyle/>
          <a:p>
            <a:pPr algn="l"/>
            <a:r>
              <a:rPr sz="900" b="1" i="0">
                <a:solidFill>
                  <a:srgbClr val="4FC3F7"/>
                </a:solidFill>
              </a:rPr>
              <a:t>Cumulé déployé (M FCFA)</a:t>
            </a:r>
          </a:p>
        </p:txBody>
      </p:sp>
      <p:sp>
        <p:nvSpPr>
          <p:cNvPr id="125" name="Rectangle 124"/>
          <p:cNvSpPr/>
          <p:nvPr/>
        </p:nvSpPr>
        <p:spPr>
          <a:xfrm>
            <a:off x="223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246400" y="4949999"/>
            <a:ext cx="810000" cy="529200"/>
          </a:xfrm>
          <a:prstGeom prst="rect">
            <a:avLst/>
          </a:prstGeom>
          <a:noFill/>
        </p:spPr>
        <p:txBody>
          <a:bodyPr wrap="square">
            <a:spAutoFit/>
          </a:bodyPr>
          <a:lstStyle/>
          <a:p>
            <a:pPr algn="ctr"/>
            <a:r>
              <a:rPr sz="900" b="1" i="0">
                <a:solidFill>
                  <a:srgbClr val="4FC3F7"/>
                </a:solidFill>
              </a:rPr>
              <a:t>28M
(23%)</a:t>
            </a:r>
          </a:p>
        </p:txBody>
      </p:sp>
      <p:sp>
        <p:nvSpPr>
          <p:cNvPr id="127" name="Rectangle 126"/>
          <p:cNvSpPr/>
          <p:nvPr/>
        </p:nvSpPr>
        <p:spPr>
          <a:xfrm>
            <a:off x="307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3092400" y="4949999"/>
            <a:ext cx="810000" cy="529200"/>
          </a:xfrm>
          <a:prstGeom prst="rect">
            <a:avLst/>
          </a:prstGeom>
          <a:noFill/>
        </p:spPr>
        <p:txBody>
          <a:bodyPr wrap="square">
            <a:spAutoFit/>
          </a:bodyPr>
          <a:lstStyle/>
          <a:p>
            <a:pPr algn="ctr"/>
            <a:r>
              <a:rPr sz="900" b="1" i="0">
                <a:solidFill>
                  <a:srgbClr val="4FC3F7"/>
                </a:solidFill>
              </a:rPr>
              <a:t>53M
(44%)</a:t>
            </a:r>
          </a:p>
        </p:txBody>
      </p:sp>
      <p:sp>
        <p:nvSpPr>
          <p:cNvPr id="129" name="Rectangle 128"/>
          <p:cNvSpPr/>
          <p:nvPr/>
        </p:nvSpPr>
        <p:spPr>
          <a:xfrm>
            <a:off x="392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938400" y="4949999"/>
            <a:ext cx="810000" cy="529200"/>
          </a:xfrm>
          <a:prstGeom prst="rect">
            <a:avLst/>
          </a:prstGeom>
          <a:noFill/>
        </p:spPr>
        <p:txBody>
          <a:bodyPr wrap="square">
            <a:spAutoFit/>
          </a:bodyPr>
          <a:lstStyle/>
          <a:p>
            <a:pPr algn="ctr"/>
            <a:r>
              <a:rPr sz="900" b="1" i="0">
                <a:solidFill>
                  <a:srgbClr val="4FC3F7"/>
                </a:solidFill>
              </a:rPr>
              <a:t>75M
(62%)</a:t>
            </a:r>
          </a:p>
        </p:txBody>
      </p:sp>
      <p:sp>
        <p:nvSpPr>
          <p:cNvPr id="131" name="Rectangle 130"/>
          <p:cNvSpPr/>
          <p:nvPr/>
        </p:nvSpPr>
        <p:spPr>
          <a:xfrm>
            <a:off x="4770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84400" y="4949999"/>
            <a:ext cx="810000" cy="529200"/>
          </a:xfrm>
          <a:prstGeom prst="rect">
            <a:avLst/>
          </a:prstGeom>
          <a:noFill/>
        </p:spPr>
        <p:txBody>
          <a:bodyPr wrap="square">
            <a:spAutoFit/>
          </a:bodyPr>
          <a:lstStyle/>
          <a:p>
            <a:pPr algn="ctr"/>
            <a:r>
              <a:rPr sz="900" b="1" i="0">
                <a:solidFill>
                  <a:srgbClr val="4FC3F7"/>
                </a:solidFill>
              </a:rPr>
              <a:t>91M
(75%)</a:t>
            </a:r>
          </a:p>
        </p:txBody>
      </p:sp>
      <p:sp>
        <p:nvSpPr>
          <p:cNvPr id="133" name="Rectangle 132"/>
          <p:cNvSpPr/>
          <p:nvPr/>
        </p:nvSpPr>
        <p:spPr>
          <a:xfrm>
            <a:off x="5616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630400" y="4949999"/>
            <a:ext cx="810000" cy="529200"/>
          </a:xfrm>
          <a:prstGeom prst="rect">
            <a:avLst/>
          </a:prstGeom>
          <a:noFill/>
        </p:spPr>
        <p:txBody>
          <a:bodyPr wrap="square">
            <a:spAutoFit/>
          </a:bodyPr>
          <a:lstStyle/>
          <a:p>
            <a:pPr algn="ctr"/>
            <a:r>
              <a:rPr sz="900" b="1" i="0">
                <a:solidFill>
                  <a:srgbClr val="4FC3F7"/>
                </a:solidFill>
              </a:rPr>
              <a:t>106M
(88%)</a:t>
            </a:r>
          </a:p>
        </p:txBody>
      </p:sp>
      <p:sp>
        <p:nvSpPr>
          <p:cNvPr id="135" name="Rectangle 134"/>
          <p:cNvSpPr/>
          <p:nvPr/>
        </p:nvSpPr>
        <p:spPr>
          <a:xfrm>
            <a:off x="646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76400" y="4949999"/>
            <a:ext cx="810000" cy="529200"/>
          </a:xfrm>
          <a:prstGeom prst="rect">
            <a:avLst/>
          </a:prstGeom>
          <a:noFill/>
        </p:spPr>
        <p:txBody>
          <a:bodyPr wrap="square">
            <a:spAutoFit/>
          </a:bodyPr>
          <a:lstStyle/>
          <a:p>
            <a:pPr algn="ctr"/>
            <a:r>
              <a:rPr sz="900" b="1" i="0">
                <a:solidFill>
                  <a:srgbClr val="4FC3F7"/>
                </a:solidFill>
              </a:rPr>
              <a:t>114M
(95%)</a:t>
            </a:r>
          </a:p>
        </p:txBody>
      </p:sp>
      <p:sp>
        <p:nvSpPr>
          <p:cNvPr id="137" name="Rectangle 136"/>
          <p:cNvSpPr/>
          <p:nvPr/>
        </p:nvSpPr>
        <p:spPr>
          <a:xfrm>
            <a:off x="730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322400" y="4949999"/>
            <a:ext cx="810000" cy="529200"/>
          </a:xfrm>
          <a:prstGeom prst="rect">
            <a:avLst/>
          </a:prstGeom>
          <a:noFill/>
        </p:spPr>
        <p:txBody>
          <a:bodyPr wrap="square">
            <a:spAutoFit/>
          </a:bodyPr>
          <a:lstStyle/>
          <a:p>
            <a:pPr algn="ctr"/>
            <a:r>
              <a:rPr sz="900" b="1" i="0">
                <a:solidFill>
                  <a:srgbClr val="4FC3F7"/>
                </a:solidFill>
              </a:rPr>
              <a:t>118M
(98%)</a:t>
            </a:r>
          </a:p>
        </p:txBody>
      </p:sp>
      <p:sp>
        <p:nvSpPr>
          <p:cNvPr id="139" name="Rectangle 138"/>
          <p:cNvSpPr/>
          <p:nvPr/>
        </p:nvSpPr>
        <p:spPr>
          <a:xfrm>
            <a:off x="815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68400" y="4949999"/>
            <a:ext cx="810000" cy="529200"/>
          </a:xfrm>
          <a:prstGeom prst="rect">
            <a:avLst/>
          </a:prstGeom>
          <a:noFill/>
        </p:spPr>
        <p:txBody>
          <a:bodyPr wrap="square">
            <a:spAutoFit/>
          </a:bodyPr>
          <a:lstStyle/>
          <a:p>
            <a:pPr algn="ctr"/>
            <a:r>
              <a:rPr sz="900" b="1" i="0">
                <a:solidFill>
                  <a:srgbClr val="4FC3F7"/>
                </a:solidFill>
              </a:rPr>
              <a:t>120M
(100%)</a:t>
            </a:r>
          </a:p>
        </p:txBody>
      </p:sp>
      <p:sp>
        <p:nvSpPr>
          <p:cNvPr id="141" name="Rectangle 140"/>
          <p:cNvSpPr/>
          <p:nvPr/>
        </p:nvSpPr>
        <p:spPr>
          <a:xfrm>
            <a:off x="144000" y="5515199"/>
            <a:ext cx="8856000" cy="5976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55151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59200" y="5579999"/>
            <a:ext cx="1936800" cy="518400"/>
          </a:xfrm>
          <a:prstGeom prst="rect">
            <a:avLst/>
          </a:prstGeom>
          <a:noFill/>
        </p:spPr>
        <p:txBody>
          <a:bodyPr wrap="square">
            <a:spAutoFit/>
          </a:bodyPr>
          <a:lstStyle/>
          <a:p>
            <a:pPr algn="l"/>
            <a:r>
              <a:rPr sz="900" b="1" i="0">
                <a:solidFill>
                  <a:srgbClr val="00C87A"/>
                </a:solidFill>
              </a:rPr>
              <a:t>Budget restant (M FCFA)</a:t>
            </a:r>
          </a:p>
        </p:txBody>
      </p:sp>
      <p:sp>
        <p:nvSpPr>
          <p:cNvPr id="144" name="Rectangle 143"/>
          <p:cNvSpPr/>
          <p:nvPr/>
        </p:nvSpPr>
        <p:spPr>
          <a:xfrm>
            <a:off x="223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2246400" y="5605199"/>
            <a:ext cx="810000" cy="482400"/>
          </a:xfrm>
          <a:prstGeom prst="rect">
            <a:avLst/>
          </a:prstGeom>
          <a:noFill/>
        </p:spPr>
        <p:txBody>
          <a:bodyPr wrap="square">
            <a:spAutoFit/>
          </a:bodyPr>
          <a:lstStyle/>
          <a:p>
            <a:pPr algn="ctr"/>
            <a:r>
              <a:rPr sz="1100" b="1" i="0">
                <a:solidFill>
                  <a:srgbClr val="00C87A"/>
                </a:solidFill>
              </a:rPr>
              <a:t>92M</a:t>
            </a:r>
          </a:p>
        </p:txBody>
      </p:sp>
      <p:sp>
        <p:nvSpPr>
          <p:cNvPr id="146" name="Rectangle 145"/>
          <p:cNvSpPr/>
          <p:nvPr/>
        </p:nvSpPr>
        <p:spPr>
          <a:xfrm>
            <a:off x="307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3092400" y="5605199"/>
            <a:ext cx="810000" cy="482400"/>
          </a:xfrm>
          <a:prstGeom prst="rect">
            <a:avLst/>
          </a:prstGeom>
          <a:noFill/>
        </p:spPr>
        <p:txBody>
          <a:bodyPr wrap="square">
            <a:spAutoFit/>
          </a:bodyPr>
          <a:lstStyle/>
          <a:p>
            <a:pPr algn="ctr"/>
            <a:r>
              <a:rPr sz="1100" b="1" i="0">
                <a:solidFill>
                  <a:srgbClr val="00C87A"/>
                </a:solidFill>
              </a:rPr>
              <a:t>67M</a:t>
            </a:r>
          </a:p>
        </p:txBody>
      </p:sp>
      <p:sp>
        <p:nvSpPr>
          <p:cNvPr id="148" name="Rectangle 147"/>
          <p:cNvSpPr/>
          <p:nvPr/>
        </p:nvSpPr>
        <p:spPr>
          <a:xfrm>
            <a:off x="392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8400" y="5605199"/>
            <a:ext cx="810000" cy="482400"/>
          </a:xfrm>
          <a:prstGeom prst="rect">
            <a:avLst/>
          </a:prstGeom>
          <a:noFill/>
        </p:spPr>
        <p:txBody>
          <a:bodyPr wrap="square">
            <a:spAutoFit/>
          </a:bodyPr>
          <a:lstStyle/>
          <a:p>
            <a:pPr algn="ctr"/>
            <a:r>
              <a:rPr sz="1100" b="1" i="0">
                <a:solidFill>
                  <a:srgbClr val="00C87A"/>
                </a:solidFill>
              </a:rPr>
              <a:t>45M</a:t>
            </a:r>
          </a:p>
        </p:txBody>
      </p:sp>
      <p:sp>
        <p:nvSpPr>
          <p:cNvPr id="150" name="Rectangle 149"/>
          <p:cNvSpPr/>
          <p:nvPr/>
        </p:nvSpPr>
        <p:spPr>
          <a:xfrm>
            <a:off x="4770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4784400" y="5605199"/>
            <a:ext cx="810000" cy="482400"/>
          </a:xfrm>
          <a:prstGeom prst="rect">
            <a:avLst/>
          </a:prstGeom>
          <a:noFill/>
        </p:spPr>
        <p:txBody>
          <a:bodyPr wrap="square">
            <a:spAutoFit/>
          </a:bodyPr>
          <a:lstStyle/>
          <a:p>
            <a:pPr algn="ctr"/>
            <a:r>
              <a:rPr sz="1100" b="1" i="0">
                <a:solidFill>
                  <a:srgbClr val="FF9933"/>
                </a:solidFill>
              </a:rPr>
              <a:t>29M</a:t>
            </a:r>
          </a:p>
        </p:txBody>
      </p:sp>
      <p:sp>
        <p:nvSpPr>
          <p:cNvPr id="152" name="Rectangle 151"/>
          <p:cNvSpPr/>
          <p:nvPr/>
        </p:nvSpPr>
        <p:spPr>
          <a:xfrm>
            <a:off x="5616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5630400" y="5605199"/>
            <a:ext cx="810000" cy="482400"/>
          </a:xfrm>
          <a:prstGeom prst="rect">
            <a:avLst/>
          </a:prstGeom>
          <a:noFill/>
        </p:spPr>
        <p:txBody>
          <a:bodyPr wrap="square">
            <a:spAutoFit/>
          </a:bodyPr>
          <a:lstStyle/>
          <a:p>
            <a:pPr algn="ctr"/>
            <a:r>
              <a:rPr sz="1100" b="1" i="0">
                <a:solidFill>
                  <a:srgbClr val="FF9933"/>
                </a:solidFill>
              </a:rPr>
              <a:t>14M</a:t>
            </a:r>
          </a:p>
        </p:txBody>
      </p:sp>
      <p:sp>
        <p:nvSpPr>
          <p:cNvPr id="154" name="Rectangle 153"/>
          <p:cNvSpPr/>
          <p:nvPr/>
        </p:nvSpPr>
        <p:spPr>
          <a:xfrm>
            <a:off x="646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476400" y="5605199"/>
            <a:ext cx="810000" cy="482400"/>
          </a:xfrm>
          <a:prstGeom prst="rect">
            <a:avLst/>
          </a:prstGeom>
          <a:noFill/>
        </p:spPr>
        <p:txBody>
          <a:bodyPr wrap="square">
            <a:spAutoFit/>
          </a:bodyPr>
          <a:lstStyle/>
          <a:p>
            <a:pPr algn="ctr"/>
            <a:r>
              <a:rPr sz="1100" b="1" i="0">
                <a:solidFill>
                  <a:srgbClr val="FF9933"/>
                </a:solidFill>
              </a:rPr>
              <a:t>6M</a:t>
            </a:r>
          </a:p>
        </p:txBody>
      </p:sp>
      <p:sp>
        <p:nvSpPr>
          <p:cNvPr id="156" name="Rectangle 155"/>
          <p:cNvSpPr/>
          <p:nvPr/>
        </p:nvSpPr>
        <p:spPr>
          <a:xfrm>
            <a:off x="730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322400" y="5605199"/>
            <a:ext cx="810000" cy="482400"/>
          </a:xfrm>
          <a:prstGeom prst="rect">
            <a:avLst/>
          </a:prstGeom>
          <a:noFill/>
        </p:spPr>
        <p:txBody>
          <a:bodyPr wrap="square">
            <a:spAutoFit/>
          </a:bodyPr>
          <a:lstStyle/>
          <a:p>
            <a:pPr algn="ctr"/>
            <a:r>
              <a:rPr sz="1100" b="1" i="0">
                <a:solidFill>
                  <a:srgbClr val="FF9933"/>
                </a:solidFill>
              </a:rPr>
              <a:t>2M</a:t>
            </a:r>
          </a:p>
        </p:txBody>
      </p:sp>
      <p:sp>
        <p:nvSpPr>
          <p:cNvPr id="158" name="Rectangle 157"/>
          <p:cNvSpPr/>
          <p:nvPr/>
        </p:nvSpPr>
        <p:spPr>
          <a:xfrm>
            <a:off x="815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168400" y="5605199"/>
            <a:ext cx="810000" cy="482400"/>
          </a:xfrm>
          <a:prstGeom prst="rect">
            <a:avLst/>
          </a:prstGeom>
          <a:noFill/>
        </p:spPr>
        <p:txBody>
          <a:bodyPr wrap="square">
            <a:spAutoFit/>
          </a:bodyPr>
          <a:lstStyle/>
          <a:p>
            <a:pPr algn="ctr"/>
            <a:r>
              <a:rPr sz="1100" b="1" i="0">
                <a:solidFill>
                  <a:srgbClr val="B0C4DE"/>
                </a:solidFill>
              </a:rPr>
              <a:t>0</a:t>
            </a:r>
          </a:p>
        </p:txBody>
      </p:sp>
      <p:sp>
        <p:nvSpPr>
          <p:cNvPr id="160" name="Rectangle 159"/>
          <p:cNvSpPr/>
          <p:nvPr/>
        </p:nvSpPr>
        <p:spPr>
          <a:xfrm>
            <a:off x="144000" y="6134399"/>
            <a:ext cx="8856000" cy="5976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44000" y="61343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259200" y="6199199"/>
            <a:ext cx="1936800" cy="518400"/>
          </a:xfrm>
          <a:prstGeom prst="rect">
            <a:avLst/>
          </a:prstGeom>
          <a:noFill/>
        </p:spPr>
        <p:txBody>
          <a:bodyPr wrap="square">
            <a:spAutoFit/>
          </a:bodyPr>
          <a:lstStyle/>
          <a:p>
            <a:pPr algn="l"/>
            <a:r>
              <a:rPr sz="900" b="1" i="0">
                <a:solidFill>
                  <a:srgbClr val="00C87A"/>
                </a:solidFill>
              </a:rPr>
              <a:t>Position trésorerie (M FCFA)</a:t>
            </a:r>
          </a:p>
        </p:txBody>
      </p:sp>
      <p:sp>
        <p:nvSpPr>
          <p:cNvPr id="163" name="Rectangle 162"/>
          <p:cNvSpPr/>
          <p:nvPr/>
        </p:nvSpPr>
        <p:spPr>
          <a:xfrm>
            <a:off x="223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2246400" y="6224399"/>
            <a:ext cx="810000" cy="482400"/>
          </a:xfrm>
          <a:prstGeom prst="rect">
            <a:avLst/>
          </a:prstGeom>
          <a:noFill/>
        </p:spPr>
        <p:txBody>
          <a:bodyPr wrap="square">
            <a:spAutoFit/>
          </a:bodyPr>
          <a:lstStyle/>
          <a:p>
            <a:pPr algn="ctr"/>
            <a:r>
              <a:rPr sz="1100" b="1" i="0">
                <a:solidFill>
                  <a:srgbClr val="4FC3F7"/>
                </a:solidFill>
              </a:rPr>
              <a:t>95</a:t>
            </a:r>
          </a:p>
        </p:txBody>
      </p:sp>
      <p:sp>
        <p:nvSpPr>
          <p:cNvPr id="165" name="Rectangle 164"/>
          <p:cNvSpPr/>
          <p:nvPr/>
        </p:nvSpPr>
        <p:spPr>
          <a:xfrm>
            <a:off x="307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3092400" y="6224399"/>
            <a:ext cx="810000" cy="482400"/>
          </a:xfrm>
          <a:prstGeom prst="rect">
            <a:avLst/>
          </a:prstGeom>
          <a:noFill/>
        </p:spPr>
        <p:txBody>
          <a:bodyPr wrap="square">
            <a:spAutoFit/>
          </a:bodyPr>
          <a:lstStyle/>
          <a:p>
            <a:pPr algn="ctr"/>
            <a:r>
              <a:rPr sz="1100" b="1" i="0">
                <a:solidFill>
                  <a:srgbClr val="4FC3F7"/>
                </a:solidFill>
              </a:rPr>
              <a:t>78</a:t>
            </a:r>
          </a:p>
        </p:txBody>
      </p:sp>
      <p:sp>
        <p:nvSpPr>
          <p:cNvPr id="167" name="Rectangle 166"/>
          <p:cNvSpPr/>
          <p:nvPr/>
        </p:nvSpPr>
        <p:spPr>
          <a:xfrm>
            <a:off x="392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3938400" y="6224399"/>
            <a:ext cx="810000" cy="482400"/>
          </a:xfrm>
          <a:prstGeom prst="rect">
            <a:avLst/>
          </a:prstGeom>
          <a:noFill/>
        </p:spPr>
        <p:txBody>
          <a:bodyPr wrap="square">
            <a:spAutoFit/>
          </a:bodyPr>
          <a:lstStyle/>
          <a:p>
            <a:pPr algn="ctr"/>
            <a:r>
              <a:rPr sz="1100" b="1" i="0">
                <a:solidFill>
                  <a:srgbClr val="FF9933"/>
                </a:solidFill>
              </a:rPr>
              <a:t>70</a:t>
            </a:r>
          </a:p>
        </p:txBody>
      </p:sp>
      <p:sp>
        <p:nvSpPr>
          <p:cNvPr id="169" name="Rectangle 168"/>
          <p:cNvSpPr/>
          <p:nvPr/>
        </p:nvSpPr>
        <p:spPr>
          <a:xfrm>
            <a:off x="4770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784400" y="6224399"/>
            <a:ext cx="810000" cy="482400"/>
          </a:xfrm>
          <a:prstGeom prst="rect">
            <a:avLst/>
          </a:prstGeom>
          <a:noFill/>
        </p:spPr>
        <p:txBody>
          <a:bodyPr wrap="square">
            <a:spAutoFit/>
          </a:bodyPr>
          <a:lstStyle/>
          <a:p>
            <a:pPr algn="ctr"/>
            <a:r>
              <a:rPr sz="1100" b="1" i="0">
                <a:solidFill>
                  <a:srgbClr val="FF9933"/>
                </a:solidFill>
              </a:rPr>
              <a:t>66</a:t>
            </a:r>
          </a:p>
        </p:txBody>
      </p:sp>
      <p:sp>
        <p:nvSpPr>
          <p:cNvPr id="171" name="Rectangle 170"/>
          <p:cNvSpPr/>
          <p:nvPr/>
        </p:nvSpPr>
        <p:spPr>
          <a:xfrm>
            <a:off x="5616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5630400" y="6224399"/>
            <a:ext cx="810000" cy="482400"/>
          </a:xfrm>
          <a:prstGeom prst="rect">
            <a:avLst/>
          </a:prstGeom>
          <a:noFill/>
        </p:spPr>
        <p:txBody>
          <a:bodyPr wrap="square">
            <a:spAutoFit/>
          </a:bodyPr>
          <a:lstStyle/>
          <a:p>
            <a:pPr algn="ctr"/>
            <a:r>
              <a:rPr sz="1100" b="1" i="0">
                <a:solidFill>
                  <a:srgbClr val="FF9933"/>
                </a:solidFill>
              </a:rPr>
              <a:t>69</a:t>
            </a:r>
          </a:p>
        </p:txBody>
      </p:sp>
      <p:sp>
        <p:nvSpPr>
          <p:cNvPr id="173" name="Rectangle 172"/>
          <p:cNvSpPr/>
          <p:nvPr/>
        </p:nvSpPr>
        <p:spPr>
          <a:xfrm>
            <a:off x="646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6476400" y="6224399"/>
            <a:ext cx="810000" cy="482400"/>
          </a:xfrm>
          <a:prstGeom prst="rect">
            <a:avLst/>
          </a:prstGeom>
          <a:noFill/>
        </p:spPr>
        <p:txBody>
          <a:bodyPr wrap="square">
            <a:spAutoFit/>
          </a:bodyPr>
          <a:lstStyle/>
          <a:p>
            <a:pPr algn="ctr"/>
            <a:r>
              <a:rPr sz="1100" b="1" i="0">
                <a:solidFill>
                  <a:srgbClr val="4FC3F7"/>
                </a:solidFill>
              </a:rPr>
              <a:t>83</a:t>
            </a:r>
          </a:p>
        </p:txBody>
      </p:sp>
      <p:sp>
        <p:nvSpPr>
          <p:cNvPr id="175" name="Rectangle 174"/>
          <p:cNvSpPr/>
          <p:nvPr/>
        </p:nvSpPr>
        <p:spPr>
          <a:xfrm>
            <a:off x="730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7322400" y="6224399"/>
            <a:ext cx="810000" cy="482400"/>
          </a:xfrm>
          <a:prstGeom prst="rect">
            <a:avLst/>
          </a:prstGeom>
          <a:noFill/>
        </p:spPr>
        <p:txBody>
          <a:bodyPr wrap="square">
            <a:spAutoFit/>
          </a:bodyPr>
          <a:lstStyle/>
          <a:p>
            <a:pPr algn="ctr"/>
            <a:r>
              <a:rPr sz="1100" b="1" i="0">
                <a:solidFill>
                  <a:srgbClr val="00C87A"/>
                </a:solidFill>
              </a:rPr>
              <a:t>110</a:t>
            </a:r>
          </a:p>
        </p:txBody>
      </p:sp>
      <p:sp>
        <p:nvSpPr>
          <p:cNvPr id="177" name="Rectangle 176"/>
          <p:cNvSpPr/>
          <p:nvPr/>
        </p:nvSpPr>
        <p:spPr>
          <a:xfrm>
            <a:off x="815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168400" y="6224399"/>
            <a:ext cx="810000" cy="482400"/>
          </a:xfrm>
          <a:prstGeom prst="rect">
            <a:avLst/>
          </a:prstGeom>
          <a:noFill/>
        </p:spPr>
        <p:txBody>
          <a:bodyPr wrap="square">
            <a:spAutoFit/>
          </a:bodyPr>
          <a:lstStyle/>
          <a:p>
            <a:pPr algn="ctr"/>
            <a:r>
              <a:rPr sz="1100" b="1" i="0">
                <a:solidFill>
                  <a:srgbClr val="00C87A"/>
                </a:solidFill>
              </a:rPr>
              <a:t>156</a:t>
            </a:r>
          </a:p>
        </p:txBody>
      </p:sp>
      <p:sp>
        <p:nvSpPr>
          <p:cNvPr id="179" name="Rectangle 178"/>
          <p:cNvSpPr/>
          <p:nvPr/>
        </p:nvSpPr>
        <p:spPr>
          <a:xfrm>
            <a:off x="144000" y="6818399"/>
            <a:ext cx="8856000" cy="3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252000" y="6854399"/>
            <a:ext cx="8640001" cy="259200"/>
          </a:xfrm>
          <a:prstGeom prst="rect">
            <a:avLst/>
          </a:prstGeom>
          <a:noFill/>
        </p:spPr>
        <p:txBody>
          <a:bodyPr wrap="square">
            <a:spAutoFit/>
          </a:bodyPr>
          <a:lstStyle/>
          <a:p>
            <a:pPr algn="ctr"/>
            <a:r>
              <a:rPr sz="900" b="1" i="0">
                <a:solidFill>
                  <a:srgbClr val="D4AF37"/>
                </a:solidFill>
              </a:rPr>
              <a:t>120M FCFA programmés sur 8 trimestres  |  Pic de décaissement T2'26 : 28M (lancement)  |  T1'28 : 2M seulement — activité auto-financée  |  Trésorerie min. = 66M (T1'27) · max = 156M (T1'28)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Rentabilité &amp; Trésorerie — Visualisation Trimestrielle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vs Charges · Trésorerie jamais négative · Seuil cumulatif T1 2028 · 120M invest. préservé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180000" y="6120000"/>
            <a:ext cx="198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6120000"/>
            <a:ext cx="2010000" cy="172800"/>
          </a:xfrm>
          <a:prstGeom prst="rect">
            <a:avLst/>
          </a:prstGeom>
          <a:noFill/>
        </p:spPr>
        <p:txBody>
          <a:bodyPr wrap="square">
            <a:spAutoFit/>
          </a:bodyPr>
          <a:lstStyle/>
          <a:p>
            <a:pPr algn="l"/>
            <a:r>
              <a:rPr sz="1000" b="1" i="0">
                <a:solidFill>
                  <a:srgbClr val="FFFFFF"/>
                </a:solidFill>
              </a:rPr>
              <a:t>Revenus (M FCFA)</a:t>
            </a:r>
          </a:p>
        </p:txBody>
      </p:sp>
      <p:sp>
        <p:nvSpPr>
          <p:cNvPr id="12" name="Rectangle 11"/>
          <p:cNvSpPr/>
          <p:nvPr/>
        </p:nvSpPr>
        <p:spPr>
          <a:xfrm>
            <a:off x="2460000" y="6120000"/>
            <a:ext cx="198000" cy="162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94000" y="6120000"/>
            <a:ext cx="2010000" cy="172800"/>
          </a:xfrm>
          <a:prstGeom prst="rect">
            <a:avLst/>
          </a:prstGeom>
          <a:noFill/>
        </p:spPr>
        <p:txBody>
          <a:bodyPr wrap="square">
            <a:spAutoFit/>
          </a:bodyPr>
          <a:lstStyle/>
          <a:p>
            <a:pPr algn="l"/>
            <a:r>
              <a:rPr sz="1000" b="1" i="0">
                <a:solidFill>
                  <a:srgbClr val="FFFFFF"/>
                </a:solidFill>
              </a:rPr>
              <a:t>Charges (M FCFA)</a:t>
            </a:r>
          </a:p>
        </p:txBody>
      </p:sp>
      <p:sp>
        <p:nvSpPr>
          <p:cNvPr id="14" name="Rectangle 13"/>
          <p:cNvSpPr/>
          <p:nvPr/>
        </p:nvSpPr>
        <p:spPr>
          <a:xfrm>
            <a:off x="4740000" y="6120000"/>
            <a:ext cx="198000" cy="16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74000" y="6120000"/>
            <a:ext cx="2010000" cy="172800"/>
          </a:xfrm>
          <a:prstGeom prst="rect">
            <a:avLst/>
          </a:prstGeom>
          <a:noFill/>
        </p:spPr>
        <p:txBody>
          <a:bodyPr wrap="square">
            <a:spAutoFit/>
          </a:bodyPr>
          <a:lstStyle/>
          <a:p>
            <a:pPr algn="l"/>
            <a:r>
              <a:rPr sz="1000" b="1" i="0">
                <a:solidFill>
                  <a:srgbClr val="FFFFFF"/>
                </a:solidFill>
              </a:rPr>
              <a:t>Trésorerie (M FCFA)</a:t>
            </a:r>
          </a:p>
        </p:txBody>
      </p:sp>
      <p:sp>
        <p:nvSpPr>
          <p:cNvPr id="16" name="Rectangle 15"/>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5999" y="1602000"/>
            <a:ext cx="1530000" cy="259200"/>
          </a:xfrm>
          <a:prstGeom prst="rect">
            <a:avLst/>
          </a:prstGeom>
          <a:noFill/>
        </p:spPr>
        <p:txBody>
          <a:bodyPr wrap="square">
            <a:spAutoFit/>
          </a:bodyPr>
          <a:lstStyle/>
          <a:p>
            <a:pPr algn="ctr"/>
            <a:r>
              <a:rPr sz="1300" b="1" i="0">
                <a:solidFill>
                  <a:srgbClr val="00C87A"/>
                </a:solidFill>
              </a:rPr>
              <a:t>T1 2028</a:t>
            </a:r>
          </a:p>
        </p:txBody>
      </p:sp>
      <p:sp>
        <p:nvSpPr>
          <p:cNvPr id="19" name="TextBox 18"/>
          <p:cNvSpPr txBox="1"/>
          <p:nvPr/>
        </p:nvSpPr>
        <p:spPr>
          <a:xfrm>
            <a:off x="7415999" y="1879200"/>
            <a:ext cx="1530000" cy="396000"/>
          </a:xfrm>
          <a:prstGeom prst="rect">
            <a:avLst/>
          </a:prstGeom>
          <a:noFill/>
        </p:spPr>
        <p:txBody>
          <a:bodyPr wrap="square">
            <a:spAutoFit/>
          </a:bodyPr>
          <a:lstStyle/>
          <a:p>
            <a:pPr algn="ctr"/>
            <a:r>
              <a:rPr sz="1100" b="1" i="0">
                <a:solidFill>
                  <a:srgbClr val="FFFFFF"/>
                </a:solidFill>
              </a:rPr>
              <a:t>Seuil
cumulatif</a:t>
            </a:r>
          </a:p>
        </p:txBody>
      </p:sp>
      <p:sp>
        <p:nvSpPr>
          <p:cNvPr id="20" name="Rectangle 19"/>
          <p:cNvSpPr/>
          <p:nvPr/>
        </p:nvSpPr>
        <p:spPr>
          <a:xfrm>
            <a:off x="7487999" y="2322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5999" y="2412000"/>
            <a:ext cx="1530000" cy="198000"/>
          </a:xfrm>
          <a:prstGeom prst="rect">
            <a:avLst/>
          </a:prstGeom>
          <a:noFill/>
        </p:spPr>
        <p:txBody>
          <a:bodyPr wrap="square">
            <a:spAutoFit/>
          </a:bodyPr>
          <a:lstStyle/>
          <a:p>
            <a:pPr algn="ctr"/>
            <a:r>
              <a:rPr sz="800" b="0" i="0">
                <a:solidFill>
                  <a:srgbClr val="B0C4DE"/>
                </a:solidFill>
              </a:rPr>
              <a:t>Revenus T1'28</a:t>
            </a:r>
          </a:p>
        </p:txBody>
      </p:sp>
      <p:sp>
        <p:nvSpPr>
          <p:cNvPr id="22" name="TextBox 21"/>
          <p:cNvSpPr txBox="1"/>
          <p:nvPr/>
        </p:nvSpPr>
        <p:spPr>
          <a:xfrm>
            <a:off x="7415999" y="2610000"/>
            <a:ext cx="1530000" cy="270000"/>
          </a:xfrm>
          <a:prstGeom prst="rect">
            <a:avLst/>
          </a:prstGeom>
          <a:noFill/>
        </p:spPr>
        <p:txBody>
          <a:bodyPr wrap="square">
            <a:spAutoFit/>
          </a:bodyPr>
          <a:lstStyle/>
          <a:p>
            <a:pPr algn="ctr"/>
            <a:r>
              <a:rPr sz="1100" b="1" i="0">
                <a:solidFill>
                  <a:srgbClr val="D4AF37"/>
                </a:solidFill>
              </a:rPr>
              <a:t>88 M</a:t>
            </a:r>
          </a:p>
        </p:txBody>
      </p:sp>
      <p:sp>
        <p:nvSpPr>
          <p:cNvPr id="23" name="Rectangle 22"/>
          <p:cNvSpPr/>
          <p:nvPr/>
        </p:nvSpPr>
        <p:spPr>
          <a:xfrm>
            <a:off x="7487999" y="2872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999" y="2898000"/>
            <a:ext cx="1530000" cy="198000"/>
          </a:xfrm>
          <a:prstGeom prst="rect">
            <a:avLst/>
          </a:prstGeom>
          <a:noFill/>
        </p:spPr>
        <p:txBody>
          <a:bodyPr wrap="square">
            <a:spAutoFit/>
          </a:bodyPr>
          <a:lstStyle/>
          <a:p>
            <a:pPr algn="ctr"/>
            <a:r>
              <a:rPr sz="800" b="0" i="0">
                <a:solidFill>
                  <a:srgbClr val="B0C4DE"/>
                </a:solidFill>
              </a:rPr>
              <a:t>Charges T1'28</a:t>
            </a:r>
          </a:p>
        </p:txBody>
      </p:sp>
      <p:sp>
        <p:nvSpPr>
          <p:cNvPr id="25" name="TextBox 24"/>
          <p:cNvSpPr txBox="1"/>
          <p:nvPr/>
        </p:nvSpPr>
        <p:spPr>
          <a:xfrm>
            <a:off x="7415999" y="3096000"/>
            <a:ext cx="1530000" cy="270000"/>
          </a:xfrm>
          <a:prstGeom prst="rect">
            <a:avLst/>
          </a:prstGeom>
          <a:noFill/>
        </p:spPr>
        <p:txBody>
          <a:bodyPr wrap="square">
            <a:spAutoFit/>
          </a:bodyPr>
          <a:lstStyle/>
          <a:p>
            <a:pPr algn="ctr"/>
            <a:r>
              <a:rPr sz="1100" b="1" i="0">
                <a:solidFill>
                  <a:srgbClr val="FF6B6B"/>
                </a:solidFill>
              </a:rPr>
              <a:t>42 M</a:t>
            </a:r>
          </a:p>
        </p:txBody>
      </p:sp>
      <p:sp>
        <p:nvSpPr>
          <p:cNvPr id="26" name="Rectangle 25"/>
          <p:cNvSpPr/>
          <p:nvPr/>
        </p:nvSpPr>
        <p:spPr>
          <a:xfrm>
            <a:off x="7487999" y="3358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15999" y="3384000"/>
            <a:ext cx="1530000" cy="198000"/>
          </a:xfrm>
          <a:prstGeom prst="rect">
            <a:avLst/>
          </a:prstGeom>
          <a:noFill/>
        </p:spPr>
        <p:txBody>
          <a:bodyPr wrap="square">
            <a:spAutoFit/>
          </a:bodyPr>
          <a:lstStyle/>
          <a:p>
            <a:pPr algn="ctr"/>
            <a:r>
              <a:rPr sz="800" b="0" i="0">
                <a:solidFill>
                  <a:srgbClr val="B0C4DE"/>
                </a:solidFill>
              </a:rPr>
              <a:t>Net trim. T1'28</a:t>
            </a:r>
          </a:p>
        </p:txBody>
      </p:sp>
      <p:sp>
        <p:nvSpPr>
          <p:cNvPr id="28" name="TextBox 27"/>
          <p:cNvSpPr txBox="1"/>
          <p:nvPr/>
        </p:nvSpPr>
        <p:spPr>
          <a:xfrm>
            <a:off x="7415999" y="3582000"/>
            <a:ext cx="1530000" cy="270000"/>
          </a:xfrm>
          <a:prstGeom prst="rect">
            <a:avLst/>
          </a:prstGeom>
          <a:noFill/>
        </p:spPr>
        <p:txBody>
          <a:bodyPr wrap="square">
            <a:spAutoFit/>
          </a:bodyPr>
          <a:lstStyle/>
          <a:p>
            <a:pPr algn="ctr"/>
            <a:r>
              <a:rPr sz="1100" b="1" i="0">
                <a:solidFill>
                  <a:srgbClr val="00C87A"/>
                </a:solidFill>
              </a:rPr>
              <a:t>+46 M FCFA</a:t>
            </a:r>
          </a:p>
        </p:txBody>
      </p:sp>
      <p:sp>
        <p:nvSpPr>
          <p:cNvPr id="29" name="Rectangle 28"/>
          <p:cNvSpPr/>
          <p:nvPr/>
        </p:nvSpPr>
        <p:spPr>
          <a:xfrm>
            <a:off x="7487999" y="3844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15999" y="3870000"/>
            <a:ext cx="1530000" cy="198000"/>
          </a:xfrm>
          <a:prstGeom prst="rect">
            <a:avLst/>
          </a:prstGeom>
          <a:noFill/>
        </p:spPr>
        <p:txBody>
          <a:bodyPr wrap="square">
            <a:spAutoFit/>
          </a:bodyPr>
          <a:lstStyle/>
          <a:p>
            <a:pPr algn="ctr"/>
            <a:r>
              <a:rPr sz="800" b="0" i="0">
                <a:solidFill>
                  <a:srgbClr val="B0C4DE"/>
                </a:solidFill>
              </a:rPr>
              <a:t>Tréso T1'28</a:t>
            </a:r>
          </a:p>
        </p:txBody>
      </p:sp>
      <p:sp>
        <p:nvSpPr>
          <p:cNvPr id="31" name="TextBox 30"/>
          <p:cNvSpPr txBox="1"/>
          <p:nvPr/>
        </p:nvSpPr>
        <p:spPr>
          <a:xfrm>
            <a:off x="7415999" y="4068000"/>
            <a:ext cx="1530000" cy="270000"/>
          </a:xfrm>
          <a:prstGeom prst="rect">
            <a:avLst/>
          </a:prstGeom>
          <a:noFill/>
        </p:spPr>
        <p:txBody>
          <a:bodyPr wrap="square">
            <a:spAutoFit/>
          </a:bodyPr>
          <a:lstStyle/>
          <a:p>
            <a:pPr algn="ctr"/>
            <a:r>
              <a:rPr sz="1100" b="1" i="0">
                <a:solidFill>
                  <a:srgbClr val="4FC3F7"/>
                </a:solidFill>
              </a:rPr>
              <a:t>156 M FCFA</a:t>
            </a:r>
          </a:p>
        </p:txBody>
      </p:sp>
      <p:sp>
        <p:nvSpPr>
          <p:cNvPr id="32" name="Rectangle 31"/>
          <p:cNvSpPr/>
          <p:nvPr/>
        </p:nvSpPr>
        <p:spPr>
          <a:xfrm>
            <a:off x="7487999" y="4330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15999" y="4356000"/>
            <a:ext cx="1530000" cy="198000"/>
          </a:xfrm>
          <a:prstGeom prst="rect">
            <a:avLst/>
          </a:prstGeom>
          <a:noFill/>
        </p:spPr>
        <p:txBody>
          <a:bodyPr wrap="square">
            <a:spAutoFit/>
          </a:bodyPr>
          <a:lstStyle/>
          <a:p>
            <a:pPr algn="ctr"/>
            <a:r>
              <a:rPr sz="800" b="0" i="0">
                <a:solidFill>
                  <a:srgbClr val="B0C4DE"/>
                </a:solidFill>
              </a:rPr>
              <a:t>Cumul P&amp;L T1'28</a:t>
            </a:r>
          </a:p>
        </p:txBody>
      </p:sp>
      <p:sp>
        <p:nvSpPr>
          <p:cNvPr id="34" name="TextBox 33"/>
          <p:cNvSpPr txBox="1"/>
          <p:nvPr/>
        </p:nvSpPr>
        <p:spPr>
          <a:xfrm>
            <a:off x="7415999" y="4554000"/>
            <a:ext cx="1530000" cy="270000"/>
          </a:xfrm>
          <a:prstGeom prst="rect">
            <a:avLst/>
          </a:prstGeom>
          <a:noFill/>
        </p:spPr>
        <p:txBody>
          <a:bodyPr wrap="square">
            <a:spAutoFit/>
          </a:bodyPr>
          <a:lstStyle/>
          <a:p>
            <a:pPr algn="ctr"/>
            <a:r>
              <a:rPr sz="1100" b="1" i="0">
                <a:solidFill>
                  <a:srgbClr val="9B59B6"/>
                </a:solidFill>
              </a:rPr>
              <a:t>+36 M FCFA</a:t>
            </a:r>
          </a:p>
        </p:txBody>
      </p:sp>
      <p:sp>
        <p:nvSpPr>
          <p:cNvPr id="35" name="Rectangle 34"/>
          <p:cNvSpPr/>
          <p:nvPr/>
        </p:nvSpPr>
        <p:spPr>
          <a:xfrm>
            <a:off x="7487999" y="4816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51999" y="5058000"/>
            <a:ext cx="1439999" cy="2808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1999" y="5068800"/>
            <a:ext cx="1439999" cy="270000"/>
          </a:xfrm>
          <a:prstGeom prst="rect">
            <a:avLst/>
          </a:prstGeom>
          <a:noFill/>
        </p:spPr>
        <p:txBody>
          <a:bodyPr wrap="square">
            <a:spAutoFit/>
          </a:bodyPr>
          <a:lstStyle/>
          <a:p>
            <a:pPr algn="ctr"/>
            <a:r>
              <a:rPr sz="800" b="0" i="1">
                <a:solidFill>
                  <a:srgbClr val="FF9933"/>
                </a:solidFill>
              </a:rPr>
              <a:t>Tréso min. = 66M
(T1'27 — jamais &lt;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Estimation Partielle : 600+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200 M FCFA de valeur directe (dev) · Innovation, IP et supports technologiques non valorisés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200 M
FCFA</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Valeur directe
de développement</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10 000 FCFA/h
= 200 M FCFA
de valeur directe mesurée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Valorisation totale
(estimation partielle)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200 M code + algorithmes
+ YukpoIA + Creator Studio
+ IP, marque &amp; potentiel
→ 400+ M non encore valorisés</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600+ M post-money
≤ 20 % de dilution
Équité fondateur préservée</a:t>
            </a:r>
          </a:p>
        </p:txBody>
      </p:sp>
      <p:sp>
        <p:nvSpPr>
          <p:cNvPr id="27" name="Rectangle 26"/>
          <p:cNvSpPr/>
          <p:nvPr/>
        </p:nvSpPr>
        <p:spPr>
          <a:xfrm>
            <a:off x="144000" y="4373999"/>
            <a:ext cx="8856000" cy="259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4373999"/>
            <a:ext cx="792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0000" y="4402799"/>
            <a:ext cx="8676000" cy="216000"/>
          </a:xfrm>
          <a:prstGeom prst="rect">
            <a:avLst/>
          </a:prstGeom>
          <a:noFill/>
        </p:spPr>
        <p:txBody>
          <a:bodyPr wrap="square">
            <a:spAutoFit/>
          </a:bodyPr>
          <a:lstStyle/>
          <a:p>
            <a:pPr algn="l"/>
            <a:r>
              <a:rPr sz="900" b="0" i="1">
                <a:solidFill>
                  <a:srgbClr val="FF9933"/>
                </a:solidFill>
              </a:rPr>
              <a:t>Note : estimation partielle — l'innovation, les supports technologiques et le potentiel marché ne sont pas intégrés dans cette base de calcul.</a:t>
            </a:r>
          </a:p>
        </p:txBody>
      </p:sp>
      <p:sp>
        <p:nvSpPr>
          <p:cNvPr id="30" name="Rectangle 29"/>
          <p:cNvSpPr/>
          <p:nvPr/>
        </p:nvSpPr>
        <p:spPr>
          <a:xfrm>
            <a:off x="144000" y="4697999"/>
            <a:ext cx="2170800" cy="9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6000" y="4762799"/>
            <a:ext cx="2034000" cy="216000"/>
          </a:xfrm>
          <a:prstGeom prst="rect">
            <a:avLst/>
          </a:prstGeom>
          <a:noFill/>
        </p:spPr>
        <p:txBody>
          <a:bodyPr wrap="square">
            <a:spAutoFit/>
          </a:bodyPr>
          <a:lstStyle/>
          <a:p>
            <a:pPr algn="l"/>
            <a:r>
              <a:rPr sz="1000" b="0" i="0">
                <a:solidFill>
                  <a:srgbClr val="B0C4DE"/>
                </a:solidFill>
              </a:rPr>
              <a:t>ROI cible</a:t>
            </a:r>
          </a:p>
        </p:txBody>
      </p:sp>
      <p:sp>
        <p:nvSpPr>
          <p:cNvPr id="32" name="TextBox 31"/>
          <p:cNvSpPr txBox="1"/>
          <p:nvPr/>
        </p:nvSpPr>
        <p:spPr>
          <a:xfrm>
            <a:off x="216000" y="4957199"/>
            <a:ext cx="2034000" cy="594000"/>
          </a:xfrm>
          <a:prstGeom prst="rect">
            <a:avLst/>
          </a:prstGeom>
          <a:noFill/>
        </p:spPr>
        <p:txBody>
          <a:bodyPr wrap="square">
            <a:spAutoFit/>
          </a:bodyPr>
          <a:lstStyle/>
          <a:p>
            <a:pPr algn="ctr"/>
            <a:r>
              <a:rPr sz="1300" b="1" i="0">
                <a:solidFill>
                  <a:srgbClr val="D4AF37"/>
                </a:solidFill>
              </a:rPr>
              <a:t>3× à 5×</a:t>
            </a:r>
          </a:p>
        </p:txBody>
      </p:sp>
      <p:sp>
        <p:nvSpPr>
          <p:cNvPr id="33" name="Rectangle 32"/>
          <p:cNvSpPr/>
          <p:nvPr/>
        </p:nvSpPr>
        <p:spPr>
          <a:xfrm>
            <a:off x="2358000" y="4697999"/>
            <a:ext cx="2170800" cy="9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30000" y="4762799"/>
            <a:ext cx="2034000" cy="216000"/>
          </a:xfrm>
          <a:prstGeom prst="rect">
            <a:avLst/>
          </a:prstGeom>
          <a:noFill/>
        </p:spPr>
        <p:txBody>
          <a:bodyPr wrap="square">
            <a:spAutoFit/>
          </a:bodyPr>
          <a:lstStyle/>
          <a:p>
            <a:pPr algn="l"/>
            <a:r>
              <a:rPr sz="1000" b="0" i="0">
                <a:solidFill>
                  <a:srgbClr val="B0C4DE"/>
                </a:solidFill>
              </a:rPr>
              <a:t>Horizon</a:t>
            </a:r>
          </a:p>
        </p:txBody>
      </p:sp>
      <p:sp>
        <p:nvSpPr>
          <p:cNvPr id="35" name="TextBox 34"/>
          <p:cNvSpPr txBox="1"/>
          <p:nvPr/>
        </p:nvSpPr>
        <p:spPr>
          <a:xfrm>
            <a:off x="2430000" y="4957199"/>
            <a:ext cx="2034000" cy="594000"/>
          </a:xfrm>
          <a:prstGeom prst="rect">
            <a:avLst/>
          </a:prstGeom>
          <a:noFill/>
        </p:spPr>
        <p:txBody>
          <a:bodyPr wrap="square">
            <a:spAutoFit/>
          </a:bodyPr>
          <a:lstStyle/>
          <a:p>
            <a:pPr algn="ctr"/>
            <a:r>
              <a:rPr sz="1300" b="1" i="0">
                <a:solidFill>
                  <a:srgbClr val="4FC3F7"/>
                </a:solidFill>
              </a:rPr>
              <a:t>3 – 5 ans</a:t>
            </a:r>
          </a:p>
        </p:txBody>
      </p:sp>
      <p:sp>
        <p:nvSpPr>
          <p:cNvPr id="36" name="Rectangle 35"/>
          <p:cNvSpPr/>
          <p:nvPr/>
        </p:nvSpPr>
        <p:spPr>
          <a:xfrm>
            <a:off x="4572000" y="4697999"/>
            <a:ext cx="2170800" cy="900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44000" y="4762799"/>
            <a:ext cx="2034000" cy="216000"/>
          </a:xfrm>
          <a:prstGeom prst="rect">
            <a:avLst/>
          </a:prstGeom>
          <a:noFill/>
        </p:spPr>
        <p:txBody>
          <a:bodyPr wrap="square">
            <a:spAutoFit/>
          </a:bodyPr>
          <a:lstStyle/>
          <a:p>
            <a:pPr algn="l"/>
            <a:r>
              <a:rPr sz="1000" b="0" i="0">
                <a:solidFill>
                  <a:srgbClr val="B0C4DE"/>
                </a:solidFill>
              </a:rPr>
              <a:t>Structure</a:t>
            </a:r>
          </a:p>
        </p:txBody>
      </p:sp>
      <p:sp>
        <p:nvSpPr>
          <p:cNvPr id="38" name="TextBox 37"/>
          <p:cNvSpPr txBox="1"/>
          <p:nvPr/>
        </p:nvSpPr>
        <p:spPr>
          <a:xfrm>
            <a:off x="4644000" y="4957199"/>
            <a:ext cx="2034000" cy="594000"/>
          </a:xfrm>
          <a:prstGeom prst="rect">
            <a:avLst/>
          </a:prstGeom>
          <a:noFill/>
        </p:spPr>
        <p:txBody>
          <a:bodyPr wrap="square">
            <a:spAutoFit/>
          </a:bodyPr>
          <a:lstStyle/>
          <a:p>
            <a:pPr algn="ctr"/>
            <a:r>
              <a:rPr sz="1300" b="1" i="0">
                <a:solidFill>
                  <a:srgbClr val="FFFFFF"/>
                </a:solidFill>
              </a:rPr>
              <a:t>YUKPO COMPANY SARL</a:t>
            </a:r>
          </a:p>
        </p:txBody>
      </p:sp>
      <p:sp>
        <p:nvSpPr>
          <p:cNvPr id="39" name="Rectangle 38"/>
          <p:cNvSpPr/>
          <p:nvPr/>
        </p:nvSpPr>
        <p:spPr>
          <a:xfrm>
            <a:off x="6786000" y="4697999"/>
            <a:ext cx="2170800" cy="9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0" y="4762799"/>
            <a:ext cx="2034000" cy="216000"/>
          </a:xfrm>
          <a:prstGeom prst="rect">
            <a:avLst/>
          </a:prstGeom>
          <a:noFill/>
        </p:spPr>
        <p:txBody>
          <a:bodyPr wrap="square">
            <a:spAutoFit/>
          </a:bodyPr>
          <a:lstStyle/>
          <a:p>
            <a:pPr algn="l"/>
            <a:r>
              <a:rPr sz="1000" b="0" i="0">
                <a:solidFill>
                  <a:srgbClr val="B0C4DE"/>
                </a:solidFill>
              </a:rPr>
              <a:t>Sortie</a:t>
            </a:r>
          </a:p>
        </p:txBody>
      </p:sp>
      <p:sp>
        <p:nvSpPr>
          <p:cNvPr id="41" name="TextBox 40"/>
          <p:cNvSpPr txBox="1"/>
          <p:nvPr/>
        </p:nvSpPr>
        <p:spPr>
          <a:xfrm>
            <a:off x="6858000" y="4957199"/>
            <a:ext cx="2034000" cy="594000"/>
          </a:xfrm>
          <a:prstGeom prst="rect">
            <a:avLst/>
          </a:prstGeom>
          <a:noFill/>
        </p:spPr>
        <p:txBody>
          <a:bodyPr wrap="square">
            <a:spAutoFit/>
          </a:bodyPr>
          <a:lstStyle/>
          <a:p>
            <a:pPr algn="ctr"/>
            <a:r>
              <a:rPr sz="1300" b="1" i="0">
                <a:solidFill>
                  <a:srgbClr val="00C87A"/>
                </a:solidFill>
              </a:rPr>
              <a:t>Rachat / Dividendes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Gestion de programmes &amp; pilotage stratégique
CEPS-BID / BIsD-UNICEF — 5 ans :
Coordination multi-acteurs, 6 régions, 61 districts
Budgets bailleurs, reporting, planification
Gouvernance financière &amp; risque
Assurances / CIMA — 6 ans :
Conformité réglementaire, analyse de risque
Gouvernance des données, pilotage financier
Développeur Full Stack — 20 000+ h :
Rust/Axum · React/TypeScript · PostgreSQL</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L'investisseur apporte sa
caution personnelle à une
banque, qui octroie en
retour un prêt à YUKPO.</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YUKPO accède au crédit
sans diluer son capital.
L'investisseur valorise
sa relation bancaire.
Risque limité si l'activité
couvre les échéances.</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yukpomnang.com</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