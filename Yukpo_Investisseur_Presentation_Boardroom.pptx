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Revenus trimestriels (M FCFA)</c:v>
                </c:pt>
              </c:strCache>
            </c:strRef>
          </c:tx>
          <c:spPr>
            <a:solidFill>
              <a:srgbClr val="D4AF37"/>
            </a:solidFill>
          </c:spPr>
          <c:cat>
            <c:strRef>
              <c:f>Sheet1!$A$2:$A$9</c:f>
              <c:strCache>
                <c:ptCount val="8"/>
                <c:pt idx="0">
                  <c:v>T2'26</c:v>
                </c:pt>
                <c:pt idx="1">
                  <c:v>T3'26</c:v>
                </c:pt>
                <c:pt idx="2">
                  <c:v>T4'26</c:v>
                </c:pt>
                <c:pt idx="3">
                  <c:v>T1'27</c:v>
                </c:pt>
                <c:pt idx="4">
                  <c:v>T2'27</c:v>
                </c:pt>
                <c:pt idx="5">
                  <c:v>T3'27</c:v>
                </c:pt>
                <c:pt idx="6">
                  <c:v>T4'27</c:v>
                </c:pt>
                <c:pt idx="7">
                  <c:v>T1'28</c:v>
                </c:pt>
              </c:strCache>
            </c:strRef>
          </c:cat>
          <c:val>
            <c:numRef>
              <c:f>Sheet1!$B$2:$B$9</c:f>
              <c:numCache>
                <c:formatCode>General</c:formatCode>
                <c:ptCount val="8"/>
                <c:pt idx="0">
                  <c:v>3</c:v>
                </c:pt>
                <c:pt idx="1">
                  <c:v>8</c:v>
                </c:pt>
                <c:pt idx="2">
                  <c:v>14</c:v>
                </c:pt>
                <c:pt idx="3">
                  <c:v>22</c:v>
                </c:pt>
                <c:pt idx="4">
                  <c:v>33</c:v>
                </c:pt>
                <c:pt idx="5">
                  <c:v>48</c:v>
                </c:pt>
                <c:pt idx="6">
                  <c:v>65</c:v>
                </c:pt>
                <c:pt idx="7">
                  <c:v>88</c:v>
                </c:pt>
              </c:numCache>
            </c:numRef>
          </c:val>
        </c:ser>
        <c:ser>
          <c:idx val="1"/>
          <c:order val="1"/>
          <c:tx>
            <c:strRef>
              <c:f>Sheet1!$C$1</c:f>
              <c:strCache>
                <c:ptCount val="1"/>
                <c:pt idx="0">
                  <c:v>Charges trimestrielles (M FCFA)</c:v>
                </c:pt>
              </c:strCache>
            </c:strRef>
          </c:tx>
          <c:spPr>
            <a:solidFill>
              <a:srgbClr val="FF6B6B"/>
            </a:solidFill>
          </c:spPr>
          <c:cat>
            <c:strRef>
              <c:f>Sheet1!$A$2:$A$9</c:f>
              <c:strCache>
                <c:ptCount val="8"/>
                <c:pt idx="0">
                  <c:v>T2'26</c:v>
                </c:pt>
                <c:pt idx="1">
                  <c:v>T3'26</c:v>
                </c:pt>
                <c:pt idx="2">
                  <c:v>T4'26</c:v>
                </c:pt>
                <c:pt idx="3">
                  <c:v>T1'27</c:v>
                </c:pt>
                <c:pt idx="4">
                  <c:v>T2'27</c:v>
                </c:pt>
                <c:pt idx="5">
                  <c:v>T3'27</c:v>
                </c:pt>
                <c:pt idx="6">
                  <c:v>T4'27</c:v>
                </c:pt>
                <c:pt idx="7">
                  <c:v>T1'28</c:v>
                </c:pt>
              </c:strCache>
            </c:strRef>
          </c:cat>
          <c:val>
            <c:numRef>
              <c:f>Sheet1!$C$2:$C$9</c:f>
              <c:numCache>
                <c:formatCode>General</c:formatCode>
                <c:ptCount val="8"/>
                <c:pt idx="0">
                  <c:v>28</c:v>
                </c:pt>
                <c:pt idx="1">
                  <c:v>25</c:v>
                </c:pt>
                <c:pt idx="2">
                  <c:v>22</c:v>
                </c:pt>
                <c:pt idx="3">
                  <c:v>26</c:v>
                </c:pt>
                <c:pt idx="4">
                  <c:v>30</c:v>
                </c:pt>
                <c:pt idx="5">
                  <c:v>34</c:v>
                </c:pt>
                <c:pt idx="6">
                  <c:v>38</c:v>
                </c:pt>
                <c:pt idx="7">
                  <c:v>42</c:v>
                </c:pt>
              </c:numCache>
            </c:numRef>
          </c:val>
        </c:ser>
        <c:ser>
          <c:idx val="2"/>
          <c:order val="2"/>
          <c:tx>
            <c:strRef>
              <c:f>Sheet1!$D$1</c:f>
              <c:strCache>
                <c:ptCount val="1"/>
                <c:pt idx="0">
                  <c:v>Trésorerie disponible (M FCFA)</c:v>
                </c:pt>
              </c:strCache>
            </c:strRef>
          </c:tx>
          <c:spPr>
            <a:solidFill>
              <a:srgbClr val="4FC3F7"/>
            </a:solidFill>
          </c:spPr>
          <c:cat>
            <c:strRef>
              <c:f>Sheet1!$A$2:$A$9</c:f>
              <c:strCache>
                <c:ptCount val="8"/>
                <c:pt idx="0">
                  <c:v>T2'26</c:v>
                </c:pt>
                <c:pt idx="1">
                  <c:v>T3'26</c:v>
                </c:pt>
                <c:pt idx="2">
                  <c:v>T4'26</c:v>
                </c:pt>
                <c:pt idx="3">
                  <c:v>T1'27</c:v>
                </c:pt>
                <c:pt idx="4">
                  <c:v>T2'27</c:v>
                </c:pt>
                <c:pt idx="5">
                  <c:v>T3'27</c:v>
                </c:pt>
                <c:pt idx="6">
                  <c:v>T4'27</c:v>
                </c:pt>
                <c:pt idx="7">
                  <c:v>T1'28</c:v>
                </c:pt>
              </c:strCache>
            </c:strRef>
          </c:cat>
          <c:val>
            <c:numRef>
              <c:f>Sheet1!$D$2:$D$9</c:f>
              <c:numCache>
                <c:formatCode>General</c:formatCode>
                <c:ptCount val="8"/>
                <c:pt idx="0">
                  <c:v>95</c:v>
                </c:pt>
                <c:pt idx="1">
                  <c:v>78</c:v>
                </c:pt>
                <c:pt idx="2">
                  <c:v>70</c:v>
                </c:pt>
                <c:pt idx="3">
                  <c:v>66</c:v>
                </c:pt>
                <c:pt idx="4">
                  <c:v>69</c:v>
                </c:pt>
                <c:pt idx="5">
                  <c:v>83</c:v>
                </c:pt>
                <c:pt idx="6">
                  <c:v>110</c:v>
                </c:pt>
                <c:pt idx="7">
                  <c:v>156</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legend>
      <c:legendPos val="b"/>
      <c:overlay val="0"/>
    </c:legend>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E42"/>
        </a:solidFill>
        <a:effectLst/>
      </p:bgPr>
    </p:bg>
    <p:spTree>
      <p:nvGrpSpPr>
        <p:cNvPr id="1" name=""/>
        <p:cNvGrpSpPr/>
        <p:nvPr/>
      </p:nvGrpSpPr>
      <p:grpSpPr/>
      <p:sp>
        <p:nvSpPr>
          <p:cNvPr id="2" name="Rectangle 1"/>
          <p:cNvSpPr/>
          <p:nvPr/>
        </p:nvSpPr>
        <p:spPr>
          <a:xfrm>
            <a:off x="0" y="0"/>
            <a:ext cx="9144000" cy="1620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696000"/>
            <a:ext cx="9144000" cy="1620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62000"/>
            <a:ext cx="3671999" cy="6534000"/>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162000"/>
            <a:ext cx="136800" cy="65340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98000" y="324000"/>
            <a:ext cx="3294000" cy="1872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con.png"/>
          <p:cNvPicPr>
            <a:picLocks noChangeAspect="1"/>
          </p:cNvPicPr>
          <p:nvPr/>
        </p:nvPicPr>
        <p:blipFill>
          <a:blip r:embed="rId2"/>
          <a:stretch>
            <a:fillRect/>
          </a:stretch>
        </p:blipFill>
        <p:spPr>
          <a:xfrm>
            <a:off x="198000" y="324000"/>
            <a:ext cx="3294000" cy="1872000"/>
          </a:xfrm>
          <a:prstGeom prst="rect">
            <a:avLst/>
          </a:prstGeom>
        </p:spPr>
      </p:pic>
      <p:sp>
        <p:nvSpPr>
          <p:cNvPr id="8" name="Rectangle 7"/>
          <p:cNvSpPr/>
          <p:nvPr/>
        </p:nvSpPr>
        <p:spPr>
          <a:xfrm>
            <a:off x="432000" y="2250000"/>
            <a:ext cx="2880000" cy="252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51999" y="2322000"/>
            <a:ext cx="3240000" cy="259200"/>
          </a:xfrm>
          <a:prstGeom prst="rect">
            <a:avLst/>
          </a:prstGeom>
          <a:noFill/>
        </p:spPr>
        <p:txBody>
          <a:bodyPr wrap="square">
            <a:spAutoFit/>
          </a:bodyPr>
          <a:lstStyle/>
          <a:p>
            <a:pPr algn="ctr"/>
            <a:r>
              <a:rPr sz="1100" b="1" i="0">
                <a:solidFill>
                  <a:srgbClr val="FFFFFF"/>
                </a:solidFill>
              </a:rPr>
              <a:t>DOSSIER INVESTISSEUR</a:t>
            </a:r>
          </a:p>
        </p:txBody>
      </p:sp>
      <p:sp>
        <p:nvSpPr>
          <p:cNvPr id="10" name="TextBox 9"/>
          <p:cNvSpPr txBox="1"/>
          <p:nvPr/>
        </p:nvSpPr>
        <p:spPr>
          <a:xfrm>
            <a:off x="251999" y="2764800"/>
            <a:ext cx="3240000" cy="223200"/>
          </a:xfrm>
          <a:prstGeom prst="rect">
            <a:avLst/>
          </a:prstGeom>
          <a:noFill/>
        </p:spPr>
        <p:txBody>
          <a:bodyPr wrap="square">
            <a:spAutoFit/>
          </a:bodyPr>
          <a:lstStyle/>
          <a:p>
            <a:pPr algn="ctr"/>
            <a:r>
              <a:rPr sz="1000" b="0" i="1">
                <a:solidFill>
                  <a:srgbClr val="D4AF37"/>
                </a:solidFill>
              </a:rPr>
              <a:t>| BOARDROOM EDITION</a:t>
            </a:r>
          </a:p>
        </p:txBody>
      </p:sp>
      <p:sp>
        <p:nvSpPr>
          <p:cNvPr id="11" name="Rectangle 10"/>
          <p:cNvSpPr/>
          <p:nvPr/>
        </p:nvSpPr>
        <p:spPr>
          <a:xfrm>
            <a:off x="3888000" y="720000"/>
            <a:ext cx="4968000" cy="1440000"/>
          </a:xfrm>
          <a:prstGeom prst="rect">
            <a:avLst/>
          </a:prstGeom>
          <a:solidFill>
            <a:srgbClr val="132B5E"/>
          </a:solidFill>
          <a:ln w="19050">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888000" y="720000"/>
            <a:ext cx="136800" cy="14400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104000" y="845999"/>
            <a:ext cx="4608000" cy="612000"/>
          </a:xfrm>
          <a:prstGeom prst="rect">
            <a:avLst/>
          </a:prstGeom>
          <a:noFill/>
        </p:spPr>
        <p:txBody>
          <a:bodyPr wrap="square">
            <a:spAutoFit/>
          </a:bodyPr>
          <a:lstStyle/>
          <a:p>
            <a:pPr algn="ctr"/>
            <a:r>
              <a:rPr sz="2800" b="1" i="0">
                <a:solidFill>
                  <a:srgbClr val="D4AF37"/>
                </a:solidFill>
              </a:rPr>
              <a:t>120 M FCFA</a:t>
            </a:r>
          </a:p>
        </p:txBody>
      </p:sp>
      <p:sp>
        <p:nvSpPr>
          <p:cNvPr id="14" name="TextBox 13"/>
          <p:cNvSpPr txBox="1"/>
          <p:nvPr/>
        </p:nvSpPr>
        <p:spPr>
          <a:xfrm>
            <a:off x="4104000" y="1476000"/>
            <a:ext cx="4608000" cy="576000"/>
          </a:xfrm>
          <a:prstGeom prst="rect">
            <a:avLst/>
          </a:prstGeom>
          <a:noFill/>
        </p:spPr>
        <p:txBody>
          <a:bodyPr wrap="square">
            <a:spAutoFit/>
          </a:bodyPr>
          <a:lstStyle/>
          <a:p>
            <a:pPr algn="ctr"/>
            <a:r>
              <a:rPr sz="1200" b="0" i="0">
                <a:solidFill>
                  <a:srgbClr val="B0C4DE"/>
                </a:solidFill>
              </a:rPr>
              <a:t>Objectif de levée de fonds</a:t>
            </a:r>
          </a:p>
        </p:txBody>
      </p:sp>
      <p:sp>
        <p:nvSpPr>
          <p:cNvPr id="15" name="Rectangle 14"/>
          <p:cNvSpPr/>
          <p:nvPr/>
        </p:nvSpPr>
        <p:spPr>
          <a:xfrm>
            <a:off x="3888000" y="2322000"/>
            <a:ext cx="4968000" cy="1440000"/>
          </a:xfrm>
          <a:prstGeom prst="rect">
            <a:avLst/>
          </a:prstGeom>
          <a:solidFill>
            <a:srgbClr val="132B5E"/>
          </a:solidFill>
          <a:ln w="19050">
            <a:solidFill>
              <a:srgbClr val="4FC3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888000" y="2322000"/>
            <a:ext cx="136800" cy="1440000"/>
          </a:xfrm>
          <a:prstGeom prst="rect">
            <a:avLst/>
          </a:prstGeom>
          <a:solidFill>
            <a:srgbClr val="4FC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104000" y="2447999"/>
            <a:ext cx="4608000" cy="612000"/>
          </a:xfrm>
          <a:prstGeom prst="rect">
            <a:avLst/>
          </a:prstGeom>
          <a:noFill/>
        </p:spPr>
        <p:txBody>
          <a:bodyPr wrap="square">
            <a:spAutoFit/>
          </a:bodyPr>
          <a:lstStyle/>
          <a:p>
            <a:pPr algn="ctr"/>
            <a:r>
              <a:rPr sz="2800" b="1" i="0">
                <a:solidFill>
                  <a:srgbClr val="4FC3F7"/>
                </a:solidFill>
              </a:rPr>
              <a:t>7,5 M+</a:t>
            </a:r>
          </a:p>
        </p:txBody>
      </p:sp>
      <p:sp>
        <p:nvSpPr>
          <p:cNvPr id="18" name="TextBox 17"/>
          <p:cNvSpPr txBox="1"/>
          <p:nvPr/>
        </p:nvSpPr>
        <p:spPr>
          <a:xfrm>
            <a:off x="4104000" y="3078000"/>
            <a:ext cx="4608000" cy="576000"/>
          </a:xfrm>
          <a:prstGeom prst="rect">
            <a:avLst/>
          </a:prstGeom>
          <a:noFill/>
        </p:spPr>
        <p:txBody>
          <a:bodyPr wrap="square">
            <a:spAutoFit/>
          </a:bodyPr>
          <a:lstStyle/>
          <a:p>
            <a:pPr algn="ctr"/>
            <a:r>
              <a:rPr sz="1200" b="0" i="0">
                <a:solidFill>
                  <a:srgbClr val="B0C4DE"/>
                </a:solidFill>
              </a:rPr>
              <a:t>Habitants ciblés — Yaoundé + Douala</a:t>
            </a:r>
          </a:p>
        </p:txBody>
      </p:sp>
      <p:sp>
        <p:nvSpPr>
          <p:cNvPr id="19" name="Rectangle 18"/>
          <p:cNvSpPr/>
          <p:nvPr/>
        </p:nvSpPr>
        <p:spPr>
          <a:xfrm>
            <a:off x="3888000" y="3924000"/>
            <a:ext cx="4968000" cy="1440000"/>
          </a:xfrm>
          <a:prstGeom prst="rect">
            <a:avLst/>
          </a:prstGeom>
          <a:solidFill>
            <a:srgbClr val="132B5E"/>
          </a:solidFill>
          <a:ln w="19050">
            <a:solidFill>
              <a:srgbClr val="00C8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888000" y="3924000"/>
            <a:ext cx="136800" cy="1440000"/>
          </a:xfrm>
          <a:prstGeom prst="rect">
            <a:avLst/>
          </a:prstGeom>
          <a:solidFill>
            <a:srgbClr val="00C8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104000" y="4049999"/>
            <a:ext cx="4608000" cy="612000"/>
          </a:xfrm>
          <a:prstGeom prst="rect">
            <a:avLst/>
          </a:prstGeom>
          <a:noFill/>
        </p:spPr>
        <p:txBody>
          <a:bodyPr wrap="square">
            <a:spAutoFit/>
          </a:bodyPr>
          <a:lstStyle/>
          <a:p>
            <a:pPr algn="ctr"/>
            <a:r>
              <a:rPr sz="2800" b="1" i="0">
                <a:solidFill>
                  <a:srgbClr val="00C87A"/>
                </a:solidFill>
              </a:rPr>
              <a:t>T1 2028</a:t>
            </a:r>
          </a:p>
        </p:txBody>
      </p:sp>
      <p:sp>
        <p:nvSpPr>
          <p:cNvPr id="22" name="TextBox 21"/>
          <p:cNvSpPr txBox="1"/>
          <p:nvPr/>
        </p:nvSpPr>
        <p:spPr>
          <a:xfrm>
            <a:off x="4104000" y="4680000"/>
            <a:ext cx="4608000" cy="576000"/>
          </a:xfrm>
          <a:prstGeom prst="rect">
            <a:avLst/>
          </a:prstGeom>
          <a:noFill/>
        </p:spPr>
        <p:txBody>
          <a:bodyPr wrap="square">
            <a:spAutoFit/>
          </a:bodyPr>
          <a:lstStyle/>
          <a:p>
            <a:pPr algn="ctr"/>
            <a:r>
              <a:rPr sz="1200" b="0" i="0">
                <a:solidFill>
                  <a:srgbClr val="B0C4DE"/>
                </a:solidFill>
              </a:rPr>
              <a:t>Rentabilité nette (meilleur cas)</a:t>
            </a:r>
          </a:p>
        </p:txBody>
      </p:sp>
      <p:sp>
        <p:nvSpPr>
          <p:cNvPr id="23" name="TextBox 22"/>
          <p:cNvSpPr txBox="1"/>
          <p:nvPr/>
        </p:nvSpPr>
        <p:spPr>
          <a:xfrm>
            <a:off x="251999" y="5742000"/>
            <a:ext cx="3240000" cy="259200"/>
          </a:xfrm>
          <a:prstGeom prst="rect">
            <a:avLst/>
          </a:prstGeom>
          <a:noFill/>
        </p:spPr>
        <p:txBody>
          <a:bodyPr wrap="square">
            <a:spAutoFit/>
          </a:bodyPr>
          <a:lstStyle/>
          <a:p>
            <a:pPr algn="ctr"/>
            <a:r>
              <a:rPr sz="900" b="0" i="0">
                <a:solidFill>
                  <a:srgbClr val="B0C4DE"/>
                </a:solidFill>
              </a:rPr>
              <a:t>Présenté par  LELE SIAKA Hernandez  |  CEO &amp; Fondateur</a:t>
            </a:r>
          </a:p>
        </p:txBody>
      </p:sp>
      <p:sp>
        <p:nvSpPr>
          <p:cNvPr id="24" name="TextBox 23"/>
          <p:cNvSpPr txBox="1"/>
          <p:nvPr/>
        </p:nvSpPr>
        <p:spPr>
          <a:xfrm>
            <a:off x="251999" y="5994000"/>
            <a:ext cx="3240000" cy="234000"/>
          </a:xfrm>
          <a:prstGeom prst="rect">
            <a:avLst/>
          </a:prstGeom>
          <a:noFill/>
        </p:spPr>
        <p:txBody>
          <a:bodyPr wrap="square">
            <a:spAutoFit/>
          </a:bodyPr>
          <a:lstStyle/>
          <a:p>
            <a:pPr algn="ctr"/>
            <a:r>
              <a:rPr sz="900" b="0" i="0">
                <a:solidFill>
                  <a:srgbClr val="D4AF37"/>
                </a:solidFill>
              </a:rPr>
              <a:t>Yaoundé, Cameroun  |  Avril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1E42"/>
        </a:solidFill>
        <a:effectLst/>
      </p:bgPr>
    </p:bg>
    <p:spTree>
      <p:nvGrpSpPr>
        <p:cNvPr id="1" name=""/>
        <p:cNvGrpSpPr/>
        <p:nvPr/>
      </p:nvGrpSpPr>
      <p:grpSpPr/>
      <p:sp>
        <p:nvSpPr>
          <p:cNvPr id="2" name="Rectangle 1"/>
          <p:cNvSpPr/>
          <p:nvPr/>
        </p:nvSpPr>
        <p:spPr>
          <a:xfrm>
            <a:off x="0" y="0"/>
            <a:ext cx="9144000" cy="4860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6000"/>
            <a:ext cx="144000" cy="6138000"/>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32000" y="36000"/>
            <a:ext cx="540000" cy="413999"/>
          </a:xfrm>
          <a:prstGeom prst="rect">
            <a:avLst/>
          </a:prstGeom>
          <a:noFill/>
        </p:spPr>
        <p:txBody>
          <a:bodyPr wrap="square">
            <a:spAutoFit/>
          </a:bodyPr>
          <a:lstStyle/>
          <a:p>
            <a:pPr algn="ctr"/>
            <a:r>
              <a:rPr sz="1400" b="1" i="0">
                <a:solidFill>
                  <a:srgbClr val="0B1E42"/>
                </a:solidFill>
              </a:rPr>
              <a:t>2</a:t>
            </a:r>
          </a:p>
        </p:txBody>
      </p:sp>
      <p:sp>
        <p:nvSpPr>
          <p:cNvPr id="5" name="TextBox 4"/>
          <p:cNvSpPr txBox="1"/>
          <p:nvPr/>
        </p:nvSpPr>
        <p:spPr>
          <a:xfrm>
            <a:off x="251999" y="540000"/>
            <a:ext cx="8280000" cy="540000"/>
          </a:xfrm>
          <a:prstGeom prst="rect">
            <a:avLst/>
          </a:prstGeom>
          <a:noFill/>
        </p:spPr>
        <p:txBody>
          <a:bodyPr wrap="square">
            <a:spAutoFit/>
          </a:bodyPr>
          <a:lstStyle/>
          <a:p>
            <a:pPr algn="l"/>
            <a:r>
              <a:rPr sz="2100" b="1" i="0">
                <a:solidFill>
                  <a:srgbClr val="FFFFFF"/>
                </a:solidFill>
              </a:rPr>
              <a:t>Une Opportunité de Marché Massive et Inexploitée</a:t>
            </a:r>
          </a:p>
        </p:txBody>
      </p:sp>
      <p:sp>
        <p:nvSpPr>
          <p:cNvPr id="6" name="TextBox 5"/>
          <p:cNvSpPr txBox="1"/>
          <p:nvPr/>
        </p:nvSpPr>
        <p:spPr>
          <a:xfrm>
            <a:off x="251999" y="1098000"/>
            <a:ext cx="8640001" cy="288000"/>
          </a:xfrm>
          <a:prstGeom prst="rect">
            <a:avLst/>
          </a:prstGeom>
          <a:noFill/>
        </p:spPr>
        <p:txBody>
          <a:bodyPr wrap="square">
            <a:spAutoFit/>
          </a:bodyPr>
          <a:lstStyle/>
          <a:p>
            <a:pPr algn="l"/>
            <a:r>
              <a:rPr sz="1100" b="0" i="1">
                <a:solidFill>
                  <a:srgbClr val="D4AF37"/>
                </a:solidFill>
              </a:rPr>
              <a:t>Yaoundé + Douala : 7,5 M d'habitants, zéro super-app locale opérationnelle</a:t>
            </a:r>
          </a:p>
        </p:txBody>
      </p:sp>
      <p:sp>
        <p:nvSpPr>
          <p:cNvPr id="7" name="Rectangle 6"/>
          <p:cNvSpPr/>
          <p:nvPr/>
        </p:nvSpPr>
        <p:spPr>
          <a:xfrm>
            <a:off x="0" y="6642000"/>
            <a:ext cx="9144000" cy="2160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0000" y="6642000"/>
            <a:ext cx="6480000" cy="216000"/>
          </a:xfrm>
          <a:prstGeom prst="rect">
            <a:avLst/>
          </a:prstGeom>
          <a:noFill/>
        </p:spPr>
        <p:txBody>
          <a:bodyPr wrap="square">
            <a:spAutoFit/>
          </a:bodyPr>
          <a:lstStyle/>
          <a:p>
            <a:pPr algn="l"/>
            <a:r>
              <a:rPr sz="900" b="0" i="0">
                <a:solidFill>
                  <a:srgbClr val="0B1E42"/>
                </a:solidFill>
              </a:rPr>
              <a:t>YUKPO  |  YUKPO COMPANY SARL  |  Confidentiel  |  2026</a:t>
            </a:r>
          </a:p>
        </p:txBody>
      </p:sp>
      <p:sp>
        <p:nvSpPr>
          <p:cNvPr id="9" name="Rectangle 8"/>
          <p:cNvSpPr/>
          <p:nvPr/>
        </p:nvSpPr>
        <p:spPr>
          <a:xfrm>
            <a:off x="180000" y="1475999"/>
            <a:ext cx="2034000" cy="1764000"/>
          </a:xfrm>
          <a:prstGeom prst="rect">
            <a:avLst/>
          </a:prstGeom>
          <a:solidFill>
            <a:srgbClr val="132B5E"/>
          </a:solidFill>
          <a:ln w="19050">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80000" y="1475999"/>
            <a:ext cx="115200" cy="17640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0000" y="1576799"/>
            <a:ext cx="1800000" cy="917280"/>
          </a:xfrm>
          <a:prstGeom prst="rect">
            <a:avLst/>
          </a:prstGeom>
          <a:noFill/>
        </p:spPr>
        <p:txBody>
          <a:bodyPr wrap="square">
            <a:spAutoFit/>
          </a:bodyPr>
          <a:lstStyle/>
          <a:p>
            <a:pPr algn="ctr"/>
            <a:r>
              <a:rPr sz="2400" b="1" i="0">
                <a:solidFill>
                  <a:srgbClr val="D4AF37"/>
                </a:solidFill>
              </a:rPr>
              <a:t>7,5 M+</a:t>
            </a:r>
          </a:p>
        </p:txBody>
      </p:sp>
      <p:sp>
        <p:nvSpPr>
          <p:cNvPr id="12" name="TextBox 11"/>
          <p:cNvSpPr txBox="1"/>
          <p:nvPr/>
        </p:nvSpPr>
        <p:spPr>
          <a:xfrm>
            <a:off x="360000" y="2428559"/>
            <a:ext cx="1800000" cy="670320"/>
          </a:xfrm>
          <a:prstGeom prst="rect">
            <a:avLst/>
          </a:prstGeom>
          <a:noFill/>
        </p:spPr>
        <p:txBody>
          <a:bodyPr wrap="square">
            <a:spAutoFit/>
          </a:bodyPr>
          <a:lstStyle/>
          <a:p>
            <a:pPr algn="ctr"/>
            <a:r>
              <a:rPr sz="1000" b="0" i="0">
                <a:solidFill>
                  <a:srgbClr val="B0C4DE"/>
                </a:solidFill>
              </a:rPr>
              <a:t>Habitants ciblés
Yaoundé + Douala</a:t>
            </a:r>
          </a:p>
        </p:txBody>
      </p:sp>
      <p:sp>
        <p:nvSpPr>
          <p:cNvPr id="13" name="Rectangle 12"/>
          <p:cNvSpPr/>
          <p:nvPr/>
        </p:nvSpPr>
        <p:spPr>
          <a:xfrm>
            <a:off x="2430000" y="1475999"/>
            <a:ext cx="2034000" cy="1764000"/>
          </a:xfrm>
          <a:prstGeom prst="rect">
            <a:avLst/>
          </a:prstGeom>
          <a:solidFill>
            <a:srgbClr val="132B5E"/>
          </a:solidFill>
          <a:ln w="19050">
            <a:solidFill>
              <a:srgbClr val="4FC3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430000" y="1475999"/>
            <a:ext cx="115200" cy="1764000"/>
          </a:xfrm>
          <a:prstGeom prst="rect">
            <a:avLst/>
          </a:prstGeom>
          <a:solidFill>
            <a:srgbClr val="4FC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610000" y="1576799"/>
            <a:ext cx="1800000" cy="917280"/>
          </a:xfrm>
          <a:prstGeom prst="rect">
            <a:avLst/>
          </a:prstGeom>
          <a:noFill/>
        </p:spPr>
        <p:txBody>
          <a:bodyPr wrap="square">
            <a:spAutoFit/>
          </a:bodyPr>
          <a:lstStyle/>
          <a:p>
            <a:pPr algn="ctr"/>
            <a:r>
              <a:rPr sz="2400" b="1" i="0">
                <a:solidFill>
                  <a:srgbClr val="4FC3F7"/>
                </a:solidFill>
              </a:rPr>
              <a:t>74 %</a:t>
            </a:r>
          </a:p>
        </p:txBody>
      </p:sp>
      <p:sp>
        <p:nvSpPr>
          <p:cNvPr id="16" name="TextBox 15"/>
          <p:cNvSpPr txBox="1"/>
          <p:nvPr/>
        </p:nvSpPr>
        <p:spPr>
          <a:xfrm>
            <a:off x="2610000" y="2428559"/>
            <a:ext cx="1800000" cy="670320"/>
          </a:xfrm>
          <a:prstGeom prst="rect">
            <a:avLst/>
          </a:prstGeom>
          <a:noFill/>
        </p:spPr>
        <p:txBody>
          <a:bodyPr wrap="square">
            <a:spAutoFit/>
          </a:bodyPr>
          <a:lstStyle/>
          <a:p>
            <a:pPr algn="ctr"/>
            <a:r>
              <a:rPr sz="1000" b="0" i="0">
                <a:solidFill>
                  <a:srgbClr val="B0C4DE"/>
                </a:solidFill>
              </a:rPr>
              <a:t>Sans accès
aux services formels</a:t>
            </a:r>
          </a:p>
        </p:txBody>
      </p:sp>
      <p:sp>
        <p:nvSpPr>
          <p:cNvPr id="17" name="Rectangle 16"/>
          <p:cNvSpPr/>
          <p:nvPr/>
        </p:nvSpPr>
        <p:spPr>
          <a:xfrm>
            <a:off x="4680000" y="1475999"/>
            <a:ext cx="2034000" cy="1764000"/>
          </a:xfrm>
          <a:prstGeom prst="rect">
            <a:avLst/>
          </a:prstGeom>
          <a:solidFill>
            <a:srgbClr val="132B5E"/>
          </a:solidFill>
          <a:ln w="19050">
            <a:solidFill>
              <a:srgbClr val="FF6B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680000" y="1475999"/>
            <a:ext cx="115200" cy="1764000"/>
          </a:xfrm>
          <a:prstGeom prst="rect">
            <a:avLst/>
          </a:prstGeom>
          <a:solidFill>
            <a:srgbClr val="FF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860000" y="1576799"/>
            <a:ext cx="1800000" cy="917280"/>
          </a:xfrm>
          <a:prstGeom prst="rect">
            <a:avLst/>
          </a:prstGeom>
          <a:noFill/>
        </p:spPr>
        <p:txBody>
          <a:bodyPr wrap="square">
            <a:spAutoFit/>
          </a:bodyPr>
          <a:lstStyle/>
          <a:p>
            <a:pPr algn="ctr"/>
            <a:r>
              <a:rPr sz="2400" b="1" i="0">
                <a:solidFill>
                  <a:srgbClr val="FF6B6B"/>
                </a:solidFill>
              </a:rPr>
              <a:t>0</a:t>
            </a:r>
          </a:p>
        </p:txBody>
      </p:sp>
      <p:sp>
        <p:nvSpPr>
          <p:cNvPr id="20" name="TextBox 19"/>
          <p:cNvSpPr txBox="1"/>
          <p:nvPr/>
        </p:nvSpPr>
        <p:spPr>
          <a:xfrm>
            <a:off x="4860000" y="2428559"/>
            <a:ext cx="1800000" cy="670320"/>
          </a:xfrm>
          <a:prstGeom prst="rect">
            <a:avLst/>
          </a:prstGeom>
          <a:noFill/>
        </p:spPr>
        <p:txBody>
          <a:bodyPr wrap="square">
            <a:spAutoFit/>
          </a:bodyPr>
          <a:lstStyle/>
          <a:p>
            <a:pPr algn="ctr"/>
            <a:r>
              <a:rPr sz="1000" b="0" i="0">
                <a:solidFill>
                  <a:srgbClr val="B0C4DE"/>
                </a:solidFill>
              </a:rPr>
              <a:t>Super-app intégrée
locale existante</a:t>
            </a:r>
          </a:p>
        </p:txBody>
      </p:sp>
      <p:sp>
        <p:nvSpPr>
          <p:cNvPr id="21" name="Rectangle 20"/>
          <p:cNvSpPr/>
          <p:nvPr/>
        </p:nvSpPr>
        <p:spPr>
          <a:xfrm>
            <a:off x="6930000" y="1475999"/>
            <a:ext cx="2034000" cy="1764000"/>
          </a:xfrm>
          <a:prstGeom prst="rect">
            <a:avLst/>
          </a:prstGeom>
          <a:solidFill>
            <a:srgbClr val="132B5E"/>
          </a:solidFill>
          <a:ln w="19050">
            <a:solidFill>
              <a:srgbClr val="00C8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930000" y="1475999"/>
            <a:ext cx="115200" cy="1764000"/>
          </a:xfrm>
          <a:prstGeom prst="rect">
            <a:avLst/>
          </a:prstGeom>
          <a:solidFill>
            <a:srgbClr val="00C8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110000" y="1576799"/>
            <a:ext cx="1800000" cy="917280"/>
          </a:xfrm>
          <a:prstGeom prst="rect">
            <a:avLst/>
          </a:prstGeom>
          <a:noFill/>
        </p:spPr>
        <p:txBody>
          <a:bodyPr wrap="square">
            <a:spAutoFit/>
          </a:bodyPr>
          <a:lstStyle/>
          <a:p>
            <a:pPr algn="ctr"/>
            <a:r>
              <a:rPr sz="2400" b="1" i="0">
                <a:solidFill>
                  <a:srgbClr val="00C87A"/>
                </a:solidFill>
              </a:rPr>
              <a:t>8,5 Mrd FCFA</a:t>
            </a:r>
          </a:p>
        </p:txBody>
      </p:sp>
      <p:sp>
        <p:nvSpPr>
          <p:cNvPr id="24" name="TextBox 23"/>
          <p:cNvSpPr txBox="1"/>
          <p:nvPr/>
        </p:nvSpPr>
        <p:spPr>
          <a:xfrm>
            <a:off x="7110000" y="2428559"/>
            <a:ext cx="1800000" cy="670320"/>
          </a:xfrm>
          <a:prstGeom prst="rect">
            <a:avLst/>
          </a:prstGeom>
          <a:noFill/>
        </p:spPr>
        <p:txBody>
          <a:bodyPr wrap="square">
            <a:spAutoFit/>
          </a:bodyPr>
          <a:lstStyle/>
          <a:p>
            <a:pPr algn="ctr"/>
            <a:r>
              <a:rPr sz="1000" b="0" i="0">
                <a:solidFill>
                  <a:srgbClr val="B0C4DE"/>
                </a:solidFill>
              </a:rPr>
              <a:t>Marché adressable
estimé 2028</a:t>
            </a:r>
          </a:p>
        </p:txBody>
      </p:sp>
      <p:sp>
        <p:nvSpPr>
          <p:cNvPr id="25" name="Rectangle 24"/>
          <p:cNvSpPr/>
          <p:nvPr/>
        </p:nvSpPr>
        <p:spPr>
          <a:xfrm>
            <a:off x="180000" y="3348000"/>
            <a:ext cx="8784000" cy="252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180000" y="3456000"/>
            <a:ext cx="1368000" cy="6660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80000" y="3564000"/>
            <a:ext cx="1368000" cy="432000"/>
          </a:xfrm>
          <a:prstGeom prst="rect">
            <a:avLst/>
          </a:prstGeom>
          <a:noFill/>
        </p:spPr>
        <p:txBody>
          <a:bodyPr wrap="square">
            <a:spAutoFit/>
          </a:bodyPr>
          <a:lstStyle/>
          <a:p>
            <a:pPr algn="ctr"/>
            <a:r>
              <a:rPr sz="1600" b="1" i="0">
                <a:solidFill>
                  <a:srgbClr val="0B1E42"/>
                </a:solidFill>
              </a:rPr>
              <a:t>Yaoundé</a:t>
            </a:r>
          </a:p>
        </p:txBody>
      </p:sp>
      <p:sp>
        <p:nvSpPr>
          <p:cNvPr id="28" name="Rectangle 27"/>
          <p:cNvSpPr/>
          <p:nvPr/>
        </p:nvSpPr>
        <p:spPr>
          <a:xfrm>
            <a:off x="1620000" y="3456000"/>
            <a:ext cx="7344000" cy="666000"/>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745999" y="3564000"/>
            <a:ext cx="7164000" cy="468000"/>
          </a:xfrm>
          <a:prstGeom prst="rect">
            <a:avLst/>
          </a:prstGeom>
          <a:noFill/>
        </p:spPr>
        <p:txBody>
          <a:bodyPr wrap="square">
            <a:spAutoFit/>
          </a:bodyPr>
          <a:lstStyle/>
          <a:p>
            <a:pPr algn="l"/>
            <a:r>
              <a:rPr sz="1100" b="0" i="0">
                <a:solidFill>
                  <a:srgbClr val="FFFFFF"/>
                </a:solidFill>
              </a:rPr>
              <a:t>3,5 M hab.  |  Capitale politique &amp; tertiaire  |  62 % smartphone  |  Marché : 3,8 Mrd FCFA</a:t>
            </a:r>
          </a:p>
        </p:txBody>
      </p:sp>
      <p:sp>
        <p:nvSpPr>
          <p:cNvPr id="30" name="Rectangle 29"/>
          <p:cNvSpPr/>
          <p:nvPr/>
        </p:nvSpPr>
        <p:spPr>
          <a:xfrm>
            <a:off x="180000" y="4230000"/>
            <a:ext cx="1368000" cy="666000"/>
          </a:xfrm>
          <a:prstGeom prst="rect">
            <a:avLst/>
          </a:prstGeom>
          <a:solidFill>
            <a:srgbClr val="4FC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80000" y="4338000"/>
            <a:ext cx="1368000" cy="432000"/>
          </a:xfrm>
          <a:prstGeom prst="rect">
            <a:avLst/>
          </a:prstGeom>
          <a:noFill/>
        </p:spPr>
        <p:txBody>
          <a:bodyPr wrap="square">
            <a:spAutoFit/>
          </a:bodyPr>
          <a:lstStyle/>
          <a:p>
            <a:pPr algn="ctr"/>
            <a:r>
              <a:rPr sz="1600" b="1" i="0">
                <a:solidFill>
                  <a:srgbClr val="0B1E42"/>
                </a:solidFill>
              </a:rPr>
              <a:t>Douala</a:t>
            </a:r>
          </a:p>
        </p:txBody>
      </p:sp>
      <p:sp>
        <p:nvSpPr>
          <p:cNvPr id="32" name="Rectangle 31"/>
          <p:cNvSpPr/>
          <p:nvPr/>
        </p:nvSpPr>
        <p:spPr>
          <a:xfrm>
            <a:off x="1620000" y="4230000"/>
            <a:ext cx="7344000" cy="666000"/>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745999" y="4338000"/>
            <a:ext cx="7164000" cy="468000"/>
          </a:xfrm>
          <a:prstGeom prst="rect">
            <a:avLst/>
          </a:prstGeom>
          <a:noFill/>
        </p:spPr>
        <p:txBody>
          <a:bodyPr wrap="square">
            <a:spAutoFit/>
          </a:bodyPr>
          <a:lstStyle/>
          <a:p>
            <a:pPr algn="l"/>
            <a:r>
              <a:rPr sz="1100" b="0" i="0">
                <a:solidFill>
                  <a:srgbClr val="FFFFFF"/>
                </a:solidFill>
              </a:rPr>
              <a:t>4,0 M hab.  |  Capitale économique &amp; portuaire  |  67 % smartphone  |  Marché : 4,7 Mrd FCFA</a:t>
            </a:r>
          </a:p>
        </p:txBody>
      </p:sp>
      <p:sp>
        <p:nvSpPr>
          <p:cNvPr id="34" name="TextBox 33"/>
          <p:cNvSpPr txBox="1"/>
          <p:nvPr/>
        </p:nvSpPr>
        <p:spPr>
          <a:xfrm>
            <a:off x="180000" y="5022000"/>
            <a:ext cx="8784000" cy="270000"/>
          </a:xfrm>
          <a:prstGeom prst="rect">
            <a:avLst/>
          </a:prstGeom>
          <a:noFill/>
        </p:spPr>
        <p:txBody>
          <a:bodyPr wrap="square">
            <a:spAutoFit/>
          </a:bodyPr>
          <a:lstStyle/>
          <a:p>
            <a:pPr algn="ctr"/>
            <a:r>
              <a:rPr sz="1100" b="0" i="1">
                <a:solidFill>
                  <a:srgbClr val="D4AF37"/>
                </a:solidFill>
              </a:rPr>
              <a:t>Croissance mobile +18 %/an  |  Fenêtre d'entrée unique : aucun concurrent intégré  |  Besoin urgent non couvert</a:t>
            </a:r>
          </a:p>
        </p:txBody>
      </p:sp>
      <p:sp>
        <p:nvSpPr>
          <p:cNvPr id="35" name="Rectangle 34"/>
          <p:cNvSpPr/>
          <p:nvPr/>
        </p:nvSpPr>
        <p:spPr>
          <a:xfrm>
            <a:off x="180000" y="5346000"/>
            <a:ext cx="8784000" cy="612000"/>
          </a:xfrm>
          <a:prstGeom prst="rect">
            <a:avLst/>
          </a:prstGeom>
          <a:solidFill>
            <a:srgbClr val="132B5E"/>
          </a:solidFill>
          <a:ln w="19050">
            <a:solidFill>
              <a:srgbClr val="FF99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180000" y="5346000"/>
            <a:ext cx="79200" cy="612000"/>
          </a:xfrm>
          <a:prstGeom prst="rect">
            <a:avLst/>
          </a:prstGeom>
          <a:solidFill>
            <a:srgbClr val="FF99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24000" y="5374800"/>
            <a:ext cx="8568000" cy="558000"/>
          </a:xfrm>
          <a:prstGeom prst="rect">
            <a:avLst/>
          </a:prstGeom>
          <a:noFill/>
        </p:spPr>
        <p:txBody>
          <a:bodyPr wrap="square">
            <a:spAutoFit/>
          </a:bodyPr>
          <a:lstStyle/>
          <a:p>
            <a:pPr algn="l"/>
            <a:r>
              <a:rPr sz="900" b="0" i="1">
                <a:solidFill>
                  <a:srgbClr val="FF9933"/>
                </a:solidFill>
              </a:rPr>
              <a:t>Note : l'estimation de 8,5 Mrd FCFA est limitée aux services numériques immédiats (alimentation, boutiques, Creator Studio, Annonce Rapide). Elle n'intègre PAS : transport, immobilier, santé, Bourse du Livre, publicité in-app — secteurs dont YUKPO adresse aussi le besoin. Le marché réel total est bien supérieur.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1E42"/>
        </a:solidFill>
        <a:effectLst/>
      </p:bgPr>
    </p:bg>
    <p:spTree>
      <p:nvGrpSpPr>
        <p:cNvPr id="1" name=""/>
        <p:cNvGrpSpPr/>
        <p:nvPr/>
      </p:nvGrpSpPr>
      <p:grpSpPr/>
      <p:sp>
        <p:nvSpPr>
          <p:cNvPr id="2" name="Rectangle 1"/>
          <p:cNvSpPr/>
          <p:nvPr/>
        </p:nvSpPr>
        <p:spPr>
          <a:xfrm>
            <a:off x="0" y="0"/>
            <a:ext cx="9144000" cy="4860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6000"/>
            <a:ext cx="144000" cy="6138000"/>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32000" y="36000"/>
            <a:ext cx="540000" cy="413999"/>
          </a:xfrm>
          <a:prstGeom prst="rect">
            <a:avLst/>
          </a:prstGeom>
          <a:noFill/>
        </p:spPr>
        <p:txBody>
          <a:bodyPr wrap="square">
            <a:spAutoFit/>
          </a:bodyPr>
          <a:lstStyle/>
          <a:p>
            <a:pPr algn="ctr"/>
            <a:r>
              <a:rPr sz="1400" b="1" i="0">
                <a:solidFill>
                  <a:srgbClr val="0B1E42"/>
                </a:solidFill>
              </a:rPr>
              <a:t>3</a:t>
            </a:r>
          </a:p>
        </p:txBody>
      </p:sp>
      <p:sp>
        <p:nvSpPr>
          <p:cNvPr id="5" name="TextBox 4"/>
          <p:cNvSpPr txBox="1"/>
          <p:nvPr/>
        </p:nvSpPr>
        <p:spPr>
          <a:xfrm>
            <a:off x="251999" y="540000"/>
            <a:ext cx="8280000" cy="540000"/>
          </a:xfrm>
          <a:prstGeom prst="rect">
            <a:avLst/>
          </a:prstGeom>
          <a:noFill/>
        </p:spPr>
        <p:txBody>
          <a:bodyPr wrap="square">
            <a:spAutoFit/>
          </a:bodyPr>
          <a:lstStyle/>
          <a:p>
            <a:pPr algn="l"/>
            <a:r>
              <a:rPr sz="2100" b="1" i="0">
                <a:solidFill>
                  <a:srgbClr val="FFFFFF"/>
                </a:solidFill>
              </a:rPr>
              <a:t>Les Problèmes Quotidiens des Camerounais</a:t>
            </a:r>
          </a:p>
        </p:txBody>
      </p:sp>
      <p:sp>
        <p:nvSpPr>
          <p:cNvPr id="6" name="TextBox 5"/>
          <p:cNvSpPr txBox="1"/>
          <p:nvPr/>
        </p:nvSpPr>
        <p:spPr>
          <a:xfrm>
            <a:off x="251999" y="1098000"/>
            <a:ext cx="8640001" cy="288000"/>
          </a:xfrm>
          <a:prstGeom prst="rect">
            <a:avLst/>
          </a:prstGeom>
          <a:noFill/>
        </p:spPr>
        <p:txBody>
          <a:bodyPr wrap="square">
            <a:spAutoFit/>
          </a:bodyPr>
          <a:lstStyle/>
          <a:p>
            <a:pPr algn="l"/>
            <a:r>
              <a:rPr sz="1100" b="0" i="1">
                <a:solidFill>
                  <a:srgbClr val="D4AF37"/>
                </a:solidFill>
              </a:rPr>
              <a:t>Des heures perdues, des services éparpillés, une confiance difficile à établir</a:t>
            </a:r>
          </a:p>
        </p:txBody>
      </p:sp>
      <p:sp>
        <p:nvSpPr>
          <p:cNvPr id="7" name="Rectangle 6"/>
          <p:cNvSpPr/>
          <p:nvPr/>
        </p:nvSpPr>
        <p:spPr>
          <a:xfrm>
            <a:off x="0" y="6642000"/>
            <a:ext cx="9144000" cy="2160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0000" y="6642000"/>
            <a:ext cx="6480000" cy="216000"/>
          </a:xfrm>
          <a:prstGeom prst="rect">
            <a:avLst/>
          </a:prstGeom>
          <a:noFill/>
        </p:spPr>
        <p:txBody>
          <a:bodyPr wrap="square">
            <a:spAutoFit/>
          </a:bodyPr>
          <a:lstStyle/>
          <a:p>
            <a:pPr algn="l"/>
            <a:r>
              <a:rPr sz="900" b="0" i="0">
                <a:solidFill>
                  <a:srgbClr val="0B1E42"/>
                </a:solidFill>
              </a:rPr>
              <a:t>YUKPO  |  YUKPO COMPANY SARL  |  Confidentiel  |  2026</a:t>
            </a:r>
          </a:p>
        </p:txBody>
      </p:sp>
      <p:sp>
        <p:nvSpPr>
          <p:cNvPr id="9" name="Rectangle 8"/>
          <p:cNvSpPr/>
          <p:nvPr/>
        </p:nvSpPr>
        <p:spPr>
          <a:xfrm>
            <a:off x="247500" y="1440000"/>
            <a:ext cx="2718000" cy="4824000"/>
          </a:xfrm>
          <a:prstGeom prst="rect">
            <a:avLst/>
          </a:prstGeom>
          <a:solidFill>
            <a:srgbClr val="132B5E"/>
          </a:solidFill>
          <a:ln w="19050">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47500" y="1440000"/>
            <a:ext cx="2718000" cy="972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84300" y="1591200"/>
            <a:ext cx="2509200" cy="295200"/>
          </a:xfrm>
          <a:prstGeom prst="rect">
            <a:avLst/>
          </a:prstGeom>
          <a:noFill/>
        </p:spPr>
        <p:txBody>
          <a:bodyPr wrap="square">
            <a:spAutoFit/>
          </a:bodyPr>
          <a:lstStyle/>
          <a:p>
            <a:pPr algn="ctr"/>
            <a:r>
              <a:rPr sz="1300" b="1" i="0">
                <a:solidFill>
                  <a:srgbClr val="D4AF37"/>
                </a:solidFill>
              </a:rPr>
              <a:t>Perte de Temps</a:t>
            </a:r>
          </a:p>
        </p:txBody>
      </p:sp>
      <p:sp>
        <p:nvSpPr>
          <p:cNvPr id="12" name="Rectangle 11"/>
          <p:cNvSpPr/>
          <p:nvPr/>
        </p:nvSpPr>
        <p:spPr>
          <a:xfrm>
            <a:off x="427500" y="1908000"/>
            <a:ext cx="2358000" cy="216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84300" y="1980000"/>
            <a:ext cx="2509200" cy="4230000"/>
          </a:xfrm>
          <a:prstGeom prst="rect">
            <a:avLst/>
          </a:prstGeom>
          <a:noFill/>
        </p:spPr>
        <p:txBody>
          <a:bodyPr wrap="square">
            <a:spAutoFit/>
          </a:bodyPr>
          <a:lstStyle/>
          <a:p>
            <a:pPr algn="l"/>
            <a:r>
              <a:rPr sz="1100" b="0" i="0">
                <a:solidFill>
                  <a:srgbClr val="B0C4DE"/>
                </a:solidFill>
              </a:rPr>
              <a:t>Trouver un transport, le bon médicament dans la bonne pharmacie
(sans faire la tournée de 5 officines), un artisan disponible...
Chaque démarche prend des heures. 2 h perdues par jour en moyenne.</a:t>
            </a:r>
          </a:p>
        </p:txBody>
      </p:sp>
      <p:sp>
        <p:nvSpPr>
          <p:cNvPr id="14" name="Rectangle 13"/>
          <p:cNvSpPr/>
          <p:nvPr/>
        </p:nvSpPr>
        <p:spPr>
          <a:xfrm>
            <a:off x="3213000" y="1440000"/>
            <a:ext cx="2718000" cy="4824000"/>
          </a:xfrm>
          <a:prstGeom prst="rect">
            <a:avLst/>
          </a:prstGeom>
          <a:solidFill>
            <a:srgbClr val="132B5E"/>
          </a:solidFill>
          <a:ln w="19050">
            <a:solidFill>
              <a:srgbClr val="4FC3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213000" y="1440000"/>
            <a:ext cx="2718000" cy="97200"/>
          </a:xfrm>
          <a:prstGeom prst="rect">
            <a:avLst/>
          </a:prstGeom>
          <a:solidFill>
            <a:srgbClr val="4FC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349800" y="1591200"/>
            <a:ext cx="2509200" cy="295200"/>
          </a:xfrm>
          <a:prstGeom prst="rect">
            <a:avLst/>
          </a:prstGeom>
          <a:noFill/>
        </p:spPr>
        <p:txBody>
          <a:bodyPr wrap="square">
            <a:spAutoFit/>
          </a:bodyPr>
          <a:lstStyle/>
          <a:p>
            <a:pPr algn="ctr"/>
            <a:r>
              <a:rPr sz="1300" b="1" i="0">
                <a:solidFill>
                  <a:srgbClr val="4FC3F7"/>
                </a:solidFill>
              </a:rPr>
              <a:t>Zéro Confiance</a:t>
            </a:r>
          </a:p>
        </p:txBody>
      </p:sp>
      <p:sp>
        <p:nvSpPr>
          <p:cNvPr id="17" name="Rectangle 16"/>
          <p:cNvSpPr/>
          <p:nvPr/>
        </p:nvSpPr>
        <p:spPr>
          <a:xfrm>
            <a:off x="3393000" y="1908000"/>
            <a:ext cx="2358000" cy="21600"/>
          </a:xfrm>
          <a:prstGeom prst="rect">
            <a:avLst/>
          </a:prstGeom>
          <a:solidFill>
            <a:srgbClr val="4FC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349800" y="1980000"/>
            <a:ext cx="2509200" cy="4230000"/>
          </a:xfrm>
          <a:prstGeom prst="rect">
            <a:avLst/>
          </a:prstGeom>
          <a:noFill/>
        </p:spPr>
        <p:txBody>
          <a:bodyPr wrap="square">
            <a:spAutoFit/>
          </a:bodyPr>
          <a:lstStyle/>
          <a:p>
            <a:pPr algn="l"/>
            <a:r>
              <a:rPr sz="1100" b="0" i="0">
                <a:solidFill>
                  <a:srgbClr val="B0C4DE"/>
                </a:solidFill>
              </a:rPr>
              <a:t>Aucun tarif affiché, aucun avis vérifié, aucune garantie.
Les arnaques sont fréquentes, les recours inexistants.
La méfiance bloque la formalisation et la consommation de services.</a:t>
            </a:r>
          </a:p>
        </p:txBody>
      </p:sp>
      <p:sp>
        <p:nvSpPr>
          <p:cNvPr id="19" name="Rectangle 18"/>
          <p:cNvSpPr/>
          <p:nvPr/>
        </p:nvSpPr>
        <p:spPr>
          <a:xfrm>
            <a:off x="6178500" y="1440000"/>
            <a:ext cx="2718000" cy="4824000"/>
          </a:xfrm>
          <a:prstGeom prst="rect">
            <a:avLst/>
          </a:prstGeom>
          <a:solidFill>
            <a:srgbClr val="132B5E"/>
          </a:solidFill>
          <a:ln w="19050">
            <a:solidFill>
              <a:srgbClr val="00C8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78500" y="1440000"/>
            <a:ext cx="2718000" cy="97200"/>
          </a:xfrm>
          <a:prstGeom prst="rect">
            <a:avLst/>
          </a:prstGeom>
          <a:solidFill>
            <a:srgbClr val="00C8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15300" y="1591200"/>
            <a:ext cx="2509200" cy="295200"/>
          </a:xfrm>
          <a:prstGeom prst="rect">
            <a:avLst/>
          </a:prstGeom>
          <a:noFill/>
        </p:spPr>
        <p:txBody>
          <a:bodyPr wrap="square">
            <a:spAutoFit/>
          </a:bodyPr>
          <a:lstStyle/>
          <a:p>
            <a:pPr algn="ctr"/>
            <a:r>
              <a:rPr sz="1300" b="1" i="0">
                <a:solidFill>
                  <a:srgbClr val="00C87A"/>
                </a:solidFill>
              </a:rPr>
              <a:t>Marché Ultra-Fragmenté</a:t>
            </a:r>
          </a:p>
        </p:txBody>
      </p:sp>
      <p:sp>
        <p:nvSpPr>
          <p:cNvPr id="22" name="Rectangle 21"/>
          <p:cNvSpPr/>
          <p:nvPr/>
        </p:nvSpPr>
        <p:spPr>
          <a:xfrm>
            <a:off x="6358500" y="1908000"/>
            <a:ext cx="2358000" cy="21600"/>
          </a:xfrm>
          <a:prstGeom prst="rect">
            <a:avLst/>
          </a:prstGeom>
          <a:solidFill>
            <a:srgbClr val="00C8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15300" y="1980000"/>
            <a:ext cx="2509200" cy="4230000"/>
          </a:xfrm>
          <a:prstGeom prst="rect">
            <a:avLst/>
          </a:prstGeom>
          <a:noFill/>
        </p:spPr>
        <p:txBody>
          <a:bodyPr wrap="square">
            <a:spAutoFit/>
          </a:bodyPr>
          <a:lstStyle/>
          <a:p>
            <a:pPr algn="l"/>
            <a:r>
              <a:rPr sz="1100" b="0" i="0">
                <a:solidFill>
                  <a:srgbClr val="B0C4DE"/>
                </a:solidFill>
              </a:rPr>
              <a:t>Chaque service fonctionne dans sa propre bulle :
contact perso, prix opaque, aucune traçabilité.
Impossible de planifier, comparer ou confier une tâche sereinement.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B1E42"/>
        </a:solidFill>
        <a:effectLst/>
      </p:bgPr>
    </p:bg>
    <p:spTree>
      <p:nvGrpSpPr>
        <p:cNvPr id="1" name=""/>
        <p:cNvGrpSpPr/>
        <p:nvPr/>
      </p:nvGrpSpPr>
      <p:grpSpPr/>
      <p:sp>
        <p:nvSpPr>
          <p:cNvPr id="2" name="Rectangle 1"/>
          <p:cNvSpPr/>
          <p:nvPr/>
        </p:nvSpPr>
        <p:spPr>
          <a:xfrm>
            <a:off x="0" y="0"/>
            <a:ext cx="9144000" cy="4860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6000"/>
            <a:ext cx="144000" cy="6138000"/>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32000" y="36000"/>
            <a:ext cx="540000" cy="413999"/>
          </a:xfrm>
          <a:prstGeom prst="rect">
            <a:avLst/>
          </a:prstGeom>
          <a:noFill/>
        </p:spPr>
        <p:txBody>
          <a:bodyPr wrap="square">
            <a:spAutoFit/>
          </a:bodyPr>
          <a:lstStyle/>
          <a:p>
            <a:pPr algn="ctr"/>
            <a:r>
              <a:rPr sz="1400" b="1" i="0">
                <a:solidFill>
                  <a:srgbClr val="0B1E42"/>
                </a:solidFill>
              </a:rPr>
              <a:t>4</a:t>
            </a:r>
          </a:p>
        </p:txBody>
      </p:sp>
      <p:sp>
        <p:nvSpPr>
          <p:cNvPr id="5" name="TextBox 4"/>
          <p:cNvSpPr txBox="1"/>
          <p:nvPr/>
        </p:nvSpPr>
        <p:spPr>
          <a:xfrm>
            <a:off x="251999" y="540000"/>
            <a:ext cx="8280000" cy="540000"/>
          </a:xfrm>
          <a:prstGeom prst="rect">
            <a:avLst/>
          </a:prstGeom>
          <a:noFill/>
        </p:spPr>
        <p:txBody>
          <a:bodyPr wrap="square">
            <a:spAutoFit/>
          </a:bodyPr>
          <a:lstStyle/>
          <a:p>
            <a:pPr algn="l"/>
            <a:r>
              <a:rPr sz="2100" b="1" i="0">
                <a:solidFill>
                  <a:srgbClr val="FFFFFF"/>
                </a:solidFill>
              </a:rPr>
              <a:t>YUKPO — L'Écosystème Complet</a:t>
            </a:r>
          </a:p>
        </p:txBody>
      </p:sp>
      <p:sp>
        <p:nvSpPr>
          <p:cNvPr id="6" name="TextBox 5"/>
          <p:cNvSpPr txBox="1"/>
          <p:nvPr/>
        </p:nvSpPr>
        <p:spPr>
          <a:xfrm>
            <a:off x="251999" y="1098000"/>
            <a:ext cx="8640001" cy="288000"/>
          </a:xfrm>
          <a:prstGeom prst="rect">
            <a:avLst/>
          </a:prstGeom>
          <a:noFill/>
        </p:spPr>
        <p:txBody>
          <a:bodyPr wrap="square">
            <a:spAutoFit/>
          </a:bodyPr>
          <a:lstStyle/>
          <a:p>
            <a:pPr algn="l"/>
            <a:r>
              <a:rPr sz="1100" b="0" i="1">
                <a:solidFill>
                  <a:srgbClr val="D4AF37"/>
                </a:solidFill>
              </a:rPr>
              <a:t>Services essentiels + marché + création de contenu + intelligence artificielle — en un seul endroit</a:t>
            </a:r>
          </a:p>
        </p:txBody>
      </p:sp>
      <p:sp>
        <p:nvSpPr>
          <p:cNvPr id="7" name="Rectangle 6"/>
          <p:cNvSpPr/>
          <p:nvPr/>
        </p:nvSpPr>
        <p:spPr>
          <a:xfrm>
            <a:off x="0" y="6642000"/>
            <a:ext cx="9144000" cy="2160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0000" y="6642000"/>
            <a:ext cx="6480000" cy="216000"/>
          </a:xfrm>
          <a:prstGeom prst="rect">
            <a:avLst/>
          </a:prstGeom>
          <a:noFill/>
        </p:spPr>
        <p:txBody>
          <a:bodyPr wrap="square">
            <a:spAutoFit/>
          </a:bodyPr>
          <a:lstStyle/>
          <a:p>
            <a:pPr algn="l"/>
            <a:r>
              <a:rPr sz="900" b="0" i="0">
                <a:solidFill>
                  <a:srgbClr val="0B1E42"/>
                </a:solidFill>
              </a:rPr>
              <a:t>YUKPO  |  YUKPO COMPANY SARL  |  Confidentiel  |  2026</a:t>
            </a:r>
          </a:p>
        </p:txBody>
      </p:sp>
      <p:sp>
        <p:nvSpPr>
          <p:cNvPr id="9" name="Rectangle 8"/>
          <p:cNvSpPr/>
          <p:nvPr/>
        </p:nvSpPr>
        <p:spPr>
          <a:xfrm>
            <a:off x="234000" y="1458000"/>
            <a:ext cx="2736000" cy="928800"/>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34000" y="1458000"/>
            <a:ext cx="100800" cy="9288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14000" y="1522800"/>
            <a:ext cx="2491200" cy="259200"/>
          </a:xfrm>
          <a:prstGeom prst="rect">
            <a:avLst/>
          </a:prstGeom>
          <a:noFill/>
        </p:spPr>
        <p:txBody>
          <a:bodyPr wrap="square">
            <a:spAutoFit/>
          </a:bodyPr>
          <a:lstStyle/>
          <a:p>
            <a:pPr algn="l"/>
            <a:r>
              <a:rPr sz="1100" b="1" i="0">
                <a:solidFill>
                  <a:srgbClr val="D4AF37"/>
                </a:solidFill>
              </a:rPr>
              <a:t>Transport &amp; Mobilité</a:t>
            </a:r>
          </a:p>
        </p:txBody>
      </p:sp>
      <p:sp>
        <p:nvSpPr>
          <p:cNvPr id="12" name="TextBox 11"/>
          <p:cNvSpPr txBox="1"/>
          <p:nvPr/>
        </p:nvSpPr>
        <p:spPr>
          <a:xfrm>
            <a:off x="414000" y="1782000"/>
            <a:ext cx="2491200" cy="550800"/>
          </a:xfrm>
          <a:prstGeom prst="rect">
            <a:avLst/>
          </a:prstGeom>
          <a:noFill/>
        </p:spPr>
        <p:txBody>
          <a:bodyPr wrap="square">
            <a:spAutoFit/>
          </a:bodyPr>
          <a:lstStyle/>
          <a:p>
            <a:pPr algn="l"/>
            <a:r>
              <a:rPr sz="900" b="0" i="0">
                <a:solidFill>
                  <a:srgbClr val="B0C4DE"/>
                </a:solidFill>
              </a:rPr>
              <a:t>Taxi, moto, covoiturage, voyages</a:t>
            </a:r>
          </a:p>
        </p:txBody>
      </p:sp>
      <p:sp>
        <p:nvSpPr>
          <p:cNvPr id="13" name="Rectangle 12"/>
          <p:cNvSpPr/>
          <p:nvPr/>
        </p:nvSpPr>
        <p:spPr>
          <a:xfrm>
            <a:off x="3204000" y="1458000"/>
            <a:ext cx="2736000" cy="928800"/>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204000" y="1458000"/>
            <a:ext cx="100800" cy="9288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384000" y="1522800"/>
            <a:ext cx="2491200" cy="259200"/>
          </a:xfrm>
          <a:prstGeom prst="rect">
            <a:avLst/>
          </a:prstGeom>
          <a:noFill/>
        </p:spPr>
        <p:txBody>
          <a:bodyPr wrap="square">
            <a:spAutoFit/>
          </a:bodyPr>
          <a:lstStyle/>
          <a:p>
            <a:pPr algn="l"/>
            <a:r>
              <a:rPr sz="1100" b="1" i="0">
                <a:solidFill>
                  <a:srgbClr val="D4AF37"/>
                </a:solidFill>
              </a:rPr>
              <a:t>Alimentation &amp; Livraison</a:t>
            </a:r>
          </a:p>
        </p:txBody>
      </p:sp>
      <p:sp>
        <p:nvSpPr>
          <p:cNvPr id="16" name="TextBox 15"/>
          <p:cNvSpPr txBox="1"/>
          <p:nvPr/>
        </p:nvSpPr>
        <p:spPr>
          <a:xfrm>
            <a:off x="3384000" y="1782000"/>
            <a:ext cx="2491200" cy="550800"/>
          </a:xfrm>
          <a:prstGeom prst="rect">
            <a:avLst/>
          </a:prstGeom>
          <a:noFill/>
        </p:spPr>
        <p:txBody>
          <a:bodyPr wrap="square">
            <a:spAutoFit/>
          </a:bodyPr>
          <a:lstStyle/>
          <a:p>
            <a:pPr algn="l"/>
            <a:r>
              <a:rPr sz="900" b="0" i="0">
                <a:solidFill>
                  <a:srgbClr val="B0C4DE"/>
                </a:solidFill>
              </a:rPr>
              <a:t>Repas chauds, courses à domicile</a:t>
            </a:r>
          </a:p>
        </p:txBody>
      </p:sp>
      <p:sp>
        <p:nvSpPr>
          <p:cNvPr id="17" name="Rectangle 16"/>
          <p:cNvSpPr/>
          <p:nvPr/>
        </p:nvSpPr>
        <p:spPr>
          <a:xfrm>
            <a:off x="6174000" y="1458000"/>
            <a:ext cx="2736000" cy="928800"/>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174000" y="1458000"/>
            <a:ext cx="100800" cy="9288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54000" y="1522800"/>
            <a:ext cx="2491200" cy="259200"/>
          </a:xfrm>
          <a:prstGeom prst="rect">
            <a:avLst/>
          </a:prstGeom>
          <a:noFill/>
        </p:spPr>
        <p:txBody>
          <a:bodyPr wrap="square">
            <a:spAutoFit/>
          </a:bodyPr>
          <a:lstStyle/>
          <a:p>
            <a:pPr algn="l"/>
            <a:r>
              <a:rPr sz="1100" b="1" i="0">
                <a:solidFill>
                  <a:srgbClr val="D4AF37"/>
                </a:solidFill>
              </a:rPr>
              <a:t>Pharmacie &amp; Santé</a:t>
            </a:r>
          </a:p>
        </p:txBody>
      </p:sp>
      <p:sp>
        <p:nvSpPr>
          <p:cNvPr id="20" name="TextBox 19"/>
          <p:cNvSpPr txBox="1"/>
          <p:nvPr/>
        </p:nvSpPr>
        <p:spPr>
          <a:xfrm>
            <a:off x="6354000" y="1782000"/>
            <a:ext cx="2491200" cy="550800"/>
          </a:xfrm>
          <a:prstGeom prst="rect">
            <a:avLst/>
          </a:prstGeom>
          <a:noFill/>
        </p:spPr>
        <p:txBody>
          <a:bodyPr wrap="square">
            <a:spAutoFit/>
          </a:bodyPr>
          <a:lstStyle/>
          <a:p>
            <a:pPr algn="l"/>
            <a:r>
              <a:rPr sz="900" b="0" i="0">
                <a:solidFill>
                  <a:srgbClr val="B0C4DE"/>
                </a:solidFill>
              </a:rPr>
              <a:t>Localisation médicaments dispo, cliniques</a:t>
            </a:r>
          </a:p>
        </p:txBody>
      </p:sp>
      <p:sp>
        <p:nvSpPr>
          <p:cNvPr id="21" name="Rectangle 20"/>
          <p:cNvSpPr/>
          <p:nvPr/>
        </p:nvSpPr>
        <p:spPr>
          <a:xfrm>
            <a:off x="234000" y="2484000"/>
            <a:ext cx="2736000" cy="928800"/>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234000" y="2484000"/>
            <a:ext cx="100800" cy="9288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14000" y="2548800"/>
            <a:ext cx="2491200" cy="259200"/>
          </a:xfrm>
          <a:prstGeom prst="rect">
            <a:avLst/>
          </a:prstGeom>
          <a:noFill/>
        </p:spPr>
        <p:txBody>
          <a:bodyPr wrap="square">
            <a:spAutoFit/>
          </a:bodyPr>
          <a:lstStyle/>
          <a:p>
            <a:pPr algn="l"/>
            <a:r>
              <a:rPr sz="1100" b="1" i="0">
                <a:solidFill>
                  <a:srgbClr val="D4AF37"/>
                </a:solidFill>
              </a:rPr>
              <a:t>Eau, Gaz &amp; Énergie</a:t>
            </a:r>
          </a:p>
        </p:txBody>
      </p:sp>
      <p:sp>
        <p:nvSpPr>
          <p:cNvPr id="24" name="TextBox 23"/>
          <p:cNvSpPr txBox="1"/>
          <p:nvPr/>
        </p:nvSpPr>
        <p:spPr>
          <a:xfrm>
            <a:off x="414000" y="2808000"/>
            <a:ext cx="2491200" cy="550800"/>
          </a:xfrm>
          <a:prstGeom prst="rect">
            <a:avLst/>
          </a:prstGeom>
          <a:noFill/>
        </p:spPr>
        <p:txBody>
          <a:bodyPr wrap="square">
            <a:spAutoFit/>
          </a:bodyPr>
          <a:lstStyle/>
          <a:p>
            <a:pPr algn="l"/>
            <a:r>
              <a:rPr sz="900" b="0" i="0">
                <a:solidFill>
                  <a:srgbClr val="B0C4DE"/>
                </a:solidFill>
              </a:rPr>
              <a:t>Bonbonnes livrées en moins d'une heure</a:t>
            </a:r>
          </a:p>
        </p:txBody>
      </p:sp>
      <p:sp>
        <p:nvSpPr>
          <p:cNvPr id="25" name="Rectangle 24"/>
          <p:cNvSpPr/>
          <p:nvPr/>
        </p:nvSpPr>
        <p:spPr>
          <a:xfrm>
            <a:off x="3204000" y="2484000"/>
            <a:ext cx="2736000" cy="928800"/>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3204000" y="2484000"/>
            <a:ext cx="100800" cy="9288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384000" y="2548800"/>
            <a:ext cx="2491200" cy="259200"/>
          </a:xfrm>
          <a:prstGeom prst="rect">
            <a:avLst/>
          </a:prstGeom>
          <a:noFill/>
        </p:spPr>
        <p:txBody>
          <a:bodyPr wrap="square">
            <a:spAutoFit/>
          </a:bodyPr>
          <a:lstStyle/>
          <a:p>
            <a:pPr algn="l"/>
            <a:r>
              <a:rPr sz="1100" b="1" i="0">
                <a:solidFill>
                  <a:srgbClr val="D4AF37"/>
                </a:solidFill>
              </a:rPr>
              <a:t>Artisans &amp; Services</a:t>
            </a:r>
          </a:p>
        </p:txBody>
      </p:sp>
      <p:sp>
        <p:nvSpPr>
          <p:cNvPr id="28" name="TextBox 27"/>
          <p:cNvSpPr txBox="1"/>
          <p:nvPr/>
        </p:nvSpPr>
        <p:spPr>
          <a:xfrm>
            <a:off x="3384000" y="2808000"/>
            <a:ext cx="2491200" cy="550800"/>
          </a:xfrm>
          <a:prstGeom prst="rect">
            <a:avLst/>
          </a:prstGeom>
          <a:noFill/>
        </p:spPr>
        <p:txBody>
          <a:bodyPr wrap="square">
            <a:spAutoFit/>
          </a:bodyPr>
          <a:lstStyle/>
          <a:p>
            <a:pPr algn="l"/>
            <a:r>
              <a:rPr sz="900" b="0" i="0">
                <a:solidFill>
                  <a:srgbClr val="B0C4DE"/>
                </a:solidFill>
              </a:rPr>
              <a:t>Plombiers, électriciens, peintres...</a:t>
            </a:r>
          </a:p>
        </p:txBody>
      </p:sp>
      <p:sp>
        <p:nvSpPr>
          <p:cNvPr id="29" name="Rectangle 28"/>
          <p:cNvSpPr/>
          <p:nvPr/>
        </p:nvSpPr>
        <p:spPr>
          <a:xfrm>
            <a:off x="6174000" y="2484000"/>
            <a:ext cx="2736000" cy="928800"/>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174000" y="2484000"/>
            <a:ext cx="100800" cy="928800"/>
          </a:xfrm>
          <a:prstGeom prst="rect">
            <a:avLst/>
          </a:prstGeom>
          <a:solidFill>
            <a:srgbClr val="4FC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354000" y="2548800"/>
            <a:ext cx="2491200" cy="259200"/>
          </a:xfrm>
          <a:prstGeom prst="rect">
            <a:avLst/>
          </a:prstGeom>
          <a:noFill/>
        </p:spPr>
        <p:txBody>
          <a:bodyPr wrap="square">
            <a:spAutoFit/>
          </a:bodyPr>
          <a:lstStyle/>
          <a:p>
            <a:pPr algn="l"/>
            <a:r>
              <a:rPr sz="1100" b="1" i="0">
                <a:solidFill>
                  <a:srgbClr val="4FC3F7"/>
                </a:solidFill>
              </a:rPr>
              <a:t>Boutiques &amp; Marché</a:t>
            </a:r>
          </a:p>
        </p:txBody>
      </p:sp>
      <p:sp>
        <p:nvSpPr>
          <p:cNvPr id="32" name="TextBox 31"/>
          <p:cNvSpPr txBox="1"/>
          <p:nvPr/>
        </p:nvSpPr>
        <p:spPr>
          <a:xfrm>
            <a:off x="6354000" y="2808000"/>
            <a:ext cx="2491200" cy="550800"/>
          </a:xfrm>
          <a:prstGeom prst="rect">
            <a:avLst/>
          </a:prstGeom>
          <a:noFill/>
        </p:spPr>
        <p:txBody>
          <a:bodyPr wrap="square">
            <a:spAutoFit/>
          </a:bodyPr>
          <a:lstStyle/>
          <a:p>
            <a:pPr algn="l"/>
            <a:r>
              <a:rPr sz="900" b="0" i="0">
                <a:solidFill>
                  <a:srgbClr val="B0C4DE"/>
                </a:solidFill>
              </a:rPr>
              <a:t>Mode, électroménager, décoration</a:t>
            </a:r>
          </a:p>
        </p:txBody>
      </p:sp>
      <p:sp>
        <p:nvSpPr>
          <p:cNvPr id="33" name="Rectangle 32"/>
          <p:cNvSpPr/>
          <p:nvPr/>
        </p:nvSpPr>
        <p:spPr>
          <a:xfrm>
            <a:off x="234000" y="3510000"/>
            <a:ext cx="2736000" cy="928800"/>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234000" y="3510000"/>
            <a:ext cx="100800" cy="928800"/>
          </a:xfrm>
          <a:prstGeom prst="rect">
            <a:avLst/>
          </a:prstGeom>
          <a:solidFill>
            <a:srgbClr val="4FC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14000" y="3574800"/>
            <a:ext cx="2491200" cy="259200"/>
          </a:xfrm>
          <a:prstGeom prst="rect">
            <a:avLst/>
          </a:prstGeom>
          <a:noFill/>
        </p:spPr>
        <p:txBody>
          <a:bodyPr wrap="square">
            <a:spAutoFit/>
          </a:bodyPr>
          <a:lstStyle/>
          <a:p>
            <a:pPr algn="l"/>
            <a:r>
              <a:rPr sz="1100" b="1" i="0">
                <a:solidFill>
                  <a:srgbClr val="4FC3F7"/>
                </a:solidFill>
              </a:rPr>
              <a:t>Immobilier &amp; Auto</a:t>
            </a:r>
          </a:p>
        </p:txBody>
      </p:sp>
      <p:sp>
        <p:nvSpPr>
          <p:cNvPr id="36" name="TextBox 35"/>
          <p:cNvSpPr txBox="1"/>
          <p:nvPr/>
        </p:nvSpPr>
        <p:spPr>
          <a:xfrm>
            <a:off x="414000" y="3834000"/>
            <a:ext cx="2491200" cy="550800"/>
          </a:xfrm>
          <a:prstGeom prst="rect">
            <a:avLst/>
          </a:prstGeom>
          <a:noFill/>
        </p:spPr>
        <p:txBody>
          <a:bodyPr wrap="square">
            <a:spAutoFit/>
          </a:bodyPr>
          <a:lstStyle/>
          <a:p>
            <a:pPr algn="l"/>
            <a:r>
              <a:rPr sz="900" b="0" i="0">
                <a:solidFill>
                  <a:srgbClr val="B0C4DE"/>
                </a:solidFill>
              </a:rPr>
              <a:t>Location, vente, devis travaux</a:t>
            </a:r>
          </a:p>
        </p:txBody>
      </p:sp>
      <p:sp>
        <p:nvSpPr>
          <p:cNvPr id="37" name="Rectangle 36"/>
          <p:cNvSpPr/>
          <p:nvPr/>
        </p:nvSpPr>
        <p:spPr>
          <a:xfrm>
            <a:off x="3204000" y="3510000"/>
            <a:ext cx="2736000" cy="928800"/>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3204000" y="3510000"/>
            <a:ext cx="100800" cy="928800"/>
          </a:xfrm>
          <a:prstGeom prst="rect">
            <a:avLst/>
          </a:prstGeom>
          <a:solidFill>
            <a:srgbClr val="FF99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384000" y="3574800"/>
            <a:ext cx="2491200" cy="259200"/>
          </a:xfrm>
          <a:prstGeom prst="rect">
            <a:avLst/>
          </a:prstGeom>
          <a:noFill/>
        </p:spPr>
        <p:txBody>
          <a:bodyPr wrap="square">
            <a:spAutoFit/>
          </a:bodyPr>
          <a:lstStyle/>
          <a:p>
            <a:pPr algn="l"/>
            <a:r>
              <a:rPr sz="1100" b="1" i="0">
                <a:solidFill>
                  <a:srgbClr val="FF9933"/>
                </a:solidFill>
              </a:rPr>
              <a:t>Bourse du Livre</a:t>
            </a:r>
          </a:p>
        </p:txBody>
      </p:sp>
      <p:sp>
        <p:nvSpPr>
          <p:cNvPr id="40" name="TextBox 39"/>
          <p:cNvSpPr txBox="1"/>
          <p:nvPr/>
        </p:nvSpPr>
        <p:spPr>
          <a:xfrm>
            <a:off x="3384000" y="3834000"/>
            <a:ext cx="2491200" cy="550800"/>
          </a:xfrm>
          <a:prstGeom prst="rect">
            <a:avLst/>
          </a:prstGeom>
          <a:noFill/>
        </p:spPr>
        <p:txBody>
          <a:bodyPr wrap="square">
            <a:spAutoFit/>
          </a:bodyPr>
          <a:lstStyle/>
          <a:p>
            <a:pPr algn="l"/>
            <a:r>
              <a:rPr sz="900" b="0" i="0">
                <a:solidFill>
                  <a:srgbClr val="B0C4DE"/>
                </a:solidFill>
              </a:rPr>
              <a:t>Livres scolaires &amp; fournitures — digital</a:t>
            </a:r>
          </a:p>
        </p:txBody>
      </p:sp>
      <p:sp>
        <p:nvSpPr>
          <p:cNvPr id="41" name="Rectangle 40"/>
          <p:cNvSpPr/>
          <p:nvPr/>
        </p:nvSpPr>
        <p:spPr>
          <a:xfrm>
            <a:off x="6174000" y="3510000"/>
            <a:ext cx="2736000" cy="928800"/>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6174000" y="3510000"/>
            <a:ext cx="100800" cy="928800"/>
          </a:xfrm>
          <a:prstGeom prst="rect">
            <a:avLst/>
          </a:prstGeom>
          <a:solidFill>
            <a:srgbClr val="00C8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354000" y="3574800"/>
            <a:ext cx="2491200" cy="259200"/>
          </a:xfrm>
          <a:prstGeom prst="rect">
            <a:avLst/>
          </a:prstGeom>
          <a:noFill/>
        </p:spPr>
        <p:txBody>
          <a:bodyPr wrap="square">
            <a:spAutoFit/>
          </a:bodyPr>
          <a:lstStyle/>
          <a:p>
            <a:pPr algn="l"/>
            <a:r>
              <a:rPr sz="1100" b="1" i="0">
                <a:solidFill>
                  <a:srgbClr val="00C87A"/>
                </a:solidFill>
              </a:rPr>
              <a:t>Creator Studio</a:t>
            </a:r>
          </a:p>
        </p:txBody>
      </p:sp>
      <p:sp>
        <p:nvSpPr>
          <p:cNvPr id="44" name="TextBox 43"/>
          <p:cNvSpPr txBox="1"/>
          <p:nvPr/>
        </p:nvSpPr>
        <p:spPr>
          <a:xfrm>
            <a:off x="6354000" y="3834000"/>
            <a:ext cx="2491200" cy="550800"/>
          </a:xfrm>
          <a:prstGeom prst="rect">
            <a:avLst/>
          </a:prstGeom>
          <a:noFill/>
        </p:spPr>
        <p:txBody>
          <a:bodyPr wrap="square">
            <a:spAutoFit/>
          </a:bodyPr>
          <a:lstStyle/>
          <a:p>
            <a:pPr algn="l"/>
            <a:r>
              <a:rPr sz="900" b="0" i="0">
                <a:solidFill>
                  <a:srgbClr val="B0C4DE"/>
                </a:solidFill>
              </a:rPr>
              <a:t>Vidéos &amp; visuels professionnels en 2 min</a:t>
            </a:r>
          </a:p>
        </p:txBody>
      </p:sp>
      <p:sp>
        <p:nvSpPr>
          <p:cNvPr id="45" name="Rectangle 44"/>
          <p:cNvSpPr/>
          <p:nvPr/>
        </p:nvSpPr>
        <p:spPr>
          <a:xfrm>
            <a:off x="234000" y="4536000"/>
            <a:ext cx="2736000" cy="928800"/>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234000" y="4536000"/>
            <a:ext cx="100800" cy="928800"/>
          </a:xfrm>
          <a:prstGeom prst="rect">
            <a:avLst/>
          </a:prstGeom>
          <a:solidFill>
            <a:srgbClr val="00C8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14000" y="4600800"/>
            <a:ext cx="2491200" cy="259200"/>
          </a:xfrm>
          <a:prstGeom prst="rect">
            <a:avLst/>
          </a:prstGeom>
          <a:noFill/>
        </p:spPr>
        <p:txBody>
          <a:bodyPr wrap="square">
            <a:spAutoFit/>
          </a:bodyPr>
          <a:lstStyle/>
          <a:p>
            <a:pPr algn="l"/>
            <a:r>
              <a:rPr sz="1100" b="1" i="0">
                <a:solidFill>
                  <a:srgbClr val="00C87A"/>
                </a:solidFill>
              </a:rPr>
              <a:t>Annonce Rapide</a:t>
            </a:r>
          </a:p>
        </p:txBody>
      </p:sp>
      <p:sp>
        <p:nvSpPr>
          <p:cNvPr id="48" name="TextBox 47"/>
          <p:cNvSpPr txBox="1"/>
          <p:nvPr/>
        </p:nvSpPr>
        <p:spPr>
          <a:xfrm>
            <a:off x="414000" y="4860000"/>
            <a:ext cx="2491200" cy="550800"/>
          </a:xfrm>
          <a:prstGeom prst="rect">
            <a:avLst/>
          </a:prstGeom>
          <a:noFill/>
        </p:spPr>
        <p:txBody>
          <a:bodyPr wrap="square">
            <a:spAutoFit/>
          </a:bodyPr>
          <a:lstStyle/>
          <a:p>
            <a:pPr algn="l"/>
            <a:r>
              <a:rPr sz="900" b="0" i="0">
                <a:solidFill>
                  <a:srgbClr val="B0C4DE"/>
                </a:solidFill>
              </a:rPr>
              <a:t>Produit ou prestation publié en 2 min</a:t>
            </a:r>
          </a:p>
        </p:txBody>
      </p:sp>
      <p:sp>
        <p:nvSpPr>
          <p:cNvPr id="49" name="Rectangle 48"/>
          <p:cNvSpPr/>
          <p:nvPr/>
        </p:nvSpPr>
        <p:spPr>
          <a:xfrm>
            <a:off x="3204000" y="4536000"/>
            <a:ext cx="2736000" cy="928800"/>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3204000" y="4536000"/>
            <a:ext cx="100800" cy="928800"/>
          </a:xfrm>
          <a:prstGeom prst="rect">
            <a:avLst/>
          </a:prstGeom>
          <a:solidFill>
            <a:srgbClr val="9B59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3384000" y="4600800"/>
            <a:ext cx="2491200" cy="259200"/>
          </a:xfrm>
          <a:prstGeom prst="rect">
            <a:avLst/>
          </a:prstGeom>
          <a:noFill/>
        </p:spPr>
        <p:txBody>
          <a:bodyPr wrap="square">
            <a:spAutoFit/>
          </a:bodyPr>
          <a:lstStyle/>
          <a:p>
            <a:pPr algn="l"/>
            <a:r>
              <a:rPr sz="1100" b="1" i="0">
                <a:solidFill>
                  <a:srgbClr val="9B59B6"/>
                </a:solidFill>
              </a:rPr>
              <a:t>Navigation Intelligente</a:t>
            </a:r>
          </a:p>
        </p:txBody>
      </p:sp>
      <p:sp>
        <p:nvSpPr>
          <p:cNvPr id="52" name="TextBox 51"/>
          <p:cNvSpPr txBox="1"/>
          <p:nvPr/>
        </p:nvSpPr>
        <p:spPr>
          <a:xfrm>
            <a:off x="3384000" y="4860000"/>
            <a:ext cx="2491200" cy="550800"/>
          </a:xfrm>
          <a:prstGeom prst="rect">
            <a:avLst/>
          </a:prstGeom>
          <a:noFill/>
        </p:spPr>
        <p:txBody>
          <a:bodyPr wrap="square">
            <a:spAutoFit/>
          </a:bodyPr>
          <a:lstStyle/>
          <a:p>
            <a:pPr algn="l"/>
            <a:r>
              <a:rPr sz="900" b="0" i="0">
                <a:solidFill>
                  <a:srgbClr val="B0C4DE"/>
                </a:solidFill>
              </a:rPr>
              <a:t>Recherche prédictive &amp; recommandations</a:t>
            </a:r>
          </a:p>
        </p:txBody>
      </p:sp>
      <p:sp>
        <p:nvSpPr>
          <p:cNvPr id="53" name="Rectangle 52"/>
          <p:cNvSpPr/>
          <p:nvPr/>
        </p:nvSpPr>
        <p:spPr>
          <a:xfrm>
            <a:off x="6174000" y="4536000"/>
            <a:ext cx="2736000" cy="928800"/>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6174000" y="4536000"/>
            <a:ext cx="100800" cy="928800"/>
          </a:xfrm>
          <a:prstGeom prst="rect">
            <a:avLst/>
          </a:prstGeom>
          <a:solidFill>
            <a:srgbClr val="9B59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6354000" y="4600800"/>
            <a:ext cx="2491200" cy="259200"/>
          </a:xfrm>
          <a:prstGeom prst="rect">
            <a:avLst/>
          </a:prstGeom>
          <a:noFill/>
        </p:spPr>
        <p:txBody>
          <a:bodyPr wrap="square">
            <a:spAutoFit/>
          </a:bodyPr>
          <a:lstStyle/>
          <a:p>
            <a:pPr algn="l"/>
            <a:r>
              <a:rPr sz="1100" b="1" i="0">
                <a:solidFill>
                  <a:srgbClr val="9B59B6"/>
                </a:solidFill>
              </a:rPr>
              <a:t>YukpoIA</a:t>
            </a:r>
          </a:p>
        </p:txBody>
      </p:sp>
      <p:sp>
        <p:nvSpPr>
          <p:cNvPr id="56" name="TextBox 55"/>
          <p:cNvSpPr txBox="1"/>
          <p:nvPr/>
        </p:nvSpPr>
        <p:spPr>
          <a:xfrm>
            <a:off x="6354000" y="4860000"/>
            <a:ext cx="2491200" cy="550800"/>
          </a:xfrm>
          <a:prstGeom prst="rect">
            <a:avLst/>
          </a:prstGeom>
          <a:noFill/>
        </p:spPr>
        <p:txBody>
          <a:bodyPr wrap="square">
            <a:spAutoFit/>
          </a:bodyPr>
          <a:lstStyle/>
          <a:p>
            <a:pPr algn="l"/>
            <a:r>
              <a:rPr sz="900" b="0" i="0">
                <a:solidFill>
                  <a:srgbClr val="B0C4DE"/>
                </a:solidFill>
              </a:rPr>
              <a:t>Assistant IA intégré — disponible 24h/24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1E42"/>
        </a:solidFill>
        <a:effectLst/>
      </p:bgPr>
    </p:bg>
    <p:spTree>
      <p:nvGrpSpPr>
        <p:cNvPr id="1" name=""/>
        <p:cNvGrpSpPr/>
        <p:nvPr/>
      </p:nvGrpSpPr>
      <p:grpSpPr/>
      <p:sp>
        <p:nvSpPr>
          <p:cNvPr id="2" name="Rectangle 1"/>
          <p:cNvSpPr/>
          <p:nvPr/>
        </p:nvSpPr>
        <p:spPr>
          <a:xfrm>
            <a:off x="0" y="0"/>
            <a:ext cx="9144000" cy="4860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6000"/>
            <a:ext cx="144000" cy="6138000"/>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32000" y="36000"/>
            <a:ext cx="540000" cy="413999"/>
          </a:xfrm>
          <a:prstGeom prst="rect">
            <a:avLst/>
          </a:prstGeom>
          <a:noFill/>
        </p:spPr>
        <p:txBody>
          <a:bodyPr wrap="square">
            <a:spAutoFit/>
          </a:bodyPr>
          <a:lstStyle/>
          <a:p>
            <a:pPr algn="ctr"/>
            <a:r>
              <a:rPr sz="1400" b="1" i="0">
                <a:solidFill>
                  <a:srgbClr val="0B1E42"/>
                </a:solidFill>
              </a:rPr>
              <a:t>5</a:t>
            </a:r>
          </a:p>
        </p:txBody>
      </p:sp>
      <p:sp>
        <p:nvSpPr>
          <p:cNvPr id="5" name="TextBox 4"/>
          <p:cNvSpPr txBox="1"/>
          <p:nvPr/>
        </p:nvSpPr>
        <p:spPr>
          <a:xfrm>
            <a:off x="251999" y="540000"/>
            <a:ext cx="8280000" cy="540000"/>
          </a:xfrm>
          <a:prstGeom prst="rect">
            <a:avLst/>
          </a:prstGeom>
          <a:noFill/>
        </p:spPr>
        <p:txBody>
          <a:bodyPr wrap="square">
            <a:spAutoFit/>
          </a:bodyPr>
          <a:lstStyle/>
          <a:p>
            <a:pPr algn="l"/>
            <a:r>
              <a:rPr sz="2100" b="1" i="0">
                <a:solidFill>
                  <a:srgbClr val="FFFFFF"/>
                </a:solidFill>
              </a:rPr>
              <a:t>Modèle de Revenus — À la Consommation</a:t>
            </a:r>
          </a:p>
        </p:txBody>
      </p:sp>
      <p:sp>
        <p:nvSpPr>
          <p:cNvPr id="6" name="TextBox 5"/>
          <p:cNvSpPr txBox="1"/>
          <p:nvPr/>
        </p:nvSpPr>
        <p:spPr>
          <a:xfrm>
            <a:off x="251999" y="1098000"/>
            <a:ext cx="8640001" cy="288000"/>
          </a:xfrm>
          <a:prstGeom prst="rect">
            <a:avLst/>
          </a:prstGeom>
          <a:noFill/>
        </p:spPr>
        <p:txBody>
          <a:bodyPr wrap="square">
            <a:spAutoFit/>
          </a:bodyPr>
          <a:lstStyle/>
          <a:p>
            <a:pPr algn="l"/>
            <a:r>
              <a:rPr sz="1100" b="0" i="1">
                <a:solidFill>
                  <a:srgbClr val="D4AF37"/>
                </a:solidFill>
              </a:rPr>
              <a:t>YUKPO génère des revenus sur chaque transaction réalisée sur la plateforme</a:t>
            </a:r>
          </a:p>
        </p:txBody>
      </p:sp>
      <p:sp>
        <p:nvSpPr>
          <p:cNvPr id="7" name="Rectangle 6"/>
          <p:cNvSpPr/>
          <p:nvPr/>
        </p:nvSpPr>
        <p:spPr>
          <a:xfrm>
            <a:off x="0" y="6642000"/>
            <a:ext cx="9144000" cy="2160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0000" y="6642000"/>
            <a:ext cx="6480000" cy="216000"/>
          </a:xfrm>
          <a:prstGeom prst="rect">
            <a:avLst/>
          </a:prstGeom>
          <a:noFill/>
        </p:spPr>
        <p:txBody>
          <a:bodyPr wrap="square">
            <a:spAutoFit/>
          </a:bodyPr>
          <a:lstStyle/>
          <a:p>
            <a:pPr algn="l"/>
            <a:r>
              <a:rPr sz="900" b="0" i="0">
                <a:solidFill>
                  <a:srgbClr val="0B1E42"/>
                </a:solidFill>
              </a:rPr>
              <a:t>YUKPO  |  YUKPO COMPANY SARL  |  Confidentiel  |  2026</a:t>
            </a:r>
          </a:p>
        </p:txBody>
      </p:sp>
      <p:sp>
        <p:nvSpPr>
          <p:cNvPr id="9" name="Rectangle 8"/>
          <p:cNvSpPr/>
          <p:nvPr/>
        </p:nvSpPr>
        <p:spPr>
          <a:xfrm>
            <a:off x="247500" y="1440000"/>
            <a:ext cx="2718000" cy="4824000"/>
          </a:xfrm>
          <a:prstGeom prst="rect">
            <a:avLst/>
          </a:prstGeom>
          <a:solidFill>
            <a:srgbClr val="132B5E"/>
          </a:solidFill>
          <a:ln w="19050">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47500" y="1440000"/>
            <a:ext cx="2718000" cy="936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2700" y="1576800"/>
            <a:ext cx="2538000" cy="259200"/>
          </a:xfrm>
          <a:prstGeom prst="rect">
            <a:avLst/>
          </a:prstGeom>
          <a:noFill/>
        </p:spPr>
        <p:txBody>
          <a:bodyPr wrap="square">
            <a:spAutoFit/>
          </a:bodyPr>
          <a:lstStyle/>
          <a:p>
            <a:pPr algn="l"/>
            <a:r>
              <a:rPr sz="1100" b="1" i="0">
                <a:solidFill>
                  <a:srgbClr val="D4AF37"/>
                </a:solidFill>
              </a:rPr>
              <a:t>Commission sur Transactions</a:t>
            </a:r>
          </a:p>
        </p:txBody>
      </p:sp>
      <p:sp>
        <p:nvSpPr>
          <p:cNvPr id="12" name="TextBox 11"/>
          <p:cNvSpPr txBox="1"/>
          <p:nvPr/>
        </p:nvSpPr>
        <p:spPr>
          <a:xfrm>
            <a:off x="362700" y="1843200"/>
            <a:ext cx="2538000" cy="558000"/>
          </a:xfrm>
          <a:prstGeom prst="rect">
            <a:avLst/>
          </a:prstGeom>
          <a:noFill/>
        </p:spPr>
        <p:txBody>
          <a:bodyPr wrap="square">
            <a:spAutoFit/>
          </a:bodyPr>
          <a:lstStyle/>
          <a:p>
            <a:pPr algn="ctr"/>
            <a:r>
              <a:rPr sz="1800" b="1" i="0">
                <a:solidFill>
                  <a:srgbClr val="D4AF37"/>
                </a:solidFill>
              </a:rPr>
              <a:t>1 à 5 %
selon le service</a:t>
            </a:r>
          </a:p>
        </p:txBody>
      </p:sp>
      <p:sp>
        <p:nvSpPr>
          <p:cNvPr id="13" name="Rectangle 12"/>
          <p:cNvSpPr/>
          <p:nvPr/>
        </p:nvSpPr>
        <p:spPr>
          <a:xfrm>
            <a:off x="427500" y="2419200"/>
            <a:ext cx="2358000" cy="180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2700" y="2484000"/>
            <a:ext cx="2538000" cy="3708000"/>
          </a:xfrm>
          <a:prstGeom prst="rect">
            <a:avLst/>
          </a:prstGeom>
          <a:noFill/>
        </p:spPr>
        <p:txBody>
          <a:bodyPr wrap="square">
            <a:spAutoFit/>
          </a:bodyPr>
          <a:lstStyle/>
          <a:p>
            <a:pPr algn="l"/>
            <a:r>
              <a:rPr sz="1000" b="0" i="0">
                <a:solidFill>
                  <a:srgbClr val="B0C4DE"/>
                </a:solidFill>
              </a:rPr>
              <a:t>Sur chaque course, livraison, artisan ou vente réalisée, YUKPO prélève une commission plafonnée à 5 %. Transport &amp; Bourse du Livre : 5 %, alimentation : 4 %, boutiques : 3 %, immobilier : 2 %. Pharmacie : service de localisation sans commission sur les médicaments.</a:t>
            </a:r>
          </a:p>
        </p:txBody>
      </p:sp>
      <p:sp>
        <p:nvSpPr>
          <p:cNvPr id="15" name="Rectangle 14"/>
          <p:cNvSpPr/>
          <p:nvPr/>
        </p:nvSpPr>
        <p:spPr>
          <a:xfrm>
            <a:off x="3213000" y="1440000"/>
            <a:ext cx="2718000" cy="4824000"/>
          </a:xfrm>
          <a:prstGeom prst="rect">
            <a:avLst/>
          </a:prstGeom>
          <a:solidFill>
            <a:srgbClr val="132B5E"/>
          </a:solidFill>
          <a:ln w="19050">
            <a:solidFill>
              <a:srgbClr val="4FC3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213000" y="1440000"/>
            <a:ext cx="2718000" cy="93600"/>
          </a:xfrm>
          <a:prstGeom prst="rect">
            <a:avLst/>
          </a:prstGeom>
          <a:solidFill>
            <a:srgbClr val="4FC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328200" y="1576800"/>
            <a:ext cx="2538000" cy="259200"/>
          </a:xfrm>
          <a:prstGeom prst="rect">
            <a:avLst/>
          </a:prstGeom>
          <a:noFill/>
        </p:spPr>
        <p:txBody>
          <a:bodyPr wrap="square">
            <a:spAutoFit/>
          </a:bodyPr>
          <a:lstStyle/>
          <a:p>
            <a:pPr algn="l"/>
            <a:r>
              <a:rPr sz="1100" b="1" i="0">
                <a:solidFill>
                  <a:srgbClr val="4FC3F7"/>
                </a:solidFill>
              </a:rPr>
              <a:t>Forfaits Prestataires</a:t>
            </a:r>
          </a:p>
        </p:txBody>
      </p:sp>
      <p:sp>
        <p:nvSpPr>
          <p:cNvPr id="18" name="TextBox 17"/>
          <p:cNvSpPr txBox="1"/>
          <p:nvPr/>
        </p:nvSpPr>
        <p:spPr>
          <a:xfrm>
            <a:off x="3328200" y="1843200"/>
            <a:ext cx="2538000" cy="558000"/>
          </a:xfrm>
          <a:prstGeom prst="rect">
            <a:avLst/>
          </a:prstGeom>
          <a:noFill/>
        </p:spPr>
        <p:txBody>
          <a:bodyPr wrap="square">
            <a:spAutoFit/>
          </a:bodyPr>
          <a:lstStyle/>
          <a:p>
            <a:pPr algn="ctr"/>
            <a:r>
              <a:rPr sz="1800" b="1" i="0">
                <a:solidFill>
                  <a:srgbClr val="4FC3F7"/>
                </a:solidFill>
              </a:rPr>
              <a:t>3 000 – 10 000 F
par mois</a:t>
            </a:r>
          </a:p>
        </p:txBody>
      </p:sp>
      <p:sp>
        <p:nvSpPr>
          <p:cNvPr id="19" name="Rectangle 18"/>
          <p:cNvSpPr/>
          <p:nvPr/>
        </p:nvSpPr>
        <p:spPr>
          <a:xfrm>
            <a:off x="3393000" y="2419200"/>
            <a:ext cx="2358000" cy="18000"/>
          </a:xfrm>
          <a:prstGeom prst="rect">
            <a:avLst/>
          </a:prstGeom>
          <a:solidFill>
            <a:srgbClr val="4FC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328200" y="2484000"/>
            <a:ext cx="2538000" cy="3708000"/>
          </a:xfrm>
          <a:prstGeom prst="rect">
            <a:avLst/>
          </a:prstGeom>
          <a:noFill/>
        </p:spPr>
        <p:txBody>
          <a:bodyPr wrap="square">
            <a:spAutoFit/>
          </a:bodyPr>
          <a:lstStyle/>
          <a:p>
            <a:pPr algn="l"/>
            <a:r>
              <a:rPr sz="1000" b="0" i="0">
                <a:solidFill>
                  <a:srgbClr val="B0C4DE"/>
                </a:solidFill>
              </a:rPr>
              <a:t>Chaque prestataire, boutique ou vendeur paie un forfait mensuel pour apparaître sur la plateforme. Revenu récurrent et prévisible, indépendant du volume de transactions. Bourse du Livre, Creator Studio et Annonce Rapide inclus.</a:t>
            </a:r>
          </a:p>
        </p:txBody>
      </p:sp>
      <p:sp>
        <p:nvSpPr>
          <p:cNvPr id="21" name="Rectangle 20"/>
          <p:cNvSpPr/>
          <p:nvPr/>
        </p:nvSpPr>
        <p:spPr>
          <a:xfrm>
            <a:off x="6178500" y="1440000"/>
            <a:ext cx="2718000" cy="4824000"/>
          </a:xfrm>
          <a:prstGeom prst="rect">
            <a:avLst/>
          </a:prstGeom>
          <a:solidFill>
            <a:srgbClr val="132B5E"/>
          </a:solidFill>
          <a:ln w="19050">
            <a:solidFill>
              <a:srgbClr val="00C8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78500" y="1440000"/>
            <a:ext cx="2718000" cy="93600"/>
          </a:xfrm>
          <a:prstGeom prst="rect">
            <a:avLst/>
          </a:prstGeom>
          <a:solidFill>
            <a:srgbClr val="00C8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293700" y="1576800"/>
            <a:ext cx="2538000" cy="259200"/>
          </a:xfrm>
          <a:prstGeom prst="rect">
            <a:avLst/>
          </a:prstGeom>
          <a:noFill/>
        </p:spPr>
        <p:txBody>
          <a:bodyPr wrap="square">
            <a:spAutoFit/>
          </a:bodyPr>
          <a:lstStyle/>
          <a:p>
            <a:pPr algn="l"/>
            <a:r>
              <a:rPr sz="1100" b="1" i="0">
                <a:solidFill>
                  <a:srgbClr val="00C87A"/>
                </a:solidFill>
              </a:rPr>
              <a:t>Mise en Avant Commerciale</a:t>
            </a:r>
          </a:p>
        </p:txBody>
      </p:sp>
      <p:sp>
        <p:nvSpPr>
          <p:cNvPr id="24" name="TextBox 23"/>
          <p:cNvSpPr txBox="1"/>
          <p:nvPr/>
        </p:nvSpPr>
        <p:spPr>
          <a:xfrm>
            <a:off x="6293700" y="1843200"/>
            <a:ext cx="2538000" cy="558000"/>
          </a:xfrm>
          <a:prstGeom prst="rect">
            <a:avLst/>
          </a:prstGeom>
          <a:noFill/>
        </p:spPr>
        <p:txBody>
          <a:bodyPr wrap="square">
            <a:spAutoFit/>
          </a:bodyPr>
          <a:lstStyle/>
          <a:p>
            <a:pPr algn="ctr"/>
            <a:r>
              <a:rPr sz="1800" b="1" i="0">
                <a:solidFill>
                  <a:srgbClr val="00C87A"/>
                </a:solidFill>
              </a:rPr>
              <a:t>Forfaits premium
sponsoring &amp; publicité</a:t>
            </a:r>
          </a:p>
        </p:txBody>
      </p:sp>
      <p:sp>
        <p:nvSpPr>
          <p:cNvPr id="25" name="Rectangle 24"/>
          <p:cNvSpPr/>
          <p:nvPr/>
        </p:nvSpPr>
        <p:spPr>
          <a:xfrm>
            <a:off x="6358500" y="2419200"/>
            <a:ext cx="2358000" cy="18000"/>
          </a:xfrm>
          <a:prstGeom prst="rect">
            <a:avLst/>
          </a:prstGeom>
          <a:solidFill>
            <a:srgbClr val="00C8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293700" y="2484000"/>
            <a:ext cx="2538000" cy="3708000"/>
          </a:xfrm>
          <a:prstGeom prst="rect">
            <a:avLst/>
          </a:prstGeom>
          <a:noFill/>
        </p:spPr>
        <p:txBody>
          <a:bodyPr wrap="square">
            <a:spAutoFit/>
          </a:bodyPr>
          <a:lstStyle/>
          <a:p>
            <a:pPr algn="l"/>
            <a:r>
              <a:rPr sz="1000" b="0" i="0">
                <a:solidFill>
                  <a:srgbClr val="B0C4DE"/>
                </a:solidFill>
              </a:rPr>
              <a:t>Les acteurs souhaitant apparaître en 1re position, lancer des promotions ciblées ou diffuser des publicités in-app paient des forfaits additionnels. Revenu passif haute marge, non corrélé au volume de commandes.</a:t>
            </a:r>
          </a:p>
        </p:txBody>
      </p:sp>
      <p:sp>
        <p:nvSpPr>
          <p:cNvPr id="27" name="Rectangle 26"/>
          <p:cNvSpPr/>
          <p:nvPr/>
        </p:nvSpPr>
        <p:spPr>
          <a:xfrm>
            <a:off x="180000" y="6354001"/>
            <a:ext cx="8784000" cy="270000"/>
          </a:xfrm>
          <a:prstGeom prst="rect">
            <a:avLst/>
          </a:prstGeom>
          <a:solidFill>
            <a:srgbClr val="132B5E"/>
          </a:solidFill>
          <a:ln w="19050">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88000" y="6361201"/>
            <a:ext cx="8568000" cy="259200"/>
          </a:xfrm>
          <a:prstGeom prst="rect">
            <a:avLst/>
          </a:prstGeom>
          <a:noFill/>
        </p:spPr>
        <p:txBody>
          <a:bodyPr wrap="square">
            <a:spAutoFit/>
          </a:bodyPr>
          <a:lstStyle/>
          <a:p>
            <a:pPr algn="ctr"/>
            <a:r>
              <a:rPr sz="1000" b="0" i="1">
                <a:solidFill>
                  <a:srgbClr val="D4AF37"/>
                </a:solidFill>
              </a:rPr>
              <a:t>Pas d'abonnement imposé — YUKPO mise sur la fréquence d'usage et la valeur de chaque transaction.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B1E42"/>
        </a:solidFill>
        <a:effectLst/>
      </p:bgPr>
    </p:bg>
    <p:spTree>
      <p:nvGrpSpPr>
        <p:cNvPr id="1" name=""/>
        <p:cNvGrpSpPr/>
        <p:nvPr/>
      </p:nvGrpSpPr>
      <p:grpSpPr/>
      <p:sp>
        <p:nvSpPr>
          <p:cNvPr id="2" name="Rectangle 1"/>
          <p:cNvSpPr/>
          <p:nvPr/>
        </p:nvSpPr>
        <p:spPr>
          <a:xfrm>
            <a:off x="0" y="0"/>
            <a:ext cx="9144000" cy="4860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6000"/>
            <a:ext cx="144000" cy="6138000"/>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32000" y="36000"/>
            <a:ext cx="540000" cy="413999"/>
          </a:xfrm>
          <a:prstGeom prst="rect">
            <a:avLst/>
          </a:prstGeom>
          <a:noFill/>
        </p:spPr>
        <p:txBody>
          <a:bodyPr wrap="square">
            <a:spAutoFit/>
          </a:bodyPr>
          <a:lstStyle/>
          <a:p>
            <a:pPr algn="ctr"/>
            <a:r>
              <a:rPr sz="1400" b="1" i="0">
                <a:solidFill>
                  <a:srgbClr val="0B1E42"/>
                </a:solidFill>
              </a:rPr>
              <a:t>6</a:t>
            </a:r>
          </a:p>
        </p:txBody>
      </p:sp>
      <p:sp>
        <p:nvSpPr>
          <p:cNvPr id="5" name="TextBox 4"/>
          <p:cNvSpPr txBox="1"/>
          <p:nvPr/>
        </p:nvSpPr>
        <p:spPr>
          <a:xfrm>
            <a:off x="251999" y="540000"/>
            <a:ext cx="8280000" cy="540000"/>
          </a:xfrm>
          <a:prstGeom prst="rect">
            <a:avLst/>
          </a:prstGeom>
          <a:noFill/>
        </p:spPr>
        <p:txBody>
          <a:bodyPr wrap="square">
            <a:spAutoFit/>
          </a:bodyPr>
          <a:lstStyle/>
          <a:p>
            <a:pPr algn="l"/>
            <a:r>
              <a:rPr sz="2100" b="1" i="0">
                <a:solidFill>
                  <a:srgbClr val="FFFFFF"/>
                </a:solidFill>
              </a:rPr>
              <a:t>Entonnoir de Marché — Yaoundé + Douala</a:t>
            </a:r>
          </a:p>
        </p:txBody>
      </p:sp>
      <p:sp>
        <p:nvSpPr>
          <p:cNvPr id="6" name="TextBox 5"/>
          <p:cNvSpPr txBox="1"/>
          <p:nvPr/>
        </p:nvSpPr>
        <p:spPr>
          <a:xfrm>
            <a:off x="251999" y="1098000"/>
            <a:ext cx="8640001" cy="288000"/>
          </a:xfrm>
          <a:prstGeom prst="rect">
            <a:avLst/>
          </a:prstGeom>
          <a:noFill/>
        </p:spPr>
        <p:txBody>
          <a:bodyPr wrap="square">
            <a:spAutoFit/>
          </a:bodyPr>
          <a:lstStyle/>
          <a:p>
            <a:pPr algn="l"/>
            <a:r>
              <a:rPr sz="1100" b="0" i="1">
                <a:solidFill>
                  <a:srgbClr val="D4AF37"/>
                </a:solidFill>
              </a:rPr>
              <a:t>Un potentiel de monétisation massif, progressivement activé</a:t>
            </a:r>
          </a:p>
        </p:txBody>
      </p:sp>
      <p:sp>
        <p:nvSpPr>
          <p:cNvPr id="7" name="Rectangle 6"/>
          <p:cNvSpPr/>
          <p:nvPr/>
        </p:nvSpPr>
        <p:spPr>
          <a:xfrm>
            <a:off x="0" y="6642000"/>
            <a:ext cx="9144000" cy="2160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0000" y="6642000"/>
            <a:ext cx="6480000" cy="216000"/>
          </a:xfrm>
          <a:prstGeom prst="rect">
            <a:avLst/>
          </a:prstGeom>
          <a:noFill/>
        </p:spPr>
        <p:txBody>
          <a:bodyPr wrap="square">
            <a:spAutoFit/>
          </a:bodyPr>
          <a:lstStyle/>
          <a:p>
            <a:pPr algn="l"/>
            <a:r>
              <a:rPr sz="900" b="0" i="0">
                <a:solidFill>
                  <a:srgbClr val="0B1E42"/>
                </a:solidFill>
              </a:rPr>
              <a:t>YUKPO  |  YUKPO COMPANY SARL  |  Confidentiel  |  2026</a:t>
            </a:r>
          </a:p>
        </p:txBody>
      </p:sp>
      <p:sp>
        <p:nvSpPr>
          <p:cNvPr id="9" name="Rectangle 8"/>
          <p:cNvSpPr/>
          <p:nvPr/>
        </p:nvSpPr>
        <p:spPr>
          <a:xfrm>
            <a:off x="144000" y="1475999"/>
            <a:ext cx="8856000" cy="655200"/>
          </a:xfrm>
          <a:prstGeom prst="rect">
            <a:avLst/>
          </a:prstGeom>
          <a:solidFill>
            <a:srgbClr val="132B5E"/>
          </a:solidFill>
          <a:ln w="19050">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88000" y="1529999"/>
            <a:ext cx="5490720" cy="655200"/>
          </a:xfrm>
          <a:prstGeom prst="rect">
            <a:avLst/>
          </a:prstGeom>
          <a:noFill/>
        </p:spPr>
        <p:txBody>
          <a:bodyPr wrap="square">
            <a:spAutoFit/>
          </a:bodyPr>
          <a:lstStyle/>
          <a:p>
            <a:pPr algn="l"/>
            <a:r>
              <a:rPr sz="1100" b="0" i="0">
                <a:solidFill>
                  <a:srgbClr val="FFFFFF"/>
                </a:solidFill>
              </a:rPr>
              <a:t>Population urbaine Yaoundé + Douala</a:t>
            </a:r>
          </a:p>
        </p:txBody>
      </p:sp>
      <p:sp>
        <p:nvSpPr>
          <p:cNvPr id="11" name="TextBox 10"/>
          <p:cNvSpPr txBox="1"/>
          <p:nvPr/>
        </p:nvSpPr>
        <p:spPr>
          <a:xfrm>
            <a:off x="5811840" y="1529999"/>
            <a:ext cx="3011040" cy="655200"/>
          </a:xfrm>
          <a:prstGeom prst="rect">
            <a:avLst/>
          </a:prstGeom>
          <a:noFill/>
        </p:spPr>
        <p:txBody>
          <a:bodyPr wrap="square">
            <a:spAutoFit/>
          </a:bodyPr>
          <a:lstStyle/>
          <a:p>
            <a:pPr algn="r"/>
            <a:r>
              <a:rPr sz="1300" b="1" i="0">
                <a:solidFill>
                  <a:srgbClr val="D4AF37"/>
                </a:solidFill>
              </a:rPr>
              <a:t>7 500 000 hab.</a:t>
            </a:r>
          </a:p>
        </p:txBody>
      </p:sp>
      <p:sp>
        <p:nvSpPr>
          <p:cNvPr id="12" name="Rectangle 11"/>
          <p:cNvSpPr/>
          <p:nvPr/>
        </p:nvSpPr>
        <p:spPr>
          <a:xfrm>
            <a:off x="503999" y="2210399"/>
            <a:ext cx="8136001" cy="655200"/>
          </a:xfrm>
          <a:prstGeom prst="rect">
            <a:avLst/>
          </a:prstGeom>
          <a:solidFill>
            <a:srgbClr val="132B5E"/>
          </a:solidFill>
          <a:ln w="19050">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7999" y="2264399"/>
            <a:ext cx="5044320" cy="655200"/>
          </a:xfrm>
          <a:prstGeom prst="rect">
            <a:avLst/>
          </a:prstGeom>
          <a:noFill/>
        </p:spPr>
        <p:txBody>
          <a:bodyPr wrap="square">
            <a:spAutoFit/>
          </a:bodyPr>
          <a:lstStyle/>
          <a:p>
            <a:pPr algn="l"/>
            <a:r>
              <a:rPr sz="1100" b="0" i="0">
                <a:solidFill>
                  <a:srgbClr val="B0C4DE"/>
                </a:solidFill>
              </a:rPr>
              <a:t>Utilisateurs smartphone actifs</a:t>
            </a:r>
          </a:p>
        </p:txBody>
      </p:sp>
      <p:sp>
        <p:nvSpPr>
          <p:cNvPr id="14" name="TextBox 13"/>
          <p:cNvSpPr txBox="1"/>
          <p:nvPr/>
        </p:nvSpPr>
        <p:spPr>
          <a:xfrm>
            <a:off x="5711039" y="2264399"/>
            <a:ext cx="2766240" cy="655200"/>
          </a:xfrm>
          <a:prstGeom prst="rect">
            <a:avLst/>
          </a:prstGeom>
          <a:noFill/>
        </p:spPr>
        <p:txBody>
          <a:bodyPr wrap="square">
            <a:spAutoFit/>
          </a:bodyPr>
          <a:lstStyle/>
          <a:p>
            <a:pPr algn="r"/>
            <a:r>
              <a:rPr sz="1300" b="1" i="0">
                <a:solidFill>
                  <a:srgbClr val="D4AF37"/>
                </a:solidFill>
              </a:rPr>
              <a:t>4 500 000</a:t>
            </a:r>
          </a:p>
        </p:txBody>
      </p:sp>
      <p:sp>
        <p:nvSpPr>
          <p:cNvPr id="15" name="Rectangle 14"/>
          <p:cNvSpPr/>
          <p:nvPr/>
        </p:nvSpPr>
        <p:spPr>
          <a:xfrm>
            <a:off x="1007999" y="2944799"/>
            <a:ext cx="7128001" cy="655200"/>
          </a:xfrm>
          <a:prstGeom prst="rect">
            <a:avLst/>
          </a:prstGeom>
          <a:solidFill>
            <a:srgbClr val="132B5E"/>
          </a:solidFill>
          <a:ln w="19050">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151999" y="2998799"/>
            <a:ext cx="4419360" cy="655200"/>
          </a:xfrm>
          <a:prstGeom prst="rect">
            <a:avLst/>
          </a:prstGeom>
          <a:noFill/>
        </p:spPr>
        <p:txBody>
          <a:bodyPr wrap="square">
            <a:spAutoFit/>
          </a:bodyPr>
          <a:lstStyle/>
          <a:p>
            <a:pPr algn="l"/>
            <a:r>
              <a:rPr sz="1100" b="0" i="0">
                <a:solidFill>
                  <a:srgbClr val="D4AF37"/>
                </a:solidFill>
              </a:rPr>
              <a:t>Cible YUKPO — Année 1</a:t>
            </a:r>
          </a:p>
        </p:txBody>
      </p:sp>
      <p:sp>
        <p:nvSpPr>
          <p:cNvPr id="17" name="TextBox 16"/>
          <p:cNvSpPr txBox="1"/>
          <p:nvPr/>
        </p:nvSpPr>
        <p:spPr>
          <a:xfrm>
            <a:off x="5569919" y="2998799"/>
            <a:ext cx="2423520" cy="655200"/>
          </a:xfrm>
          <a:prstGeom prst="rect">
            <a:avLst/>
          </a:prstGeom>
          <a:noFill/>
        </p:spPr>
        <p:txBody>
          <a:bodyPr wrap="square">
            <a:spAutoFit/>
          </a:bodyPr>
          <a:lstStyle/>
          <a:p>
            <a:pPr algn="r"/>
            <a:r>
              <a:rPr sz="1300" b="1" i="0">
                <a:solidFill>
                  <a:srgbClr val="D4AF37"/>
                </a:solidFill>
              </a:rPr>
              <a:t>120 000 utilisateurs</a:t>
            </a:r>
          </a:p>
        </p:txBody>
      </p:sp>
      <p:sp>
        <p:nvSpPr>
          <p:cNvPr id="18" name="Rectangle 17"/>
          <p:cNvSpPr/>
          <p:nvPr/>
        </p:nvSpPr>
        <p:spPr>
          <a:xfrm>
            <a:off x="1655999" y="3679199"/>
            <a:ext cx="5832001" cy="655200"/>
          </a:xfrm>
          <a:prstGeom prst="rect">
            <a:avLst/>
          </a:prstGeom>
          <a:solidFill>
            <a:srgbClr val="0A301A"/>
          </a:solidFill>
          <a:ln w="19050">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799999" y="3733199"/>
            <a:ext cx="3615840" cy="655200"/>
          </a:xfrm>
          <a:prstGeom prst="rect">
            <a:avLst/>
          </a:prstGeom>
          <a:noFill/>
        </p:spPr>
        <p:txBody>
          <a:bodyPr wrap="square">
            <a:spAutoFit/>
          </a:bodyPr>
          <a:lstStyle/>
          <a:p>
            <a:pPr algn="l"/>
            <a:r>
              <a:rPr sz="1100" b="0" i="0">
                <a:solidFill>
                  <a:srgbClr val="D4AF37"/>
                </a:solidFill>
              </a:rPr>
              <a:t>Utilisateurs actifs / mois (objectif)</a:t>
            </a:r>
          </a:p>
        </p:txBody>
      </p:sp>
      <p:sp>
        <p:nvSpPr>
          <p:cNvPr id="20" name="TextBox 19"/>
          <p:cNvSpPr txBox="1"/>
          <p:nvPr/>
        </p:nvSpPr>
        <p:spPr>
          <a:xfrm>
            <a:off x="5388479" y="3733199"/>
            <a:ext cx="1982880" cy="655200"/>
          </a:xfrm>
          <a:prstGeom prst="rect">
            <a:avLst/>
          </a:prstGeom>
          <a:noFill/>
        </p:spPr>
        <p:txBody>
          <a:bodyPr wrap="square">
            <a:spAutoFit/>
          </a:bodyPr>
          <a:lstStyle/>
          <a:p>
            <a:pPr algn="r"/>
            <a:r>
              <a:rPr sz="1300" b="1" i="0">
                <a:solidFill>
                  <a:srgbClr val="D4AF37"/>
                </a:solidFill>
              </a:rPr>
              <a:t>25 000</a:t>
            </a:r>
          </a:p>
        </p:txBody>
      </p:sp>
      <p:sp>
        <p:nvSpPr>
          <p:cNvPr id="21" name="Rectangle 20"/>
          <p:cNvSpPr/>
          <p:nvPr/>
        </p:nvSpPr>
        <p:spPr>
          <a:xfrm>
            <a:off x="2448000" y="4413599"/>
            <a:ext cx="4248000" cy="655200"/>
          </a:xfrm>
          <a:prstGeom prst="rect">
            <a:avLst/>
          </a:prstGeom>
          <a:solidFill>
            <a:srgbClr val="0A301A"/>
          </a:solidFill>
          <a:ln w="19050">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592000" y="4467599"/>
            <a:ext cx="2633760" cy="655200"/>
          </a:xfrm>
          <a:prstGeom prst="rect">
            <a:avLst/>
          </a:prstGeom>
          <a:noFill/>
        </p:spPr>
        <p:txBody>
          <a:bodyPr wrap="square">
            <a:spAutoFit/>
          </a:bodyPr>
          <a:lstStyle/>
          <a:p>
            <a:pPr algn="l"/>
            <a:r>
              <a:rPr sz="1100" b="0" i="0">
                <a:solidFill>
                  <a:srgbClr val="00C87A"/>
                </a:solidFill>
              </a:rPr>
              <a:t>Commandeurs réguliers (2 cmd+/mois)</a:t>
            </a:r>
          </a:p>
        </p:txBody>
      </p:sp>
      <p:sp>
        <p:nvSpPr>
          <p:cNvPr id="23" name="TextBox 22"/>
          <p:cNvSpPr txBox="1"/>
          <p:nvPr/>
        </p:nvSpPr>
        <p:spPr>
          <a:xfrm>
            <a:off x="5166720" y="4467599"/>
            <a:ext cx="1444320" cy="655200"/>
          </a:xfrm>
          <a:prstGeom prst="rect">
            <a:avLst/>
          </a:prstGeom>
          <a:noFill/>
        </p:spPr>
        <p:txBody>
          <a:bodyPr wrap="square">
            <a:spAutoFit/>
          </a:bodyPr>
          <a:lstStyle/>
          <a:p>
            <a:pPr algn="r"/>
            <a:r>
              <a:rPr sz="1300" b="1" i="0">
                <a:solidFill>
                  <a:srgbClr val="D4AF37"/>
                </a:solidFill>
              </a:rPr>
              <a:t>8 000</a:t>
            </a:r>
          </a:p>
        </p:txBody>
      </p:sp>
      <p:sp>
        <p:nvSpPr>
          <p:cNvPr id="24" name="Rectangle 23"/>
          <p:cNvSpPr/>
          <p:nvPr/>
        </p:nvSpPr>
        <p:spPr>
          <a:xfrm>
            <a:off x="144000" y="5382000"/>
            <a:ext cx="8856000" cy="25200"/>
          </a:xfrm>
          <a:prstGeom prst="rect">
            <a:avLst/>
          </a:prstGeom>
          <a:solidFill>
            <a:srgbClr val="4FC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16000" y="5472000"/>
            <a:ext cx="4389120" cy="288000"/>
          </a:xfrm>
          <a:prstGeom prst="rect">
            <a:avLst/>
          </a:prstGeom>
          <a:noFill/>
        </p:spPr>
        <p:txBody>
          <a:bodyPr wrap="square">
            <a:spAutoFit/>
          </a:bodyPr>
          <a:lstStyle/>
          <a:p>
            <a:pPr algn="l"/>
            <a:r>
              <a:rPr sz="1100" b="0" i="1">
                <a:solidFill>
                  <a:srgbClr val="4FC3F7"/>
                </a:solidFill>
              </a:rPr>
              <a:t>Extension 2027 : Bafoussam + densification nationale</a:t>
            </a:r>
          </a:p>
        </p:txBody>
      </p:sp>
      <p:sp>
        <p:nvSpPr>
          <p:cNvPr id="26" name="TextBox 25"/>
          <p:cNvSpPr txBox="1"/>
          <p:nvPr/>
        </p:nvSpPr>
        <p:spPr>
          <a:xfrm>
            <a:off x="4754880" y="5472000"/>
            <a:ext cx="4206240" cy="288000"/>
          </a:xfrm>
          <a:prstGeom prst="rect">
            <a:avLst/>
          </a:prstGeom>
          <a:noFill/>
        </p:spPr>
        <p:txBody>
          <a:bodyPr wrap="square">
            <a:spAutoFit/>
          </a:bodyPr>
          <a:lstStyle/>
          <a:p>
            <a:pPr algn="r"/>
            <a:r>
              <a:rPr sz="1100" b="0" i="1">
                <a:solidFill>
                  <a:srgbClr val="FF9933"/>
                </a:solidFill>
              </a:rPr>
              <a:t>International : Côte d'Ivoire (Q4 2027)  |  Sénégal (S2 2028)</a:t>
            </a:r>
          </a:p>
        </p:txBody>
      </p:sp>
      <p:sp>
        <p:nvSpPr>
          <p:cNvPr id="27" name="Rectangle 26"/>
          <p:cNvSpPr/>
          <p:nvPr/>
        </p:nvSpPr>
        <p:spPr>
          <a:xfrm>
            <a:off x="144000" y="5850000"/>
            <a:ext cx="8856000" cy="486000"/>
          </a:xfrm>
          <a:prstGeom prst="rect">
            <a:avLst/>
          </a:prstGeom>
          <a:solidFill>
            <a:srgbClr val="132B5E"/>
          </a:solidFill>
          <a:ln w="19050">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88000" y="5903999"/>
            <a:ext cx="8568000" cy="378000"/>
          </a:xfrm>
          <a:prstGeom prst="rect">
            <a:avLst/>
          </a:prstGeom>
          <a:noFill/>
        </p:spPr>
        <p:txBody>
          <a:bodyPr wrap="square">
            <a:spAutoFit/>
          </a:bodyPr>
          <a:lstStyle/>
          <a:p>
            <a:pPr algn="ctr"/>
            <a:r>
              <a:rPr sz="1300" b="1" i="0">
                <a:solidFill>
                  <a:srgbClr val="D4AF37"/>
                </a:solidFill>
              </a:rPr>
              <a:t>Marché adressable cumulé Yaoundé + Douala (2028) :  8,5 milliards FCFA</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B1E42"/>
        </a:solidFill>
        <a:effectLst/>
      </p:bgPr>
    </p:bg>
    <p:spTree>
      <p:nvGrpSpPr>
        <p:cNvPr id="1" name=""/>
        <p:cNvGrpSpPr/>
        <p:nvPr/>
      </p:nvGrpSpPr>
      <p:grpSpPr/>
      <p:sp>
        <p:nvSpPr>
          <p:cNvPr id="2" name="Rectangle 1"/>
          <p:cNvSpPr/>
          <p:nvPr/>
        </p:nvSpPr>
        <p:spPr>
          <a:xfrm>
            <a:off x="0" y="0"/>
            <a:ext cx="9144000" cy="4860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6000"/>
            <a:ext cx="144000" cy="6138000"/>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32000" y="36000"/>
            <a:ext cx="540000" cy="413999"/>
          </a:xfrm>
          <a:prstGeom prst="rect">
            <a:avLst/>
          </a:prstGeom>
          <a:noFill/>
        </p:spPr>
        <p:txBody>
          <a:bodyPr wrap="square">
            <a:spAutoFit/>
          </a:bodyPr>
          <a:lstStyle/>
          <a:p>
            <a:pPr algn="ctr"/>
            <a:r>
              <a:rPr sz="1400" b="1" i="0">
                <a:solidFill>
                  <a:srgbClr val="0B1E42"/>
                </a:solidFill>
              </a:rPr>
              <a:t>7</a:t>
            </a:r>
          </a:p>
        </p:txBody>
      </p:sp>
      <p:sp>
        <p:nvSpPr>
          <p:cNvPr id="5" name="TextBox 4"/>
          <p:cNvSpPr txBox="1"/>
          <p:nvPr/>
        </p:nvSpPr>
        <p:spPr>
          <a:xfrm>
            <a:off x="251999" y="540000"/>
            <a:ext cx="8280000" cy="540000"/>
          </a:xfrm>
          <a:prstGeom prst="rect">
            <a:avLst/>
          </a:prstGeom>
          <a:noFill/>
        </p:spPr>
        <p:txBody>
          <a:bodyPr wrap="square">
            <a:spAutoFit/>
          </a:bodyPr>
          <a:lstStyle/>
          <a:p>
            <a:pPr algn="l"/>
            <a:r>
              <a:rPr sz="2100" b="1" i="0">
                <a:solidFill>
                  <a:srgbClr val="FFFFFF"/>
                </a:solidFill>
              </a:rPr>
              <a:t>Analyse Concurrentielle — Positionnement YUKPO</a:t>
            </a:r>
          </a:p>
        </p:txBody>
      </p:sp>
      <p:sp>
        <p:nvSpPr>
          <p:cNvPr id="6" name="TextBox 5"/>
          <p:cNvSpPr txBox="1"/>
          <p:nvPr/>
        </p:nvSpPr>
        <p:spPr>
          <a:xfrm>
            <a:off x="251999" y="1098000"/>
            <a:ext cx="8640001" cy="288000"/>
          </a:xfrm>
          <a:prstGeom prst="rect">
            <a:avLst/>
          </a:prstGeom>
          <a:noFill/>
        </p:spPr>
        <p:txBody>
          <a:bodyPr wrap="square">
            <a:spAutoFit/>
          </a:bodyPr>
          <a:lstStyle/>
          <a:p>
            <a:pPr algn="l"/>
            <a:r>
              <a:rPr sz="1100" b="0" i="1">
                <a:solidFill>
                  <a:srgbClr val="D4AF37"/>
                </a:solidFill>
              </a:rPr>
              <a:t>Score /5 sur 6 dimensions clés — YUKPO domine toutes les catégories</a:t>
            </a:r>
          </a:p>
        </p:txBody>
      </p:sp>
      <p:sp>
        <p:nvSpPr>
          <p:cNvPr id="7" name="Rectangle 6"/>
          <p:cNvSpPr/>
          <p:nvPr/>
        </p:nvSpPr>
        <p:spPr>
          <a:xfrm>
            <a:off x="0" y="6642000"/>
            <a:ext cx="9144000" cy="2160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0000" y="6642000"/>
            <a:ext cx="6480000" cy="216000"/>
          </a:xfrm>
          <a:prstGeom prst="rect">
            <a:avLst/>
          </a:prstGeom>
          <a:noFill/>
        </p:spPr>
        <p:txBody>
          <a:bodyPr wrap="square">
            <a:spAutoFit/>
          </a:bodyPr>
          <a:lstStyle/>
          <a:p>
            <a:pPr algn="l"/>
            <a:r>
              <a:rPr sz="900" b="0" i="0">
                <a:solidFill>
                  <a:srgbClr val="0B1E42"/>
                </a:solidFill>
              </a:rPr>
              <a:t>YUKPO  |  YUKPO COMPANY SARL  |  Confidentiel  |  2026</a:t>
            </a:r>
          </a:p>
        </p:txBody>
      </p:sp>
      <p:sp>
        <p:nvSpPr>
          <p:cNvPr id="9" name="Rectangle 8"/>
          <p:cNvSpPr/>
          <p:nvPr/>
        </p:nvSpPr>
        <p:spPr>
          <a:xfrm>
            <a:off x="144000" y="1458000"/>
            <a:ext cx="1584000" cy="413999"/>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16000" y="1530000"/>
            <a:ext cx="1476000" cy="305999"/>
          </a:xfrm>
          <a:prstGeom prst="rect">
            <a:avLst/>
          </a:prstGeom>
          <a:noFill/>
        </p:spPr>
        <p:txBody>
          <a:bodyPr wrap="square">
            <a:spAutoFit/>
          </a:bodyPr>
          <a:lstStyle/>
          <a:p>
            <a:pPr algn="ctr"/>
            <a:r>
              <a:rPr sz="1000" b="1" i="0">
                <a:solidFill>
                  <a:srgbClr val="B0C4DE"/>
                </a:solidFill>
              </a:rPr>
              <a:t>Dimension clé</a:t>
            </a:r>
          </a:p>
        </p:txBody>
      </p:sp>
      <p:sp>
        <p:nvSpPr>
          <p:cNvPr id="11" name="Rectangle 10"/>
          <p:cNvSpPr/>
          <p:nvPr/>
        </p:nvSpPr>
        <p:spPr>
          <a:xfrm>
            <a:off x="1728000" y="1458000"/>
            <a:ext cx="1004400" cy="413999"/>
          </a:xfrm>
          <a:prstGeom prst="rect">
            <a:avLst/>
          </a:prstGeom>
          <a:solidFill>
            <a:srgbClr val="D4AF37"/>
          </a:solidFill>
          <a:ln w="19050">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764000" y="1530000"/>
            <a:ext cx="954000" cy="305999"/>
          </a:xfrm>
          <a:prstGeom prst="rect">
            <a:avLst/>
          </a:prstGeom>
          <a:noFill/>
        </p:spPr>
        <p:txBody>
          <a:bodyPr wrap="square">
            <a:spAutoFit/>
          </a:bodyPr>
          <a:lstStyle/>
          <a:p>
            <a:pPr algn="ctr"/>
            <a:r>
              <a:rPr sz="1100" b="1" i="0">
                <a:solidFill>
                  <a:srgbClr val="0B1E42"/>
                </a:solidFill>
              </a:rPr>
              <a:t>YUKPO</a:t>
            </a:r>
          </a:p>
        </p:txBody>
      </p:sp>
      <p:sp>
        <p:nvSpPr>
          <p:cNvPr id="13" name="Rectangle 12"/>
          <p:cNvSpPr/>
          <p:nvPr/>
        </p:nvSpPr>
        <p:spPr>
          <a:xfrm>
            <a:off x="2754000" y="1458000"/>
            <a:ext cx="1004400" cy="413999"/>
          </a:xfrm>
          <a:prstGeom prst="rect">
            <a:avLst/>
          </a:prstGeom>
          <a:solidFill>
            <a:srgbClr val="132B5E"/>
          </a:solidFill>
          <a:ln w="19050">
            <a:solidFill>
              <a:srgbClr val="4FC3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90000" y="1530000"/>
            <a:ext cx="954000" cy="305999"/>
          </a:xfrm>
          <a:prstGeom prst="rect">
            <a:avLst/>
          </a:prstGeom>
          <a:noFill/>
        </p:spPr>
        <p:txBody>
          <a:bodyPr wrap="square">
            <a:spAutoFit/>
          </a:bodyPr>
          <a:lstStyle/>
          <a:p>
            <a:pPr algn="ctr"/>
            <a:r>
              <a:rPr sz="1100" b="1" i="0">
                <a:solidFill>
                  <a:srgbClr val="4FC3F7"/>
                </a:solidFill>
              </a:rPr>
              <a:t>Yango</a:t>
            </a:r>
          </a:p>
        </p:txBody>
      </p:sp>
      <p:sp>
        <p:nvSpPr>
          <p:cNvPr id="15" name="Rectangle 14"/>
          <p:cNvSpPr/>
          <p:nvPr/>
        </p:nvSpPr>
        <p:spPr>
          <a:xfrm>
            <a:off x="3780000" y="1458000"/>
            <a:ext cx="1004400" cy="413999"/>
          </a:xfrm>
          <a:prstGeom prst="rect">
            <a:avLst/>
          </a:prstGeom>
          <a:solidFill>
            <a:srgbClr val="132B5E"/>
          </a:solidFill>
          <a:ln w="19050">
            <a:solidFill>
              <a:srgbClr val="00C8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816000" y="1530000"/>
            <a:ext cx="954000" cy="305999"/>
          </a:xfrm>
          <a:prstGeom prst="rect">
            <a:avLst/>
          </a:prstGeom>
          <a:noFill/>
        </p:spPr>
        <p:txBody>
          <a:bodyPr wrap="square">
            <a:spAutoFit/>
          </a:bodyPr>
          <a:lstStyle/>
          <a:p>
            <a:pPr algn="ctr"/>
            <a:r>
              <a:rPr sz="1100" b="1" i="0">
                <a:solidFill>
                  <a:srgbClr val="00C87A"/>
                </a:solidFill>
              </a:rPr>
              <a:t>Jumia Food</a:t>
            </a:r>
          </a:p>
        </p:txBody>
      </p:sp>
      <p:sp>
        <p:nvSpPr>
          <p:cNvPr id="17" name="Rectangle 16"/>
          <p:cNvSpPr/>
          <p:nvPr/>
        </p:nvSpPr>
        <p:spPr>
          <a:xfrm>
            <a:off x="4806000" y="1458000"/>
            <a:ext cx="1004400" cy="413999"/>
          </a:xfrm>
          <a:prstGeom prst="rect">
            <a:avLst/>
          </a:prstGeom>
          <a:solidFill>
            <a:srgbClr val="132B5E"/>
          </a:solidFill>
          <a:ln w="19050">
            <a:solidFill>
              <a:srgbClr val="FF99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842000" y="1530000"/>
            <a:ext cx="954000" cy="305999"/>
          </a:xfrm>
          <a:prstGeom prst="rect">
            <a:avLst/>
          </a:prstGeom>
          <a:noFill/>
        </p:spPr>
        <p:txBody>
          <a:bodyPr wrap="square">
            <a:spAutoFit/>
          </a:bodyPr>
          <a:lstStyle/>
          <a:p>
            <a:pPr algn="ctr"/>
            <a:r>
              <a:rPr sz="1100" b="1" i="0">
                <a:solidFill>
                  <a:srgbClr val="FF9933"/>
                </a:solidFill>
              </a:rPr>
              <a:t>Locaux</a:t>
            </a:r>
          </a:p>
        </p:txBody>
      </p:sp>
      <p:sp>
        <p:nvSpPr>
          <p:cNvPr id="19" name="Rectangle 18"/>
          <p:cNvSpPr/>
          <p:nvPr/>
        </p:nvSpPr>
        <p:spPr>
          <a:xfrm>
            <a:off x="144000" y="1871999"/>
            <a:ext cx="1584000" cy="738000"/>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34000" y="1925999"/>
            <a:ext cx="1440000" cy="666000"/>
          </a:xfrm>
          <a:prstGeom prst="rect">
            <a:avLst/>
          </a:prstGeom>
          <a:noFill/>
        </p:spPr>
        <p:txBody>
          <a:bodyPr wrap="square">
            <a:spAutoFit/>
          </a:bodyPr>
          <a:lstStyle/>
          <a:p>
            <a:pPr algn="l"/>
            <a:r>
              <a:rPr sz="1000" b="0" i="0">
                <a:solidFill>
                  <a:srgbClr val="FFFFFF"/>
                </a:solidFill>
              </a:rPr>
              <a:t>Services intégrés</a:t>
            </a:r>
          </a:p>
        </p:txBody>
      </p:sp>
      <p:sp>
        <p:nvSpPr>
          <p:cNvPr id="21" name="Rectangle 20"/>
          <p:cNvSpPr/>
          <p:nvPr/>
        </p:nvSpPr>
        <p:spPr>
          <a:xfrm>
            <a:off x="1728000" y="1871999"/>
            <a:ext cx="1004400" cy="738000"/>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2034000" y="2042999"/>
            <a:ext cx="413999" cy="413999"/>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034000" y="2042999"/>
            <a:ext cx="413999" cy="413999"/>
          </a:xfrm>
          <a:prstGeom prst="rect">
            <a:avLst/>
          </a:prstGeom>
          <a:noFill/>
        </p:spPr>
        <p:txBody>
          <a:bodyPr wrap="square">
            <a:spAutoFit/>
          </a:bodyPr>
          <a:lstStyle/>
          <a:p>
            <a:pPr algn="ctr"/>
            <a:r>
              <a:rPr sz="1400" b="1" i="0">
                <a:solidFill>
                  <a:srgbClr val="0B1E42"/>
                </a:solidFill>
              </a:rPr>
              <a:t>5</a:t>
            </a:r>
          </a:p>
        </p:txBody>
      </p:sp>
      <p:sp>
        <p:nvSpPr>
          <p:cNvPr id="24" name="Rectangle 23"/>
          <p:cNvSpPr/>
          <p:nvPr/>
        </p:nvSpPr>
        <p:spPr>
          <a:xfrm>
            <a:off x="2754000" y="1871999"/>
            <a:ext cx="1004400" cy="738000"/>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3060000" y="2042999"/>
            <a:ext cx="413999" cy="413999"/>
          </a:xfrm>
          <a:prstGeom prst="rect">
            <a:avLst/>
          </a:prstGeom>
          <a:solidFill>
            <a:srgbClr val="FF99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060000" y="2042999"/>
            <a:ext cx="413999" cy="413999"/>
          </a:xfrm>
          <a:prstGeom prst="rect">
            <a:avLst/>
          </a:prstGeom>
          <a:noFill/>
        </p:spPr>
        <p:txBody>
          <a:bodyPr wrap="square">
            <a:spAutoFit/>
          </a:bodyPr>
          <a:lstStyle/>
          <a:p>
            <a:pPr algn="ctr"/>
            <a:r>
              <a:rPr sz="1400" b="1" i="0">
                <a:solidFill>
                  <a:srgbClr val="0B1E42"/>
                </a:solidFill>
              </a:rPr>
              <a:t>2</a:t>
            </a:r>
          </a:p>
        </p:txBody>
      </p:sp>
      <p:sp>
        <p:nvSpPr>
          <p:cNvPr id="27" name="Rectangle 26"/>
          <p:cNvSpPr/>
          <p:nvPr/>
        </p:nvSpPr>
        <p:spPr>
          <a:xfrm>
            <a:off x="3780000" y="1871999"/>
            <a:ext cx="1004400" cy="738000"/>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086000" y="2042999"/>
            <a:ext cx="413999" cy="413999"/>
          </a:xfrm>
          <a:prstGeom prst="rect">
            <a:avLst/>
          </a:prstGeom>
          <a:solidFill>
            <a:srgbClr val="FF99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086000" y="2042999"/>
            <a:ext cx="413999" cy="413999"/>
          </a:xfrm>
          <a:prstGeom prst="rect">
            <a:avLst/>
          </a:prstGeom>
          <a:noFill/>
        </p:spPr>
        <p:txBody>
          <a:bodyPr wrap="square">
            <a:spAutoFit/>
          </a:bodyPr>
          <a:lstStyle/>
          <a:p>
            <a:pPr algn="ctr"/>
            <a:r>
              <a:rPr sz="1400" b="1" i="0">
                <a:solidFill>
                  <a:srgbClr val="0B1E42"/>
                </a:solidFill>
              </a:rPr>
              <a:t>2</a:t>
            </a:r>
          </a:p>
        </p:txBody>
      </p:sp>
      <p:sp>
        <p:nvSpPr>
          <p:cNvPr id="30" name="Rectangle 29"/>
          <p:cNvSpPr/>
          <p:nvPr/>
        </p:nvSpPr>
        <p:spPr>
          <a:xfrm>
            <a:off x="4806000" y="1871999"/>
            <a:ext cx="1004400" cy="738000"/>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112000" y="2042999"/>
            <a:ext cx="413999" cy="413999"/>
          </a:xfrm>
          <a:prstGeom prst="rect">
            <a:avLst/>
          </a:prstGeom>
          <a:solidFill>
            <a:srgbClr val="FF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112000" y="2042999"/>
            <a:ext cx="413999" cy="413999"/>
          </a:xfrm>
          <a:prstGeom prst="rect">
            <a:avLst/>
          </a:prstGeom>
          <a:noFill/>
        </p:spPr>
        <p:txBody>
          <a:bodyPr wrap="square">
            <a:spAutoFit/>
          </a:bodyPr>
          <a:lstStyle/>
          <a:p>
            <a:pPr algn="ctr"/>
            <a:r>
              <a:rPr sz="1400" b="1" i="0">
                <a:solidFill>
                  <a:srgbClr val="FFFFFF"/>
                </a:solidFill>
              </a:rPr>
              <a:t>1</a:t>
            </a:r>
          </a:p>
        </p:txBody>
      </p:sp>
      <p:sp>
        <p:nvSpPr>
          <p:cNvPr id="33" name="Rectangle 32"/>
          <p:cNvSpPr/>
          <p:nvPr/>
        </p:nvSpPr>
        <p:spPr>
          <a:xfrm>
            <a:off x="144000" y="2627999"/>
            <a:ext cx="1584000" cy="738000"/>
          </a:xfrm>
          <a:prstGeom prst="rect">
            <a:avLst/>
          </a:prstGeom>
          <a:solidFill>
            <a:srgbClr val="0B1E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34000" y="2681999"/>
            <a:ext cx="1440000" cy="666000"/>
          </a:xfrm>
          <a:prstGeom prst="rect">
            <a:avLst/>
          </a:prstGeom>
          <a:noFill/>
        </p:spPr>
        <p:txBody>
          <a:bodyPr wrap="square">
            <a:spAutoFit/>
          </a:bodyPr>
          <a:lstStyle/>
          <a:p>
            <a:pPr algn="l"/>
            <a:r>
              <a:rPr sz="1000" b="0" i="0">
                <a:solidFill>
                  <a:srgbClr val="FFFFFF"/>
                </a:solidFill>
              </a:rPr>
              <a:t>Présence locale</a:t>
            </a:r>
          </a:p>
        </p:txBody>
      </p:sp>
      <p:sp>
        <p:nvSpPr>
          <p:cNvPr id="35" name="Rectangle 34"/>
          <p:cNvSpPr/>
          <p:nvPr/>
        </p:nvSpPr>
        <p:spPr>
          <a:xfrm>
            <a:off x="1728000" y="2627999"/>
            <a:ext cx="1004400" cy="738000"/>
          </a:xfrm>
          <a:prstGeom prst="rect">
            <a:avLst/>
          </a:prstGeom>
          <a:solidFill>
            <a:srgbClr val="0B1E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2034000" y="2798999"/>
            <a:ext cx="413999" cy="413999"/>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2034000" y="2798999"/>
            <a:ext cx="413999" cy="413999"/>
          </a:xfrm>
          <a:prstGeom prst="rect">
            <a:avLst/>
          </a:prstGeom>
          <a:noFill/>
        </p:spPr>
        <p:txBody>
          <a:bodyPr wrap="square">
            <a:spAutoFit/>
          </a:bodyPr>
          <a:lstStyle/>
          <a:p>
            <a:pPr algn="ctr"/>
            <a:r>
              <a:rPr sz="1400" b="1" i="0">
                <a:solidFill>
                  <a:srgbClr val="0B1E42"/>
                </a:solidFill>
              </a:rPr>
              <a:t>5</a:t>
            </a:r>
          </a:p>
        </p:txBody>
      </p:sp>
      <p:sp>
        <p:nvSpPr>
          <p:cNvPr id="38" name="Rectangle 37"/>
          <p:cNvSpPr/>
          <p:nvPr/>
        </p:nvSpPr>
        <p:spPr>
          <a:xfrm>
            <a:off x="2754000" y="2627999"/>
            <a:ext cx="1004400" cy="738000"/>
          </a:xfrm>
          <a:prstGeom prst="rect">
            <a:avLst/>
          </a:prstGeom>
          <a:solidFill>
            <a:srgbClr val="0B1E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3060000" y="2798999"/>
            <a:ext cx="413999" cy="413999"/>
          </a:xfrm>
          <a:prstGeom prst="rect">
            <a:avLst/>
          </a:prstGeom>
          <a:solidFill>
            <a:srgbClr val="4FC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060000" y="2798999"/>
            <a:ext cx="413999" cy="413999"/>
          </a:xfrm>
          <a:prstGeom prst="rect">
            <a:avLst/>
          </a:prstGeom>
          <a:noFill/>
        </p:spPr>
        <p:txBody>
          <a:bodyPr wrap="square">
            <a:spAutoFit/>
          </a:bodyPr>
          <a:lstStyle/>
          <a:p>
            <a:pPr algn="ctr"/>
            <a:r>
              <a:rPr sz="1400" b="1" i="0">
                <a:solidFill>
                  <a:srgbClr val="0B1E42"/>
                </a:solidFill>
              </a:rPr>
              <a:t>3</a:t>
            </a:r>
          </a:p>
        </p:txBody>
      </p:sp>
      <p:sp>
        <p:nvSpPr>
          <p:cNvPr id="41" name="Rectangle 40"/>
          <p:cNvSpPr/>
          <p:nvPr/>
        </p:nvSpPr>
        <p:spPr>
          <a:xfrm>
            <a:off x="3780000" y="2627999"/>
            <a:ext cx="1004400" cy="738000"/>
          </a:xfrm>
          <a:prstGeom prst="rect">
            <a:avLst/>
          </a:prstGeom>
          <a:solidFill>
            <a:srgbClr val="0B1E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4086000" y="2798999"/>
            <a:ext cx="413999" cy="413999"/>
          </a:xfrm>
          <a:prstGeom prst="rect">
            <a:avLst/>
          </a:prstGeom>
          <a:solidFill>
            <a:srgbClr val="FF99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086000" y="2798999"/>
            <a:ext cx="413999" cy="413999"/>
          </a:xfrm>
          <a:prstGeom prst="rect">
            <a:avLst/>
          </a:prstGeom>
          <a:noFill/>
        </p:spPr>
        <p:txBody>
          <a:bodyPr wrap="square">
            <a:spAutoFit/>
          </a:bodyPr>
          <a:lstStyle/>
          <a:p>
            <a:pPr algn="ctr"/>
            <a:r>
              <a:rPr sz="1400" b="1" i="0">
                <a:solidFill>
                  <a:srgbClr val="0B1E42"/>
                </a:solidFill>
              </a:rPr>
              <a:t>2</a:t>
            </a:r>
          </a:p>
        </p:txBody>
      </p:sp>
      <p:sp>
        <p:nvSpPr>
          <p:cNvPr id="44" name="Rectangle 43"/>
          <p:cNvSpPr/>
          <p:nvPr/>
        </p:nvSpPr>
        <p:spPr>
          <a:xfrm>
            <a:off x="4806000" y="2627999"/>
            <a:ext cx="1004400" cy="738000"/>
          </a:xfrm>
          <a:prstGeom prst="rect">
            <a:avLst/>
          </a:prstGeom>
          <a:solidFill>
            <a:srgbClr val="0B1E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5112000" y="2798999"/>
            <a:ext cx="413999" cy="413999"/>
          </a:xfrm>
          <a:prstGeom prst="rect">
            <a:avLst/>
          </a:prstGeom>
          <a:solidFill>
            <a:srgbClr val="00C8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112000" y="2798999"/>
            <a:ext cx="413999" cy="413999"/>
          </a:xfrm>
          <a:prstGeom prst="rect">
            <a:avLst/>
          </a:prstGeom>
          <a:noFill/>
        </p:spPr>
        <p:txBody>
          <a:bodyPr wrap="square">
            <a:spAutoFit/>
          </a:bodyPr>
          <a:lstStyle/>
          <a:p>
            <a:pPr algn="ctr"/>
            <a:r>
              <a:rPr sz="1400" b="1" i="0">
                <a:solidFill>
                  <a:srgbClr val="0B1E42"/>
                </a:solidFill>
              </a:rPr>
              <a:t>4</a:t>
            </a:r>
          </a:p>
        </p:txBody>
      </p:sp>
      <p:sp>
        <p:nvSpPr>
          <p:cNvPr id="47" name="Rectangle 46"/>
          <p:cNvSpPr/>
          <p:nvPr/>
        </p:nvSpPr>
        <p:spPr>
          <a:xfrm>
            <a:off x="144000" y="3383999"/>
            <a:ext cx="1584000" cy="738000"/>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234000" y="3437999"/>
            <a:ext cx="1440000" cy="666000"/>
          </a:xfrm>
          <a:prstGeom prst="rect">
            <a:avLst/>
          </a:prstGeom>
          <a:noFill/>
        </p:spPr>
        <p:txBody>
          <a:bodyPr wrap="square">
            <a:spAutoFit/>
          </a:bodyPr>
          <a:lstStyle/>
          <a:p>
            <a:pPr algn="l"/>
            <a:r>
              <a:rPr sz="1000" b="0" i="0">
                <a:solidFill>
                  <a:srgbClr val="FFFFFF"/>
                </a:solidFill>
              </a:rPr>
              <a:t>Fiabilité &amp; Avis</a:t>
            </a:r>
          </a:p>
        </p:txBody>
      </p:sp>
      <p:sp>
        <p:nvSpPr>
          <p:cNvPr id="49" name="Rectangle 48"/>
          <p:cNvSpPr/>
          <p:nvPr/>
        </p:nvSpPr>
        <p:spPr>
          <a:xfrm>
            <a:off x="1728000" y="3383999"/>
            <a:ext cx="1004400" cy="738000"/>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2034000" y="3554999"/>
            <a:ext cx="413999" cy="413999"/>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2034000" y="3554999"/>
            <a:ext cx="413999" cy="413999"/>
          </a:xfrm>
          <a:prstGeom prst="rect">
            <a:avLst/>
          </a:prstGeom>
          <a:noFill/>
        </p:spPr>
        <p:txBody>
          <a:bodyPr wrap="square">
            <a:spAutoFit/>
          </a:bodyPr>
          <a:lstStyle/>
          <a:p>
            <a:pPr algn="ctr"/>
            <a:r>
              <a:rPr sz="1400" b="1" i="0">
                <a:solidFill>
                  <a:srgbClr val="0B1E42"/>
                </a:solidFill>
              </a:rPr>
              <a:t>5</a:t>
            </a:r>
          </a:p>
        </p:txBody>
      </p:sp>
      <p:sp>
        <p:nvSpPr>
          <p:cNvPr id="52" name="Rectangle 51"/>
          <p:cNvSpPr/>
          <p:nvPr/>
        </p:nvSpPr>
        <p:spPr>
          <a:xfrm>
            <a:off x="2754000" y="3383999"/>
            <a:ext cx="1004400" cy="738000"/>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3060000" y="3554999"/>
            <a:ext cx="413999" cy="413999"/>
          </a:xfrm>
          <a:prstGeom prst="rect">
            <a:avLst/>
          </a:prstGeom>
          <a:solidFill>
            <a:srgbClr val="4FC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3060000" y="3554999"/>
            <a:ext cx="413999" cy="413999"/>
          </a:xfrm>
          <a:prstGeom prst="rect">
            <a:avLst/>
          </a:prstGeom>
          <a:noFill/>
        </p:spPr>
        <p:txBody>
          <a:bodyPr wrap="square">
            <a:spAutoFit/>
          </a:bodyPr>
          <a:lstStyle/>
          <a:p>
            <a:pPr algn="ctr"/>
            <a:r>
              <a:rPr sz="1400" b="1" i="0">
                <a:solidFill>
                  <a:srgbClr val="0B1E42"/>
                </a:solidFill>
              </a:rPr>
              <a:t>3</a:t>
            </a:r>
          </a:p>
        </p:txBody>
      </p:sp>
      <p:sp>
        <p:nvSpPr>
          <p:cNvPr id="55" name="Rectangle 54"/>
          <p:cNvSpPr/>
          <p:nvPr/>
        </p:nvSpPr>
        <p:spPr>
          <a:xfrm>
            <a:off x="3780000" y="3383999"/>
            <a:ext cx="1004400" cy="738000"/>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4086000" y="3554999"/>
            <a:ext cx="413999" cy="413999"/>
          </a:xfrm>
          <a:prstGeom prst="rect">
            <a:avLst/>
          </a:prstGeom>
          <a:solidFill>
            <a:srgbClr val="4FC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4086000" y="3554999"/>
            <a:ext cx="413999" cy="413999"/>
          </a:xfrm>
          <a:prstGeom prst="rect">
            <a:avLst/>
          </a:prstGeom>
          <a:noFill/>
        </p:spPr>
        <p:txBody>
          <a:bodyPr wrap="square">
            <a:spAutoFit/>
          </a:bodyPr>
          <a:lstStyle/>
          <a:p>
            <a:pPr algn="ctr"/>
            <a:r>
              <a:rPr sz="1400" b="1" i="0">
                <a:solidFill>
                  <a:srgbClr val="0B1E42"/>
                </a:solidFill>
              </a:rPr>
              <a:t>3</a:t>
            </a:r>
          </a:p>
        </p:txBody>
      </p:sp>
      <p:sp>
        <p:nvSpPr>
          <p:cNvPr id="58" name="Rectangle 57"/>
          <p:cNvSpPr/>
          <p:nvPr/>
        </p:nvSpPr>
        <p:spPr>
          <a:xfrm>
            <a:off x="4806000" y="3383999"/>
            <a:ext cx="1004400" cy="738000"/>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5112000" y="3554999"/>
            <a:ext cx="413999" cy="413999"/>
          </a:xfrm>
          <a:prstGeom prst="rect">
            <a:avLst/>
          </a:prstGeom>
          <a:solidFill>
            <a:srgbClr val="FF99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5112000" y="3554999"/>
            <a:ext cx="413999" cy="413999"/>
          </a:xfrm>
          <a:prstGeom prst="rect">
            <a:avLst/>
          </a:prstGeom>
          <a:noFill/>
        </p:spPr>
        <p:txBody>
          <a:bodyPr wrap="square">
            <a:spAutoFit/>
          </a:bodyPr>
          <a:lstStyle/>
          <a:p>
            <a:pPr algn="ctr"/>
            <a:r>
              <a:rPr sz="1400" b="1" i="0">
                <a:solidFill>
                  <a:srgbClr val="0B1E42"/>
                </a:solidFill>
              </a:rPr>
              <a:t>2</a:t>
            </a:r>
          </a:p>
        </p:txBody>
      </p:sp>
      <p:sp>
        <p:nvSpPr>
          <p:cNvPr id="61" name="Rectangle 60"/>
          <p:cNvSpPr/>
          <p:nvPr/>
        </p:nvSpPr>
        <p:spPr>
          <a:xfrm>
            <a:off x="144000" y="4139999"/>
            <a:ext cx="1584000" cy="738000"/>
          </a:xfrm>
          <a:prstGeom prst="rect">
            <a:avLst/>
          </a:prstGeom>
          <a:solidFill>
            <a:srgbClr val="0B1E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234000" y="4193999"/>
            <a:ext cx="1440000" cy="666000"/>
          </a:xfrm>
          <a:prstGeom prst="rect">
            <a:avLst/>
          </a:prstGeom>
          <a:noFill/>
        </p:spPr>
        <p:txBody>
          <a:bodyPr wrap="square">
            <a:spAutoFit/>
          </a:bodyPr>
          <a:lstStyle/>
          <a:p>
            <a:pPr algn="l"/>
            <a:r>
              <a:rPr sz="1000" b="0" i="0">
                <a:solidFill>
                  <a:srgbClr val="FFFFFF"/>
                </a:solidFill>
              </a:rPr>
              <a:t>Innovation IA</a:t>
            </a:r>
          </a:p>
        </p:txBody>
      </p:sp>
      <p:sp>
        <p:nvSpPr>
          <p:cNvPr id="63" name="Rectangle 62"/>
          <p:cNvSpPr/>
          <p:nvPr/>
        </p:nvSpPr>
        <p:spPr>
          <a:xfrm>
            <a:off x="1728000" y="4139999"/>
            <a:ext cx="1004400" cy="738000"/>
          </a:xfrm>
          <a:prstGeom prst="rect">
            <a:avLst/>
          </a:prstGeom>
          <a:solidFill>
            <a:srgbClr val="0B1E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2034000" y="4310999"/>
            <a:ext cx="413999" cy="413999"/>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2034000" y="4310999"/>
            <a:ext cx="413999" cy="413999"/>
          </a:xfrm>
          <a:prstGeom prst="rect">
            <a:avLst/>
          </a:prstGeom>
          <a:noFill/>
        </p:spPr>
        <p:txBody>
          <a:bodyPr wrap="square">
            <a:spAutoFit/>
          </a:bodyPr>
          <a:lstStyle/>
          <a:p>
            <a:pPr algn="ctr"/>
            <a:r>
              <a:rPr sz="1400" b="1" i="0">
                <a:solidFill>
                  <a:srgbClr val="0B1E42"/>
                </a:solidFill>
              </a:rPr>
              <a:t>5</a:t>
            </a:r>
          </a:p>
        </p:txBody>
      </p:sp>
      <p:sp>
        <p:nvSpPr>
          <p:cNvPr id="66" name="Rectangle 65"/>
          <p:cNvSpPr/>
          <p:nvPr/>
        </p:nvSpPr>
        <p:spPr>
          <a:xfrm>
            <a:off x="2754000" y="4139999"/>
            <a:ext cx="1004400" cy="738000"/>
          </a:xfrm>
          <a:prstGeom prst="rect">
            <a:avLst/>
          </a:prstGeom>
          <a:solidFill>
            <a:srgbClr val="0B1E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3060000" y="4310999"/>
            <a:ext cx="413999" cy="413999"/>
          </a:xfrm>
          <a:prstGeom prst="rect">
            <a:avLst/>
          </a:prstGeom>
          <a:solidFill>
            <a:srgbClr val="FF99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3060000" y="4310999"/>
            <a:ext cx="413999" cy="413999"/>
          </a:xfrm>
          <a:prstGeom prst="rect">
            <a:avLst/>
          </a:prstGeom>
          <a:noFill/>
        </p:spPr>
        <p:txBody>
          <a:bodyPr wrap="square">
            <a:spAutoFit/>
          </a:bodyPr>
          <a:lstStyle/>
          <a:p>
            <a:pPr algn="ctr"/>
            <a:r>
              <a:rPr sz="1400" b="1" i="0">
                <a:solidFill>
                  <a:srgbClr val="0B1E42"/>
                </a:solidFill>
              </a:rPr>
              <a:t>2</a:t>
            </a:r>
          </a:p>
        </p:txBody>
      </p:sp>
      <p:sp>
        <p:nvSpPr>
          <p:cNvPr id="69" name="Rectangle 68"/>
          <p:cNvSpPr/>
          <p:nvPr/>
        </p:nvSpPr>
        <p:spPr>
          <a:xfrm>
            <a:off x="3780000" y="4139999"/>
            <a:ext cx="1004400" cy="738000"/>
          </a:xfrm>
          <a:prstGeom prst="rect">
            <a:avLst/>
          </a:prstGeom>
          <a:solidFill>
            <a:srgbClr val="0B1E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4086000" y="4310999"/>
            <a:ext cx="413999" cy="413999"/>
          </a:xfrm>
          <a:prstGeom prst="rect">
            <a:avLst/>
          </a:prstGeom>
          <a:solidFill>
            <a:srgbClr val="FF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4086000" y="4310999"/>
            <a:ext cx="413999" cy="413999"/>
          </a:xfrm>
          <a:prstGeom prst="rect">
            <a:avLst/>
          </a:prstGeom>
          <a:noFill/>
        </p:spPr>
        <p:txBody>
          <a:bodyPr wrap="square">
            <a:spAutoFit/>
          </a:bodyPr>
          <a:lstStyle/>
          <a:p>
            <a:pPr algn="ctr"/>
            <a:r>
              <a:rPr sz="1400" b="1" i="0">
                <a:solidFill>
                  <a:srgbClr val="FFFFFF"/>
                </a:solidFill>
              </a:rPr>
              <a:t>1</a:t>
            </a:r>
          </a:p>
        </p:txBody>
      </p:sp>
      <p:sp>
        <p:nvSpPr>
          <p:cNvPr id="72" name="Rectangle 71"/>
          <p:cNvSpPr/>
          <p:nvPr/>
        </p:nvSpPr>
        <p:spPr>
          <a:xfrm>
            <a:off x="4806000" y="4139999"/>
            <a:ext cx="1004400" cy="738000"/>
          </a:xfrm>
          <a:prstGeom prst="rect">
            <a:avLst/>
          </a:prstGeom>
          <a:solidFill>
            <a:srgbClr val="0B1E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5112000" y="4310999"/>
            <a:ext cx="413999" cy="413999"/>
          </a:xfrm>
          <a:prstGeom prst="rect">
            <a:avLst/>
          </a:prstGeom>
          <a:solidFill>
            <a:srgbClr val="FF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5112000" y="4310999"/>
            <a:ext cx="413999" cy="413999"/>
          </a:xfrm>
          <a:prstGeom prst="rect">
            <a:avLst/>
          </a:prstGeom>
          <a:noFill/>
        </p:spPr>
        <p:txBody>
          <a:bodyPr wrap="square">
            <a:spAutoFit/>
          </a:bodyPr>
          <a:lstStyle/>
          <a:p>
            <a:pPr algn="ctr"/>
            <a:r>
              <a:rPr sz="1400" b="1" i="0">
                <a:solidFill>
                  <a:srgbClr val="FFFFFF"/>
                </a:solidFill>
              </a:rPr>
              <a:t>1</a:t>
            </a:r>
          </a:p>
        </p:txBody>
      </p:sp>
      <p:sp>
        <p:nvSpPr>
          <p:cNvPr id="75" name="Rectangle 74"/>
          <p:cNvSpPr/>
          <p:nvPr/>
        </p:nvSpPr>
        <p:spPr>
          <a:xfrm>
            <a:off x="144000" y="4895999"/>
            <a:ext cx="1584000" cy="738000"/>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234000" y="4949999"/>
            <a:ext cx="1440000" cy="666000"/>
          </a:xfrm>
          <a:prstGeom prst="rect">
            <a:avLst/>
          </a:prstGeom>
          <a:noFill/>
        </p:spPr>
        <p:txBody>
          <a:bodyPr wrap="square">
            <a:spAutoFit/>
          </a:bodyPr>
          <a:lstStyle/>
          <a:p>
            <a:pPr algn="l"/>
            <a:r>
              <a:rPr sz="1000" b="0" i="0">
                <a:solidFill>
                  <a:srgbClr val="FFFFFF"/>
                </a:solidFill>
              </a:rPr>
              <a:t>Expér. utilisateur</a:t>
            </a:r>
          </a:p>
        </p:txBody>
      </p:sp>
      <p:sp>
        <p:nvSpPr>
          <p:cNvPr id="77" name="Rectangle 76"/>
          <p:cNvSpPr/>
          <p:nvPr/>
        </p:nvSpPr>
        <p:spPr>
          <a:xfrm>
            <a:off x="1728000" y="4895999"/>
            <a:ext cx="1004400" cy="738000"/>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ctangle 77"/>
          <p:cNvSpPr/>
          <p:nvPr/>
        </p:nvSpPr>
        <p:spPr>
          <a:xfrm>
            <a:off x="2034000" y="5066999"/>
            <a:ext cx="413999" cy="413999"/>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2034000" y="5066999"/>
            <a:ext cx="413999" cy="413999"/>
          </a:xfrm>
          <a:prstGeom prst="rect">
            <a:avLst/>
          </a:prstGeom>
          <a:noFill/>
        </p:spPr>
        <p:txBody>
          <a:bodyPr wrap="square">
            <a:spAutoFit/>
          </a:bodyPr>
          <a:lstStyle/>
          <a:p>
            <a:pPr algn="ctr"/>
            <a:r>
              <a:rPr sz="1400" b="1" i="0">
                <a:solidFill>
                  <a:srgbClr val="0B1E42"/>
                </a:solidFill>
              </a:rPr>
              <a:t>5</a:t>
            </a:r>
          </a:p>
        </p:txBody>
      </p:sp>
      <p:sp>
        <p:nvSpPr>
          <p:cNvPr id="80" name="Rectangle 79"/>
          <p:cNvSpPr/>
          <p:nvPr/>
        </p:nvSpPr>
        <p:spPr>
          <a:xfrm>
            <a:off x="2754000" y="4895999"/>
            <a:ext cx="1004400" cy="738000"/>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Rectangle 80"/>
          <p:cNvSpPr/>
          <p:nvPr/>
        </p:nvSpPr>
        <p:spPr>
          <a:xfrm>
            <a:off x="3060000" y="5066999"/>
            <a:ext cx="413999" cy="413999"/>
          </a:xfrm>
          <a:prstGeom prst="rect">
            <a:avLst/>
          </a:prstGeom>
          <a:solidFill>
            <a:srgbClr val="4FC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3060000" y="5066999"/>
            <a:ext cx="413999" cy="413999"/>
          </a:xfrm>
          <a:prstGeom prst="rect">
            <a:avLst/>
          </a:prstGeom>
          <a:noFill/>
        </p:spPr>
        <p:txBody>
          <a:bodyPr wrap="square">
            <a:spAutoFit/>
          </a:bodyPr>
          <a:lstStyle/>
          <a:p>
            <a:pPr algn="ctr"/>
            <a:r>
              <a:rPr sz="1400" b="1" i="0">
                <a:solidFill>
                  <a:srgbClr val="0B1E42"/>
                </a:solidFill>
              </a:rPr>
              <a:t>3</a:t>
            </a:r>
          </a:p>
        </p:txBody>
      </p:sp>
      <p:sp>
        <p:nvSpPr>
          <p:cNvPr id="83" name="Rectangle 82"/>
          <p:cNvSpPr/>
          <p:nvPr/>
        </p:nvSpPr>
        <p:spPr>
          <a:xfrm>
            <a:off x="3780000" y="4895999"/>
            <a:ext cx="1004400" cy="738000"/>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ectangle 83"/>
          <p:cNvSpPr/>
          <p:nvPr/>
        </p:nvSpPr>
        <p:spPr>
          <a:xfrm>
            <a:off x="4086000" y="5066999"/>
            <a:ext cx="413999" cy="413999"/>
          </a:xfrm>
          <a:prstGeom prst="rect">
            <a:avLst/>
          </a:prstGeom>
          <a:solidFill>
            <a:srgbClr val="4FC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4086000" y="5066999"/>
            <a:ext cx="413999" cy="413999"/>
          </a:xfrm>
          <a:prstGeom prst="rect">
            <a:avLst/>
          </a:prstGeom>
          <a:noFill/>
        </p:spPr>
        <p:txBody>
          <a:bodyPr wrap="square">
            <a:spAutoFit/>
          </a:bodyPr>
          <a:lstStyle/>
          <a:p>
            <a:pPr algn="ctr"/>
            <a:r>
              <a:rPr sz="1400" b="1" i="0">
                <a:solidFill>
                  <a:srgbClr val="0B1E42"/>
                </a:solidFill>
              </a:rPr>
              <a:t>3</a:t>
            </a:r>
          </a:p>
        </p:txBody>
      </p:sp>
      <p:sp>
        <p:nvSpPr>
          <p:cNvPr id="86" name="Rectangle 85"/>
          <p:cNvSpPr/>
          <p:nvPr/>
        </p:nvSpPr>
        <p:spPr>
          <a:xfrm>
            <a:off x="4806000" y="4895999"/>
            <a:ext cx="1004400" cy="738000"/>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Rectangle 86"/>
          <p:cNvSpPr/>
          <p:nvPr/>
        </p:nvSpPr>
        <p:spPr>
          <a:xfrm>
            <a:off x="5112000" y="5066999"/>
            <a:ext cx="413999" cy="413999"/>
          </a:xfrm>
          <a:prstGeom prst="rect">
            <a:avLst/>
          </a:prstGeom>
          <a:solidFill>
            <a:srgbClr val="FF99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5112000" y="5066999"/>
            <a:ext cx="413999" cy="413999"/>
          </a:xfrm>
          <a:prstGeom prst="rect">
            <a:avLst/>
          </a:prstGeom>
          <a:noFill/>
        </p:spPr>
        <p:txBody>
          <a:bodyPr wrap="square">
            <a:spAutoFit/>
          </a:bodyPr>
          <a:lstStyle/>
          <a:p>
            <a:pPr algn="ctr"/>
            <a:r>
              <a:rPr sz="1400" b="1" i="0">
                <a:solidFill>
                  <a:srgbClr val="0B1E42"/>
                </a:solidFill>
              </a:rPr>
              <a:t>2</a:t>
            </a:r>
          </a:p>
        </p:txBody>
      </p:sp>
      <p:sp>
        <p:nvSpPr>
          <p:cNvPr id="89" name="Rectangle 88"/>
          <p:cNvSpPr/>
          <p:nvPr/>
        </p:nvSpPr>
        <p:spPr>
          <a:xfrm>
            <a:off x="144000" y="5651999"/>
            <a:ext cx="1584000" cy="738000"/>
          </a:xfrm>
          <a:prstGeom prst="rect">
            <a:avLst/>
          </a:prstGeom>
          <a:solidFill>
            <a:srgbClr val="0B1E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234000" y="5705999"/>
            <a:ext cx="1440000" cy="666000"/>
          </a:xfrm>
          <a:prstGeom prst="rect">
            <a:avLst/>
          </a:prstGeom>
          <a:noFill/>
        </p:spPr>
        <p:txBody>
          <a:bodyPr wrap="square">
            <a:spAutoFit/>
          </a:bodyPr>
          <a:lstStyle/>
          <a:p>
            <a:pPr algn="l"/>
            <a:r>
              <a:rPr sz="1000" b="0" i="0">
                <a:solidFill>
                  <a:srgbClr val="FFFFFF"/>
                </a:solidFill>
              </a:rPr>
              <a:t>Transparence prix</a:t>
            </a:r>
          </a:p>
        </p:txBody>
      </p:sp>
      <p:sp>
        <p:nvSpPr>
          <p:cNvPr id="91" name="Rectangle 90"/>
          <p:cNvSpPr/>
          <p:nvPr/>
        </p:nvSpPr>
        <p:spPr>
          <a:xfrm>
            <a:off x="1728000" y="5651999"/>
            <a:ext cx="1004400" cy="738000"/>
          </a:xfrm>
          <a:prstGeom prst="rect">
            <a:avLst/>
          </a:prstGeom>
          <a:solidFill>
            <a:srgbClr val="0B1E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Rectangle 91"/>
          <p:cNvSpPr/>
          <p:nvPr/>
        </p:nvSpPr>
        <p:spPr>
          <a:xfrm>
            <a:off x="2034000" y="5822999"/>
            <a:ext cx="413999" cy="413999"/>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2034000" y="5822999"/>
            <a:ext cx="413999" cy="413999"/>
          </a:xfrm>
          <a:prstGeom prst="rect">
            <a:avLst/>
          </a:prstGeom>
          <a:noFill/>
        </p:spPr>
        <p:txBody>
          <a:bodyPr wrap="square">
            <a:spAutoFit/>
          </a:bodyPr>
          <a:lstStyle/>
          <a:p>
            <a:pPr algn="ctr"/>
            <a:r>
              <a:rPr sz="1400" b="1" i="0">
                <a:solidFill>
                  <a:srgbClr val="0B1E42"/>
                </a:solidFill>
              </a:rPr>
              <a:t>5</a:t>
            </a:r>
          </a:p>
        </p:txBody>
      </p:sp>
      <p:sp>
        <p:nvSpPr>
          <p:cNvPr id="94" name="Rectangle 93"/>
          <p:cNvSpPr/>
          <p:nvPr/>
        </p:nvSpPr>
        <p:spPr>
          <a:xfrm>
            <a:off x="2754000" y="5651999"/>
            <a:ext cx="1004400" cy="738000"/>
          </a:xfrm>
          <a:prstGeom prst="rect">
            <a:avLst/>
          </a:prstGeom>
          <a:solidFill>
            <a:srgbClr val="0B1E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Rectangle 94"/>
          <p:cNvSpPr/>
          <p:nvPr/>
        </p:nvSpPr>
        <p:spPr>
          <a:xfrm>
            <a:off x="3060000" y="5822999"/>
            <a:ext cx="413999" cy="413999"/>
          </a:xfrm>
          <a:prstGeom prst="rect">
            <a:avLst/>
          </a:prstGeom>
          <a:solidFill>
            <a:srgbClr val="FF99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3060000" y="5822999"/>
            <a:ext cx="413999" cy="413999"/>
          </a:xfrm>
          <a:prstGeom prst="rect">
            <a:avLst/>
          </a:prstGeom>
          <a:noFill/>
        </p:spPr>
        <p:txBody>
          <a:bodyPr wrap="square">
            <a:spAutoFit/>
          </a:bodyPr>
          <a:lstStyle/>
          <a:p>
            <a:pPr algn="ctr"/>
            <a:r>
              <a:rPr sz="1400" b="1" i="0">
                <a:solidFill>
                  <a:srgbClr val="0B1E42"/>
                </a:solidFill>
              </a:rPr>
              <a:t>2</a:t>
            </a:r>
          </a:p>
        </p:txBody>
      </p:sp>
      <p:sp>
        <p:nvSpPr>
          <p:cNvPr id="97" name="Rectangle 96"/>
          <p:cNvSpPr/>
          <p:nvPr/>
        </p:nvSpPr>
        <p:spPr>
          <a:xfrm>
            <a:off x="3780000" y="5651999"/>
            <a:ext cx="1004400" cy="738000"/>
          </a:xfrm>
          <a:prstGeom prst="rect">
            <a:avLst/>
          </a:prstGeom>
          <a:solidFill>
            <a:srgbClr val="0B1E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Rectangle 97"/>
          <p:cNvSpPr/>
          <p:nvPr/>
        </p:nvSpPr>
        <p:spPr>
          <a:xfrm>
            <a:off x="4086000" y="5822999"/>
            <a:ext cx="413999" cy="413999"/>
          </a:xfrm>
          <a:prstGeom prst="rect">
            <a:avLst/>
          </a:prstGeom>
          <a:solidFill>
            <a:srgbClr val="00C8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4086000" y="5822999"/>
            <a:ext cx="413999" cy="413999"/>
          </a:xfrm>
          <a:prstGeom prst="rect">
            <a:avLst/>
          </a:prstGeom>
          <a:noFill/>
        </p:spPr>
        <p:txBody>
          <a:bodyPr wrap="square">
            <a:spAutoFit/>
          </a:bodyPr>
          <a:lstStyle/>
          <a:p>
            <a:pPr algn="ctr"/>
            <a:r>
              <a:rPr sz="1400" b="1" i="0">
                <a:solidFill>
                  <a:srgbClr val="0B1E42"/>
                </a:solidFill>
              </a:rPr>
              <a:t>4</a:t>
            </a:r>
          </a:p>
        </p:txBody>
      </p:sp>
      <p:sp>
        <p:nvSpPr>
          <p:cNvPr id="100" name="Rectangle 99"/>
          <p:cNvSpPr/>
          <p:nvPr/>
        </p:nvSpPr>
        <p:spPr>
          <a:xfrm>
            <a:off x="4806000" y="5651999"/>
            <a:ext cx="1004400" cy="738000"/>
          </a:xfrm>
          <a:prstGeom prst="rect">
            <a:avLst/>
          </a:prstGeom>
          <a:solidFill>
            <a:srgbClr val="0B1E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Rectangle 100"/>
          <p:cNvSpPr/>
          <p:nvPr/>
        </p:nvSpPr>
        <p:spPr>
          <a:xfrm>
            <a:off x="5112000" y="5822999"/>
            <a:ext cx="413999" cy="413999"/>
          </a:xfrm>
          <a:prstGeom prst="rect">
            <a:avLst/>
          </a:prstGeom>
          <a:solidFill>
            <a:srgbClr val="FF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5112000" y="5822999"/>
            <a:ext cx="413999" cy="413999"/>
          </a:xfrm>
          <a:prstGeom prst="rect">
            <a:avLst/>
          </a:prstGeom>
          <a:noFill/>
        </p:spPr>
        <p:txBody>
          <a:bodyPr wrap="square">
            <a:spAutoFit/>
          </a:bodyPr>
          <a:lstStyle/>
          <a:p>
            <a:pPr algn="ctr"/>
            <a:r>
              <a:rPr sz="1400" b="1" i="0">
                <a:solidFill>
                  <a:srgbClr val="FFFFFF"/>
                </a:solidFill>
              </a:rPr>
              <a:t>1</a:t>
            </a:r>
          </a:p>
        </p:txBody>
      </p:sp>
      <p:sp>
        <p:nvSpPr>
          <p:cNvPr id="103" name="TextBox 102"/>
          <p:cNvSpPr txBox="1"/>
          <p:nvPr/>
        </p:nvSpPr>
        <p:spPr>
          <a:xfrm>
            <a:off x="144000" y="6515999"/>
            <a:ext cx="720000" cy="259200"/>
          </a:xfrm>
          <a:prstGeom prst="rect">
            <a:avLst/>
          </a:prstGeom>
          <a:noFill/>
        </p:spPr>
        <p:txBody>
          <a:bodyPr wrap="square">
            <a:spAutoFit/>
          </a:bodyPr>
          <a:lstStyle/>
          <a:p>
            <a:pPr algn="l"/>
            <a:r>
              <a:rPr sz="900" b="0" i="1">
                <a:solidFill>
                  <a:srgbClr val="B0C4DE"/>
                </a:solidFill>
              </a:rPr>
              <a:t>Légende :</a:t>
            </a:r>
          </a:p>
        </p:txBody>
      </p:sp>
      <p:sp>
        <p:nvSpPr>
          <p:cNvPr id="104" name="Rectangle 103"/>
          <p:cNvSpPr/>
          <p:nvPr/>
        </p:nvSpPr>
        <p:spPr>
          <a:xfrm>
            <a:off x="936000" y="6515999"/>
            <a:ext cx="270000" cy="2592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extBox 104"/>
          <p:cNvSpPr txBox="1"/>
          <p:nvPr/>
        </p:nvSpPr>
        <p:spPr>
          <a:xfrm>
            <a:off x="936000" y="6515999"/>
            <a:ext cx="270000" cy="259200"/>
          </a:xfrm>
          <a:prstGeom prst="rect">
            <a:avLst/>
          </a:prstGeom>
          <a:noFill/>
        </p:spPr>
        <p:txBody>
          <a:bodyPr wrap="square">
            <a:spAutoFit/>
          </a:bodyPr>
          <a:lstStyle/>
          <a:p>
            <a:pPr algn="ctr"/>
            <a:r>
              <a:rPr sz="1000" b="1" i="0">
                <a:solidFill>
                  <a:srgbClr val="0B1E42"/>
                </a:solidFill>
              </a:rPr>
              <a:t>5</a:t>
            </a:r>
          </a:p>
        </p:txBody>
      </p:sp>
      <p:sp>
        <p:nvSpPr>
          <p:cNvPr id="106" name="TextBox 105"/>
          <p:cNvSpPr txBox="1"/>
          <p:nvPr/>
        </p:nvSpPr>
        <p:spPr>
          <a:xfrm>
            <a:off x="1231200" y="6515999"/>
            <a:ext cx="540000" cy="259200"/>
          </a:xfrm>
          <a:prstGeom prst="rect">
            <a:avLst/>
          </a:prstGeom>
          <a:noFill/>
        </p:spPr>
        <p:txBody>
          <a:bodyPr wrap="square">
            <a:spAutoFit/>
          </a:bodyPr>
          <a:lstStyle/>
          <a:p>
            <a:pPr algn="l"/>
            <a:r>
              <a:rPr sz="900" b="0" i="0">
                <a:solidFill>
                  <a:srgbClr val="B0C4DE"/>
                </a:solidFill>
              </a:rPr>
              <a:t>Leader</a:t>
            </a:r>
          </a:p>
        </p:txBody>
      </p:sp>
      <p:sp>
        <p:nvSpPr>
          <p:cNvPr id="107" name="Rectangle 106"/>
          <p:cNvSpPr/>
          <p:nvPr/>
        </p:nvSpPr>
        <p:spPr>
          <a:xfrm>
            <a:off x="1800000" y="6515999"/>
            <a:ext cx="270000" cy="259200"/>
          </a:xfrm>
          <a:prstGeom prst="rect">
            <a:avLst/>
          </a:prstGeom>
          <a:solidFill>
            <a:srgbClr val="00C8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TextBox 107"/>
          <p:cNvSpPr txBox="1"/>
          <p:nvPr/>
        </p:nvSpPr>
        <p:spPr>
          <a:xfrm>
            <a:off x="1800000" y="6515999"/>
            <a:ext cx="270000" cy="259200"/>
          </a:xfrm>
          <a:prstGeom prst="rect">
            <a:avLst/>
          </a:prstGeom>
          <a:noFill/>
        </p:spPr>
        <p:txBody>
          <a:bodyPr wrap="square">
            <a:spAutoFit/>
          </a:bodyPr>
          <a:lstStyle/>
          <a:p>
            <a:pPr algn="ctr"/>
            <a:r>
              <a:rPr sz="1000" b="1" i="0">
                <a:solidFill>
                  <a:srgbClr val="0B1E42"/>
                </a:solidFill>
              </a:rPr>
              <a:t>4</a:t>
            </a:r>
          </a:p>
        </p:txBody>
      </p:sp>
      <p:sp>
        <p:nvSpPr>
          <p:cNvPr id="109" name="TextBox 108"/>
          <p:cNvSpPr txBox="1"/>
          <p:nvPr/>
        </p:nvSpPr>
        <p:spPr>
          <a:xfrm>
            <a:off x="2095200" y="6515999"/>
            <a:ext cx="540000" cy="259200"/>
          </a:xfrm>
          <a:prstGeom prst="rect">
            <a:avLst/>
          </a:prstGeom>
          <a:noFill/>
        </p:spPr>
        <p:txBody>
          <a:bodyPr wrap="square">
            <a:spAutoFit/>
          </a:bodyPr>
          <a:lstStyle/>
          <a:p>
            <a:pPr algn="l"/>
            <a:r>
              <a:rPr sz="900" b="0" i="0">
                <a:solidFill>
                  <a:srgbClr val="B0C4DE"/>
                </a:solidFill>
              </a:rPr>
              <a:t>Fort</a:t>
            </a:r>
          </a:p>
        </p:txBody>
      </p:sp>
      <p:sp>
        <p:nvSpPr>
          <p:cNvPr id="110" name="Rectangle 109"/>
          <p:cNvSpPr/>
          <p:nvPr/>
        </p:nvSpPr>
        <p:spPr>
          <a:xfrm>
            <a:off x="2664000" y="6515999"/>
            <a:ext cx="270000" cy="259200"/>
          </a:xfrm>
          <a:prstGeom prst="rect">
            <a:avLst/>
          </a:prstGeom>
          <a:solidFill>
            <a:srgbClr val="4FC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TextBox 110"/>
          <p:cNvSpPr txBox="1"/>
          <p:nvPr/>
        </p:nvSpPr>
        <p:spPr>
          <a:xfrm>
            <a:off x="2664000" y="6515999"/>
            <a:ext cx="270000" cy="259200"/>
          </a:xfrm>
          <a:prstGeom prst="rect">
            <a:avLst/>
          </a:prstGeom>
          <a:noFill/>
        </p:spPr>
        <p:txBody>
          <a:bodyPr wrap="square">
            <a:spAutoFit/>
          </a:bodyPr>
          <a:lstStyle/>
          <a:p>
            <a:pPr algn="ctr"/>
            <a:r>
              <a:rPr sz="1000" b="1" i="0">
                <a:solidFill>
                  <a:srgbClr val="0B1E42"/>
                </a:solidFill>
              </a:rPr>
              <a:t>3</a:t>
            </a:r>
          </a:p>
        </p:txBody>
      </p:sp>
      <p:sp>
        <p:nvSpPr>
          <p:cNvPr id="112" name="TextBox 111"/>
          <p:cNvSpPr txBox="1"/>
          <p:nvPr/>
        </p:nvSpPr>
        <p:spPr>
          <a:xfrm>
            <a:off x="2959200" y="6515999"/>
            <a:ext cx="540000" cy="259200"/>
          </a:xfrm>
          <a:prstGeom prst="rect">
            <a:avLst/>
          </a:prstGeom>
          <a:noFill/>
        </p:spPr>
        <p:txBody>
          <a:bodyPr wrap="square">
            <a:spAutoFit/>
          </a:bodyPr>
          <a:lstStyle/>
          <a:p>
            <a:pPr algn="l"/>
            <a:r>
              <a:rPr sz="900" b="0" i="0">
                <a:solidFill>
                  <a:srgbClr val="B0C4DE"/>
                </a:solidFill>
              </a:rPr>
              <a:t>Moyen</a:t>
            </a:r>
          </a:p>
        </p:txBody>
      </p:sp>
      <p:sp>
        <p:nvSpPr>
          <p:cNvPr id="113" name="Rectangle 112"/>
          <p:cNvSpPr/>
          <p:nvPr/>
        </p:nvSpPr>
        <p:spPr>
          <a:xfrm>
            <a:off x="3528000" y="6515999"/>
            <a:ext cx="270000" cy="259200"/>
          </a:xfrm>
          <a:prstGeom prst="rect">
            <a:avLst/>
          </a:prstGeom>
          <a:solidFill>
            <a:srgbClr val="FF99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TextBox 113"/>
          <p:cNvSpPr txBox="1"/>
          <p:nvPr/>
        </p:nvSpPr>
        <p:spPr>
          <a:xfrm>
            <a:off x="3528000" y="6515999"/>
            <a:ext cx="270000" cy="259200"/>
          </a:xfrm>
          <a:prstGeom prst="rect">
            <a:avLst/>
          </a:prstGeom>
          <a:noFill/>
        </p:spPr>
        <p:txBody>
          <a:bodyPr wrap="square">
            <a:spAutoFit/>
          </a:bodyPr>
          <a:lstStyle/>
          <a:p>
            <a:pPr algn="ctr"/>
            <a:r>
              <a:rPr sz="1000" b="1" i="0">
                <a:solidFill>
                  <a:srgbClr val="0B1E42"/>
                </a:solidFill>
              </a:rPr>
              <a:t>2</a:t>
            </a:r>
          </a:p>
        </p:txBody>
      </p:sp>
      <p:sp>
        <p:nvSpPr>
          <p:cNvPr id="115" name="TextBox 114"/>
          <p:cNvSpPr txBox="1"/>
          <p:nvPr/>
        </p:nvSpPr>
        <p:spPr>
          <a:xfrm>
            <a:off x="3823200" y="6515999"/>
            <a:ext cx="540000" cy="259200"/>
          </a:xfrm>
          <a:prstGeom prst="rect">
            <a:avLst/>
          </a:prstGeom>
          <a:noFill/>
        </p:spPr>
        <p:txBody>
          <a:bodyPr wrap="square">
            <a:spAutoFit/>
          </a:bodyPr>
          <a:lstStyle/>
          <a:p>
            <a:pPr algn="l"/>
            <a:r>
              <a:rPr sz="900" b="0" i="0">
                <a:solidFill>
                  <a:srgbClr val="B0C4DE"/>
                </a:solidFill>
              </a:rPr>
              <a:t>Faible</a:t>
            </a:r>
          </a:p>
        </p:txBody>
      </p:sp>
      <p:sp>
        <p:nvSpPr>
          <p:cNvPr id="116" name="Rectangle 115"/>
          <p:cNvSpPr/>
          <p:nvPr/>
        </p:nvSpPr>
        <p:spPr>
          <a:xfrm>
            <a:off x="4392000" y="6515999"/>
            <a:ext cx="270000" cy="259200"/>
          </a:xfrm>
          <a:prstGeom prst="rect">
            <a:avLst/>
          </a:prstGeom>
          <a:solidFill>
            <a:srgbClr val="FF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TextBox 116"/>
          <p:cNvSpPr txBox="1"/>
          <p:nvPr/>
        </p:nvSpPr>
        <p:spPr>
          <a:xfrm>
            <a:off x="4392000" y="6515999"/>
            <a:ext cx="270000" cy="259200"/>
          </a:xfrm>
          <a:prstGeom prst="rect">
            <a:avLst/>
          </a:prstGeom>
          <a:noFill/>
        </p:spPr>
        <p:txBody>
          <a:bodyPr wrap="square">
            <a:spAutoFit/>
          </a:bodyPr>
          <a:lstStyle/>
          <a:p>
            <a:pPr algn="ctr"/>
            <a:r>
              <a:rPr sz="1000" b="1" i="0">
                <a:solidFill>
                  <a:srgbClr val="FFFFFF"/>
                </a:solidFill>
              </a:rPr>
              <a:t>1</a:t>
            </a:r>
          </a:p>
        </p:txBody>
      </p:sp>
      <p:sp>
        <p:nvSpPr>
          <p:cNvPr id="118" name="TextBox 117"/>
          <p:cNvSpPr txBox="1"/>
          <p:nvPr/>
        </p:nvSpPr>
        <p:spPr>
          <a:xfrm>
            <a:off x="4687200" y="6515999"/>
            <a:ext cx="540000" cy="259200"/>
          </a:xfrm>
          <a:prstGeom prst="rect">
            <a:avLst/>
          </a:prstGeom>
          <a:noFill/>
        </p:spPr>
        <p:txBody>
          <a:bodyPr wrap="square">
            <a:spAutoFit/>
          </a:bodyPr>
          <a:lstStyle/>
          <a:p>
            <a:pPr algn="l"/>
            <a:r>
              <a:rPr sz="900" b="0" i="0">
                <a:solidFill>
                  <a:srgbClr val="B0C4DE"/>
                </a:solidFill>
              </a:rPr>
              <a:t>Absent</a:t>
            </a:r>
          </a:p>
        </p:txBody>
      </p:sp>
      <p:sp>
        <p:nvSpPr>
          <p:cNvPr id="119" name="Rectangle 118"/>
          <p:cNvSpPr/>
          <p:nvPr/>
        </p:nvSpPr>
        <p:spPr>
          <a:xfrm>
            <a:off x="5976000" y="1458000"/>
            <a:ext cx="3024000" cy="1044000"/>
          </a:xfrm>
          <a:prstGeom prst="rect">
            <a:avLst/>
          </a:prstGeom>
          <a:solidFill>
            <a:srgbClr val="132B5E"/>
          </a:solidFill>
          <a:ln w="19050">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Rectangle 119"/>
          <p:cNvSpPr/>
          <p:nvPr/>
        </p:nvSpPr>
        <p:spPr>
          <a:xfrm>
            <a:off x="5976000" y="1458000"/>
            <a:ext cx="97200" cy="10440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TextBox 120"/>
          <p:cNvSpPr txBox="1"/>
          <p:nvPr/>
        </p:nvSpPr>
        <p:spPr>
          <a:xfrm>
            <a:off x="6138000" y="1522800"/>
            <a:ext cx="2790000" cy="432000"/>
          </a:xfrm>
          <a:prstGeom prst="rect">
            <a:avLst/>
          </a:prstGeom>
          <a:noFill/>
        </p:spPr>
        <p:txBody>
          <a:bodyPr wrap="square">
            <a:spAutoFit/>
          </a:bodyPr>
          <a:lstStyle/>
          <a:p>
            <a:pPr algn="l"/>
            <a:r>
              <a:rPr sz="1300" b="1" i="0">
                <a:solidFill>
                  <a:srgbClr val="D4AF37"/>
                </a:solidFill>
              </a:rPr>
              <a:t>12 services
unifiés</a:t>
            </a:r>
          </a:p>
        </p:txBody>
      </p:sp>
      <p:sp>
        <p:nvSpPr>
          <p:cNvPr id="122" name="TextBox 121"/>
          <p:cNvSpPr txBox="1"/>
          <p:nvPr/>
        </p:nvSpPr>
        <p:spPr>
          <a:xfrm>
            <a:off x="6138000" y="1961999"/>
            <a:ext cx="2790000" cy="504000"/>
          </a:xfrm>
          <a:prstGeom prst="rect">
            <a:avLst/>
          </a:prstGeom>
          <a:noFill/>
        </p:spPr>
        <p:txBody>
          <a:bodyPr wrap="square">
            <a:spAutoFit/>
          </a:bodyPr>
          <a:lstStyle/>
          <a:p>
            <a:pPr algn="l"/>
            <a:r>
              <a:rPr sz="1000" b="0" i="0">
                <a:solidFill>
                  <a:srgbClr val="B0C4DE"/>
                </a:solidFill>
              </a:rPr>
              <a:t>Aucun concurrent
n'en offre plus de 2</a:t>
            </a:r>
          </a:p>
        </p:txBody>
      </p:sp>
      <p:sp>
        <p:nvSpPr>
          <p:cNvPr id="123" name="Rectangle 122"/>
          <p:cNvSpPr/>
          <p:nvPr/>
        </p:nvSpPr>
        <p:spPr>
          <a:xfrm>
            <a:off x="5976000" y="2664000"/>
            <a:ext cx="3024000" cy="1044000"/>
          </a:xfrm>
          <a:prstGeom prst="rect">
            <a:avLst/>
          </a:prstGeom>
          <a:solidFill>
            <a:srgbClr val="132B5E"/>
          </a:solidFill>
          <a:ln w="19050">
            <a:solidFill>
              <a:srgbClr val="9B59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Rectangle 123"/>
          <p:cNvSpPr/>
          <p:nvPr/>
        </p:nvSpPr>
        <p:spPr>
          <a:xfrm>
            <a:off x="5976000" y="2664000"/>
            <a:ext cx="97200" cy="1044000"/>
          </a:xfrm>
          <a:prstGeom prst="rect">
            <a:avLst/>
          </a:prstGeom>
          <a:solidFill>
            <a:srgbClr val="9B59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TextBox 124"/>
          <p:cNvSpPr txBox="1"/>
          <p:nvPr/>
        </p:nvSpPr>
        <p:spPr>
          <a:xfrm>
            <a:off x="6138000" y="2728800"/>
            <a:ext cx="2790000" cy="432000"/>
          </a:xfrm>
          <a:prstGeom prst="rect">
            <a:avLst/>
          </a:prstGeom>
          <a:noFill/>
        </p:spPr>
        <p:txBody>
          <a:bodyPr wrap="square">
            <a:spAutoFit/>
          </a:bodyPr>
          <a:lstStyle/>
          <a:p>
            <a:pPr algn="l"/>
            <a:r>
              <a:rPr sz="1300" b="1" i="0">
                <a:solidFill>
                  <a:srgbClr val="9B59B6"/>
                </a:solidFill>
              </a:rPr>
              <a:t>YukpoIA</a:t>
            </a:r>
          </a:p>
        </p:txBody>
      </p:sp>
      <p:sp>
        <p:nvSpPr>
          <p:cNvPr id="126" name="TextBox 125"/>
          <p:cNvSpPr txBox="1"/>
          <p:nvPr/>
        </p:nvSpPr>
        <p:spPr>
          <a:xfrm>
            <a:off x="6138000" y="3167999"/>
            <a:ext cx="2790000" cy="504000"/>
          </a:xfrm>
          <a:prstGeom prst="rect">
            <a:avLst/>
          </a:prstGeom>
          <a:noFill/>
        </p:spPr>
        <p:txBody>
          <a:bodyPr wrap="square">
            <a:spAutoFit/>
          </a:bodyPr>
          <a:lstStyle/>
          <a:p>
            <a:pPr algn="l"/>
            <a:r>
              <a:rPr sz="1000" b="0" i="0">
                <a:solidFill>
                  <a:srgbClr val="B0C4DE"/>
                </a:solidFill>
              </a:rPr>
              <a:t>Assistant IA intégré
24h/24 — unique Afrique</a:t>
            </a:r>
          </a:p>
        </p:txBody>
      </p:sp>
      <p:sp>
        <p:nvSpPr>
          <p:cNvPr id="127" name="Rectangle 126"/>
          <p:cNvSpPr/>
          <p:nvPr/>
        </p:nvSpPr>
        <p:spPr>
          <a:xfrm>
            <a:off x="5976000" y="3870000"/>
            <a:ext cx="3024000" cy="1044000"/>
          </a:xfrm>
          <a:prstGeom prst="rect">
            <a:avLst/>
          </a:prstGeom>
          <a:solidFill>
            <a:srgbClr val="132B5E"/>
          </a:solidFill>
          <a:ln w="19050">
            <a:solidFill>
              <a:srgbClr val="00C8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Rectangle 127"/>
          <p:cNvSpPr/>
          <p:nvPr/>
        </p:nvSpPr>
        <p:spPr>
          <a:xfrm>
            <a:off x="5976000" y="3870000"/>
            <a:ext cx="97200" cy="1044000"/>
          </a:xfrm>
          <a:prstGeom prst="rect">
            <a:avLst/>
          </a:prstGeom>
          <a:solidFill>
            <a:srgbClr val="00C8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TextBox 128"/>
          <p:cNvSpPr txBox="1"/>
          <p:nvPr/>
        </p:nvSpPr>
        <p:spPr>
          <a:xfrm>
            <a:off x="6138000" y="3934800"/>
            <a:ext cx="2790000" cy="432000"/>
          </a:xfrm>
          <a:prstGeom prst="rect">
            <a:avLst/>
          </a:prstGeom>
          <a:noFill/>
        </p:spPr>
        <p:txBody>
          <a:bodyPr wrap="square">
            <a:spAutoFit/>
          </a:bodyPr>
          <a:lstStyle/>
          <a:p>
            <a:pPr algn="l"/>
            <a:r>
              <a:rPr sz="1300" b="1" i="0">
                <a:solidFill>
                  <a:srgbClr val="00C87A"/>
                </a:solidFill>
              </a:rPr>
              <a:t>Creator Studio</a:t>
            </a:r>
          </a:p>
        </p:txBody>
      </p:sp>
      <p:sp>
        <p:nvSpPr>
          <p:cNvPr id="130" name="TextBox 129"/>
          <p:cNvSpPr txBox="1"/>
          <p:nvPr/>
        </p:nvSpPr>
        <p:spPr>
          <a:xfrm>
            <a:off x="6138000" y="4373999"/>
            <a:ext cx="2790000" cy="504000"/>
          </a:xfrm>
          <a:prstGeom prst="rect">
            <a:avLst/>
          </a:prstGeom>
          <a:noFill/>
        </p:spPr>
        <p:txBody>
          <a:bodyPr wrap="square">
            <a:spAutoFit/>
          </a:bodyPr>
          <a:lstStyle/>
          <a:p>
            <a:pPr algn="l"/>
            <a:r>
              <a:rPr sz="1000" b="0" i="0">
                <a:solidFill>
                  <a:srgbClr val="B0C4DE"/>
                </a:solidFill>
              </a:rPr>
              <a:t>Vidéo &amp; visuels
directement dans l'app</a:t>
            </a:r>
          </a:p>
        </p:txBody>
      </p:sp>
      <p:sp>
        <p:nvSpPr>
          <p:cNvPr id="131" name="Rectangle 130"/>
          <p:cNvSpPr/>
          <p:nvPr/>
        </p:nvSpPr>
        <p:spPr>
          <a:xfrm>
            <a:off x="5976000" y="5076000"/>
            <a:ext cx="3024000" cy="1044000"/>
          </a:xfrm>
          <a:prstGeom prst="rect">
            <a:avLst/>
          </a:prstGeom>
          <a:solidFill>
            <a:srgbClr val="132B5E"/>
          </a:solidFill>
          <a:ln w="19050">
            <a:solidFill>
              <a:srgbClr val="FF99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Rectangle 131"/>
          <p:cNvSpPr/>
          <p:nvPr/>
        </p:nvSpPr>
        <p:spPr>
          <a:xfrm>
            <a:off x="5976000" y="5076000"/>
            <a:ext cx="97200" cy="1044000"/>
          </a:xfrm>
          <a:prstGeom prst="rect">
            <a:avLst/>
          </a:prstGeom>
          <a:solidFill>
            <a:srgbClr val="FF99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TextBox 132"/>
          <p:cNvSpPr txBox="1"/>
          <p:nvPr/>
        </p:nvSpPr>
        <p:spPr>
          <a:xfrm>
            <a:off x="6138000" y="5140800"/>
            <a:ext cx="2790000" cy="432000"/>
          </a:xfrm>
          <a:prstGeom prst="rect">
            <a:avLst/>
          </a:prstGeom>
          <a:noFill/>
        </p:spPr>
        <p:txBody>
          <a:bodyPr wrap="square">
            <a:spAutoFit/>
          </a:bodyPr>
          <a:lstStyle/>
          <a:p>
            <a:pPr algn="l"/>
            <a:r>
              <a:rPr sz="1300" b="1" i="0">
                <a:solidFill>
                  <a:srgbClr val="FF9933"/>
                </a:solidFill>
              </a:rPr>
              <a:t>Bourse du Livre</a:t>
            </a:r>
          </a:p>
        </p:txBody>
      </p:sp>
      <p:sp>
        <p:nvSpPr>
          <p:cNvPr id="134" name="TextBox 133"/>
          <p:cNvSpPr txBox="1"/>
          <p:nvPr/>
        </p:nvSpPr>
        <p:spPr>
          <a:xfrm>
            <a:off x="6138000" y="5579999"/>
            <a:ext cx="2790000" cy="504000"/>
          </a:xfrm>
          <a:prstGeom prst="rect">
            <a:avLst/>
          </a:prstGeom>
          <a:noFill/>
        </p:spPr>
        <p:txBody>
          <a:bodyPr wrap="square">
            <a:spAutoFit/>
          </a:bodyPr>
          <a:lstStyle/>
          <a:p>
            <a:pPr algn="l"/>
            <a:r>
              <a:rPr sz="1000" b="0" i="0">
                <a:solidFill>
                  <a:srgbClr val="B0C4DE"/>
                </a:solidFill>
              </a:rPr>
              <a:t>Marché scolaire num.
exclusif au Cameroun</a:t>
            </a:r>
          </a:p>
        </p:txBody>
      </p:sp>
      <p:sp>
        <p:nvSpPr>
          <p:cNvPr id="135" name="TextBox 134"/>
          <p:cNvSpPr txBox="1"/>
          <p:nvPr/>
        </p:nvSpPr>
        <p:spPr>
          <a:xfrm>
            <a:off x="144000" y="6263999"/>
            <a:ext cx="8856000" cy="259200"/>
          </a:xfrm>
          <a:prstGeom prst="rect">
            <a:avLst/>
          </a:prstGeom>
          <a:noFill/>
        </p:spPr>
        <p:txBody>
          <a:bodyPr wrap="square">
            <a:spAutoFit/>
          </a:bodyPr>
          <a:lstStyle/>
          <a:p>
            <a:pPr algn="ctr"/>
            <a:r>
              <a:rPr sz="1200" b="1" i="1">
                <a:solidFill>
                  <a:srgbClr val="D4AF37"/>
                </a:solidFill>
              </a:rPr>
              <a:t>YUKPO = le seul acteur 360° du marché camerounais.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B1E42"/>
        </a:solidFill>
        <a:effectLst/>
      </p:bgPr>
    </p:bg>
    <p:spTree>
      <p:nvGrpSpPr>
        <p:cNvPr id="1" name=""/>
        <p:cNvGrpSpPr/>
        <p:nvPr/>
      </p:nvGrpSpPr>
      <p:grpSpPr/>
      <p:sp>
        <p:nvSpPr>
          <p:cNvPr id="2" name="Rectangle 1"/>
          <p:cNvSpPr/>
          <p:nvPr/>
        </p:nvSpPr>
        <p:spPr>
          <a:xfrm>
            <a:off x="0" y="0"/>
            <a:ext cx="9144000" cy="4860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6000"/>
            <a:ext cx="144000" cy="6138000"/>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32000" y="36000"/>
            <a:ext cx="540000" cy="413999"/>
          </a:xfrm>
          <a:prstGeom prst="rect">
            <a:avLst/>
          </a:prstGeom>
          <a:noFill/>
        </p:spPr>
        <p:txBody>
          <a:bodyPr wrap="square">
            <a:spAutoFit/>
          </a:bodyPr>
          <a:lstStyle/>
          <a:p>
            <a:pPr algn="ctr"/>
            <a:r>
              <a:rPr sz="1400" b="1" i="0">
                <a:solidFill>
                  <a:srgbClr val="0B1E42"/>
                </a:solidFill>
              </a:rPr>
              <a:t>8</a:t>
            </a:r>
          </a:p>
        </p:txBody>
      </p:sp>
      <p:sp>
        <p:nvSpPr>
          <p:cNvPr id="5" name="TextBox 4"/>
          <p:cNvSpPr txBox="1"/>
          <p:nvPr/>
        </p:nvSpPr>
        <p:spPr>
          <a:xfrm>
            <a:off x="251999" y="540000"/>
            <a:ext cx="8280000" cy="540000"/>
          </a:xfrm>
          <a:prstGeom prst="rect">
            <a:avLst/>
          </a:prstGeom>
          <a:noFill/>
        </p:spPr>
        <p:txBody>
          <a:bodyPr wrap="square">
            <a:spAutoFit/>
          </a:bodyPr>
          <a:lstStyle/>
          <a:p>
            <a:pPr algn="l"/>
            <a:r>
              <a:rPr sz="2100" b="1" i="0">
                <a:solidFill>
                  <a:srgbClr val="FFFFFF"/>
                </a:solidFill>
              </a:rPr>
              <a:t>Expansion — Leader en Afrique d'ici 2030</a:t>
            </a:r>
          </a:p>
        </p:txBody>
      </p:sp>
      <p:sp>
        <p:nvSpPr>
          <p:cNvPr id="6" name="TextBox 5"/>
          <p:cNvSpPr txBox="1"/>
          <p:nvPr/>
        </p:nvSpPr>
        <p:spPr>
          <a:xfrm>
            <a:off x="251999" y="1098000"/>
            <a:ext cx="8640001" cy="288000"/>
          </a:xfrm>
          <a:prstGeom prst="rect">
            <a:avLst/>
          </a:prstGeom>
          <a:noFill/>
        </p:spPr>
        <p:txBody>
          <a:bodyPr wrap="square">
            <a:spAutoFit/>
          </a:bodyPr>
          <a:lstStyle/>
          <a:p>
            <a:pPr algn="l"/>
            <a:r>
              <a:rPr sz="1100" b="0" i="1">
                <a:solidFill>
                  <a:srgbClr val="D4AF37"/>
                </a:solidFill>
              </a:rPr>
              <a:t>Du Cameroun à l'Afrique de l'Ouest, puis continentale : une stratégie étape par étape</a:t>
            </a:r>
          </a:p>
        </p:txBody>
      </p:sp>
      <p:sp>
        <p:nvSpPr>
          <p:cNvPr id="7" name="Rectangle 6"/>
          <p:cNvSpPr/>
          <p:nvPr/>
        </p:nvSpPr>
        <p:spPr>
          <a:xfrm>
            <a:off x="0" y="6642000"/>
            <a:ext cx="9144000" cy="2160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0000" y="6642000"/>
            <a:ext cx="6480000" cy="216000"/>
          </a:xfrm>
          <a:prstGeom prst="rect">
            <a:avLst/>
          </a:prstGeom>
          <a:noFill/>
        </p:spPr>
        <p:txBody>
          <a:bodyPr wrap="square">
            <a:spAutoFit/>
          </a:bodyPr>
          <a:lstStyle/>
          <a:p>
            <a:pPr algn="l"/>
            <a:r>
              <a:rPr sz="900" b="0" i="0">
                <a:solidFill>
                  <a:srgbClr val="0B1E42"/>
                </a:solidFill>
              </a:rPr>
              <a:t>YUKPO  |  YUKPO COMPANY SARL  |  Confidentiel  |  2026</a:t>
            </a:r>
          </a:p>
        </p:txBody>
      </p:sp>
      <p:sp>
        <p:nvSpPr>
          <p:cNvPr id="9" name="Rectangle 8"/>
          <p:cNvSpPr/>
          <p:nvPr/>
        </p:nvSpPr>
        <p:spPr>
          <a:xfrm>
            <a:off x="172800" y="1458000"/>
            <a:ext cx="2070000" cy="4752000"/>
          </a:xfrm>
          <a:prstGeom prst="rect">
            <a:avLst/>
          </a:prstGeom>
          <a:solidFill>
            <a:srgbClr val="132B5E"/>
          </a:solidFill>
          <a:ln w="19050">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72800" y="1458000"/>
            <a:ext cx="2070000" cy="972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80800" y="1594800"/>
            <a:ext cx="306000" cy="3060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80800" y="1594800"/>
            <a:ext cx="306000" cy="306000"/>
          </a:xfrm>
          <a:prstGeom prst="rect">
            <a:avLst/>
          </a:prstGeom>
          <a:noFill/>
        </p:spPr>
        <p:txBody>
          <a:bodyPr wrap="square">
            <a:spAutoFit/>
          </a:bodyPr>
          <a:lstStyle/>
          <a:p>
            <a:pPr algn="ctr"/>
            <a:r>
              <a:rPr sz="1300" b="1" i="0">
                <a:solidFill>
                  <a:srgbClr val="0B1E42"/>
                </a:solidFill>
              </a:rPr>
              <a:t>1</a:t>
            </a:r>
          </a:p>
        </p:txBody>
      </p:sp>
      <p:sp>
        <p:nvSpPr>
          <p:cNvPr id="13" name="TextBox 12"/>
          <p:cNvSpPr txBox="1"/>
          <p:nvPr/>
        </p:nvSpPr>
        <p:spPr>
          <a:xfrm>
            <a:off x="633600" y="1602000"/>
            <a:ext cx="1548000" cy="259200"/>
          </a:xfrm>
          <a:prstGeom prst="rect">
            <a:avLst/>
          </a:prstGeom>
          <a:noFill/>
        </p:spPr>
        <p:txBody>
          <a:bodyPr wrap="square">
            <a:spAutoFit/>
          </a:bodyPr>
          <a:lstStyle/>
          <a:p>
            <a:pPr algn="l"/>
            <a:r>
              <a:rPr sz="1000" b="1" i="0">
                <a:solidFill>
                  <a:srgbClr val="D4AF37"/>
                </a:solidFill>
              </a:rPr>
              <a:t>Phase 1</a:t>
            </a:r>
          </a:p>
        </p:txBody>
      </p:sp>
      <p:sp>
        <p:nvSpPr>
          <p:cNvPr id="14" name="TextBox 13"/>
          <p:cNvSpPr txBox="1"/>
          <p:nvPr/>
        </p:nvSpPr>
        <p:spPr>
          <a:xfrm>
            <a:off x="280800" y="1954799"/>
            <a:ext cx="1890000" cy="234000"/>
          </a:xfrm>
          <a:prstGeom prst="rect">
            <a:avLst/>
          </a:prstGeom>
          <a:noFill/>
        </p:spPr>
        <p:txBody>
          <a:bodyPr wrap="square">
            <a:spAutoFit/>
          </a:bodyPr>
          <a:lstStyle/>
          <a:p>
            <a:pPr algn="l"/>
            <a:r>
              <a:rPr sz="900" b="0" i="1">
                <a:solidFill>
                  <a:srgbClr val="D4AF37"/>
                </a:solidFill>
              </a:rPr>
              <a:t>T2 – T4 2026</a:t>
            </a:r>
          </a:p>
        </p:txBody>
      </p:sp>
      <p:sp>
        <p:nvSpPr>
          <p:cNvPr id="15" name="Rectangle 14"/>
          <p:cNvSpPr/>
          <p:nvPr/>
        </p:nvSpPr>
        <p:spPr>
          <a:xfrm>
            <a:off x="280800" y="2214000"/>
            <a:ext cx="1854000" cy="180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80800" y="2268000"/>
            <a:ext cx="1890000" cy="503999"/>
          </a:xfrm>
          <a:prstGeom prst="rect">
            <a:avLst/>
          </a:prstGeom>
          <a:noFill/>
        </p:spPr>
        <p:txBody>
          <a:bodyPr wrap="square">
            <a:spAutoFit/>
          </a:bodyPr>
          <a:lstStyle/>
          <a:p>
            <a:pPr algn="l"/>
            <a:r>
              <a:rPr sz="1400" b="1" i="0">
                <a:solidFill>
                  <a:srgbClr val="FFFFFF"/>
                </a:solidFill>
              </a:rPr>
              <a:t>Yaoundé
+ Douala</a:t>
            </a:r>
          </a:p>
        </p:txBody>
      </p:sp>
      <p:sp>
        <p:nvSpPr>
          <p:cNvPr id="17" name="TextBox 16"/>
          <p:cNvSpPr txBox="1"/>
          <p:nvPr/>
        </p:nvSpPr>
        <p:spPr>
          <a:xfrm>
            <a:off x="280800" y="2808000"/>
            <a:ext cx="1890000" cy="3312000"/>
          </a:xfrm>
          <a:prstGeom prst="rect">
            <a:avLst/>
          </a:prstGeom>
          <a:noFill/>
        </p:spPr>
        <p:txBody>
          <a:bodyPr wrap="square">
            <a:spAutoFit/>
          </a:bodyPr>
          <a:lstStyle/>
          <a:p>
            <a:pPr algn="l"/>
            <a:r>
              <a:rPr sz="1000" b="0" i="0">
                <a:solidFill>
                  <a:srgbClr val="B0C4DE"/>
                </a:solidFill>
              </a:rPr>
              <a:t>Lancement simultané des 2 villes.
9 services + Bourse du Livre.
25 000 actifs/mois visés.
Base opérationnelle solide.</a:t>
            </a:r>
          </a:p>
        </p:txBody>
      </p:sp>
      <p:sp>
        <p:nvSpPr>
          <p:cNvPr id="18" name="Rectangle 17"/>
          <p:cNvSpPr/>
          <p:nvPr/>
        </p:nvSpPr>
        <p:spPr>
          <a:xfrm>
            <a:off x="2415600" y="1458000"/>
            <a:ext cx="2070000" cy="4752000"/>
          </a:xfrm>
          <a:prstGeom prst="rect">
            <a:avLst/>
          </a:prstGeom>
          <a:solidFill>
            <a:srgbClr val="132B5E"/>
          </a:solidFill>
          <a:ln w="19050">
            <a:solidFill>
              <a:srgbClr val="4FC3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415600" y="1458000"/>
            <a:ext cx="2070000" cy="97200"/>
          </a:xfrm>
          <a:prstGeom prst="rect">
            <a:avLst/>
          </a:prstGeom>
          <a:solidFill>
            <a:srgbClr val="4FC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523600" y="1594800"/>
            <a:ext cx="306000" cy="306000"/>
          </a:xfrm>
          <a:prstGeom prst="rect">
            <a:avLst/>
          </a:prstGeom>
          <a:solidFill>
            <a:srgbClr val="4FC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523600" y="1594800"/>
            <a:ext cx="306000" cy="306000"/>
          </a:xfrm>
          <a:prstGeom prst="rect">
            <a:avLst/>
          </a:prstGeom>
          <a:noFill/>
        </p:spPr>
        <p:txBody>
          <a:bodyPr wrap="square">
            <a:spAutoFit/>
          </a:bodyPr>
          <a:lstStyle/>
          <a:p>
            <a:pPr algn="ctr"/>
            <a:r>
              <a:rPr sz="1300" b="1" i="0">
                <a:solidFill>
                  <a:srgbClr val="0B1E42"/>
                </a:solidFill>
              </a:rPr>
              <a:t>2</a:t>
            </a:r>
          </a:p>
        </p:txBody>
      </p:sp>
      <p:sp>
        <p:nvSpPr>
          <p:cNvPr id="22" name="TextBox 21"/>
          <p:cNvSpPr txBox="1"/>
          <p:nvPr/>
        </p:nvSpPr>
        <p:spPr>
          <a:xfrm>
            <a:off x="2876400" y="1602000"/>
            <a:ext cx="1548000" cy="259200"/>
          </a:xfrm>
          <a:prstGeom prst="rect">
            <a:avLst/>
          </a:prstGeom>
          <a:noFill/>
        </p:spPr>
        <p:txBody>
          <a:bodyPr wrap="square">
            <a:spAutoFit/>
          </a:bodyPr>
          <a:lstStyle/>
          <a:p>
            <a:pPr algn="l"/>
            <a:r>
              <a:rPr sz="1000" b="1" i="0">
                <a:solidFill>
                  <a:srgbClr val="4FC3F7"/>
                </a:solidFill>
              </a:rPr>
              <a:t>Phase 2</a:t>
            </a:r>
          </a:p>
        </p:txBody>
      </p:sp>
      <p:sp>
        <p:nvSpPr>
          <p:cNvPr id="23" name="TextBox 22"/>
          <p:cNvSpPr txBox="1"/>
          <p:nvPr/>
        </p:nvSpPr>
        <p:spPr>
          <a:xfrm>
            <a:off x="2523600" y="1954799"/>
            <a:ext cx="1890000" cy="234000"/>
          </a:xfrm>
          <a:prstGeom prst="rect">
            <a:avLst/>
          </a:prstGeom>
          <a:noFill/>
        </p:spPr>
        <p:txBody>
          <a:bodyPr wrap="square">
            <a:spAutoFit/>
          </a:bodyPr>
          <a:lstStyle/>
          <a:p>
            <a:pPr algn="l"/>
            <a:r>
              <a:rPr sz="900" b="0" i="1">
                <a:solidFill>
                  <a:srgbClr val="D4AF37"/>
                </a:solidFill>
              </a:rPr>
              <a:t>2027</a:t>
            </a:r>
          </a:p>
        </p:txBody>
      </p:sp>
      <p:sp>
        <p:nvSpPr>
          <p:cNvPr id="24" name="Rectangle 23"/>
          <p:cNvSpPr/>
          <p:nvPr/>
        </p:nvSpPr>
        <p:spPr>
          <a:xfrm>
            <a:off x="2523600" y="2214000"/>
            <a:ext cx="1854000" cy="18000"/>
          </a:xfrm>
          <a:prstGeom prst="rect">
            <a:avLst/>
          </a:prstGeom>
          <a:solidFill>
            <a:srgbClr val="4FC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523600" y="2268000"/>
            <a:ext cx="1890000" cy="503999"/>
          </a:xfrm>
          <a:prstGeom prst="rect">
            <a:avLst/>
          </a:prstGeom>
          <a:noFill/>
        </p:spPr>
        <p:txBody>
          <a:bodyPr wrap="square">
            <a:spAutoFit/>
          </a:bodyPr>
          <a:lstStyle/>
          <a:p>
            <a:pPr algn="l"/>
            <a:r>
              <a:rPr sz="1400" b="1" i="0">
                <a:solidFill>
                  <a:srgbClr val="FFFFFF"/>
                </a:solidFill>
              </a:rPr>
              <a:t>Bafoussam
+ Cameroun</a:t>
            </a:r>
          </a:p>
        </p:txBody>
      </p:sp>
      <p:sp>
        <p:nvSpPr>
          <p:cNvPr id="26" name="TextBox 25"/>
          <p:cNvSpPr txBox="1"/>
          <p:nvPr/>
        </p:nvSpPr>
        <p:spPr>
          <a:xfrm>
            <a:off x="2523600" y="2808000"/>
            <a:ext cx="1890000" cy="3312000"/>
          </a:xfrm>
          <a:prstGeom prst="rect">
            <a:avLst/>
          </a:prstGeom>
          <a:noFill/>
        </p:spPr>
        <p:txBody>
          <a:bodyPr wrap="square">
            <a:spAutoFit/>
          </a:bodyPr>
          <a:lstStyle/>
          <a:p>
            <a:pPr algn="l"/>
            <a:r>
              <a:rPr sz="1000" b="0" i="0">
                <a:solidFill>
                  <a:srgbClr val="B0C4DE"/>
                </a:solidFill>
              </a:rPr>
              <a:t>Extension Bafoussam, Buea,
Garoua, Bamenda.
Densification nationale.
Leader camerounais confirmé.</a:t>
            </a:r>
          </a:p>
        </p:txBody>
      </p:sp>
      <p:sp>
        <p:nvSpPr>
          <p:cNvPr id="27" name="Rectangle 26"/>
          <p:cNvSpPr/>
          <p:nvPr/>
        </p:nvSpPr>
        <p:spPr>
          <a:xfrm>
            <a:off x="4658400" y="1458000"/>
            <a:ext cx="2070000" cy="4752000"/>
          </a:xfrm>
          <a:prstGeom prst="rect">
            <a:avLst/>
          </a:prstGeom>
          <a:solidFill>
            <a:srgbClr val="132B5E"/>
          </a:solidFill>
          <a:ln w="19050">
            <a:solidFill>
              <a:srgbClr val="00C8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658400" y="1458000"/>
            <a:ext cx="2070000" cy="97200"/>
          </a:xfrm>
          <a:prstGeom prst="rect">
            <a:avLst/>
          </a:prstGeom>
          <a:solidFill>
            <a:srgbClr val="00C8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766400" y="1594800"/>
            <a:ext cx="306000" cy="306000"/>
          </a:xfrm>
          <a:prstGeom prst="rect">
            <a:avLst/>
          </a:prstGeom>
          <a:solidFill>
            <a:srgbClr val="00C8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766400" y="1594800"/>
            <a:ext cx="306000" cy="306000"/>
          </a:xfrm>
          <a:prstGeom prst="rect">
            <a:avLst/>
          </a:prstGeom>
          <a:noFill/>
        </p:spPr>
        <p:txBody>
          <a:bodyPr wrap="square">
            <a:spAutoFit/>
          </a:bodyPr>
          <a:lstStyle/>
          <a:p>
            <a:pPr algn="ctr"/>
            <a:r>
              <a:rPr sz="1300" b="1" i="0">
                <a:solidFill>
                  <a:srgbClr val="0B1E42"/>
                </a:solidFill>
              </a:rPr>
              <a:t>3</a:t>
            </a:r>
          </a:p>
        </p:txBody>
      </p:sp>
      <p:sp>
        <p:nvSpPr>
          <p:cNvPr id="31" name="TextBox 30"/>
          <p:cNvSpPr txBox="1"/>
          <p:nvPr/>
        </p:nvSpPr>
        <p:spPr>
          <a:xfrm>
            <a:off x="5119200" y="1602000"/>
            <a:ext cx="1548000" cy="259200"/>
          </a:xfrm>
          <a:prstGeom prst="rect">
            <a:avLst/>
          </a:prstGeom>
          <a:noFill/>
        </p:spPr>
        <p:txBody>
          <a:bodyPr wrap="square">
            <a:spAutoFit/>
          </a:bodyPr>
          <a:lstStyle/>
          <a:p>
            <a:pPr algn="l"/>
            <a:r>
              <a:rPr sz="1000" b="1" i="0">
                <a:solidFill>
                  <a:srgbClr val="00C87A"/>
                </a:solidFill>
              </a:rPr>
              <a:t>Phase 3</a:t>
            </a:r>
          </a:p>
        </p:txBody>
      </p:sp>
      <p:sp>
        <p:nvSpPr>
          <p:cNvPr id="32" name="TextBox 31"/>
          <p:cNvSpPr txBox="1"/>
          <p:nvPr/>
        </p:nvSpPr>
        <p:spPr>
          <a:xfrm>
            <a:off x="4766400" y="1954799"/>
            <a:ext cx="1890000" cy="234000"/>
          </a:xfrm>
          <a:prstGeom prst="rect">
            <a:avLst/>
          </a:prstGeom>
          <a:noFill/>
        </p:spPr>
        <p:txBody>
          <a:bodyPr wrap="square">
            <a:spAutoFit/>
          </a:bodyPr>
          <a:lstStyle/>
          <a:p>
            <a:pPr algn="l"/>
            <a:r>
              <a:rPr sz="900" b="0" i="1">
                <a:solidFill>
                  <a:srgbClr val="D4AF37"/>
                </a:solidFill>
              </a:rPr>
              <a:t>Q4 2027</a:t>
            </a:r>
          </a:p>
        </p:txBody>
      </p:sp>
      <p:sp>
        <p:nvSpPr>
          <p:cNvPr id="33" name="Rectangle 32"/>
          <p:cNvSpPr/>
          <p:nvPr/>
        </p:nvSpPr>
        <p:spPr>
          <a:xfrm>
            <a:off x="4766400" y="2214000"/>
            <a:ext cx="1854000" cy="18000"/>
          </a:xfrm>
          <a:prstGeom prst="rect">
            <a:avLst/>
          </a:prstGeom>
          <a:solidFill>
            <a:srgbClr val="00C8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766400" y="2268000"/>
            <a:ext cx="1890000" cy="503999"/>
          </a:xfrm>
          <a:prstGeom prst="rect">
            <a:avLst/>
          </a:prstGeom>
          <a:noFill/>
        </p:spPr>
        <p:txBody>
          <a:bodyPr wrap="square">
            <a:spAutoFit/>
          </a:bodyPr>
          <a:lstStyle/>
          <a:p>
            <a:pPr algn="l"/>
            <a:r>
              <a:rPr sz="1400" b="1" i="0">
                <a:solidFill>
                  <a:srgbClr val="FFFFFF"/>
                </a:solidFill>
              </a:rPr>
              <a:t>Côte d'Ivoire
(Abidjan)</a:t>
            </a:r>
          </a:p>
        </p:txBody>
      </p:sp>
      <p:sp>
        <p:nvSpPr>
          <p:cNvPr id="35" name="TextBox 34"/>
          <p:cNvSpPr txBox="1"/>
          <p:nvPr/>
        </p:nvSpPr>
        <p:spPr>
          <a:xfrm>
            <a:off x="4766400" y="2808000"/>
            <a:ext cx="1890000" cy="3312000"/>
          </a:xfrm>
          <a:prstGeom prst="rect">
            <a:avLst/>
          </a:prstGeom>
          <a:noFill/>
        </p:spPr>
        <p:txBody>
          <a:bodyPr wrap="square">
            <a:spAutoFit/>
          </a:bodyPr>
          <a:lstStyle/>
          <a:p>
            <a:pPr algn="l"/>
            <a:r>
              <a:rPr sz="1000" b="0" i="0">
                <a:solidFill>
                  <a:srgbClr val="B0C4DE"/>
                </a:solidFill>
              </a:rPr>
              <a:t>1er marché international.
Abidjan : 5,5 M hab.
Fort taux smartphone.
Modèle YUKPO adapté.</a:t>
            </a:r>
          </a:p>
        </p:txBody>
      </p:sp>
      <p:sp>
        <p:nvSpPr>
          <p:cNvPr id="36" name="Rectangle 35"/>
          <p:cNvSpPr/>
          <p:nvPr/>
        </p:nvSpPr>
        <p:spPr>
          <a:xfrm>
            <a:off x="6901200" y="1458000"/>
            <a:ext cx="2070000" cy="4752000"/>
          </a:xfrm>
          <a:prstGeom prst="rect">
            <a:avLst/>
          </a:prstGeom>
          <a:solidFill>
            <a:srgbClr val="132B5E"/>
          </a:solidFill>
          <a:ln w="19050">
            <a:solidFill>
              <a:srgbClr val="FF99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6901200" y="1458000"/>
            <a:ext cx="2070000" cy="97200"/>
          </a:xfrm>
          <a:prstGeom prst="rect">
            <a:avLst/>
          </a:prstGeom>
          <a:solidFill>
            <a:srgbClr val="FF99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009200" y="1594800"/>
            <a:ext cx="306000" cy="306000"/>
          </a:xfrm>
          <a:prstGeom prst="rect">
            <a:avLst/>
          </a:prstGeom>
          <a:solidFill>
            <a:srgbClr val="FF99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009200" y="1594800"/>
            <a:ext cx="306000" cy="306000"/>
          </a:xfrm>
          <a:prstGeom prst="rect">
            <a:avLst/>
          </a:prstGeom>
          <a:noFill/>
        </p:spPr>
        <p:txBody>
          <a:bodyPr wrap="square">
            <a:spAutoFit/>
          </a:bodyPr>
          <a:lstStyle/>
          <a:p>
            <a:pPr algn="ctr"/>
            <a:r>
              <a:rPr sz="1300" b="1" i="0">
                <a:solidFill>
                  <a:srgbClr val="0B1E42"/>
                </a:solidFill>
              </a:rPr>
              <a:t>4</a:t>
            </a:r>
          </a:p>
        </p:txBody>
      </p:sp>
      <p:sp>
        <p:nvSpPr>
          <p:cNvPr id="40" name="TextBox 39"/>
          <p:cNvSpPr txBox="1"/>
          <p:nvPr/>
        </p:nvSpPr>
        <p:spPr>
          <a:xfrm>
            <a:off x="7362000" y="1602000"/>
            <a:ext cx="1548000" cy="259200"/>
          </a:xfrm>
          <a:prstGeom prst="rect">
            <a:avLst/>
          </a:prstGeom>
          <a:noFill/>
        </p:spPr>
        <p:txBody>
          <a:bodyPr wrap="square">
            <a:spAutoFit/>
          </a:bodyPr>
          <a:lstStyle/>
          <a:p>
            <a:pPr algn="l"/>
            <a:r>
              <a:rPr sz="1000" b="1" i="0">
                <a:solidFill>
                  <a:srgbClr val="FF9933"/>
                </a:solidFill>
              </a:rPr>
              <a:t>Phase 4</a:t>
            </a:r>
          </a:p>
        </p:txBody>
      </p:sp>
      <p:sp>
        <p:nvSpPr>
          <p:cNvPr id="41" name="TextBox 40"/>
          <p:cNvSpPr txBox="1"/>
          <p:nvPr/>
        </p:nvSpPr>
        <p:spPr>
          <a:xfrm>
            <a:off x="7009200" y="1954799"/>
            <a:ext cx="1890000" cy="234000"/>
          </a:xfrm>
          <a:prstGeom prst="rect">
            <a:avLst/>
          </a:prstGeom>
          <a:noFill/>
        </p:spPr>
        <p:txBody>
          <a:bodyPr wrap="square">
            <a:spAutoFit/>
          </a:bodyPr>
          <a:lstStyle/>
          <a:p>
            <a:pPr algn="l"/>
            <a:r>
              <a:rPr sz="900" b="0" i="1">
                <a:solidFill>
                  <a:srgbClr val="D4AF37"/>
                </a:solidFill>
              </a:rPr>
              <a:t>S2 2028 +</a:t>
            </a:r>
          </a:p>
        </p:txBody>
      </p:sp>
      <p:sp>
        <p:nvSpPr>
          <p:cNvPr id="42" name="Rectangle 41"/>
          <p:cNvSpPr/>
          <p:nvPr/>
        </p:nvSpPr>
        <p:spPr>
          <a:xfrm>
            <a:off x="7009200" y="2214000"/>
            <a:ext cx="1854000" cy="18000"/>
          </a:xfrm>
          <a:prstGeom prst="rect">
            <a:avLst/>
          </a:prstGeom>
          <a:solidFill>
            <a:srgbClr val="FF99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009200" y="2268000"/>
            <a:ext cx="1890000" cy="503999"/>
          </a:xfrm>
          <a:prstGeom prst="rect">
            <a:avLst/>
          </a:prstGeom>
          <a:noFill/>
        </p:spPr>
        <p:txBody>
          <a:bodyPr wrap="square">
            <a:spAutoFit/>
          </a:bodyPr>
          <a:lstStyle/>
          <a:p>
            <a:pPr algn="l"/>
            <a:r>
              <a:rPr sz="1400" b="1" i="0">
                <a:solidFill>
                  <a:srgbClr val="FFFFFF"/>
                </a:solidFill>
              </a:rPr>
              <a:t>Sénégal &amp;
Afrique</a:t>
            </a:r>
          </a:p>
        </p:txBody>
      </p:sp>
      <p:sp>
        <p:nvSpPr>
          <p:cNvPr id="44" name="TextBox 43"/>
          <p:cNvSpPr txBox="1"/>
          <p:nvPr/>
        </p:nvSpPr>
        <p:spPr>
          <a:xfrm>
            <a:off x="7009200" y="2808000"/>
            <a:ext cx="1890000" cy="3312000"/>
          </a:xfrm>
          <a:prstGeom prst="rect">
            <a:avLst/>
          </a:prstGeom>
          <a:noFill/>
        </p:spPr>
        <p:txBody>
          <a:bodyPr wrap="square">
            <a:spAutoFit/>
          </a:bodyPr>
          <a:lstStyle/>
          <a:p>
            <a:pPr algn="l"/>
            <a:r>
              <a:rPr sz="1000" b="0" i="0">
                <a:solidFill>
                  <a:srgbClr val="B0C4DE"/>
                </a:solidFill>
              </a:rPr>
              <a:t>Dakar (3,8 M) puis expansion
pan-africaine progressive.
Objectif : leader incontournable
en Afrique d'ici 2030.</a:t>
            </a:r>
          </a:p>
        </p:txBody>
      </p:sp>
      <p:sp>
        <p:nvSpPr>
          <p:cNvPr id="45" name="Rectangle 44"/>
          <p:cNvSpPr/>
          <p:nvPr/>
        </p:nvSpPr>
        <p:spPr>
          <a:xfrm>
            <a:off x="144000" y="6318000"/>
            <a:ext cx="8856000" cy="360000"/>
          </a:xfrm>
          <a:prstGeom prst="rect">
            <a:avLst/>
          </a:prstGeom>
          <a:solidFill>
            <a:srgbClr val="132B5E"/>
          </a:solidFill>
          <a:ln w="19050">
            <a:solidFill>
              <a:srgbClr val="FF99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144000" y="6318000"/>
            <a:ext cx="97200" cy="360000"/>
          </a:xfrm>
          <a:prstGeom prst="rect">
            <a:avLst/>
          </a:prstGeom>
          <a:solidFill>
            <a:srgbClr val="FF99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324000" y="6346800"/>
            <a:ext cx="8604000" cy="306000"/>
          </a:xfrm>
          <a:prstGeom prst="rect">
            <a:avLst/>
          </a:prstGeom>
          <a:noFill/>
        </p:spPr>
        <p:txBody>
          <a:bodyPr wrap="square">
            <a:spAutoFit/>
          </a:bodyPr>
          <a:lstStyle/>
          <a:p>
            <a:pPr algn="ctr"/>
            <a:r>
              <a:rPr sz="1200" b="1" i="0">
                <a:solidFill>
                  <a:srgbClr val="FF9933"/>
                </a:solidFill>
              </a:rPr>
              <a:t>Vision 2030 :  YUKPO — la super-app de référence en Afrique subsaharienne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B1E42"/>
        </a:solidFill>
        <a:effectLst/>
      </p:bgPr>
    </p:bg>
    <p:spTree>
      <p:nvGrpSpPr>
        <p:cNvPr id="1" name=""/>
        <p:cNvGrpSpPr/>
        <p:nvPr/>
      </p:nvGrpSpPr>
      <p:grpSpPr/>
      <p:sp>
        <p:nvSpPr>
          <p:cNvPr id="2" name="Rectangle 1"/>
          <p:cNvSpPr/>
          <p:nvPr/>
        </p:nvSpPr>
        <p:spPr>
          <a:xfrm>
            <a:off x="0" y="0"/>
            <a:ext cx="9144000" cy="4860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6000"/>
            <a:ext cx="144000" cy="6138000"/>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32000" y="36000"/>
            <a:ext cx="540000" cy="413999"/>
          </a:xfrm>
          <a:prstGeom prst="rect">
            <a:avLst/>
          </a:prstGeom>
          <a:noFill/>
        </p:spPr>
        <p:txBody>
          <a:bodyPr wrap="square">
            <a:spAutoFit/>
          </a:bodyPr>
          <a:lstStyle/>
          <a:p>
            <a:pPr algn="ctr"/>
            <a:r>
              <a:rPr sz="1400" b="1" i="0">
                <a:solidFill>
                  <a:srgbClr val="0B1E42"/>
                </a:solidFill>
              </a:rPr>
              <a:t>9</a:t>
            </a:r>
          </a:p>
        </p:txBody>
      </p:sp>
      <p:sp>
        <p:nvSpPr>
          <p:cNvPr id="5" name="TextBox 4"/>
          <p:cNvSpPr txBox="1"/>
          <p:nvPr/>
        </p:nvSpPr>
        <p:spPr>
          <a:xfrm>
            <a:off x="251999" y="540000"/>
            <a:ext cx="8280000" cy="540000"/>
          </a:xfrm>
          <a:prstGeom prst="rect">
            <a:avLst/>
          </a:prstGeom>
          <a:noFill/>
        </p:spPr>
        <p:txBody>
          <a:bodyPr wrap="square">
            <a:spAutoFit/>
          </a:bodyPr>
          <a:lstStyle/>
          <a:p>
            <a:pPr algn="l"/>
            <a:r>
              <a:rPr sz="2100" b="1" i="0">
                <a:solidFill>
                  <a:srgbClr val="FFFFFF"/>
                </a:solidFill>
              </a:rPr>
              <a:t>Stratégie d'Acquisition — Marketing = 1er Poste Budgétaire</a:t>
            </a:r>
          </a:p>
        </p:txBody>
      </p:sp>
      <p:sp>
        <p:nvSpPr>
          <p:cNvPr id="6" name="TextBox 5"/>
          <p:cNvSpPr txBox="1"/>
          <p:nvPr/>
        </p:nvSpPr>
        <p:spPr>
          <a:xfrm>
            <a:off x="251999" y="1098000"/>
            <a:ext cx="8640001" cy="288000"/>
          </a:xfrm>
          <a:prstGeom prst="rect">
            <a:avLst/>
          </a:prstGeom>
          <a:noFill/>
        </p:spPr>
        <p:txBody>
          <a:bodyPr wrap="square">
            <a:spAutoFit/>
          </a:bodyPr>
          <a:lstStyle/>
          <a:p>
            <a:pPr algn="l"/>
            <a:r>
              <a:rPr sz="1100" b="0" i="1">
                <a:solidFill>
                  <a:srgbClr val="D4AF37"/>
                </a:solidFill>
              </a:rPr>
              <a:t>La Bourse du Livre est le levier de lancement stratégique du 1er semestre 2026</a:t>
            </a:r>
          </a:p>
        </p:txBody>
      </p:sp>
      <p:sp>
        <p:nvSpPr>
          <p:cNvPr id="7" name="Rectangle 6"/>
          <p:cNvSpPr/>
          <p:nvPr/>
        </p:nvSpPr>
        <p:spPr>
          <a:xfrm>
            <a:off x="0" y="6642000"/>
            <a:ext cx="9144000" cy="2160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0000" y="6642000"/>
            <a:ext cx="6480000" cy="216000"/>
          </a:xfrm>
          <a:prstGeom prst="rect">
            <a:avLst/>
          </a:prstGeom>
          <a:noFill/>
        </p:spPr>
        <p:txBody>
          <a:bodyPr wrap="square">
            <a:spAutoFit/>
          </a:bodyPr>
          <a:lstStyle/>
          <a:p>
            <a:pPr algn="l"/>
            <a:r>
              <a:rPr sz="900" b="0" i="0">
                <a:solidFill>
                  <a:srgbClr val="0B1E42"/>
                </a:solidFill>
              </a:rPr>
              <a:t>YUKPO  |  YUKPO COMPANY SARL  |  Confidentiel  |  2026</a:t>
            </a:r>
          </a:p>
        </p:txBody>
      </p:sp>
      <p:sp>
        <p:nvSpPr>
          <p:cNvPr id="9" name="Rectangle 8"/>
          <p:cNvSpPr/>
          <p:nvPr/>
        </p:nvSpPr>
        <p:spPr>
          <a:xfrm>
            <a:off x="144000" y="1440000"/>
            <a:ext cx="8856000" cy="1368000"/>
          </a:xfrm>
          <a:prstGeom prst="rect">
            <a:avLst/>
          </a:prstGeom>
          <a:solidFill>
            <a:srgbClr val="132B5E"/>
          </a:solidFill>
          <a:ln w="19050">
            <a:solidFill>
              <a:srgbClr val="FF99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44000" y="1440000"/>
            <a:ext cx="8856000" cy="97200"/>
          </a:xfrm>
          <a:prstGeom prst="rect">
            <a:avLst/>
          </a:prstGeom>
          <a:solidFill>
            <a:srgbClr val="FF99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44000" y="1440000"/>
            <a:ext cx="97200" cy="1368000"/>
          </a:xfrm>
          <a:prstGeom prst="rect">
            <a:avLst/>
          </a:prstGeom>
          <a:solidFill>
            <a:srgbClr val="FF99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4000" y="1576800"/>
            <a:ext cx="5040000" cy="259200"/>
          </a:xfrm>
          <a:prstGeom prst="rect">
            <a:avLst/>
          </a:prstGeom>
          <a:noFill/>
        </p:spPr>
        <p:txBody>
          <a:bodyPr wrap="square">
            <a:spAutoFit/>
          </a:bodyPr>
          <a:lstStyle/>
          <a:p>
            <a:pPr algn="l"/>
            <a:r>
              <a:rPr sz="1300" b="1" i="0">
                <a:solidFill>
                  <a:srgbClr val="FF9933"/>
                </a:solidFill>
              </a:rPr>
              <a:t>LEVIER CLÉ — BOURSE DU LIVRE  (T2 – T3 2026)</a:t>
            </a:r>
          </a:p>
        </p:txBody>
      </p:sp>
      <p:sp>
        <p:nvSpPr>
          <p:cNvPr id="13" name="TextBox 12"/>
          <p:cNvSpPr txBox="1"/>
          <p:nvPr/>
        </p:nvSpPr>
        <p:spPr>
          <a:xfrm>
            <a:off x="324000" y="1835999"/>
            <a:ext cx="5040000" cy="900000"/>
          </a:xfrm>
          <a:prstGeom prst="rect">
            <a:avLst/>
          </a:prstGeom>
          <a:noFill/>
        </p:spPr>
        <p:txBody>
          <a:bodyPr wrap="square">
            <a:spAutoFit/>
          </a:bodyPr>
          <a:lstStyle/>
          <a:p>
            <a:pPr algn="l"/>
            <a:r>
              <a:rPr sz="1100" b="0" i="0">
                <a:solidFill>
                  <a:srgbClr val="B0C4DE"/>
                </a:solidFill>
              </a:rPr>
              <a:t>La rentrée scolaire mobilise des millions de familles camerounaises chaque année.
YUKPO propose la première bourse numérique du livre scolaire : achat, revente, troc de livres et fournitures entre particuliers et librairies.
Ce service unique crée une adoption massive, rapide et organique dès l'ouverture.</a:t>
            </a:r>
          </a:p>
        </p:txBody>
      </p:sp>
      <p:sp>
        <p:nvSpPr>
          <p:cNvPr id="14" name="Rectangle 13"/>
          <p:cNvSpPr/>
          <p:nvPr/>
        </p:nvSpPr>
        <p:spPr>
          <a:xfrm>
            <a:off x="5436000" y="1494000"/>
            <a:ext cx="3528000" cy="1260000"/>
          </a:xfrm>
          <a:prstGeom prst="rect">
            <a:avLst/>
          </a:prstGeom>
          <a:solidFill>
            <a:srgbClr val="0B1E42"/>
          </a:solidFill>
          <a:ln w="19050">
            <a:solidFill>
              <a:srgbClr val="FF99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508000" y="1565999"/>
            <a:ext cx="3384000" cy="259200"/>
          </a:xfrm>
          <a:prstGeom prst="rect">
            <a:avLst/>
          </a:prstGeom>
          <a:noFill/>
        </p:spPr>
        <p:txBody>
          <a:bodyPr wrap="square">
            <a:spAutoFit/>
          </a:bodyPr>
          <a:lstStyle/>
          <a:p>
            <a:pPr algn="ctr"/>
            <a:r>
              <a:rPr sz="1100" b="1" i="0">
                <a:solidFill>
                  <a:srgbClr val="FF9933"/>
                </a:solidFill>
              </a:rPr>
              <a:t>Impact prévu T2–T3 2026</a:t>
            </a:r>
          </a:p>
        </p:txBody>
      </p:sp>
      <p:sp>
        <p:nvSpPr>
          <p:cNvPr id="16" name="TextBox 15"/>
          <p:cNvSpPr txBox="1"/>
          <p:nvPr/>
        </p:nvSpPr>
        <p:spPr>
          <a:xfrm>
            <a:off x="5508000" y="1890000"/>
            <a:ext cx="3384000" cy="295200"/>
          </a:xfrm>
          <a:prstGeom prst="rect">
            <a:avLst/>
          </a:prstGeom>
          <a:noFill/>
        </p:spPr>
        <p:txBody>
          <a:bodyPr wrap="square">
            <a:spAutoFit/>
          </a:bodyPr>
          <a:lstStyle/>
          <a:p>
            <a:pPr algn="ctr"/>
            <a:r>
              <a:rPr sz="1100" b="0" i="0">
                <a:solidFill>
                  <a:srgbClr val="FFFFFF"/>
                </a:solidFill>
              </a:rPr>
              <a:t>50 000+   Familles ciblées</a:t>
            </a:r>
          </a:p>
        </p:txBody>
      </p:sp>
      <p:sp>
        <p:nvSpPr>
          <p:cNvPr id="17" name="TextBox 16"/>
          <p:cNvSpPr txBox="1"/>
          <p:nvPr/>
        </p:nvSpPr>
        <p:spPr>
          <a:xfrm>
            <a:off x="5508000" y="2206800"/>
            <a:ext cx="3384000" cy="295200"/>
          </a:xfrm>
          <a:prstGeom prst="rect">
            <a:avLst/>
          </a:prstGeom>
          <a:noFill/>
        </p:spPr>
        <p:txBody>
          <a:bodyPr wrap="square">
            <a:spAutoFit/>
          </a:bodyPr>
          <a:lstStyle/>
          <a:p>
            <a:pPr algn="ctr"/>
            <a:r>
              <a:rPr sz="1100" b="0" i="0">
                <a:solidFill>
                  <a:srgbClr val="FFFFFF"/>
                </a:solidFill>
              </a:rPr>
              <a:t>×3   Boost inscriptions</a:t>
            </a:r>
          </a:p>
        </p:txBody>
      </p:sp>
      <p:sp>
        <p:nvSpPr>
          <p:cNvPr id="18" name="TextBox 17"/>
          <p:cNvSpPr txBox="1"/>
          <p:nvPr/>
        </p:nvSpPr>
        <p:spPr>
          <a:xfrm>
            <a:off x="5508000" y="2523600"/>
            <a:ext cx="3384000" cy="295200"/>
          </a:xfrm>
          <a:prstGeom prst="rect">
            <a:avLst/>
          </a:prstGeom>
          <a:noFill/>
        </p:spPr>
        <p:txBody>
          <a:bodyPr wrap="square">
            <a:spAutoFit/>
          </a:bodyPr>
          <a:lstStyle/>
          <a:p>
            <a:pPr algn="ctr"/>
            <a:r>
              <a:rPr sz="1100" b="0" i="0">
                <a:solidFill>
                  <a:srgbClr val="FFFFFF"/>
                </a:solidFill>
              </a:rPr>
              <a:t>Viral   Bouche à oreille</a:t>
            </a:r>
          </a:p>
        </p:txBody>
      </p:sp>
      <p:sp>
        <p:nvSpPr>
          <p:cNvPr id="19" name="Rectangle 18"/>
          <p:cNvSpPr/>
          <p:nvPr/>
        </p:nvSpPr>
        <p:spPr>
          <a:xfrm>
            <a:off x="247500" y="2951999"/>
            <a:ext cx="2718000" cy="2808000"/>
          </a:xfrm>
          <a:prstGeom prst="rect">
            <a:avLst/>
          </a:prstGeom>
          <a:solidFill>
            <a:srgbClr val="132B5E"/>
          </a:solidFill>
          <a:ln w="19050">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47500" y="2951999"/>
            <a:ext cx="2718000" cy="972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73499" y="3103199"/>
            <a:ext cx="2520000" cy="280800"/>
          </a:xfrm>
          <a:prstGeom prst="rect">
            <a:avLst/>
          </a:prstGeom>
          <a:noFill/>
        </p:spPr>
        <p:txBody>
          <a:bodyPr wrap="square">
            <a:spAutoFit/>
          </a:bodyPr>
          <a:lstStyle/>
          <a:p>
            <a:pPr algn="l"/>
            <a:r>
              <a:rPr sz="1200" b="1" i="0">
                <a:solidFill>
                  <a:srgbClr val="D4AF37"/>
                </a:solidFill>
              </a:rPr>
              <a:t>Présence Digitale</a:t>
            </a:r>
          </a:p>
        </p:txBody>
      </p:sp>
      <p:sp>
        <p:nvSpPr>
          <p:cNvPr id="22" name="Rectangle 21"/>
          <p:cNvSpPr/>
          <p:nvPr/>
        </p:nvSpPr>
        <p:spPr>
          <a:xfrm>
            <a:off x="373499" y="3401999"/>
            <a:ext cx="2466001" cy="180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73499" y="3463199"/>
            <a:ext cx="2520000" cy="1512000"/>
          </a:xfrm>
          <a:prstGeom prst="rect">
            <a:avLst/>
          </a:prstGeom>
          <a:noFill/>
        </p:spPr>
        <p:txBody>
          <a:bodyPr wrap="square">
            <a:spAutoFit/>
          </a:bodyPr>
          <a:lstStyle/>
          <a:p>
            <a:pPr algn="l"/>
            <a:r>
              <a:rPr sz="1000" b="0" i="0">
                <a:solidFill>
                  <a:srgbClr val="B0C4DE"/>
                </a:solidFill>
              </a:rPr>
              <a:t>Facebook, WhatsApp, TikTok
campagnes hyper-ciblées.
SEO Google Maps local.
Influenceurs &amp; micro-influenceurs.</a:t>
            </a:r>
          </a:p>
        </p:txBody>
      </p:sp>
      <p:sp>
        <p:nvSpPr>
          <p:cNvPr id="24" name="Rectangle 23"/>
          <p:cNvSpPr/>
          <p:nvPr/>
        </p:nvSpPr>
        <p:spPr>
          <a:xfrm>
            <a:off x="373499" y="5165999"/>
            <a:ext cx="2520000" cy="503999"/>
          </a:xfrm>
          <a:prstGeom prst="rect">
            <a:avLst/>
          </a:prstGeom>
          <a:solidFill>
            <a:srgbClr val="0B1E42"/>
          </a:solidFill>
          <a:ln w="19050">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73499" y="5183999"/>
            <a:ext cx="2520000" cy="486000"/>
          </a:xfrm>
          <a:prstGeom prst="rect">
            <a:avLst/>
          </a:prstGeom>
          <a:noFill/>
        </p:spPr>
        <p:txBody>
          <a:bodyPr wrap="square">
            <a:spAutoFit/>
          </a:bodyPr>
          <a:lstStyle/>
          <a:p>
            <a:pPr algn="ctr"/>
            <a:r>
              <a:rPr sz="1200" b="1" i="0">
                <a:solidFill>
                  <a:srgbClr val="D4AF37"/>
                </a:solidFill>
              </a:rPr>
              <a:t>60 % inscriptions estimées</a:t>
            </a:r>
          </a:p>
        </p:txBody>
      </p:sp>
      <p:sp>
        <p:nvSpPr>
          <p:cNvPr id="26" name="Rectangle 25"/>
          <p:cNvSpPr/>
          <p:nvPr/>
        </p:nvSpPr>
        <p:spPr>
          <a:xfrm>
            <a:off x="3213000" y="2951999"/>
            <a:ext cx="2718000" cy="2808000"/>
          </a:xfrm>
          <a:prstGeom prst="rect">
            <a:avLst/>
          </a:prstGeom>
          <a:solidFill>
            <a:srgbClr val="132B5E"/>
          </a:solidFill>
          <a:ln w="19050">
            <a:solidFill>
              <a:srgbClr val="4FC3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3213000" y="2951999"/>
            <a:ext cx="2718000" cy="97200"/>
          </a:xfrm>
          <a:prstGeom prst="rect">
            <a:avLst/>
          </a:prstGeom>
          <a:solidFill>
            <a:srgbClr val="4FC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338999" y="3103199"/>
            <a:ext cx="2520000" cy="280800"/>
          </a:xfrm>
          <a:prstGeom prst="rect">
            <a:avLst/>
          </a:prstGeom>
          <a:noFill/>
        </p:spPr>
        <p:txBody>
          <a:bodyPr wrap="square">
            <a:spAutoFit/>
          </a:bodyPr>
          <a:lstStyle/>
          <a:p>
            <a:pPr algn="l"/>
            <a:r>
              <a:rPr sz="1200" b="1" i="0">
                <a:solidFill>
                  <a:srgbClr val="4FC3F7"/>
                </a:solidFill>
              </a:rPr>
              <a:t>Ambassadeurs Terrain</a:t>
            </a:r>
          </a:p>
        </p:txBody>
      </p:sp>
      <p:sp>
        <p:nvSpPr>
          <p:cNvPr id="29" name="Rectangle 28"/>
          <p:cNvSpPr/>
          <p:nvPr/>
        </p:nvSpPr>
        <p:spPr>
          <a:xfrm>
            <a:off x="3338999" y="3401999"/>
            <a:ext cx="2466001" cy="18000"/>
          </a:xfrm>
          <a:prstGeom prst="rect">
            <a:avLst/>
          </a:prstGeom>
          <a:solidFill>
            <a:srgbClr val="4FC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338999" y="3463199"/>
            <a:ext cx="2520000" cy="1512000"/>
          </a:xfrm>
          <a:prstGeom prst="rect">
            <a:avLst/>
          </a:prstGeom>
          <a:noFill/>
        </p:spPr>
        <p:txBody>
          <a:bodyPr wrap="square">
            <a:spAutoFit/>
          </a:bodyPr>
          <a:lstStyle/>
          <a:p>
            <a:pPr algn="l"/>
            <a:r>
              <a:rPr sz="1000" b="0" i="0">
                <a:solidFill>
                  <a:srgbClr val="B0C4DE"/>
                </a:solidFill>
              </a:rPr>
              <a:t>100+ ambassadeurs formés
dans quartiers, marchés,
universités — Yaoundé + Douala.
Bouche-à-oreille structuré.</a:t>
            </a:r>
          </a:p>
        </p:txBody>
      </p:sp>
      <p:sp>
        <p:nvSpPr>
          <p:cNvPr id="31" name="Rectangle 30"/>
          <p:cNvSpPr/>
          <p:nvPr/>
        </p:nvSpPr>
        <p:spPr>
          <a:xfrm>
            <a:off x="3338999" y="5165999"/>
            <a:ext cx="2520000" cy="503999"/>
          </a:xfrm>
          <a:prstGeom prst="rect">
            <a:avLst/>
          </a:prstGeom>
          <a:solidFill>
            <a:srgbClr val="0B1E42"/>
          </a:solidFill>
          <a:ln w="19050">
            <a:solidFill>
              <a:srgbClr val="4FC3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338999" y="5183999"/>
            <a:ext cx="2520000" cy="486000"/>
          </a:xfrm>
          <a:prstGeom prst="rect">
            <a:avLst/>
          </a:prstGeom>
          <a:noFill/>
        </p:spPr>
        <p:txBody>
          <a:bodyPr wrap="square">
            <a:spAutoFit/>
          </a:bodyPr>
          <a:lstStyle/>
          <a:p>
            <a:pPr algn="ctr"/>
            <a:r>
              <a:rPr sz="1200" b="1" i="0">
                <a:solidFill>
                  <a:srgbClr val="4FC3F7"/>
                </a:solidFill>
              </a:rPr>
              <a:t>25 % inscriptions estimées</a:t>
            </a:r>
          </a:p>
        </p:txBody>
      </p:sp>
      <p:sp>
        <p:nvSpPr>
          <p:cNvPr id="33" name="Rectangle 32"/>
          <p:cNvSpPr/>
          <p:nvPr/>
        </p:nvSpPr>
        <p:spPr>
          <a:xfrm>
            <a:off x="6178500" y="2951999"/>
            <a:ext cx="2718000" cy="2808000"/>
          </a:xfrm>
          <a:prstGeom prst="rect">
            <a:avLst/>
          </a:prstGeom>
          <a:solidFill>
            <a:srgbClr val="132B5E"/>
          </a:solidFill>
          <a:ln w="19050">
            <a:solidFill>
              <a:srgbClr val="00C8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178500" y="2951999"/>
            <a:ext cx="2718000" cy="97200"/>
          </a:xfrm>
          <a:prstGeom prst="rect">
            <a:avLst/>
          </a:prstGeom>
          <a:solidFill>
            <a:srgbClr val="00C8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304499" y="3103199"/>
            <a:ext cx="2520000" cy="280800"/>
          </a:xfrm>
          <a:prstGeom prst="rect">
            <a:avLst/>
          </a:prstGeom>
          <a:noFill/>
        </p:spPr>
        <p:txBody>
          <a:bodyPr wrap="square">
            <a:spAutoFit/>
          </a:bodyPr>
          <a:lstStyle/>
          <a:p>
            <a:pPr algn="l"/>
            <a:r>
              <a:rPr sz="1200" b="1" i="0">
                <a:solidFill>
                  <a:srgbClr val="00C87A"/>
                </a:solidFill>
              </a:rPr>
              <a:t>Partenariats B2B</a:t>
            </a:r>
          </a:p>
        </p:txBody>
      </p:sp>
      <p:sp>
        <p:nvSpPr>
          <p:cNvPr id="36" name="Rectangle 35"/>
          <p:cNvSpPr/>
          <p:nvPr/>
        </p:nvSpPr>
        <p:spPr>
          <a:xfrm>
            <a:off x="6304499" y="3401999"/>
            <a:ext cx="2466001" cy="18000"/>
          </a:xfrm>
          <a:prstGeom prst="rect">
            <a:avLst/>
          </a:prstGeom>
          <a:solidFill>
            <a:srgbClr val="00C8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304499" y="3463199"/>
            <a:ext cx="2520000" cy="1512000"/>
          </a:xfrm>
          <a:prstGeom prst="rect">
            <a:avLst/>
          </a:prstGeom>
          <a:noFill/>
        </p:spPr>
        <p:txBody>
          <a:bodyPr wrap="square">
            <a:spAutoFit/>
          </a:bodyPr>
          <a:lstStyle/>
          <a:p>
            <a:pPr algn="l"/>
            <a:r>
              <a:rPr sz="1000" b="0" i="0">
                <a:solidFill>
                  <a:srgbClr val="B0C4DE"/>
                </a:solidFill>
              </a:rPr>
              <a:t>Hôtels, cliniques, écoles,
entreprises — YUKPO intégré
comme service institutionnel.
Contrats récurrents.</a:t>
            </a:r>
          </a:p>
        </p:txBody>
      </p:sp>
      <p:sp>
        <p:nvSpPr>
          <p:cNvPr id="38" name="Rectangle 37"/>
          <p:cNvSpPr/>
          <p:nvPr/>
        </p:nvSpPr>
        <p:spPr>
          <a:xfrm>
            <a:off x="6304499" y="5165999"/>
            <a:ext cx="2520000" cy="503999"/>
          </a:xfrm>
          <a:prstGeom prst="rect">
            <a:avLst/>
          </a:prstGeom>
          <a:solidFill>
            <a:srgbClr val="0A301A"/>
          </a:solidFill>
          <a:ln w="19050">
            <a:solidFill>
              <a:srgbClr val="00C8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304499" y="5183999"/>
            <a:ext cx="2520000" cy="486000"/>
          </a:xfrm>
          <a:prstGeom prst="rect">
            <a:avLst/>
          </a:prstGeom>
          <a:noFill/>
        </p:spPr>
        <p:txBody>
          <a:bodyPr wrap="square">
            <a:spAutoFit/>
          </a:bodyPr>
          <a:lstStyle/>
          <a:p>
            <a:pPr algn="ctr"/>
            <a:r>
              <a:rPr sz="1200" b="1" i="0">
                <a:solidFill>
                  <a:srgbClr val="00C87A"/>
                </a:solidFill>
              </a:rPr>
              <a:t>15 % + fidélisation forte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B1E42"/>
        </a:solidFill>
        <a:effectLst/>
      </p:bgPr>
    </p:bg>
    <p:spTree>
      <p:nvGrpSpPr>
        <p:cNvPr id="1" name=""/>
        <p:cNvGrpSpPr/>
        <p:nvPr/>
      </p:nvGrpSpPr>
      <p:grpSpPr/>
      <p:sp>
        <p:nvSpPr>
          <p:cNvPr id="2" name="Rectangle 1"/>
          <p:cNvSpPr/>
          <p:nvPr/>
        </p:nvSpPr>
        <p:spPr>
          <a:xfrm>
            <a:off x="0" y="0"/>
            <a:ext cx="9144000" cy="4860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6000"/>
            <a:ext cx="144000" cy="6138000"/>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32000" y="36000"/>
            <a:ext cx="540000" cy="413999"/>
          </a:xfrm>
          <a:prstGeom prst="rect">
            <a:avLst/>
          </a:prstGeom>
          <a:noFill/>
        </p:spPr>
        <p:txBody>
          <a:bodyPr wrap="square">
            <a:spAutoFit/>
          </a:bodyPr>
          <a:lstStyle/>
          <a:p>
            <a:pPr algn="ctr"/>
            <a:r>
              <a:rPr sz="1400" b="1" i="0">
                <a:solidFill>
                  <a:srgbClr val="0B1E42"/>
                </a:solidFill>
              </a:rPr>
              <a:t>10</a:t>
            </a:r>
          </a:p>
        </p:txBody>
      </p:sp>
      <p:sp>
        <p:nvSpPr>
          <p:cNvPr id="5" name="TextBox 4"/>
          <p:cNvSpPr txBox="1"/>
          <p:nvPr/>
        </p:nvSpPr>
        <p:spPr>
          <a:xfrm>
            <a:off x="251999" y="540000"/>
            <a:ext cx="8280000" cy="540000"/>
          </a:xfrm>
          <a:prstGeom prst="rect">
            <a:avLst/>
          </a:prstGeom>
          <a:noFill/>
        </p:spPr>
        <p:txBody>
          <a:bodyPr wrap="square">
            <a:spAutoFit/>
          </a:bodyPr>
          <a:lstStyle/>
          <a:p>
            <a:pPr algn="l"/>
            <a:r>
              <a:rPr sz="2100" b="1" i="0">
                <a:solidFill>
                  <a:srgbClr val="FFFFFF"/>
                </a:solidFill>
              </a:rPr>
              <a:t>Utilisation des Fonds — 120 M FCFA</a:t>
            </a:r>
          </a:p>
        </p:txBody>
      </p:sp>
      <p:sp>
        <p:nvSpPr>
          <p:cNvPr id="6" name="TextBox 5"/>
          <p:cNvSpPr txBox="1"/>
          <p:nvPr/>
        </p:nvSpPr>
        <p:spPr>
          <a:xfrm>
            <a:off x="251999" y="1098000"/>
            <a:ext cx="8640001" cy="288000"/>
          </a:xfrm>
          <a:prstGeom prst="rect">
            <a:avLst/>
          </a:prstGeom>
          <a:noFill/>
        </p:spPr>
        <p:txBody>
          <a:bodyPr wrap="square">
            <a:spAutoFit/>
          </a:bodyPr>
          <a:lstStyle/>
          <a:p>
            <a:pPr algn="l"/>
            <a:r>
              <a:rPr sz="1100" b="0" i="1">
                <a:solidFill>
                  <a:srgbClr val="D4AF37"/>
                </a:solidFill>
              </a:rPr>
              <a:t>L'acquisition clients est le 1er investissement — le produit est déjà très avancé</a:t>
            </a:r>
          </a:p>
        </p:txBody>
      </p:sp>
      <p:sp>
        <p:nvSpPr>
          <p:cNvPr id="7" name="Rectangle 6"/>
          <p:cNvSpPr/>
          <p:nvPr/>
        </p:nvSpPr>
        <p:spPr>
          <a:xfrm>
            <a:off x="0" y="6642000"/>
            <a:ext cx="9144000" cy="2160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0000" y="6642000"/>
            <a:ext cx="6480000" cy="216000"/>
          </a:xfrm>
          <a:prstGeom prst="rect">
            <a:avLst/>
          </a:prstGeom>
          <a:noFill/>
        </p:spPr>
        <p:txBody>
          <a:bodyPr wrap="square">
            <a:spAutoFit/>
          </a:bodyPr>
          <a:lstStyle/>
          <a:p>
            <a:pPr algn="l"/>
            <a:r>
              <a:rPr sz="900" b="0" i="0">
                <a:solidFill>
                  <a:srgbClr val="0B1E42"/>
                </a:solidFill>
              </a:rPr>
              <a:t>YUKPO  |  YUKPO COMPANY SARL  |  Confidentiel  |  2026</a:t>
            </a:r>
          </a:p>
        </p:txBody>
      </p:sp>
      <p:sp>
        <p:nvSpPr>
          <p:cNvPr id="9" name="Rectangle 8"/>
          <p:cNvSpPr/>
          <p:nvPr/>
        </p:nvSpPr>
        <p:spPr>
          <a:xfrm>
            <a:off x="144000" y="1475999"/>
            <a:ext cx="8856000" cy="1206000"/>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44000" y="1475999"/>
            <a:ext cx="97200" cy="12060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24000" y="1555199"/>
            <a:ext cx="2628000" cy="295200"/>
          </a:xfrm>
          <a:prstGeom prst="rect">
            <a:avLst/>
          </a:prstGeom>
          <a:noFill/>
        </p:spPr>
        <p:txBody>
          <a:bodyPr wrap="square">
            <a:spAutoFit/>
          </a:bodyPr>
          <a:lstStyle/>
          <a:p>
            <a:pPr algn="l"/>
            <a:r>
              <a:rPr sz="1200" b="1" i="0">
                <a:solidFill>
                  <a:srgbClr val="FFFFFF"/>
                </a:solidFill>
              </a:rPr>
              <a:t>Marketing &amp; Acquisition</a:t>
            </a:r>
          </a:p>
        </p:txBody>
      </p:sp>
      <p:sp>
        <p:nvSpPr>
          <p:cNvPr id="12" name="Rectangle 11"/>
          <p:cNvSpPr/>
          <p:nvPr/>
        </p:nvSpPr>
        <p:spPr>
          <a:xfrm>
            <a:off x="3024000" y="1547999"/>
            <a:ext cx="666000" cy="342000"/>
          </a:xfrm>
          <a:prstGeom prst="rect">
            <a:avLst/>
          </a:prstGeom>
          <a:solidFill>
            <a:srgbClr val="0B1E42"/>
          </a:solidFill>
          <a:ln w="19050">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024000" y="1547999"/>
            <a:ext cx="666000" cy="342000"/>
          </a:xfrm>
          <a:prstGeom prst="rect">
            <a:avLst/>
          </a:prstGeom>
          <a:noFill/>
        </p:spPr>
        <p:txBody>
          <a:bodyPr wrap="square">
            <a:spAutoFit/>
          </a:bodyPr>
          <a:lstStyle/>
          <a:p>
            <a:pPr algn="ctr"/>
            <a:r>
              <a:rPr sz="1400" b="1" i="0">
                <a:solidFill>
                  <a:srgbClr val="D4AF37"/>
                </a:solidFill>
              </a:rPr>
              <a:t>45 %</a:t>
            </a:r>
          </a:p>
        </p:txBody>
      </p:sp>
      <p:sp>
        <p:nvSpPr>
          <p:cNvPr id="14" name="Rectangle 13"/>
          <p:cNvSpPr/>
          <p:nvPr/>
        </p:nvSpPr>
        <p:spPr>
          <a:xfrm>
            <a:off x="3780000" y="1547999"/>
            <a:ext cx="2219400" cy="3420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24000" y="1951199"/>
            <a:ext cx="8568000" cy="331200"/>
          </a:xfrm>
          <a:prstGeom prst="rect">
            <a:avLst/>
          </a:prstGeom>
          <a:noFill/>
        </p:spPr>
        <p:txBody>
          <a:bodyPr wrap="square">
            <a:spAutoFit/>
          </a:bodyPr>
          <a:lstStyle/>
          <a:p>
            <a:pPr algn="l"/>
            <a:r>
              <a:rPr sz="1000" b="0" i="0">
                <a:solidFill>
                  <a:srgbClr val="B0C4DE"/>
                </a:solidFill>
              </a:rPr>
              <a:t>54 M FCFA  —  Campagnes digitales, ambassadeurs, Bourse du Livre, événements de lancement Yaoundé + Douala</a:t>
            </a:r>
          </a:p>
        </p:txBody>
      </p:sp>
      <p:sp>
        <p:nvSpPr>
          <p:cNvPr id="16" name="Rectangle 15"/>
          <p:cNvSpPr/>
          <p:nvPr/>
        </p:nvSpPr>
        <p:spPr>
          <a:xfrm>
            <a:off x="144000" y="2735999"/>
            <a:ext cx="8856000" cy="1206000"/>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44000" y="2735999"/>
            <a:ext cx="97200" cy="1206000"/>
          </a:xfrm>
          <a:prstGeom prst="rect">
            <a:avLst/>
          </a:prstGeom>
          <a:solidFill>
            <a:srgbClr val="4FC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24000" y="2815199"/>
            <a:ext cx="2628000" cy="295200"/>
          </a:xfrm>
          <a:prstGeom prst="rect">
            <a:avLst/>
          </a:prstGeom>
          <a:noFill/>
        </p:spPr>
        <p:txBody>
          <a:bodyPr wrap="square">
            <a:spAutoFit/>
          </a:bodyPr>
          <a:lstStyle/>
          <a:p>
            <a:pPr algn="l"/>
            <a:r>
              <a:rPr sz="1200" b="1" i="0">
                <a:solidFill>
                  <a:srgbClr val="FFFFFF"/>
                </a:solidFill>
              </a:rPr>
              <a:t>Opérations &amp; Équipe</a:t>
            </a:r>
          </a:p>
        </p:txBody>
      </p:sp>
      <p:sp>
        <p:nvSpPr>
          <p:cNvPr id="19" name="Rectangle 18"/>
          <p:cNvSpPr/>
          <p:nvPr/>
        </p:nvSpPr>
        <p:spPr>
          <a:xfrm>
            <a:off x="3024000" y="2807999"/>
            <a:ext cx="666000" cy="342000"/>
          </a:xfrm>
          <a:prstGeom prst="rect">
            <a:avLst/>
          </a:prstGeom>
          <a:solidFill>
            <a:srgbClr val="0B1E42"/>
          </a:solidFill>
          <a:ln w="19050">
            <a:solidFill>
              <a:srgbClr val="4FC3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024000" y="2807999"/>
            <a:ext cx="666000" cy="342000"/>
          </a:xfrm>
          <a:prstGeom prst="rect">
            <a:avLst/>
          </a:prstGeom>
          <a:noFill/>
        </p:spPr>
        <p:txBody>
          <a:bodyPr wrap="square">
            <a:spAutoFit/>
          </a:bodyPr>
          <a:lstStyle/>
          <a:p>
            <a:pPr algn="ctr"/>
            <a:r>
              <a:rPr sz="1400" b="1" i="0">
                <a:solidFill>
                  <a:srgbClr val="4FC3F7"/>
                </a:solidFill>
              </a:rPr>
              <a:t>25 %</a:t>
            </a:r>
          </a:p>
        </p:txBody>
      </p:sp>
      <p:sp>
        <p:nvSpPr>
          <p:cNvPr id="21" name="Rectangle 20"/>
          <p:cNvSpPr/>
          <p:nvPr/>
        </p:nvSpPr>
        <p:spPr>
          <a:xfrm>
            <a:off x="3780000" y="2807999"/>
            <a:ext cx="1233000" cy="342000"/>
          </a:xfrm>
          <a:prstGeom prst="rect">
            <a:avLst/>
          </a:prstGeom>
          <a:solidFill>
            <a:srgbClr val="4FC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24000" y="3211199"/>
            <a:ext cx="8568000" cy="331200"/>
          </a:xfrm>
          <a:prstGeom prst="rect">
            <a:avLst/>
          </a:prstGeom>
          <a:noFill/>
        </p:spPr>
        <p:txBody>
          <a:bodyPr wrap="square">
            <a:spAutoFit/>
          </a:bodyPr>
          <a:lstStyle/>
          <a:p>
            <a:pPr algn="l"/>
            <a:r>
              <a:rPr sz="1000" b="0" i="0">
                <a:solidFill>
                  <a:srgbClr val="B0C4DE"/>
                </a:solidFill>
              </a:rPr>
              <a:t>30 M FCFA  —  Recrutement des profils clés, bureaux dans les 2 villes, logistique opérationnelle</a:t>
            </a:r>
          </a:p>
        </p:txBody>
      </p:sp>
      <p:sp>
        <p:nvSpPr>
          <p:cNvPr id="23" name="Rectangle 22"/>
          <p:cNvSpPr/>
          <p:nvPr/>
        </p:nvSpPr>
        <p:spPr>
          <a:xfrm>
            <a:off x="144000" y="3995999"/>
            <a:ext cx="8856000" cy="1206000"/>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44000" y="3995999"/>
            <a:ext cx="97200" cy="1206000"/>
          </a:xfrm>
          <a:prstGeom prst="rect">
            <a:avLst/>
          </a:prstGeom>
          <a:solidFill>
            <a:srgbClr val="FF99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24000" y="4075199"/>
            <a:ext cx="2628000" cy="295200"/>
          </a:xfrm>
          <a:prstGeom prst="rect">
            <a:avLst/>
          </a:prstGeom>
          <a:noFill/>
        </p:spPr>
        <p:txBody>
          <a:bodyPr wrap="square">
            <a:spAutoFit/>
          </a:bodyPr>
          <a:lstStyle/>
          <a:p>
            <a:pPr algn="l"/>
            <a:r>
              <a:rPr sz="1200" b="1" i="0">
                <a:solidFill>
                  <a:srgbClr val="FFFFFF"/>
                </a:solidFill>
              </a:rPr>
              <a:t>Finalisation &amp; Déploiement</a:t>
            </a:r>
          </a:p>
        </p:txBody>
      </p:sp>
      <p:sp>
        <p:nvSpPr>
          <p:cNvPr id="26" name="Rectangle 25"/>
          <p:cNvSpPr/>
          <p:nvPr/>
        </p:nvSpPr>
        <p:spPr>
          <a:xfrm>
            <a:off x="3024000" y="4067999"/>
            <a:ext cx="666000" cy="342000"/>
          </a:xfrm>
          <a:prstGeom prst="rect">
            <a:avLst/>
          </a:prstGeom>
          <a:solidFill>
            <a:srgbClr val="0B1E42"/>
          </a:solidFill>
          <a:ln w="19050">
            <a:solidFill>
              <a:srgbClr val="FF99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024000" y="4067999"/>
            <a:ext cx="666000" cy="342000"/>
          </a:xfrm>
          <a:prstGeom prst="rect">
            <a:avLst/>
          </a:prstGeom>
          <a:noFill/>
        </p:spPr>
        <p:txBody>
          <a:bodyPr wrap="square">
            <a:spAutoFit/>
          </a:bodyPr>
          <a:lstStyle/>
          <a:p>
            <a:pPr algn="ctr"/>
            <a:r>
              <a:rPr sz="1400" b="1" i="0">
                <a:solidFill>
                  <a:srgbClr val="FF9933"/>
                </a:solidFill>
              </a:rPr>
              <a:t>15 %</a:t>
            </a:r>
          </a:p>
        </p:txBody>
      </p:sp>
      <p:sp>
        <p:nvSpPr>
          <p:cNvPr id="28" name="Rectangle 27"/>
          <p:cNvSpPr/>
          <p:nvPr/>
        </p:nvSpPr>
        <p:spPr>
          <a:xfrm>
            <a:off x="3780000" y="4067999"/>
            <a:ext cx="739800" cy="342000"/>
          </a:xfrm>
          <a:prstGeom prst="rect">
            <a:avLst/>
          </a:prstGeom>
          <a:solidFill>
            <a:srgbClr val="FF99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24000" y="4471199"/>
            <a:ext cx="8568000" cy="331200"/>
          </a:xfrm>
          <a:prstGeom prst="rect">
            <a:avLst/>
          </a:prstGeom>
          <a:noFill/>
        </p:spPr>
        <p:txBody>
          <a:bodyPr wrap="square">
            <a:spAutoFit/>
          </a:bodyPr>
          <a:lstStyle/>
          <a:p>
            <a:pPr algn="l"/>
            <a:r>
              <a:rPr sz="1000" b="0" i="0">
                <a:solidFill>
                  <a:srgbClr val="B0C4DE"/>
                </a:solidFill>
              </a:rPr>
              <a:t>18 M FCFA  —  Derniers réglages produit, tests charge, déploiement (app déjà très avancée : 20 000+ h dev)</a:t>
            </a:r>
          </a:p>
        </p:txBody>
      </p:sp>
      <p:sp>
        <p:nvSpPr>
          <p:cNvPr id="30" name="Rectangle 29"/>
          <p:cNvSpPr/>
          <p:nvPr/>
        </p:nvSpPr>
        <p:spPr>
          <a:xfrm>
            <a:off x="144000" y="5255999"/>
            <a:ext cx="8856000" cy="1206000"/>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144000" y="5255999"/>
            <a:ext cx="97200" cy="1206000"/>
          </a:xfrm>
          <a:prstGeom prst="rect">
            <a:avLst/>
          </a:prstGeom>
          <a:solidFill>
            <a:srgbClr val="00C8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24000" y="5335199"/>
            <a:ext cx="2628000" cy="295200"/>
          </a:xfrm>
          <a:prstGeom prst="rect">
            <a:avLst/>
          </a:prstGeom>
          <a:noFill/>
        </p:spPr>
        <p:txBody>
          <a:bodyPr wrap="square">
            <a:spAutoFit/>
          </a:bodyPr>
          <a:lstStyle/>
          <a:p>
            <a:pPr algn="l"/>
            <a:r>
              <a:rPr sz="1200" b="1" i="0">
                <a:solidFill>
                  <a:srgbClr val="FFFFFF"/>
                </a:solidFill>
              </a:rPr>
              <a:t>Réserve de Trésorerie</a:t>
            </a:r>
          </a:p>
        </p:txBody>
      </p:sp>
      <p:sp>
        <p:nvSpPr>
          <p:cNvPr id="33" name="Rectangle 32"/>
          <p:cNvSpPr/>
          <p:nvPr/>
        </p:nvSpPr>
        <p:spPr>
          <a:xfrm>
            <a:off x="3024000" y="5327999"/>
            <a:ext cx="666000" cy="342000"/>
          </a:xfrm>
          <a:prstGeom prst="rect">
            <a:avLst/>
          </a:prstGeom>
          <a:solidFill>
            <a:srgbClr val="0B1E42"/>
          </a:solidFill>
          <a:ln w="19050">
            <a:solidFill>
              <a:srgbClr val="00C8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024000" y="5327999"/>
            <a:ext cx="666000" cy="342000"/>
          </a:xfrm>
          <a:prstGeom prst="rect">
            <a:avLst/>
          </a:prstGeom>
          <a:noFill/>
        </p:spPr>
        <p:txBody>
          <a:bodyPr wrap="square">
            <a:spAutoFit/>
          </a:bodyPr>
          <a:lstStyle/>
          <a:p>
            <a:pPr algn="ctr"/>
            <a:r>
              <a:rPr sz="1400" b="1" i="0">
                <a:solidFill>
                  <a:srgbClr val="00C87A"/>
                </a:solidFill>
              </a:rPr>
              <a:t>15 %</a:t>
            </a:r>
          </a:p>
        </p:txBody>
      </p:sp>
      <p:sp>
        <p:nvSpPr>
          <p:cNvPr id="35" name="Rectangle 34"/>
          <p:cNvSpPr/>
          <p:nvPr/>
        </p:nvSpPr>
        <p:spPr>
          <a:xfrm>
            <a:off x="3780000" y="5327999"/>
            <a:ext cx="739800" cy="342000"/>
          </a:xfrm>
          <a:prstGeom prst="rect">
            <a:avLst/>
          </a:prstGeom>
          <a:solidFill>
            <a:srgbClr val="00C8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24000" y="5731199"/>
            <a:ext cx="8568000" cy="331200"/>
          </a:xfrm>
          <a:prstGeom prst="rect">
            <a:avLst/>
          </a:prstGeom>
          <a:noFill/>
        </p:spPr>
        <p:txBody>
          <a:bodyPr wrap="square">
            <a:spAutoFit/>
          </a:bodyPr>
          <a:lstStyle/>
          <a:p>
            <a:pPr algn="l"/>
            <a:r>
              <a:rPr sz="1000" b="0" i="0">
                <a:solidFill>
                  <a:srgbClr val="B0C4DE"/>
                </a:solidFill>
              </a:rPr>
              <a:t>18 M FCFA  —  Sécurité financière 6 mois + gestion des imprévus opérationnels</a:t>
            </a:r>
          </a:p>
        </p:txBody>
      </p:sp>
      <p:sp>
        <p:nvSpPr>
          <p:cNvPr id="37" name="Rectangle 36"/>
          <p:cNvSpPr/>
          <p:nvPr/>
        </p:nvSpPr>
        <p:spPr>
          <a:xfrm>
            <a:off x="144000" y="6559199"/>
            <a:ext cx="8856000" cy="432000"/>
          </a:xfrm>
          <a:prstGeom prst="rect">
            <a:avLst/>
          </a:prstGeom>
          <a:solidFill>
            <a:srgbClr val="132B5E"/>
          </a:solidFill>
          <a:ln w="19050">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51999" y="6595199"/>
            <a:ext cx="8640001" cy="360000"/>
          </a:xfrm>
          <a:prstGeom prst="rect">
            <a:avLst/>
          </a:prstGeom>
          <a:noFill/>
        </p:spPr>
        <p:txBody>
          <a:bodyPr wrap="square">
            <a:spAutoFit/>
          </a:bodyPr>
          <a:lstStyle/>
          <a:p>
            <a:pPr algn="ctr"/>
            <a:r>
              <a:rPr sz="1100" b="1" i="0">
                <a:solidFill>
                  <a:srgbClr val="D4AF37"/>
                </a:solidFill>
              </a:rPr>
              <a:t>TOTAL : 120 000 000 FCFA  |  Marketing = 1er poste (45 %)  |  Runway : 18 mois  |  Rentabilité cible : T1 2028</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B1E42"/>
        </a:solidFill>
        <a:effectLst/>
      </p:bgPr>
    </p:bg>
    <p:spTree>
      <p:nvGrpSpPr>
        <p:cNvPr id="1" name=""/>
        <p:cNvGrpSpPr/>
        <p:nvPr/>
      </p:nvGrpSpPr>
      <p:grpSpPr/>
      <p:sp>
        <p:nvSpPr>
          <p:cNvPr id="2" name="Rectangle 1"/>
          <p:cNvSpPr/>
          <p:nvPr/>
        </p:nvSpPr>
        <p:spPr>
          <a:xfrm>
            <a:off x="0" y="0"/>
            <a:ext cx="9144000" cy="4860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6000"/>
            <a:ext cx="144000" cy="6138000"/>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32000" y="36000"/>
            <a:ext cx="540000" cy="413999"/>
          </a:xfrm>
          <a:prstGeom prst="rect">
            <a:avLst/>
          </a:prstGeom>
          <a:noFill/>
        </p:spPr>
        <p:txBody>
          <a:bodyPr wrap="square">
            <a:spAutoFit/>
          </a:bodyPr>
          <a:lstStyle/>
          <a:p>
            <a:pPr algn="ctr"/>
            <a:r>
              <a:rPr sz="1400" b="1" i="0">
                <a:solidFill>
                  <a:srgbClr val="0B1E42"/>
                </a:solidFill>
              </a:rPr>
              <a:t>11</a:t>
            </a:r>
          </a:p>
        </p:txBody>
      </p:sp>
      <p:sp>
        <p:nvSpPr>
          <p:cNvPr id="5" name="TextBox 4"/>
          <p:cNvSpPr txBox="1"/>
          <p:nvPr/>
        </p:nvSpPr>
        <p:spPr>
          <a:xfrm>
            <a:off x="251999" y="540000"/>
            <a:ext cx="8280000" cy="540000"/>
          </a:xfrm>
          <a:prstGeom prst="rect">
            <a:avLst/>
          </a:prstGeom>
          <a:noFill/>
        </p:spPr>
        <p:txBody>
          <a:bodyPr wrap="square">
            <a:spAutoFit/>
          </a:bodyPr>
          <a:lstStyle/>
          <a:p>
            <a:pPr algn="l"/>
            <a:r>
              <a:rPr sz="2100" b="1" i="0">
                <a:solidFill>
                  <a:srgbClr val="FFFFFF"/>
                </a:solidFill>
              </a:rPr>
              <a:t>Projection Financière — Hypothèse Basse · 2026-2028</a:t>
            </a:r>
          </a:p>
        </p:txBody>
      </p:sp>
      <p:sp>
        <p:nvSpPr>
          <p:cNvPr id="6" name="TextBox 5"/>
          <p:cNvSpPr txBox="1"/>
          <p:nvPr/>
        </p:nvSpPr>
        <p:spPr>
          <a:xfrm>
            <a:off x="251999" y="1098000"/>
            <a:ext cx="8640001" cy="288000"/>
          </a:xfrm>
          <a:prstGeom prst="rect">
            <a:avLst/>
          </a:prstGeom>
          <a:noFill/>
        </p:spPr>
        <p:txBody>
          <a:bodyPr wrap="square">
            <a:spAutoFit/>
          </a:bodyPr>
          <a:lstStyle/>
          <a:p>
            <a:pPr algn="l"/>
            <a:r>
              <a:rPr sz="1100" b="0" i="1">
                <a:solidFill>
                  <a:srgbClr val="D4AF37"/>
                </a:solidFill>
              </a:rPr>
              <a:t>Revenus minimisés · Charges élargies (acquisitions services incluses) · Seuil cumulatif T1 2028</a:t>
            </a:r>
          </a:p>
        </p:txBody>
      </p:sp>
      <p:sp>
        <p:nvSpPr>
          <p:cNvPr id="7" name="Rectangle 6"/>
          <p:cNvSpPr/>
          <p:nvPr/>
        </p:nvSpPr>
        <p:spPr>
          <a:xfrm>
            <a:off x="0" y="6642000"/>
            <a:ext cx="9144000" cy="2160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0000" y="6642000"/>
            <a:ext cx="6480000" cy="216000"/>
          </a:xfrm>
          <a:prstGeom prst="rect">
            <a:avLst/>
          </a:prstGeom>
          <a:noFill/>
        </p:spPr>
        <p:txBody>
          <a:bodyPr wrap="square">
            <a:spAutoFit/>
          </a:bodyPr>
          <a:lstStyle/>
          <a:p>
            <a:pPr algn="l"/>
            <a:r>
              <a:rPr sz="900" b="0" i="0">
                <a:solidFill>
                  <a:srgbClr val="0B1E42"/>
                </a:solidFill>
              </a:rPr>
              <a:t>YUKPO  |  YUKPO COMPANY SARL  |  Confidentiel  |  2026</a:t>
            </a:r>
          </a:p>
        </p:txBody>
      </p:sp>
      <p:sp>
        <p:nvSpPr>
          <p:cNvPr id="9" name="Rectangle 8"/>
          <p:cNvSpPr/>
          <p:nvPr/>
        </p:nvSpPr>
        <p:spPr>
          <a:xfrm>
            <a:off x="144000" y="1475999"/>
            <a:ext cx="1962000" cy="316800"/>
          </a:xfrm>
          <a:prstGeom prst="rect">
            <a:avLst/>
          </a:prstGeom>
          <a:solidFill>
            <a:srgbClr val="0B1E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16000" y="1511999"/>
            <a:ext cx="1854000" cy="252000"/>
          </a:xfrm>
          <a:prstGeom prst="rect">
            <a:avLst/>
          </a:prstGeom>
          <a:noFill/>
        </p:spPr>
        <p:txBody>
          <a:bodyPr wrap="square">
            <a:spAutoFit/>
          </a:bodyPr>
          <a:lstStyle/>
          <a:p>
            <a:pPr algn="l"/>
            <a:r>
              <a:rPr sz="900" b="1" i="1">
                <a:solidFill>
                  <a:srgbClr val="B0C4DE"/>
                </a:solidFill>
              </a:rPr>
              <a:t>Indicateur</a:t>
            </a:r>
          </a:p>
        </p:txBody>
      </p:sp>
      <p:sp>
        <p:nvSpPr>
          <p:cNvPr id="11" name="Rectangle 10"/>
          <p:cNvSpPr/>
          <p:nvPr/>
        </p:nvSpPr>
        <p:spPr>
          <a:xfrm>
            <a:off x="2106000" y="1475999"/>
            <a:ext cx="840150" cy="316800"/>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120400" y="1504799"/>
            <a:ext cx="825750" cy="262800"/>
          </a:xfrm>
          <a:prstGeom prst="rect">
            <a:avLst/>
          </a:prstGeom>
          <a:noFill/>
        </p:spPr>
        <p:txBody>
          <a:bodyPr wrap="square">
            <a:spAutoFit/>
          </a:bodyPr>
          <a:lstStyle/>
          <a:p>
            <a:pPr algn="ctr"/>
            <a:r>
              <a:rPr sz="900" b="1" i="0">
                <a:solidFill>
                  <a:srgbClr val="D4AF37"/>
                </a:solidFill>
              </a:rPr>
              <a:t>T2'26</a:t>
            </a:r>
          </a:p>
        </p:txBody>
      </p:sp>
      <p:sp>
        <p:nvSpPr>
          <p:cNvPr id="13" name="Rectangle 12"/>
          <p:cNvSpPr/>
          <p:nvPr/>
        </p:nvSpPr>
        <p:spPr>
          <a:xfrm>
            <a:off x="2967750" y="1475999"/>
            <a:ext cx="840150" cy="316800"/>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982150" y="1504799"/>
            <a:ext cx="825750" cy="262800"/>
          </a:xfrm>
          <a:prstGeom prst="rect">
            <a:avLst/>
          </a:prstGeom>
          <a:noFill/>
        </p:spPr>
        <p:txBody>
          <a:bodyPr wrap="square">
            <a:spAutoFit/>
          </a:bodyPr>
          <a:lstStyle/>
          <a:p>
            <a:pPr algn="ctr"/>
            <a:r>
              <a:rPr sz="900" b="1" i="0">
                <a:solidFill>
                  <a:srgbClr val="D4AF37"/>
                </a:solidFill>
              </a:rPr>
              <a:t>T3'26</a:t>
            </a:r>
          </a:p>
        </p:txBody>
      </p:sp>
      <p:sp>
        <p:nvSpPr>
          <p:cNvPr id="15" name="Rectangle 14"/>
          <p:cNvSpPr/>
          <p:nvPr/>
        </p:nvSpPr>
        <p:spPr>
          <a:xfrm>
            <a:off x="3829500" y="1475999"/>
            <a:ext cx="840150" cy="316800"/>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843900" y="1504799"/>
            <a:ext cx="825750" cy="262800"/>
          </a:xfrm>
          <a:prstGeom prst="rect">
            <a:avLst/>
          </a:prstGeom>
          <a:noFill/>
        </p:spPr>
        <p:txBody>
          <a:bodyPr wrap="square">
            <a:spAutoFit/>
          </a:bodyPr>
          <a:lstStyle/>
          <a:p>
            <a:pPr algn="ctr"/>
            <a:r>
              <a:rPr sz="900" b="1" i="0">
                <a:solidFill>
                  <a:srgbClr val="D4AF37"/>
                </a:solidFill>
              </a:rPr>
              <a:t>T4'26</a:t>
            </a:r>
          </a:p>
        </p:txBody>
      </p:sp>
      <p:sp>
        <p:nvSpPr>
          <p:cNvPr id="17" name="Rectangle 16"/>
          <p:cNvSpPr/>
          <p:nvPr/>
        </p:nvSpPr>
        <p:spPr>
          <a:xfrm>
            <a:off x="4691250" y="1475999"/>
            <a:ext cx="840150" cy="316800"/>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05650" y="1504799"/>
            <a:ext cx="825750" cy="262800"/>
          </a:xfrm>
          <a:prstGeom prst="rect">
            <a:avLst/>
          </a:prstGeom>
          <a:noFill/>
        </p:spPr>
        <p:txBody>
          <a:bodyPr wrap="square">
            <a:spAutoFit/>
          </a:bodyPr>
          <a:lstStyle/>
          <a:p>
            <a:pPr algn="ctr"/>
            <a:r>
              <a:rPr sz="900" b="1" i="0">
                <a:solidFill>
                  <a:srgbClr val="D4AF37"/>
                </a:solidFill>
              </a:rPr>
              <a:t>T1'27</a:t>
            </a:r>
          </a:p>
        </p:txBody>
      </p:sp>
      <p:sp>
        <p:nvSpPr>
          <p:cNvPr id="19" name="Rectangle 18"/>
          <p:cNvSpPr/>
          <p:nvPr/>
        </p:nvSpPr>
        <p:spPr>
          <a:xfrm>
            <a:off x="5553000" y="1475999"/>
            <a:ext cx="840150" cy="316800"/>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567400" y="1504799"/>
            <a:ext cx="825750" cy="262800"/>
          </a:xfrm>
          <a:prstGeom prst="rect">
            <a:avLst/>
          </a:prstGeom>
          <a:noFill/>
        </p:spPr>
        <p:txBody>
          <a:bodyPr wrap="square">
            <a:spAutoFit/>
          </a:bodyPr>
          <a:lstStyle/>
          <a:p>
            <a:pPr algn="ctr"/>
            <a:r>
              <a:rPr sz="900" b="1" i="0">
                <a:solidFill>
                  <a:srgbClr val="D4AF37"/>
                </a:solidFill>
              </a:rPr>
              <a:t>T2'27</a:t>
            </a:r>
          </a:p>
        </p:txBody>
      </p:sp>
      <p:sp>
        <p:nvSpPr>
          <p:cNvPr id="21" name="Rectangle 20"/>
          <p:cNvSpPr/>
          <p:nvPr/>
        </p:nvSpPr>
        <p:spPr>
          <a:xfrm>
            <a:off x="6414750" y="1475999"/>
            <a:ext cx="840150" cy="316800"/>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29150" y="1504799"/>
            <a:ext cx="825750" cy="262800"/>
          </a:xfrm>
          <a:prstGeom prst="rect">
            <a:avLst/>
          </a:prstGeom>
          <a:noFill/>
        </p:spPr>
        <p:txBody>
          <a:bodyPr wrap="square">
            <a:spAutoFit/>
          </a:bodyPr>
          <a:lstStyle/>
          <a:p>
            <a:pPr algn="ctr"/>
            <a:r>
              <a:rPr sz="900" b="1" i="0">
                <a:solidFill>
                  <a:srgbClr val="D4AF37"/>
                </a:solidFill>
              </a:rPr>
              <a:t>T3'27</a:t>
            </a:r>
          </a:p>
        </p:txBody>
      </p:sp>
      <p:sp>
        <p:nvSpPr>
          <p:cNvPr id="23" name="Rectangle 22"/>
          <p:cNvSpPr/>
          <p:nvPr/>
        </p:nvSpPr>
        <p:spPr>
          <a:xfrm>
            <a:off x="7276500" y="1475999"/>
            <a:ext cx="840150" cy="316800"/>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90900" y="1504799"/>
            <a:ext cx="825750" cy="262800"/>
          </a:xfrm>
          <a:prstGeom prst="rect">
            <a:avLst/>
          </a:prstGeom>
          <a:noFill/>
        </p:spPr>
        <p:txBody>
          <a:bodyPr wrap="square">
            <a:spAutoFit/>
          </a:bodyPr>
          <a:lstStyle/>
          <a:p>
            <a:pPr algn="ctr"/>
            <a:r>
              <a:rPr sz="900" b="1" i="0">
                <a:solidFill>
                  <a:srgbClr val="D4AF37"/>
                </a:solidFill>
              </a:rPr>
              <a:t>T4'27</a:t>
            </a:r>
          </a:p>
        </p:txBody>
      </p:sp>
      <p:sp>
        <p:nvSpPr>
          <p:cNvPr id="25" name="Rectangle 24"/>
          <p:cNvSpPr/>
          <p:nvPr/>
        </p:nvSpPr>
        <p:spPr>
          <a:xfrm>
            <a:off x="8138250" y="1475999"/>
            <a:ext cx="840150" cy="3168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152650" y="1504799"/>
            <a:ext cx="825750" cy="262800"/>
          </a:xfrm>
          <a:prstGeom prst="rect">
            <a:avLst/>
          </a:prstGeom>
          <a:noFill/>
        </p:spPr>
        <p:txBody>
          <a:bodyPr wrap="square">
            <a:spAutoFit/>
          </a:bodyPr>
          <a:lstStyle/>
          <a:p>
            <a:pPr algn="ctr"/>
            <a:r>
              <a:rPr sz="900" b="1" i="0">
                <a:solidFill>
                  <a:srgbClr val="0B1E42"/>
                </a:solidFill>
              </a:rPr>
              <a:t>T1'28</a:t>
            </a:r>
          </a:p>
        </p:txBody>
      </p:sp>
      <p:sp>
        <p:nvSpPr>
          <p:cNvPr id="27" name="Rectangle 26"/>
          <p:cNvSpPr/>
          <p:nvPr/>
        </p:nvSpPr>
        <p:spPr>
          <a:xfrm>
            <a:off x="144000" y="1792799"/>
            <a:ext cx="1962000" cy="691200"/>
          </a:xfrm>
          <a:prstGeom prst="rect">
            <a:avLst/>
          </a:prstGeom>
          <a:solidFill>
            <a:srgbClr val="132B5E"/>
          </a:solidFill>
          <a:ln w="19050">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144000" y="1792799"/>
            <a:ext cx="79200" cy="6912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59200" y="1864799"/>
            <a:ext cx="1810800" cy="604800"/>
          </a:xfrm>
          <a:prstGeom prst="rect">
            <a:avLst/>
          </a:prstGeom>
          <a:noFill/>
        </p:spPr>
        <p:txBody>
          <a:bodyPr wrap="square">
            <a:spAutoFit/>
          </a:bodyPr>
          <a:lstStyle/>
          <a:p>
            <a:pPr algn="l"/>
            <a:r>
              <a:rPr sz="900" b="1" i="0">
                <a:solidFill>
                  <a:srgbClr val="D4AF37"/>
                </a:solidFill>
              </a:rPr>
              <a:t>Util. actifs / fin trimestre</a:t>
            </a:r>
          </a:p>
        </p:txBody>
      </p:sp>
      <p:sp>
        <p:nvSpPr>
          <p:cNvPr id="30" name="Rectangle 29"/>
          <p:cNvSpPr/>
          <p:nvPr/>
        </p:nvSpPr>
        <p:spPr>
          <a:xfrm>
            <a:off x="2106000" y="1792799"/>
            <a:ext cx="840150" cy="691200"/>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120400" y="1871999"/>
            <a:ext cx="825750" cy="583200"/>
          </a:xfrm>
          <a:prstGeom prst="rect">
            <a:avLst/>
          </a:prstGeom>
          <a:noFill/>
        </p:spPr>
        <p:txBody>
          <a:bodyPr wrap="square">
            <a:spAutoFit/>
          </a:bodyPr>
          <a:lstStyle/>
          <a:p>
            <a:pPr algn="ctr"/>
            <a:r>
              <a:rPr sz="1000" b="0" i="0">
                <a:solidFill>
                  <a:srgbClr val="FFFFFF"/>
                </a:solidFill>
              </a:rPr>
              <a:t>2 000</a:t>
            </a:r>
          </a:p>
        </p:txBody>
      </p:sp>
      <p:sp>
        <p:nvSpPr>
          <p:cNvPr id="32" name="Rectangle 31"/>
          <p:cNvSpPr/>
          <p:nvPr/>
        </p:nvSpPr>
        <p:spPr>
          <a:xfrm>
            <a:off x="2967750" y="1792799"/>
            <a:ext cx="840150" cy="691200"/>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982150" y="1871999"/>
            <a:ext cx="825750" cy="583200"/>
          </a:xfrm>
          <a:prstGeom prst="rect">
            <a:avLst/>
          </a:prstGeom>
          <a:noFill/>
        </p:spPr>
        <p:txBody>
          <a:bodyPr wrap="square">
            <a:spAutoFit/>
          </a:bodyPr>
          <a:lstStyle/>
          <a:p>
            <a:pPr algn="ctr"/>
            <a:r>
              <a:rPr sz="1000" b="0" i="0">
                <a:solidFill>
                  <a:srgbClr val="FFFFFF"/>
                </a:solidFill>
              </a:rPr>
              <a:t>5 500</a:t>
            </a:r>
          </a:p>
        </p:txBody>
      </p:sp>
      <p:sp>
        <p:nvSpPr>
          <p:cNvPr id="34" name="Rectangle 33"/>
          <p:cNvSpPr/>
          <p:nvPr/>
        </p:nvSpPr>
        <p:spPr>
          <a:xfrm>
            <a:off x="3829500" y="1792799"/>
            <a:ext cx="840150" cy="691200"/>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843900" y="1871999"/>
            <a:ext cx="825750" cy="583200"/>
          </a:xfrm>
          <a:prstGeom prst="rect">
            <a:avLst/>
          </a:prstGeom>
          <a:noFill/>
        </p:spPr>
        <p:txBody>
          <a:bodyPr wrap="square">
            <a:spAutoFit/>
          </a:bodyPr>
          <a:lstStyle/>
          <a:p>
            <a:pPr algn="ctr"/>
            <a:r>
              <a:rPr sz="1000" b="0" i="0">
                <a:solidFill>
                  <a:srgbClr val="FFFFFF"/>
                </a:solidFill>
              </a:rPr>
              <a:t>11 000</a:t>
            </a:r>
          </a:p>
        </p:txBody>
      </p:sp>
      <p:sp>
        <p:nvSpPr>
          <p:cNvPr id="36" name="Rectangle 35"/>
          <p:cNvSpPr/>
          <p:nvPr/>
        </p:nvSpPr>
        <p:spPr>
          <a:xfrm>
            <a:off x="4691250" y="1792799"/>
            <a:ext cx="840150" cy="691200"/>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705650" y="1871999"/>
            <a:ext cx="825750" cy="583200"/>
          </a:xfrm>
          <a:prstGeom prst="rect">
            <a:avLst/>
          </a:prstGeom>
          <a:noFill/>
        </p:spPr>
        <p:txBody>
          <a:bodyPr wrap="square">
            <a:spAutoFit/>
          </a:bodyPr>
          <a:lstStyle/>
          <a:p>
            <a:pPr algn="ctr"/>
            <a:r>
              <a:rPr sz="1000" b="0" i="0">
                <a:solidFill>
                  <a:srgbClr val="FFFFFF"/>
                </a:solidFill>
              </a:rPr>
              <a:t>18 000</a:t>
            </a:r>
          </a:p>
        </p:txBody>
      </p:sp>
      <p:sp>
        <p:nvSpPr>
          <p:cNvPr id="38" name="Rectangle 37"/>
          <p:cNvSpPr/>
          <p:nvPr/>
        </p:nvSpPr>
        <p:spPr>
          <a:xfrm>
            <a:off x="5553000" y="1792799"/>
            <a:ext cx="840150" cy="691200"/>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567400" y="1871999"/>
            <a:ext cx="825750" cy="583200"/>
          </a:xfrm>
          <a:prstGeom prst="rect">
            <a:avLst/>
          </a:prstGeom>
          <a:noFill/>
        </p:spPr>
        <p:txBody>
          <a:bodyPr wrap="square">
            <a:spAutoFit/>
          </a:bodyPr>
          <a:lstStyle/>
          <a:p>
            <a:pPr algn="ctr"/>
            <a:r>
              <a:rPr sz="1000" b="0" i="0">
                <a:solidFill>
                  <a:srgbClr val="FFFFFF"/>
                </a:solidFill>
              </a:rPr>
              <a:t>28 000</a:t>
            </a:r>
          </a:p>
        </p:txBody>
      </p:sp>
      <p:sp>
        <p:nvSpPr>
          <p:cNvPr id="40" name="Rectangle 39"/>
          <p:cNvSpPr/>
          <p:nvPr/>
        </p:nvSpPr>
        <p:spPr>
          <a:xfrm>
            <a:off x="6414750" y="1792799"/>
            <a:ext cx="840150" cy="691200"/>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429150" y="1871999"/>
            <a:ext cx="825750" cy="583200"/>
          </a:xfrm>
          <a:prstGeom prst="rect">
            <a:avLst/>
          </a:prstGeom>
          <a:noFill/>
        </p:spPr>
        <p:txBody>
          <a:bodyPr wrap="square">
            <a:spAutoFit/>
          </a:bodyPr>
          <a:lstStyle/>
          <a:p>
            <a:pPr algn="ctr"/>
            <a:r>
              <a:rPr sz="1000" b="0" i="0">
                <a:solidFill>
                  <a:srgbClr val="FFFFFF"/>
                </a:solidFill>
              </a:rPr>
              <a:t>40 000</a:t>
            </a:r>
          </a:p>
        </p:txBody>
      </p:sp>
      <p:sp>
        <p:nvSpPr>
          <p:cNvPr id="42" name="Rectangle 41"/>
          <p:cNvSpPr/>
          <p:nvPr/>
        </p:nvSpPr>
        <p:spPr>
          <a:xfrm>
            <a:off x="7276500" y="1792799"/>
            <a:ext cx="840150" cy="691200"/>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290900" y="1871999"/>
            <a:ext cx="825750" cy="583200"/>
          </a:xfrm>
          <a:prstGeom prst="rect">
            <a:avLst/>
          </a:prstGeom>
          <a:noFill/>
        </p:spPr>
        <p:txBody>
          <a:bodyPr wrap="square">
            <a:spAutoFit/>
          </a:bodyPr>
          <a:lstStyle/>
          <a:p>
            <a:pPr algn="ctr"/>
            <a:r>
              <a:rPr sz="1000" b="0" i="0">
                <a:solidFill>
                  <a:srgbClr val="FFFFFF"/>
                </a:solidFill>
              </a:rPr>
              <a:t>55 000</a:t>
            </a:r>
          </a:p>
        </p:txBody>
      </p:sp>
      <p:sp>
        <p:nvSpPr>
          <p:cNvPr id="44" name="Rectangle 43"/>
          <p:cNvSpPr/>
          <p:nvPr/>
        </p:nvSpPr>
        <p:spPr>
          <a:xfrm>
            <a:off x="8138250" y="1792799"/>
            <a:ext cx="840150" cy="691200"/>
          </a:xfrm>
          <a:prstGeom prst="rect">
            <a:avLst/>
          </a:prstGeom>
          <a:solidFill>
            <a:srgbClr val="0B1E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152650" y="1871999"/>
            <a:ext cx="825750" cy="583200"/>
          </a:xfrm>
          <a:prstGeom prst="rect">
            <a:avLst/>
          </a:prstGeom>
          <a:noFill/>
        </p:spPr>
        <p:txBody>
          <a:bodyPr wrap="square">
            <a:spAutoFit/>
          </a:bodyPr>
          <a:lstStyle/>
          <a:p>
            <a:pPr algn="ctr"/>
            <a:r>
              <a:rPr sz="1000" b="0" i="0">
                <a:solidFill>
                  <a:srgbClr val="D4AF37"/>
                </a:solidFill>
              </a:rPr>
              <a:t>70 000</a:t>
            </a:r>
          </a:p>
        </p:txBody>
      </p:sp>
      <p:sp>
        <p:nvSpPr>
          <p:cNvPr id="46" name="Rectangle 45"/>
          <p:cNvSpPr/>
          <p:nvPr/>
        </p:nvSpPr>
        <p:spPr>
          <a:xfrm>
            <a:off x="144000" y="2505599"/>
            <a:ext cx="1962000" cy="691200"/>
          </a:xfrm>
          <a:prstGeom prst="rect">
            <a:avLst/>
          </a:prstGeom>
          <a:solidFill>
            <a:srgbClr val="0B1E42"/>
          </a:solidFill>
          <a:ln w="19050">
            <a:solidFill>
              <a:srgbClr val="4FC3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144000" y="2505599"/>
            <a:ext cx="79200" cy="691200"/>
          </a:xfrm>
          <a:prstGeom prst="rect">
            <a:avLst/>
          </a:prstGeom>
          <a:solidFill>
            <a:srgbClr val="4FC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259200" y="2577599"/>
            <a:ext cx="1810800" cy="604800"/>
          </a:xfrm>
          <a:prstGeom prst="rect">
            <a:avLst/>
          </a:prstGeom>
          <a:noFill/>
        </p:spPr>
        <p:txBody>
          <a:bodyPr wrap="square">
            <a:spAutoFit/>
          </a:bodyPr>
          <a:lstStyle/>
          <a:p>
            <a:pPr algn="l"/>
            <a:r>
              <a:rPr sz="900" b="1" i="0">
                <a:solidFill>
                  <a:srgbClr val="4FC3F7"/>
                </a:solidFill>
              </a:rPr>
              <a:t>Revenus trim. (M FCFA)</a:t>
            </a:r>
          </a:p>
        </p:txBody>
      </p:sp>
      <p:sp>
        <p:nvSpPr>
          <p:cNvPr id="49" name="Rectangle 48"/>
          <p:cNvSpPr/>
          <p:nvPr/>
        </p:nvSpPr>
        <p:spPr>
          <a:xfrm>
            <a:off x="2106000" y="2505599"/>
            <a:ext cx="840150" cy="691200"/>
          </a:xfrm>
          <a:prstGeom prst="rect">
            <a:avLst/>
          </a:prstGeom>
          <a:solidFill>
            <a:srgbClr val="0B1E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2120400" y="2584799"/>
            <a:ext cx="825750" cy="583200"/>
          </a:xfrm>
          <a:prstGeom prst="rect">
            <a:avLst/>
          </a:prstGeom>
          <a:noFill/>
        </p:spPr>
        <p:txBody>
          <a:bodyPr wrap="square">
            <a:spAutoFit/>
          </a:bodyPr>
          <a:lstStyle/>
          <a:p>
            <a:pPr algn="ctr"/>
            <a:r>
              <a:rPr sz="1000" b="0" i="0">
                <a:solidFill>
                  <a:srgbClr val="FFFFFF"/>
                </a:solidFill>
              </a:rPr>
              <a:t>3</a:t>
            </a:r>
          </a:p>
        </p:txBody>
      </p:sp>
      <p:sp>
        <p:nvSpPr>
          <p:cNvPr id="51" name="Rectangle 50"/>
          <p:cNvSpPr/>
          <p:nvPr/>
        </p:nvSpPr>
        <p:spPr>
          <a:xfrm>
            <a:off x="2967750" y="2505599"/>
            <a:ext cx="840150" cy="691200"/>
          </a:xfrm>
          <a:prstGeom prst="rect">
            <a:avLst/>
          </a:prstGeom>
          <a:solidFill>
            <a:srgbClr val="0B1E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2982150" y="2584799"/>
            <a:ext cx="825750" cy="583200"/>
          </a:xfrm>
          <a:prstGeom prst="rect">
            <a:avLst/>
          </a:prstGeom>
          <a:noFill/>
        </p:spPr>
        <p:txBody>
          <a:bodyPr wrap="square">
            <a:spAutoFit/>
          </a:bodyPr>
          <a:lstStyle/>
          <a:p>
            <a:pPr algn="ctr"/>
            <a:r>
              <a:rPr sz="1000" b="0" i="0">
                <a:solidFill>
                  <a:srgbClr val="FFFFFF"/>
                </a:solidFill>
              </a:rPr>
              <a:t>8</a:t>
            </a:r>
          </a:p>
        </p:txBody>
      </p:sp>
      <p:sp>
        <p:nvSpPr>
          <p:cNvPr id="53" name="Rectangle 52"/>
          <p:cNvSpPr/>
          <p:nvPr/>
        </p:nvSpPr>
        <p:spPr>
          <a:xfrm>
            <a:off x="3829500" y="2505599"/>
            <a:ext cx="840150" cy="691200"/>
          </a:xfrm>
          <a:prstGeom prst="rect">
            <a:avLst/>
          </a:prstGeom>
          <a:solidFill>
            <a:srgbClr val="0B1E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3843900" y="2584799"/>
            <a:ext cx="825750" cy="583200"/>
          </a:xfrm>
          <a:prstGeom prst="rect">
            <a:avLst/>
          </a:prstGeom>
          <a:noFill/>
        </p:spPr>
        <p:txBody>
          <a:bodyPr wrap="square">
            <a:spAutoFit/>
          </a:bodyPr>
          <a:lstStyle/>
          <a:p>
            <a:pPr algn="ctr"/>
            <a:r>
              <a:rPr sz="1000" b="0" i="0">
                <a:solidFill>
                  <a:srgbClr val="FFFFFF"/>
                </a:solidFill>
              </a:rPr>
              <a:t>14</a:t>
            </a:r>
          </a:p>
        </p:txBody>
      </p:sp>
      <p:sp>
        <p:nvSpPr>
          <p:cNvPr id="55" name="Rectangle 54"/>
          <p:cNvSpPr/>
          <p:nvPr/>
        </p:nvSpPr>
        <p:spPr>
          <a:xfrm>
            <a:off x="4691250" y="2505599"/>
            <a:ext cx="840150" cy="691200"/>
          </a:xfrm>
          <a:prstGeom prst="rect">
            <a:avLst/>
          </a:prstGeom>
          <a:solidFill>
            <a:srgbClr val="0B1E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4705650" y="2584799"/>
            <a:ext cx="825750" cy="583200"/>
          </a:xfrm>
          <a:prstGeom prst="rect">
            <a:avLst/>
          </a:prstGeom>
          <a:noFill/>
        </p:spPr>
        <p:txBody>
          <a:bodyPr wrap="square">
            <a:spAutoFit/>
          </a:bodyPr>
          <a:lstStyle/>
          <a:p>
            <a:pPr algn="ctr"/>
            <a:r>
              <a:rPr sz="1000" b="0" i="0">
                <a:solidFill>
                  <a:srgbClr val="FFFFFF"/>
                </a:solidFill>
              </a:rPr>
              <a:t>22</a:t>
            </a:r>
          </a:p>
        </p:txBody>
      </p:sp>
      <p:sp>
        <p:nvSpPr>
          <p:cNvPr id="57" name="Rectangle 56"/>
          <p:cNvSpPr/>
          <p:nvPr/>
        </p:nvSpPr>
        <p:spPr>
          <a:xfrm>
            <a:off x="5553000" y="2505599"/>
            <a:ext cx="840150" cy="691200"/>
          </a:xfrm>
          <a:prstGeom prst="rect">
            <a:avLst/>
          </a:prstGeom>
          <a:solidFill>
            <a:srgbClr val="0B1E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5567400" y="2584799"/>
            <a:ext cx="825750" cy="583200"/>
          </a:xfrm>
          <a:prstGeom prst="rect">
            <a:avLst/>
          </a:prstGeom>
          <a:noFill/>
        </p:spPr>
        <p:txBody>
          <a:bodyPr wrap="square">
            <a:spAutoFit/>
          </a:bodyPr>
          <a:lstStyle/>
          <a:p>
            <a:pPr algn="ctr"/>
            <a:r>
              <a:rPr sz="1000" b="0" i="0">
                <a:solidFill>
                  <a:srgbClr val="FFFFFF"/>
                </a:solidFill>
              </a:rPr>
              <a:t>33</a:t>
            </a:r>
          </a:p>
        </p:txBody>
      </p:sp>
      <p:sp>
        <p:nvSpPr>
          <p:cNvPr id="59" name="Rectangle 58"/>
          <p:cNvSpPr/>
          <p:nvPr/>
        </p:nvSpPr>
        <p:spPr>
          <a:xfrm>
            <a:off x="6414750" y="2505599"/>
            <a:ext cx="840150" cy="691200"/>
          </a:xfrm>
          <a:prstGeom prst="rect">
            <a:avLst/>
          </a:prstGeom>
          <a:solidFill>
            <a:srgbClr val="0B1E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6429150" y="2584799"/>
            <a:ext cx="825750" cy="583200"/>
          </a:xfrm>
          <a:prstGeom prst="rect">
            <a:avLst/>
          </a:prstGeom>
          <a:noFill/>
        </p:spPr>
        <p:txBody>
          <a:bodyPr wrap="square">
            <a:spAutoFit/>
          </a:bodyPr>
          <a:lstStyle/>
          <a:p>
            <a:pPr algn="ctr"/>
            <a:r>
              <a:rPr sz="1000" b="0" i="0">
                <a:solidFill>
                  <a:srgbClr val="FFFFFF"/>
                </a:solidFill>
              </a:rPr>
              <a:t>48</a:t>
            </a:r>
          </a:p>
        </p:txBody>
      </p:sp>
      <p:sp>
        <p:nvSpPr>
          <p:cNvPr id="61" name="Rectangle 60"/>
          <p:cNvSpPr/>
          <p:nvPr/>
        </p:nvSpPr>
        <p:spPr>
          <a:xfrm>
            <a:off x="7276500" y="2505599"/>
            <a:ext cx="840150" cy="691200"/>
          </a:xfrm>
          <a:prstGeom prst="rect">
            <a:avLst/>
          </a:prstGeom>
          <a:solidFill>
            <a:srgbClr val="0B1E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7290900" y="2584799"/>
            <a:ext cx="825750" cy="583200"/>
          </a:xfrm>
          <a:prstGeom prst="rect">
            <a:avLst/>
          </a:prstGeom>
          <a:noFill/>
        </p:spPr>
        <p:txBody>
          <a:bodyPr wrap="square">
            <a:spAutoFit/>
          </a:bodyPr>
          <a:lstStyle/>
          <a:p>
            <a:pPr algn="ctr"/>
            <a:r>
              <a:rPr sz="1000" b="0" i="0">
                <a:solidFill>
                  <a:srgbClr val="FFFFFF"/>
                </a:solidFill>
              </a:rPr>
              <a:t>65</a:t>
            </a:r>
          </a:p>
        </p:txBody>
      </p:sp>
      <p:sp>
        <p:nvSpPr>
          <p:cNvPr id="63" name="Rectangle 62"/>
          <p:cNvSpPr/>
          <p:nvPr/>
        </p:nvSpPr>
        <p:spPr>
          <a:xfrm>
            <a:off x="8138250" y="2505599"/>
            <a:ext cx="840150" cy="691200"/>
          </a:xfrm>
          <a:prstGeom prst="rect">
            <a:avLst/>
          </a:prstGeom>
          <a:solidFill>
            <a:srgbClr val="0B1E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8152650" y="2584799"/>
            <a:ext cx="825750" cy="583200"/>
          </a:xfrm>
          <a:prstGeom prst="rect">
            <a:avLst/>
          </a:prstGeom>
          <a:noFill/>
        </p:spPr>
        <p:txBody>
          <a:bodyPr wrap="square">
            <a:spAutoFit/>
          </a:bodyPr>
          <a:lstStyle/>
          <a:p>
            <a:pPr algn="ctr"/>
            <a:r>
              <a:rPr sz="1000" b="1" i="0">
                <a:solidFill>
                  <a:srgbClr val="D4AF37"/>
                </a:solidFill>
              </a:rPr>
              <a:t>88</a:t>
            </a:r>
          </a:p>
        </p:txBody>
      </p:sp>
      <p:sp>
        <p:nvSpPr>
          <p:cNvPr id="65" name="Rectangle 64"/>
          <p:cNvSpPr/>
          <p:nvPr/>
        </p:nvSpPr>
        <p:spPr>
          <a:xfrm>
            <a:off x="144000" y="3218399"/>
            <a:ext cx="1962000" cy="691200"/>
          </a:xfrm>
          <a:prstGeom prst="rect">
            <a:avLst/>
          </a:prstGeom>
          <a:solidFill>
            <a:srgbClr val="132B5E"/>
          </a:solidFill>
          <a:ln w="19050">
            <a:solidFill>
              <a:srgbClr val="FF99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144000" y="3218399"/>
            <a:ext cx="79200" cy="691200"/>
          </a:xfrm>
          <a:prstGeom prst="rect">
            <a:avLst/>
          </a:prstGeom>
          <a:solidFill>
            <a:srgbClr val="FF99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259200" y="3290399"/>
            <a:ext cx="1810800" cy="604800"/>
          </a:xfrm>
          <a:prstGeom prst="rect">
            <a:avLst/>
          </a:prstGeom>
          <a:noFill/>
        </p:spPr>
        <p:txBody>
          <a:bodyPr wrap="square">
            <a:spAutoFit/>
          </a:bodyPr>
          <a:lstStyle/>
          <a:p>
            <a:pPr algn="l"/>
            <a:r>
              <a:rPr sz="900" b="1" i="0">
                <a:solidFill>
                  <a:srgbClr val="FF9933"/>
                </a:solidFill>
              </a:rPr>
              <a:t>Charges trim. (M FCFA) *</a:t>
            </a:r>
          </a:p>
        </p:txBody>
      </p:sp>
      <p:sp>
        <p:nvSpPr>
          <p:cNvPr id="68" name="Rectangle 67"/>
          <p:cNvSpPr/>
          <p:nvPr/>
        </p:nvSpPr>
        <p:spPr>
          <a:xfrm>
            <a:off x="2106000" y="3218399"/>
            <a:ext cx="840150" cy="691200"/>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2120400" y="3297599"/>
            <a:ext cx="825750" cy="583200"/>
          </a:xfrm>
          <a:prstGeom prst="rect">
            <a:avLst/>
          </a:prstGeom>
          <a:noFill/>
        </p:spPr>
        <p:txBody>
          <a:bodyPr wrap="square">
            <a:spAutoFit/>
          </a:bodyPr>
          <a:lstStyle/>
          <a:p>
            <a:pPr algn="ctr"/>
            <a:r>
              <a:rPr sz="1000" b="0" i="0">
                <a:solidFill>
                  <a:srgbClr val="FFFFFF"/>
                </a:solidFill>
              </a:rPr>
              <a:t>28</a:t>
            </a:r>
          </a:p>
        </p:txBody>
      </p:sp>
      <p:sp>
        <p:nvSpPr>
          <p:cNvPr id="70" name="Rectangle 69"/>
          <p:cNvSpPr/>
          <p:nvPr/>
        </p:nvSpPr>
        <p:spPr>
          <a:xfrm>
            <a:off x="2967750" y="3218399"/>
            <a:ext cx="840150" cy="691200"/>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2982150" y="3297599"/>
            <a:ext cx="825750" cy="583200"/>
          </a:xfrm>
          <a:prstGeom prst="rect">
            <a:avLst/>
          </a:prstGeom>
          <a:noFill/>
        </p:spPr>
        <p:txBody>
          <a:bodyPr wrap="square">
            <a:spAutoFit/>
          </a:bodyPr>
          <a:lstStyle/>
          <a:p>
            <a:pPr algn="ctr"/>
            <a:r>
              <a:rPr sz="1000" b="0" i="0">
                <a:solidFill>
                  <a:srgbClr val="FFFFFF"/>
                </a:solidFill>
              </a:rPr>
              <a:t>25</a:t>
            </a:r>
          </a:p>
        </p:txBody>
      </p:sp>
      <p:sp>
        <p:nvSpPr>
          <p:cNvPr id="72" name="Rectangle 71"/>
          <p:cNvSpPr/>
          <p:nvPr/>
        </p:nvSpPr>
        <p:spPr>
          <a:xfrm>
            <a:off x="3829500" y="3218399"/>
            <a:ext cx="840150" cy="691200"/>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3843900" y="3297599"/>
            <a:ext cx="825750" cy="583200"/>
          </a:xfrm>
          <a:prstGeom prst="rect">
            <a:avLst/>
          </a:prstGeom>
          <a:noFill/>
        </p:spPr>
        <p:txBody>
          <a:bodyPr wrap="square">
            <a:spAutoFit/>
          </a:bodyPr>
          <a:lstStyle/>
          <a:p>
            <a:pPr algn="ctr"/>
            <a:r>
              <a:rPr sz="1000" b="0" i="0">
                <a:solidFill>
                  <a:srgbClr val="FFFFFF"/>
                </a:solidFill>
              </a:rPr>
              <a:t>22</a:t>
            </a:r>
          </a:p>
        </p:txBody>
      </p:sp>
      <p:sp>
        <p:nvSpPr>
          <p:cNvPr id="74" name="Rectangle 73"/>
          <p:cNvSpPr/>
          <p:nvPr/>
        </p:nvSpPr>
        <p:spPr>
          <a:xfrm>
            <a:off x="4691250" y="3218399"/>
            <a:ext cx="840150" cy="691200"/>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4705650" y="3297599"/>
            <a:ext cx="825750" cy="583200"/>
          </a:xfrm>
          <a:prstGeom prst="rect">
            <a:avLst/>
          </a:prstGeom>
          <a:noFill/>
        </p:spPr>
        <p:txBody>
          <a:bodyPr wrap="square">
            <a:spAutoFit/>
          </a:bodyPr>
          <a:lstStyle/>
          <a:p>
            <a:pPr algn="ctr"/>
            <a:r>
              <a:rPr sz="1000" b="0" i="0">
                <a:solidFill>
                  <a:srgbClr val="FFFFFF"/>
                </a:solidFill>
              </a:rPr>
              <a:t>26</a:t>
            </a:r>
          </a:p>
        </p:txBody>
      </p:sp>
      <p:sp>
        <p:nvSpPr>
          <p:cNvPr id="76" name="Rectangle 75"/>
          <p:cNvSpPr/>
          <p:nvPr/>
        </p:nvSpPr>
        <p:spPr>
          <a:xfrm>
            <a:off x="5553000" y="3218399"/>
            <a:ext cx="840150" cy="691200"/>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5567400" y="3297599"/>
            <a:ext cx="825750" cy="583200"/>
          </a:xfrm>
          <a:prstGeom prst="rect">
            <a:avLst/>
          </a:prstGeom>
          <a:noFill/>
        </p:spPr>
        <p:txBody>
          <a:bodyPr wrap="square">
            <a:spAutoFit/>
          </a:bodyPr>
          <a:lstStyle/>
          <a:p>
            <a:pPr algn="ctr"/>
            <a:r>
              <a:rPr sz="1000" b="0" i="0">
                <a:solidFill>
                  <a:srgbClr val="FFFFFF"/>
                </a:solidFill>
              </a:rPr>
              <a:t>30</a:t>
            </a:r>
          </a:p>
        </p:txBody>
      </p:sp>
      <p:sp>
        <p:nvSpPr>
          <p:cNvPr id="78" name="Rectangle 77"/>
          <p:cNvSpPr/>
          <p:nvPr/>
        </p:nvSpPr>
        <p:spPr>
          <a:xfrm>
            <a:off x="6414750" y="3218399"/>
            <a:ext cx="840150" cy="691200"/>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6429150" y="3297599"/>
            <a:ext cx="825750" cy="583200"/>
          </a:xfrm>
          <a:prstGeom prst="rect">
            <a:avLst/>
          </a:prstGeom>
          <a:noFill/>
        </p:spPr>
        <p:txBody>
          <a:bodyPr wrap="square">
            <a:spAutoFit/>
          </a:bodyPr>
          <a:lstStyle/>
          <a:p>
            <a:pPr algn="ctr"/>
            <a:r>
              <a:rPr sz="1000" b="0" i="0">
                <a:solidFill>
                  <a:srgbClr val="FFFFFF"/>
                </a:solidFill>
              </a:rPr>
              <a:t>34</a:t>
            </a:r>
          </a:p>
        </p:txBody>
      </p:sp>
      <p:sp>
        <p:nvSpPr>
          <p:cNvPr id="80" name="Rectangle 79"/>
          <p:cNvSpPr/>
          <p:nvPr/>
        </p:nvSpPr>
        <p:spPr>
          <a:xfrm>
            <a:off x="7276500" y="3218399"/>
            <a:ext cx="840150" cy="691200"/>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7290900" y="3297599"/>
            <a:ext cx="825750" cy="583200"/>
          </a:xfrm>
          <a:prstGeom prst="rect">
            <a:avLst/>
          </a:prstGeom>
          <a:noFill/>
        </p:spPr>
        <p:txBody>
          <a:bodyPr wrap="square">
            <a:spAutoFit/>
          </a:bodyPr>
          <a:lstStyle/>
          <a:p>
            <a:pPr algn="ctr"/>
            <a:r>
              <a:rPr sz="1000" b="0" i="0">
                <a:solidFill>
                  <a:srgbClr val="FFFFFF"/>
                </a:solidFill>
              </a:rPr>
              <a:t>38</a:t>
            </a:r>
          </a:p>
        </p:txBody>
      </p:sp>
      <p:sp>
        <p:nvSpPr>
          <p:cNvPr id="82" name="Rectangle 81"/>
          <p:cNvSpPr/>
          <p:nvPr/>
        </p:nvSpPr>
        <p:spPr>
          <a:xfrm>
            <a:off x="8138250" y="3218399"/>
            <a:ext cx="840150" cy="691200"/>
          </a:xfrm>
          <a:prstGeom prst="rect">
            <a:avLst/>
          </a:prstGeom>
          <a:solidFill>
            <a:srgbClr val="0B1E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8152650" y="3297599"/>
            <a:ext cx="825750" cy="583200"/>
          </a:xfrm>
          <a:prstGeom prst="rect">
            <a:avLst/>
          </a:prstGeom>
          <a:noFill/>
        </p:spPr>
        <p:txBody>
          <a:bodyPr wrap="square">
            <a:spAutoFit/>
          </a:bodyPr>
          <a:lstStyle/>
          <a:p>
            <a:pPr algn="ctr"/>
            <a:r>
              <a:rPr sz="1000" b="0" i="0">
                <a:solidFill>
                  <a:srgbClr val="D4AF37"/>
                </a:solidFill>
              </a:rPr>
              <a:t>42</a:t>
            </a:r>
          </a:p>
        </p:txBody>
      </p:sp>
      <p:sp>
        <p:nvSpPr>
          <p:cNvPr id="84" name="Rectangle 83"/>
          <p:cNvSpPr/>
          <p:nvPr/>
        </p:nvSpPr>
        <p:spPr>
          <a:xfrm>
            <a:off x="144000" y="3931199"/>
            <a:ext cx="1962000" cy="691200"/>
          </a:xfrm>
          <a:prstGeom prst="rect">
            <a:avLst/>
          </a:prstGeom>
          <a:solidFill>
            <a:srgbClr val="0B1E42"/>
          </a:solidFill>
          <a:ln w="19050">
            <a:solidFill>
              <a:srgbClr val="00C8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ectangle 84"/>
          <p:cNvSpPr/>
          <p:nvPr/>
        </p:nvSpPr>
        <p:spPr>
          <a:xfrm>
            <a:off x="144000" y="3931199"/>
            <a:ext cx="79200" cy="691200"/>
          </a:xfrm>
          <a:prstGeom prst="rect">
            <a:avLst/>
          </a:prstGeom>
          <a:solidFill>
            <a:srgbClr val="00C8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259200" y="4003199"/>
            <a:ext cx="1810800" cy="604800"/>
          </a:xfrm>
          <a:prstGeom prst="rect">
            <a:avLst/>
          </a:prstGeom>
          <a:noFill/>
        </p:spPr>
        <p:txBody>
          <a:bodyPr wrap="square">
            <a:spAutoFit/>
          </a:bodyPr>
          <a:lstStyle/>
          <a:p>
            <a:pPr algn="l"/>
            <a:r>
              <a:rPr sz="900" b="1" i="0">
                <a:solidFill>
                  <a:srgbClr val="00C87A"/>
                </a:solidFill>
              </a:rPr>
              <a:t>Résultat net trim. (M)</a:t>
            </a:r>
          </a:p>
        </p:txBody>
      </p:sp>
      <p:sp>
        <p:nvSpPr>
          <p:cNvPr id="87" name="Rectangle 86"/>
          <p:cNvSpPr/>
          <p:nvPr/>
        </p:nvSpPr>
        <p:spPr>
          <a:xfrm>
            <a:off x="2106000" y="3931199"/>
            <a:ext cx="840150" cy="691200"/>
          </a:xfrm>
          <a:prstGeom prst="rect">
            <a:avLst/>
          </a:prstGeom>
          <a:solidFill>
            <a:srgbClr val="0B1E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2120400" y="4010399"/>
            <a:ext cx="825750" cy="583200"/>
          </a:xfrm>
          <a:prstGeom prst="rect">
            <a:avLst/>
          </a:prstGeom>
          <a:noFill/>
        </p:spPr>
        <p:txBody>
          <a:bodyPr wrap="square">
            <a:spAutoFit/>
          </a:bodyPr>
          <a:lstStyle/>
          <a:p>
            <a:pPr algn="ctr"/>
            <a:r>
              <a:rPr sz="1000" b="0" i="0">
                <a:solidFill>
                  <a:srgbClr val="FF6B6B"/>
                </a:solidFill>
              </a:rPr>
              <a:t>−25</a:t>
            </a:r>
          </a:p>
        </p:txBody>
      </p:sp>
      <p:sp>
        <p:nvSpPr>
          <p:cNvPr id="89" name="Rectangle 88"/>
          <p:cNvSpPr/>
          <p:nvPr/>
        </p:nvSpPr>
        <p:spPr>
          <a:xfrm>
            <a:off x="2967750" y="3931199"/>
            <a:ext cx="840150" cy="691200"/>
          </a:xfrm>
          <a:prstGeom prst="rect">
            <a:avLst/>
          </a:prstGeom>
          <a:solidFill>
            <a:srgbClr val="0B1E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2982150" y="4010399"/>
            <a:ext cx="825750" cy="583200"/>
          </a:xfrm>
          <a:prstGeom prst="rect">
            <a:avLst/>
          </a:prstGeom>
          <a:noFill/>
        </p:spPr>
        <p:txBody>
          <a:bodyPr wrap="square">
            <a:spAutoFit/>
          </a:bodyPr>
          <a:lstStyle/>
          <a:p>
            <a:pPr algn="ctr"/>
            <a:r>
              <a:rPr sz="1000" b="0" i="0">
                <a:solidFill>
                  <a:srgbClr val="FF6B6B"/>
                </a:solidFill>
              </a:rPr>
              <a:t>−17</a:t>
            </a:r>
          </a:p>
        </p:txBody>
      </p:sp>
      <p:sp>
        <p:nvSpPr>
          <p:cNvPr id="91" name="Rectangle 90"/>
          <p:cNvSpPr/>
          <p:nvPr/>
        </p:nvSpPr>
        <p:spPr>
          <a:xfrm>
            <a:off x="3829500" y="3931199"/>
            <a:ext cx="840150" cy="691200"/>
          </a:xfrm>
          <a:prstGeom prst="rect">
            <a:avLst/>
          </a:prstGeom>
          <a:solidFill>
            <a:srgbClr val="0B1E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3843900" y="4010399"/>
            <a:ext cx="825750" cy="583200"/>
          </a:xfrm>
          <a:prstGeom prst="rect">
            <a:avLst/>
          </a:prstGeom>
          <a:noFill/>
        </p:spPr>
        <p:txBody>
          <a:bodyPr wrap="square">
            <a:spAutoFit/>
          </a:bodyPr>
          <a:lstStyle/>
          <a:p>
            <a:pPr algn="ctr"/>
            <a:r>
              <a:rPr sz="1000" b="0" i="0">
                <a:solidFill>
                  <a:srgbClr val="FF6B6B"/>
                </a:solidFill>
              </a:rPr>
              <a:t>−8</a:t>
            </a:r>
          </a:p>
        </p:txBody>
      </p:sp>
      <p:sp>
        <p:nvSpPr>
          <p:cNvPr id="93" name="Rectangle 92"/>
          <p:cNvSpPr/>
          <p:nvPr/>
        </p:nvSpPr>
        <p:spPr>
          <a:xfrm>
            <a:off x="4691250" y="3931199"/>
            <a:ext cx="840150" cy="691200"/>
          </a:xfrm>
          <a:prstGeom prst="rect">
            <a:avLst/>
          </a:prstGeom>
          <a:solidFill>
            <a:srgbClr val="0B1E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4705650" y="4010399"/>
            <a:ext cx="825750" cy="583200"/>
          </a:xfrm>
          <a:prstGeom prst="rect">
            <a:avLst/>
          </a:prstGeom>
          <a:noFill/>
        </p:spPr>
        <p:txBody>
          <a:bodyPr wrap="square">
            <a:spAutoFit/>
          </a:bodyPr>
          <a:lstStyle/>
          <a:p>
            <a:pPr algn="ctr"/>
            <a:r>
              <a:rPr sz="1000" b="0" i="0">
                <a:solidFill>
                  <a:srgbClr val="FF6B6B"/>
                </a:solidFill>
              </a:rPr>
              <a:t>−4</a:t>
            </a:r>
          </a:p>
        </p:txBody>
      </p:sp>
      <p:sp>
        <p:nvSpPr>
          <p:cNvPr id="95" name="Rectangle 94"/>
          <p:cNvSpPr/>
          <p:nvPr/>
        </p:nvSpPr>
        <p:spPr>
          <a:xfrm>
            <a:off x="5553000" y="3931199"/>
            <a:ext cx="840150" cy="691200"/>
          </a:xfrm>
          <a:prstGeom prst="rect">
            <a:avLst/>
          </a:prstGeom>
          <a:solidFill>
            <a:srgbClr val="0B1E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5567400" y="4010399"/>
            <a:ext cx="825750" cy="583200"/>
          </a:xfrm>
          <a:prstGeom prst="rect">
            <a:avLst/>
          </a:prstGeom>
          <a:noFill/>
        </p:spPr>
        <p:txBody>
          <a:bodyPr wrap="square">
            <a:spAutoFit/>
          </a:bodyPr>
          <a:lstStyle/>
          <a:p>
            <a:pPr algn="ctr"/>
            <a:r>
              <a:rPr sz="1000" b="0" i="0">
                <a:solidFill>
                  <a:srgbClr val="00C87A"/>
                </a:solidFill>
              </a:rPr>
              <a:t>+3</a:t>
            </a:r>
          </a:p>
        </p:txBody>
      </p:sp>
      <p:sp>
        <p:nvSpPr>
          <p:cNvPr id="97" name="Rectangle 96"/>
          <p:cNvSpPr/>
          <p:nvPr/>
        </p:nvSpPr>
        <p:spPr>
          <a:xfrm>
            <a:off x="6414750" y="3931199"/>
            <a:ext cx="840150" cy="691200"/>
          </a:xfrm>
          <a:prstGeom prst="rect">
            <a:avLst/>
          </a:prstGeom>
          <a:solidFill>
            <a:srgbClr val="0B1E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extBox 97"/>
          <p:cNvSpPr txBox="1"/>
          <p:nvPr/>
        </p:nvSpPr>
        <p:spPr>
          <a:xfrm>
            <a:off x="6429150" y="4010399"/>
            <a:ext cx="825750" cy="583200"/>
          </a:xfrm>
          <a:prstGeom prst="rect">
            <a:avLst/>
          </a:prstGeom>
          <a:noFill/>
        </p:spPr>
        <p:txBody>
          <a:bodyPr wrap="square">
            <a:spAutoFit/>
          </a:bodyPr>
          <a:lstStyle/>
          <a:p>
            <a:pPr algn="ctr"/>
            <a:r>
              <a:rPr sz="1000" b="0" i="0">
                <a:solidFill>
                  <a:srgbClr val="00C87A"/>
                </a:solidFill>
              </a:rPr>
              <a:t>+14</a:t>
            </a:r>
          </a:p>
        </p:txBody>
      </p:sp>
      <p:sp>
        <p:nvSpPr>
          <p:cNvPr id="99" name="Rectangle 98"/>
          <p:cNvSpPr/>
          <p:nvPr/>
        </p:nvSpPr>
        <p:spPr>
          <a:xfrm>
            <a:off x="7276500" y="3931199"/>
            <a:ext cx="840150" cy="691200"/>
          </a:xfrm>
          <a:prstGeom prst="rect">
            <a:avLst/>
          </a:prstGeom>
          <a:solidFill>
            <a:srgbClr val="0B1E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TextBox 99"/>
          <p:cNvSpPr txBox="1"/>
          <p:nvPr/>
        </p:nvSpPr>
        <p:spPr>
          <a:xfrm>
            <a:off x="7290900" y="4010399"/>
            <a:ext cx="825750" cy="583200"/>
          </a:xfrm>
          <a:prstGeom prst="rect">
            <a:avLst/>
          </a:prstGeom>
          <a:noFill/>
        </p:spPr>
        <p:txBody>
          <a:bodyPr wrap="square">
            <a:spAutoFit/>
          </a:bodyPr>
          <a:lstStyle/>
          <a:p>
            <a:pPr algn="ctr"/>
            <a:r>
              <a:rPr sz="1000" b="0" i="0">
                <a:solidFill>
                  <a:srgbClr val="00C87A"/>
                </a:solidFill>
              </a:rPr>
              <a:t>+27</a:t>
            </a:r>
          </a:p>
        </p:txBody>
      </p:sp>
      <p:sp>
        <p:nvSpPr>
          <p:cNvPr id="101" name="Rectangle 100"/>
          <p:cNvSpPr/>
          <p:nvPr/>
        </p:nvSpPr>
        <p:spPr>
          <a:xfrm>
            <a:off x="8138250" y="3931199"/>
            <a:ext cx="840150" cy="691200"/>
          </a:xfrm>
          <a:prstGeom prst="rect">
            <a:avLst/>
          </a:prstGeom>
          <a:solidFill>
            <a:srgbClr val="0A30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8152650" y="4010399"/>
            <a:ext cx="825750" cy="583200"/>
          </a:xfrm>
          <a:prstGeom prst="rect">
            <a:avLst/>
          </a:prstGeom>
          <a:noFill/>
        </p:spPr>
        <p:txBody>
          <a:bodyPr wrap="square">
            <a:spAutoFit/>
          </a:bodyPr>
          <a:lstStyle/>
          <a:p>
            <a:pPr algn="ctr"/>
            <a:r>
              <a:rPr sz="1000" b="1" i="0">
                <a:solidFill>
                  <a:srgbClr val="00C87A"/>
                </a:solidFill>
              </a:rPr>
              <a:t>+46</a:t>
            </a:r>
          </a:p>
        </p:txBody>
      </p:sp>
      <p:sp>
        <p:nvSpPr>
          <p:cNvPr id="103" name="Rectangle 102"/>
          <p:cNvSpPr/>
          <p:nvPr/>
        </p:nvSpPr>
        <p:spPr>
          <a:xfrm>
            <a:off x="144000" y="4643999"/>
            <a:ext cx="1962000" cy="691200"/>
          </a:xfrm>
          <a:prstGeom prst="rect">
            <a:avLst/>
          </a:prstGeom>
          <a:solidFill>
            <a:srgbClr val="132B5E"/>
          </a:solidFill>
          <a:ln w="19050">
            <a:solidFill>
              <a:srgbClr val="9B59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Rectangle 103"/>
          <p:cNvSpPr/>
          <p:nvPr/>
        </p:nvSpPr>
        <p:spPr>
          <a:xfrm>
            <a:off x="144000" y="4643999"/>
            <a:ext cx="79200" cy="691200"/>
          </a:xfrm>
          <a:prstGeom prst="rect">
            <a:avLst/>
          </a:prstGeom>
          <a:solidFill>
            <a:srgbClr val="9B59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extBox 104"/>
          <p:cNvSpPr txBox="1"/>
          <p:nvPr/>
        </p:nvSpPr>
        <p:spPr>
          <a:xfrm>
            <a:off x="259200" y="4715999"/>
            <a:ext cx="1810800" cy="604800"/>
          </a:xfrm>
          <a:prstGeom prst="rect">
            <a:avLst/>
          </a:prstGeom>
          <a:noFill/>
        </p:spPr>
        <p:txBody>
          <a:bodyPr wrap="square">
            <a:spAutoFit/>
          </a:bodyPr>
          <a:lstStyle/>
          <a:p>
            <a:pPr algn="l"/>
            <a:r>
              <a:rPr sz="900" b="1" i="0">
                <a:solidFill>
                  <a:srgbClr val="9B59B6"/>
                </a:solidFill>
              </a:rPr>
              <a:t>Cumulatif P&amp;L (M FCFA)</a:t>
            </a:r>
          </a:p>
        </p:txBody>
      </p:sp>
      <p:sp>
        <p:nvSpPr>
          <p:cNvPr id="106" name="Rectangle 105"/>
          <p:cNvSpPr/>
          <p:nvPr/>
        </p:nvSpPr>
        <p:spPr>
          <a:xfrm>
            <a:off x="2106000" y="4643999"/>
            <a:ext cx="840150" cy="691200"/>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TextBox 106"/>
          <p:cNvSpPr txBox="1"/>
          <p:nvPr/>
        </p:nvSpPr>
        <p:spPr>
          <a:xfrm>
            <a:off x="2120400" y="4723199"/>
            <a:ext cx="825750" cy="583200"/>
          </a:xfrm>
          <a:prstGeom prst="rect">
            <a:avLst/>
          </a:prstGeom>
          <a:noFill/>
        </p:spPr>
        <p:txBody>
          <a:bodyPr wrap="square">
            <a:spAutoFit/>
          </a:bodyPr>
          <a:lstStyle/>
          <a:p>
            <a:pPr algn="ctr"/>
            <a:r>
              <a:rPr sz="1000" b="0" i="0">
                <a:solidFill>
                  <a:srgbClr val="FF6B6B"/>
                </a:solidFill>
              </a:rPr>
              <a:t>−25</a:t>
            </a:r>
          </a:p>
        </p:txBody>
      </p:sp>
      <p:sp>
        <p:nvSpPr>
          <p:cNvPr id="108" name="Rectangle 107"/>
          <p:cNvSpPr/>
          <p:nvPr/>
        </p:nvSpPr>
        <p:spPr>
          <a:xfrm>
            <a:off x="2967750" y="4643999"/>
            <a:ext cx="840150" cy="691200"/>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TextBox 108"/>
          <p:cNvSpPr txBox="1"/>
          <p:nvPr/>
        </p:nvSpPr>
        <p:spPr>
          <a:xfrm>
            <a:off x="2982150" y="4723199"/>
            <a:ext cx="825750" cy="583200"/>
          </a:xfrm>
          <a:prstGeom prst="rect">
            <a:avLst/>
          </a:prstGeom>
          <a:noFill/>
        </p:spPr>
        <p:txBody>
          <a:bodyPr wrap="square">
            <a:spAutoFit/>
          </a:bodyPr>
          <a:lstStyle/>
          <a:p>
            <a:pPr algn="ctr"/>
            <a:r>
              <a:rPr sz="1000" b="0" i="0">
                <a:solidFill>
                  <a:srgbClr val="FF6B6B"/>
                </a:solidFill>
              </a:rPr>
              <a:t>−42</a:t>
            </a:r>
          </a:p>
        </p:txBody>
      </p:sp>
      <p:sp>
        <p:nvSpPr>
          <p:cNvPr id="110" name="Rectangle 109"/>
          <p:cNvSpPr/>
          <p:nvPr/>
        </p:nvSpPr>
        <p:spPr>
          <a:xfrm>
            <a:off x="3829500" y="4643999"/>
            <a:ext cx="840150" cy="691200"/>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TextBox 110"/>
          <p:cNvSpPr txBox="1"/>
          <p:nvPr/>
        </p:nvSpPr>
        <p:spPr>
          <a:xfrm>
            <a:off x="3843900" y="4723199"/>
            <a:ext cx="825750" cy="583200"/>
          </a:xfrm>
          <a:prstGeom prst="rect">
            <a:avLst/>
          </a:prstGeom>
          <a:noFill/>
        </p:spPr>
        <p:txBody>
          <a:bodyPr wrap="square">
            <a:spAutoFit/>
          </a:bodyPr>
          <a:lstStyle/>
          <a:p>
            <a:pPr algn="ctr"/>
            <a:r>
              <a:rPr sz="1000" b="0" i="0">
                <a:solidFill>
                  <a:srgbClr val="FF6B6B"/>
                </a:solidFill>
              </a:rPr>
              <a:t>−50</a:t>
            </a:r>
          </a:p>
        </p:txBody>
      </p:sp>
      <p:sp>
        <p:nvSpPr>
          <p:cNvPr id="112" name="Rectangle 111"/>
          <p:cNvSpPr/>
          <p:nvPr/>
        </p:nvSpPr>
        <p:spPr>
          <a:xfrm>
            <a:off x="4691250" y="4643999"/>
            <a:ext cx="840150" cy="691200"/>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TextBox 112"/>
          <p:cNvSpPr txBox="1"/>
          <p:nvPr/>
        </p:nvSpPr>
        <p:spPr>
          <a:xfrm>
            <a:off x="4705650" y="4723199"/>
            <a:ext cx="825750" cy="583200"/>
          </a:xfrm>
          <a:prstGeom prst="rect">
            <a:avLst/>
          </a:prstGeom>
          <a:noFill/>
        </p:spPr>
        <p:txBody>
          <a:bodyPr wrap="square">
            <a:spAutoFit/>
          </a:bodyPr>
          <a:lstStyle/>
          <a:p>
            <a:pPr algn="ctr"/>
            <a:r>
              <a:rPr sz="1000" b="0" i="0">
                <a:solidFill>
                  <a:srgbClr val="FF6B6B"/>
                </a:solidFill>
              </a:rPr>
              <a:t>−54</a:t>
            </a:r>
          </a:p>
        </p:txBody>
      </p:sp>
      <p:sp>
        <p:nvSpPr>
          <p:cNvPr id="114" name="Rectangle 113"/>
          <p:cNvSpPr/>
          <p:nvPr/>
        </p:nvSpPr>
        <p:spPr>
          <a:xfrm>
            <a:off x="5553000" y="4643999"/>
            <a:ext cx="840150" cy="691200"/>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TextBox 114"/>
          <p:cNvSpPr txBox="1"/>
          <p:nvPr/>
        </p:nvSpPr>
        <p:spPr>
          <a:xfrm>
            <a:off x="5567400" y="4723199"/>
            <a:ext cx="825750" cy="583200"/>
          </a:xfrm>
          <a:prstGeom prst="rect">
            <a:avLst/>
          </a:prstGeom>
          <a:noFill/>
        </p:spPr>
        <p:txBody>
          <a:bodyPr wrap="square">
            <a:spAutoFit/>
          </a:bodyPr>
          <a:lstStyle/>
          <a:p>
            <a:pPr algn="ctr"/>
            <a:r>
              <a:rPr sz="1000" b="0" i="0">
                <a:solidFill>
                  <a:srgbClr val="FF6B6B"/>
                </a:solidFill>
              </a:rPr>
              <a:t>−51</a:t>
            </a:r>
          </a:p>
        </p:txBody>
      </p:sp>
      <p:sp>
        <p:nvSpPr>
          <p:cNvPr id="116" name="Rectangle 115"/>
          <p:cNvSpPr/>
          <p:nvPr/>
        </p:nvSpPr>
        <p:spPr>
          <a:xfrm>
            <a:off x="6414750" y="4643999"/>
            <a:ext cx="840150" cy="691200"/>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TextBox 116"/>
          <p:cNvSpPr txBox="1"/>
          <p:nvPr/>
        </p:nvSpPr>
        <p:spPr>
          <a:xfrm>
            <a:off x="6429150" y="4723199"/>
            <a:ext cx="825750" cy="583200"/>
          </a:xfrm>
          <a:prstGeom prst="rect">
            <a:avLst/>
          </a:prstGeom>
          <a:noFill/>
        </p:spPr>
        <p:txBody>
          <a:bodyPr wrap="square">
            <a:spAutoFit/>
          </a:bodyPr>
          <a:lstStyle/>
          <a:p>
            <a:pPr algn="ctr"/>
            <a:r>
              <a:rPr sz="1000" b="0" i="0">
                <a:solidFill>
                  <a:srgbClr val="FF6B6B"/>
                </a:solidFill>
              </a:rPr>
              <a:t>−37</a:t>
            </a:r>
          </a:p>
        </p:txBody>
      </p:sp>
      <p:sp>
        <p:nvSpPr>
          <p:cNvPr id="118" name="Rectangle 117"/>
          <p:cNvSpPr/>
          <p:nvPr/>
        </p:nvSpPr>
        <p:spPr>
          <a:xfrm>
            <a:off x="7276500" y="4643999"/>
            <a:ext cx="840150" cy="691200"/>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TextBox 118"/>
          <p:cNvSpPr txBox="1"/>
          <p:nvPr/>
        </p:nvSpPr>
        <p:spPr>
          <a:xfrm>
            <a:off x="7290900" y="4723199"/>
            <a:ext cx="825750" cy="583200"/>
          </a:xfrm>
          <a:prstGeom prst="rect">
            <a:avLst/>
          </a:prstGeom>
          <a:noFill/>
        </p:spPr>
        <p:txBody>
          <a:bodyPr wrap="square">
            <a:spAutoFit/>
          </a:bodyPr>
          <a:lstStyle/>
          <a:p>
            <a:pPr algn="ctr"/>
            <a:r>
              <a:rPr sz="1000" b="0" i="0">
                <a:solidFill>
                  <a:srgbClr val="FF6B6B"/>
                </a:solidFill>
              </a:rPr>
              <a:t>−10</a:t>
            </a:r>
          </a:p>
        </p:txBody>
      </p:sp>
      <p:sp>
        <p:nvSpPr>
          <p:cNvPr id="120" name="Rectangle 119"/>
          <p:cNvSpPr/>
          <p:nvPr/>
        </p:nvSpPr>
        <p:spPr>
          <a:xfrm>
            <a:off x="8138250" y="4643999"/>
            <a:ext cx="840150" cy="691200"/>
          </a:xfrm>
          <a:prstGeom prst="rect">
            <a:avLst/>
          </a:prstGeom>
          <a:solidFill>
            <a:srgbClr val="0A30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TextBox 120"/>
          <p:cNvSpPr txBox="1"/>
          <p:nvPr/>
        </p:nvSpPr>
        <p:spPr>
          <a:xfrm>
            <a:off x="8152650" y="4723199"/>
            <a:ext cx="825750" cy="583200"/>
          </a:xfrm>
          <a:prstGeom prst="rect">
            <a:avLst/>
          </a:prstGeom>
          <a:noFill/>
        </p:spPr>
        <p:txBody>
          <a:bodyPr wrap="square">
            <a:spAutoFit/>
          </a:bodyPr>
          <a:lstStyle/>
          <a:p>
            <a:pPr algn="ctr"/>
            <a:r>
              <a:rPr sz="1000" b="1" i="0">
                <a:solidFill>
                  <a:srgbClr val="00C87A"/>
                </a:solidFill>
              </a:rPr>
              <a:t>+36</a:t>
            </a:r>
          </a:p>
        </p:txBody>
      </p:sp>
      <p:sp>
        <p:nvSpPr>
          <p:cNvPr id="122" name="Rectangle 121"/>
          <p:cNvSpPr/>
          <p:nvPr/>
        </p:nvSpPr>
        <p:spPr>
          <a:xfrm>
            <a:off x="144000" y="5356799"/>
            <a:ext cx="1962000" cy="691200"/>
          </a:xfrm>
          <a:prstGeom prst="rect">
            <a:avLst/>
          </a:prstGeom>
          <a:solidFill>
            <a:srgbClr val="0B1E42"/>
          </a:solidFill>
          <a:ln w="19050">
            <a:solidFill>
              <a:srgbClr val="B0C4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Rectangle 122"/>
          <p:cNvSpPr/>
          <p:nvPr/>
        </p:nvSpPr>
        <p:spPr>
          <a:xfrm>
            <a:off x="144000" y="5356799"/>
            <a:ext cx="79200" cy="691200"/>
          </a:xfrm>
          <a:prstGeom prst="rect">
            <a:avLst/>
          </a:prstGeom>
          <a:solidFill>
            <a:srgbClr val="B0C4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TextBox 123"/>
          <p:cNvSpPr txBox="1"/>
          <p:nvPr/>
        </p:nvSpPr>
        <p:spPr>
          <a:xfrm>
            <a:off x="259200" y="5428799"/>
            <a:ext cx="1810800" cy="604800"/>
          </a:xfrm>
          <a:prstGeom prst="rect">
            <a:avLst/>
          </a:prstGeom>
          <a:noFill/>
        </p:spPr>
        <p:txBody>
          <a:bodyPr wrap="square">
            <a:spAutoFit/>
          </a:bodyPr>
          <a:lstStyle/>
          <a:p>
            <a:pPr algn="l"/>
            <a:r>
              <a:rPr sz="900" b="1" i="0">
                <a:solidFill>
                  <a:srgbClr val="B0C4DE"/>
                </a:solidFill>
              </a:rPr>
              <a:t>Trésorerie disponible (M) **</a:t>
            </a:r>
          </a:p>
        </p:txBody>
      </p:sp>
      <p:sp>
        <p:nvSpPr>
          <p:cNvPr id="125" name="Rectangle 124"/>
          <p:cNvSpPr/>
          <p:nvPr/>
        </p:nvSpPr>
        <p:spPr>
          <a:xfrm>
            <a:off x="2106000" y="5356799"/>
            <a:ext cx="840150" cy="691200"/>
          </a:xfrm>
          <a:prstGeom prst="rect">
            <a:avLst/>
          </a:prstGeom>
          <a:solidFill>
            <a:srgbClr val="0B1E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TextBox 125"/>
          <p:cNvSpPr txBox="1"/>
          <p:nvPr/>
        </p:nvSpPr>
        <p:spPr>
          <a:xfrm>
            <a:off x="2120400" y="5435999"/>
            <a:ext cx="825750" cy="583200"/>
          </a:xfrm>
          <a:prstGeom prst="rect">
            <a:avLst/>
          </a:prstGeom>
          <a:noFill/>
        </p:spPr>
        <p:txBody>
          <a:bodyPr wrap="square">
            <a:spAutoFit/>
          </a:bodyPr>
          <a:lstStyle/>
          <a:p>
            <a:pPr algn="ctr"/>
            <a:r>
              <a:rPr sz="1000" b="0" i="0">
                <a:solidFill>
                  <a:srgbClr val="FFFFFF"/>
                </a:solidFill>
              </a:rPr>
              <a:t>95</a:t>
            </a:r>
          </a:p>
        </p:txBody>
      </p:sp>
      <p:sp>
        <p:nvSpPr>
          <p:cNvPr id="127" name="Rectangle 126"/>
          <p:cNvSpPr/>
          <p:nvPr/>
        </p:nvSpPr>
        <p:spPr>
          <a:xfrm>
            <a:off x="2967750" y="5356799"/>
            <a:ext cx="840150" cy="691200"/>
          </a:xfrm>
          <a:prstGeom prst="rect">
            <a:avLst/>
          </a:prstGeom>
          <a:solidFill>
            <a:srgbClr val="0B1E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TextBox 127"/>
          <p:cNvSpPr txBox="1"/>
          <p:nvPr/>
        </p:nvSpPr>
        <p:spPr>
          <a:xfrm>
            <a:off x="2982150" y="5435999"/>
            <a:ext cx="825750" cy="583200"/>
          </a:xfrm>
          <a:prstGeom prst="rect">
            <a:avLst/>
          </a:prstGeom>
          <a:noFill/>
        </p:spPr>
        <p:txBody>
          <a:bodyPr wrap="square">
            <a:spAutoFit/>
          </a:bodyPr>
          <a:lstStyle/>
          <a:p>
            <a:pPr algn="ctr"/>
            <a:r>
              <a:rPr sz="1000" b="0" i="0">
                <a:solidFill>
                  <a:srgbClr val="FFFFFF"/>
                </a:solidFill>
              </a:rPr>
              <a:t>78</a:t>
            </a:r>
          </a:p>
        </p:txBody>
      </p:sp>
      <p:sp>
        <p:nvSpPr>
          <p:cNvPr id="129" name="Rectangle 128"/>
          <p:cNvSpPr/>
          <p:nvPr/>
        </p:nvSpPr>
        <p:spPr>
          <a:xfrm>
            <a:off x="3829500" y="5356799"/>
            <a:ext cx="840150" cy="691200"/>
          </a:xfrm>
          <a:prstGeom prst="rect">
            <a:avLst/>
          </a:prstGeom>
          <a:solidFill>
            <a:srgbClr val="0B1E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TextBox 129"/>
          <p:cNvSpPr txBox="1"/>
          <p:nvPr/>
        </p:nvSpPr>
        <p:spPr>
          <a:xfrm>
            <a:off x="3843900" y="5435999"/>
            <a:ext cx="825750" cy="583200"/>
          </a:xfrm>
          <a:prstGeom prst="rect">
            <a:avLst/>
          </a:prstGeom>
          <a:noFill/>
        </p:spPr>
        <p:txBody>
          <a:bodyPr wrap="square">
            <a:spAutoFit/>
          </a:bodyPr>
          <a:lstStyle/>
          <a:p>
            <a:pPr algn="ctr"/>
            <a:r>
              <a:rPr sz="1000" b="0" i="0">
                <a:solidFill>
                  <a:srgbClr val="FFFFFF"/>
                </a:solidFill>
              </a:rPr>
              <a:t>70</a:t>
            </a:r>
          </a:p>
        </p:txBody>
      </p:sp>
      <p:sp>
        <p:nvSpPr>
          <p:cNvPr id="131" name="Rectangle 130"/>
          <p:cNvSpPr/>
          <p:nvPr/>
        </p:nvSpPr>
        <p:spPr>
          <a:xfrm>
            <a:off x="4691250" y="5356799"/>
            <a:ext cx="840150" cy="691200"/>
          </a:xfrm>
          <a:prstGeom prst="rect">
            <a:avLst/>
          </a:prstGeom>
          <a:solidFill>
            <a:srgbClr val="0B1E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TextBox 131"/>
          <p:cNvSpPr txBox="1"/>
          <p:nvPr/>
        </p:nvSpPr>
        <p:spPr>
          <a:xfrm>
            <a:off x="4705650" y="5435999"/>
            <a:ext cx="825750" cy="583200"/>
          </a:xfrm>
          <a:prstGeom prst="rect">
            <a:avLst/>
          </a:prstGeom>
          <a:noFill/>
        </p:spPr>
        <p:txBody>
          <a:bodyPr wrap="square">
            <a:spAutoFit/>
          </a:bodyPr>
          <a:lstStyle/>
          <a:p>
            <a:pPr algn="ctr"/>
            <a:r>
              <a:rPr sz="1000" b="0" i="0">
                <a:solidFill>
                  <a:srgbClr val="FFFFFF"/>
                </a:solidFill>
              </a:rPr>
              <a:t>66</a:t>
            </a:r>
          </a:p>
        </p:txBody>
      </p:sp>
      <p:sp>
        <p:nvSpPr>
          <p:cNvPr id="133" name="Rectangle 132"/>
          <p:cNvSpPr/>
          <p:nvPr/>
        </p:nvSpPr>
        <p:spPr>
          <a:xfrm>
            <a:off x="5553000" y="5356799"/>
            <a:ext cx="840150" cy="691200"/>
          </a:xfrm>
          <a:prstGeom prst="rect">
            <a:avLst/>
          </a:prstGeom>
          <a:solidFill>
            <a:srgbClr val="0B1E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TextBox 133"/>
          <p:cNvSpPr txBox="1"/>
          <p:nvPr/>
        </p:nvSpPr>
        <p:spPr>
          <a:xfrm>
            <a:off x="5567400" y="5435999"/>
            <a:ext cx="825750" cy="583200"/>
          </a:xfrm>
          <a:prstGeom prst="rect">
            <a:avLst/>
          </a:prstGeom>
          <a:noFill/>
        </p:spPr>
        <p:txBody>
          <a:bodyPr wrap="square">
            <a:spAutoFit/>
          </a:bodyPr>
          <a:lstStyle/>
          <a:p>
            <a:pPr algn="ctr"/>
            <a:r>
              <a:rPr sz="1000" b="0" i="0">
                <a:solidFill>
                  <a:srgbClr val="FFFFFF"/>
                </a:solidFill>
              </a:rPr>
              <a:t>69</a:t>
            </a:r>
          </a:p>
        </p:txBody>
      </p:sp>
      <p:sp>
        <p:nvSpPr>
          <p:cNvPr id="135" name="Rectangle 134"/>
          <p:cNvSpPr/>
          <p:nvPr/>
        </p:nvSpPr>
        <p:spPr>
          <a:xfrm>
            <a:off x="6414750" y="5356799"/>
            <a:ext cx="840150" cy="691200"/>
          </a:xfrm>
          <a:prstGeom prst="rect">
            <a:avLst/>
          </a:prstGeom>
          <a:solidFill>
            <a:srgbClr val="0B1E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TextBox 135"/>
          <p:cNvSpPr txBox="1"/>
          <p:nvPr/>
        </p:nvSpPr>
        <p:spPr>
          <a:xfrm>
            <a:off x="6429150" y="5435999"/>
            <a:ext cx="825750" cy="583200"/>
          </a:xfrm>
          <a:prstGeom prst="rect">
            <a:avLst/>
          </a:prstGeom>
          <a:noFill/>
        </p:spPr>
        <p:txBody>
          <a:bodyPr wrap="square">
            <a:spAutoFit/>
          </a:bodyPr>
          <a:lstStyle/>
          <a:p>
            <a:pPr algn="ctr"/>
            <a:r>
              <a:rPr sz="1000" b="0" i="0">
                <a:solidFill>
                  <a:srgbClr val="FFFFFF"/>
                </a:solidFill>
              </a:rPr>
              <a:t>83</a:t>
            </a:r>
          </a:p>
        </p:txBody>
      </p:sp>
      <p:sp>
        <p:nvSpPr>
          <p:cNvPr id="137" name="Rectangle 136"/>
          <p:cNvSpPr/>
          <p:nvPr/>
        </p:nvSpPr>
        <p:spPr>
          <a:xfrm>
            <a:off x="7276500" y="5356799"/>
            <a:ext cx="840150" cy="691200"/>
          </a:xfrm>
          <a:prstGeom prst="rect">
            <a:avLst/>
          </a:prstGeom>
          <a:solidFill>
            <a:srgbClr val="0B1E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TextBox 137"/>
          <p:cNvSpPr txBox="1"/>
          <p:nvPr/>
        </p:nvSpPr>
        <p:spPr>
          <a:xfrm>
            <a:off x="7290900" y="5435999"/>
            <a:ext cx="825750" cy="583200"/>
          </a:xfrm>
          <a:prstGeom prst="rect">
            <a:avLst/>
          </a:prstGeom>
          <a:noFill/>
        </p:spPr>
        <p:txBody>
          <a:bodyPr wrap="square">
            <a:spAutoFit/>
          </a:bodyPr>
          <a:lstStyle/>
          <a:p>
            <a:pPr algn="ctr"/>
            <a:r>
              <a:rPr sz="1000" b="0" i="0">
                <a:solidFill>
                  <a:srgbClr val="FFFFFF"/>
                </a:solidFill>
              </a:rPr>
              <a:t>110</a:t>
            </a:r>
          </a:p>
        </p:txBody>
      </p:sp>
      <p:sp>
        <p:nvSpPr>
          <p:cNvPr id="139" name="Rectangle 138"/>
          <p:cNvSpPr/>
          <p:nvPr/>
        </p:nvSpPr>
        <p:spPr>
          <a:xfrm>
            <a:off x="8138250" y="5356799"/>
            <a:ext cx="840150" cy="691200"/>
          </a:xfrm>
          <a:prstGeom prst="rect">
            <a:avLst/>
          </a:prstGeom>
          <a:solidFill>
            <a:srgbClr val="0B1E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TextBox 139"/>
          <p:cNvSpPr txBox="1"/>
          <p:nvPr/>
        </p:nvSpPr>
        <p:spPr>
          <a:xfrm>
            <a:off x="8152650" y="5435999"/>
            <a:ext cx="825750" cy="583200"/>
          </a:xfrm>
          <a:prstGeom prst="rect">
            <a:avLst/>
          </a:prstGeom>
          <a:noFill/>
        </p:spPr>
        <p:txBody>
          <a:bodyPr wrap="square">
            <a:spAutoFit/>
          </a:bodyPr>
          <a:lstStyle/>
          <a:p>
            <a:pPr algn="ctr"/>
            <a:r>
              <a:rPr sz="1000" b="0" i="0">
                <a:solidFill>
                  <a:srgbClr val="D4AF37"/>
                </a:solidFill>
              </a:rPr>
              <a:t>156</a:t>
            </a:r>
          </a:p>
        </p:txBody>
      </p:sp>
      <p:sp>
        <p:nvSpPr>
          <p:cNvPr id="141" name="Rectangle 140"/>
          <p:cNvSpPr/>
          <p:nvPr/>
        </p:nvSpPr>
        <p:spPr>
          <a:xfrm>
            <a:off x="144000" y="6134399"/>
            <a:ext cx="8856000" cy="396000"/>
          </a:xfrm>
          <a:prstGeom prst="rect">
            <a:avLst/>
          </a:prstGeom>
          <a:solidFill>
            <a:srgbClr val="132B5E"/>
          </a:solidFill>
          <a:ln w="19050">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Rectangle 141"/>
          <p:cNvSpPr/>
          <p:nvPr/>
        </p:nvSpPr>
        <p:spPr>
          <a:xfrm>
            <a:off x="144000" y="6134399"/>
            <a:ext cx="79200" cy="3960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TextBox 142"/>
          <p:cNvSpPr txBox="1"/>
          <p:nvPr/>
        </p:nvSpPr>
        <p:spPr>
          <a:xfrm>
            <a:off x="269999" y="6170399"/>
            <a:ext cx="8640001" cy="360000"/>
          </a:xfrm>
          <a:prstGeom prst="rect">
            <a:avLst/>
          </a:prstGeom>
          <a:noFill/>
        </p:spPr>
        <p:txBody>
          <a:bodyPr wrap="square">
            <a:spAutoFit/>
          </a:bodyPr>
          <a:lstStyle/>
          <a:p>
            <a:pPr algn="l"/>
            <a:r>
              <a:rPr sz="800" b="0" i="1">
                <a:solidFill>
                  <a:srgbClr val="D4AF37"/>
                </a:solidFill>
              </a:rPr>
              <a:t>*  Charges incluent : acquisitions partenaires (transport, santé, immobilier, BdL...) + marketing, IT, équipe, logistique.  Total 2 ans = 245 M FCFA (financé par 120M invest. + 281 M revenus générés).
**  Tréso = 120M invest. + cumulatif P&amp;L.  Minimum = 66 M (T1'27) — jamais négatif.  Hypothèse basse sans Bourse du Livre ni immobilier/transport.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B1E42"/>
        </a:solidFill>
        <a:effectLst/>
      </p:bgPr>
    </p:bg>
    <p:spTree>
      <p:nvGrpSpPr>
        <p:cNvPr id="1" name=""/>
        <p:cNvGrpSpPr/>
        <p:nvPr/>
      </p:nvGrpSpPr>
      <p:grpSpPr/>
      <p:sp>
        <p:nvSpPr>
          <p:cNvPr id="2" name="Rectangle 1"/>
          <p:cNvSpPr/>
          <p:nvPr/>
        </p:nvSpPr>
        <p:spPr>
          <a:xfrm>
            <a:off x="0" y="0"/>
            <a:ext cx="9144000" cy="4860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6000"/>
            <a:ext cx="144000" cy="6138000"/>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32000" y="36000"/>
            <a:ext cx="540000" cy="413999"/>
          </a:xfrm>
          <a:prstGeom prst="rect">
            <a:avLst/>
          </a:prstGeom>
          <a:noFill/>
        </p:spPr>
        <p:txBody>
          <a:bodyPr wrap="square">
            <a:spAutoFit/>
          </a:bodyPr>
          <a:lstStyle/>
          <a:p>
            <a:pPr algn="ctr"/>
            <a:r>
              <a:rPr sz="1400" b="1" i="0">
                <a:solidFill>
                  <a:srgbClr val="0B1E42"/>
                </a:solidFill>
              </a:rPr>
              <a:t>12</a:t>
            </a:r>
          </a:p>
        </p:txBody>
      </p:sp>
      <p:sp>
        <p:nvSpPr>
          <p:cNvPr id="5" name="TextBox 4"/>
          <p:cNvSpPr txBox="1"/>
          <p:nvPr/>
        </p:nvSpPr>
        <p:spPr>
          <a:xfrm>
            <a:off x="251999" y="540000"/>
            <a:ext cx="8280000" cy="540000"/>
          </a:xfrm>
          <a:prstGeom prst="rect">
            <a:avLst/>
          </a:prstGeom>
          <a:noFill/>
        </p:spPr>
        <p:txBody>
          <a:bodyPr wrap="square">
            <a:spAutoFit/>
          </a:bodyPr>
          <a:lstStyle/>
          <a:p>
            <a:pPr algn="l"/>
            <a:r>
              <a:rPr sz="2100" b="1" i="0">
                <a:solidFill>
                  <a:srgbClr val="FFFFFF"/>
                </a:solidFill>
              </a:rPr>
              <a:t>Décaissements — Cadence de Déploiement des 120 M FCFA</a:t>
            </a:r>
          </a:p>
        </p:txBody>
      </p:sp>
      <p:sp>
        <p:nvSpPr>
          <p:cNvPr id="6" name="TextBox 5"/>
          <p:cNvSpPr txBox="1"/>
          <p:nvPr/>
        </p:nvSpPr>
        <p:spPr>
          <a:xfrm>
            <a:off x="251999" y="1098000"/>
            <a:ext cx="8640001" cy="288000"/>
          </a:xfrm>
          <a:prstGeom prst="rect">
            <a:avLst/>
          </a:prstGeom>
          <a:noFill/>
        </p:spPr>
        <p:txBody>
          <a:bodyPr wrap="square">
            <a:spAutoFit/>
          </a:bodyPr>
          <a:lstStyle/>
          <a:p>
            <a:pPr algn="l"/>
            <a:r>
              <a:rPr sz="1100" b="0" i="1">
                <a:solidFill>
                  <a:srgbClr val="D4AF37"/>
                </a:solidFill>
              </a:rPr>
              <a:t>Plan de déploiement par poste budgétaire · Marketing ↑ aux extensions · IT ↑ aux nouveaux marchés</a:t>
            </a:r>
          </a:p>
        </p:txBody>
      </p:sp>
      <p:sp>
        <p:nvSpPr>
          <p:cNvPr id="7" name="Rectangle 6"/>
          <p:cNvSpPr/>
          <p:nvPr/>
        </p:nvSpPr>
        <p:spPr>
          <a:xfrm>
            <a:off x="0" y="6642000"/>
            <a:ext cx="9144000" cy="2160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0000" y="6642000"/>
            <a:ext cx="6480000" cy="216000"/>
          </a:xfrm>
          <a:prstGeom prst="rect">
            <a:avLst/>
          </a:prstGeom>
          <a:noFill/>
        </p:spPr>
        <p:txBody>
          <a:bodyPr wrap="square">
            <a:spAutoFit/>
          </a:bodyPr>
          <a:lstStyle/>
          <a:p>
            <a:pPr algn="l"/>
            <a:r>
              <a:rPr sz="900" b="0" i="0">
                <a:solidFill>
                  <a:srgbClr val="0B1E42"/>
                </a:solidFill>
              </a:rPr>
              <a:t>YUKPO  |  YUKPO COMPANY SARL  |  Confidentiel  |  2026</a:t>
            </a:r>
          </a:p>
        </p:txBody>
      </p:sp>
      <p:sp>
        <p:nvSpPr>
          <p:cNvPr id="9" name="Rectangle 8"/>
          <p:cNvSpPr/>
          <p:nvPr/>
        </p:nvSpPr>
        <p:spPr>
          <a:xfrm>
            <a:off x="144000" y="1475999"/>
            <a:ext cx="2088000" cy="324000"/>
          </a:xfrm>
          <a:prstGeom prst="rect">
            <a:avLst/>
          </a:prstGeom>
          <a:solidFill>
            <a:srgbClr val="0B1E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16000" y="1511999"/>
            <a:ext cx="1980000" cy="259200"/>
          </a:xfrm>
          <a:prstGeom prst="rect">
            <a:avLst/>
          </a:prstGeom>
          <a:noFill/>
        </p:spPr>
        <p:txBody>
          <a:bodyPr wrap="square">
            <a:spAutoFit/>
          </a:bodyPr>
          <a:lstStyle/>
          <a:p>
            <a:pPr algn="l"/>
            <a:r>
              <a:rPr sz="900" b="1" i="1">
                <a:solidFill>
                  <a:srgbClr val="B0C4DE"/>
                </a:solidFill>
              </a:rPr>
              <a:t>Ligne budgétaire</a:t>
            </a:r>
          </a:p>
        </p:txBody>
      </p:sp>
      <p:sp>
        <p:nvSpPr>
          <p:cNvPr id="11" name="Rectangle 10"/>
          <p:cNvSpPr/>
          <p:nvPr/>
        </p:nvSpPr>
        <p:spPr>
          <a:xfrm>
            <a:off x="2232000" y="1475999"/>
            <a:ext cx="824400" cy="324000"/>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246400" y="1504799"/>
            <a:ext cx="810000" cy="270000"/>
          </a:xfrm>
          <a:prstGeom prst="rect">
            <a:avLst/>
          </a:prstGeom>
          <a:noFill/>
        </p:spPr>
        <p:txBody>
          <a:bodyPr wrap="square">
            <a:spAutoFit/>
          </a:bodyPr>
          <a:lstStyle/>
          <a:p>
            <a:pPr algn="ctr"/>
            <a:r>
              <a:rPr sz="900" b="1" i="0">
                <a:solidFill>
                  <a:srgbClr val="D4AF37"/>
                </a:solidFill>
              </a:rPr>
              <a:t>T2'26</a:t>
            </a:r>
          </a:p>
        </p:txBody>
      </p:sp>
      <p:sp>
        <p:nvSpPr>
          <p:cNvPr id="13" name="Rectangle 12"/>
          <p:cNvSpPr/>
          <p:nvPr/>
        </p:nvSpPr>
        <p:spPr>
          <a:xfrm>
            <a:off x="3078000" y="1475999"/>
            <a:ext cx="824400" cy="324000"/>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092400" y="1504799"/>
            <a:ext cx="810000" cy="270000"/>
          </a:xfrm>
          <a:prstGeom prst="rect">
            <a:avLst/>
          </a:prstGeom>
          <a:noFill/>
        </p:spPr>
        <p:txBody>
          <a:bodyPr wrap="square">
            <a:spAutoFit/>
          </a:bodyPr>
          <a:lstStyle/>
          <a:p>
            <a:pPr algn="ctr"/>
            <a:r>
              <a:rPr sz="900" b="1" i="0">
                <a:solidFill>
                  <a:srgbClr val="D4AF37"/>
                </a:solidFill>
              </a:rPr>
              <a:t>T3'26</a:t>
            </a:r>
          </a:p>
        </p:txBody>
      </p:sp>
      <p:sp>
        <p:nvSpPr>
          <p:cNvPr id="15" name="Rectangle 14"/>
          <p:cNvSpPr/>
          <p:nvPr/>
        </p:nvSpPr>
        <p:spPr>
          <a:xfrm>
            <a:off x="3924000" y="1475999"/>
            <a:ext cx="824400" cy="324000"/>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938400" y="1504799"/>
            <a:ext cx="810000" cy="270000"/>
          </a:xfrm>
          <a:prstGeom prst="rect">
            <a:avLst/>
          </a:prstGeom>
          <a:noFill/>
        </p:spPr>
        <p:txBody>
          <a:bodyPr wrap="square">
            <a:spAutoFit/>
          </a:bodyPr>
          <a:lstStyle/>
          <a:p>
            <a:pPr algn="ctr"/>
            <a:r>
              <a:rPr sz="900" b="1" i="0">
                <a:solidFill>
                  <a:srgbClr val="D4AF37"/>
                </a:solidFill>
              </a:rPr>
              <a:t>T4'26</a:t>
            </a:r>
          </a:p>
        </p:txBody>
      </p:sp>
      <p:sp>
        <p:nvSpPr>
          <p:cNvPr id="17" name="Rectangle 16"/>
          <p:cNvSpPr/>
          <p:nvPr/>
        </p:nvSpPr>
        <p:spPr>
          <a:xfrm>
            <a:off x="4770000" y="1475999"/>
            <a:ext cx="824400" cy="324000"/>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84400" y="1504799"/>
            <a:ext cx="810000" cy="270000"/>
          </a:xfrm>
          <a:prstGeom prst="rect">
            <a:avLst/>
          </a:prstGeom>
          <a:noFill/>
        </p:spPr>
        <p:txBody>
          <a:bodyPr wrap="square">
            <a:spAutoFit/>
          </a:bodyPr>
          <a:lstStyle/>
          <a:p>
            <a:pPr algn="ctr"/>
            <a:r>
              <a:rPr sz="900" b="1" i="0">
                <a:solidFill>
                  <a:srgbClr val="D4AF37"/>
                </a:solidFill>
              </a:rPr>
              <a:t>T1'27</a:t>
            </a:r>
          </a:p>
        </p:txBody>
      </p:sp>
      <p:sp>
        <p:nvSpPr>
          <p:cNvPr id="19" name="Rectangle 18"/>
          <p:cNvSpPr/>
          <p:nvPr/>
        </p:nvSpPr>
        <p:spPr>
          <a:xfrm>
            <a:off x="5616000" y="1475999"/>
            <a:ext cx="824400" cy="324000"/>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630400" y="1504799"/>
            <a:ext cx="810000" cy="270000"/>
          </a:xfrm>
          <a:prstGeom prst="rect">
            <a:avLst/>
          </a:prstGeom>
          <a:noFill/>
        </p:spPr>
        <p:txBody>
          <a:bodyPr wrap="square">
            <a:spAutoFit/>
          </a:bodyPr>
          <a:lstStyle/>
          <a:p>
            <a:pPr algn="ctr"/>
            <a:r>
              <a:rPr sz="900" b="1" i="0">
                <a:solidFill>
                  <a:srgbClr val="D4AF37"/>
                </a:solidFill>
              </a:rPr>
              <a:t>T2'27</a:t>
            </a:r>
          </a:p>
        </p:txBody>
      </p:sp>
      <p:sp>
        <p:nvSpPr>
          <p:cNvPr id="21" name="Rectangle 20"/>
          <p:cNvSpPr/>
          <p:nvPr/>
        </p:nvSpPr>
        <p:spPr>
          <a:xfrm>
            <a:off x="6462000" y="1475999"/>
            <a:ext cx="824400" cy="324000"/>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76400" y="1504799"/>
            <a:ext cx="810000" cy="270000"/>
          </a:xfrm>
          <a:prstGeom prst="rect">
            <a:avLst/>
          </a:prstGeom>
          <a:noFill/>
        </p:spPr>
        <p:txBody>
          <a:bodyPr wrap="square">
            <a:spAutoFit/>
          </a:bodyPr>
          <a:lstStyle/>
          <a:p>
            <a:pPr algn="ctr"/>
            <a:r>
              <a:rPr sz="900" b="1" i="0">
                <a:solidFill>
                  <a:srgbClr val="D4AF37"/>
                </a:solidFill>
              </a:rPr>
              <a:t>T3'27</a:t>
            </a:r>
          </a:p>
        </p:txBody>
      </p:sp>
      <p:sp>
        <p:nvSpPr>
          <p:cNvPr id="23" name="Rectangle 22"/>
          <p:cNvSpPr/>
          <p:nvPr/>
        </p:nvSpPr>
        <p:spPr>
          <a:xfrm>
            <a:off x="7308000" y="1475999"/>
            <a:ext cx="824400" cy="324000"/>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22400" y="1504799"/>
            <a:ext cx="810000" cy="270000"/>
          </a:xfrm>
          <a:prstGeom prst="rect">
            <a:avLst/>
          </a:prstGeom>
          <a:noFill/>
        </p:spPr>
        <p:txBody>
          <a:bodyPr wrap="square">
            <a:spAutoFit/>
          </a:bodyPr>
          <a:lstStyle/>
          <a:p>
            <a:pPr algn="ctr"/>
            <a:r>
              <a:rPr sz="900" b="1" i="0">
                <a:solidFill>
                  <a:srgbClr val="D4AF37"/>
                </a:solidFill>
              </a:rPr>
              <a:t>T4'27</a:t>
            </a:r>
          </a:p>
        </p:txBody>
      </p:sp>
      <p:sp>
        <p:nvSpPr>
          <p:cNvPr id="25" name="Rectangle 24"/>
          <p:cNvSpPr/>
          <p:nvPr/>
        </p:nvSpPr>
        <p:spPr>
          <a:xfrm>
            <a:off x="8154000" y="1475999"/>
            <a:ext cx="824400" cy="3240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168400" y="1504799"/>
            <a:ext cx="810000" cy="270000"/>
          </a:xfrm>
          <a:prstGeom prst="rect">
            <a:avLst/>
          </a:prstGeom>
          <a:noFill/>
        </p:spPr>
        <p:txBody>
          <a:bodyPr wrap="square">
            <a:spAutoFit/>
          </a:bodyPr>
          <a:lstStyle/>
          <a:p>
            <a:pPr algn="ctr"/>
            <a:r>
              <a:rPr sz="900" b="1" i="0">
                <a:solidFill>
                  <a:srgbClr val="0B1E42"/>
                </a:solidFill>
              </a:rPr>
              <a:t>T1'28</a:t>
            </a:r>
          </a:p>
        </p:txBody>
      </p:sp>
      <p:sp>
        <p:nvSpPr>
          <p:cNvPr id="27" name="Rectangle 26"/>
          <p:cNvSpPr/>
          <p:nvPr/>
        </p:nvSpPr>
        <p:spPr>
          <a:xfrm>
            <a:off x="144000" y="1799999"/>
            <a:ext cx="2088000" cy="597600"/>
          </a:xfrm>
          <a:prstGeom prst="rect">
            <a:avLst/>
          </a:prstGeom>
          <a:solidFill>
            <a:srgbClr val="132B5E"/>
          </a:solidFill>
          <a:ln w="19050">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144000" y="1799999"/>
            <a:ext cx="79200" cy="5976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59200" y="1864799"/>
            <a:ext cx="1936800" cy="518400"/>
          </a:xfrm>
          <a:prstGeom prst="rect">
            <a:avLst/>
          </a:prstGeom>
          <a:noFill/>
        </p:spPr>
        <p:txBody>
          <a:bodyPr wrap="square">
            <a:spAutoFit/>
          </a:bodyPr>
          <a:lstStyle/>
          <a:p>
            <a:pPr algn="l"/>
            <a:r>
              <a:rPr sz="900" b="1" i="0">
                <a:solidFill>
                  <a:srgbClr val="D4AF37"/>
                </a:solidFill>
              </a:rPr>
              <a:t>Marketing &amp; Acquisition (45%=54M)</a:t>
            </a:r>
          </a:p>
        </p:txBody>
      </p:sp>
      <p:sp>
        <p:nvSpPr>
          <p:cNvPr id="30" name="Rectangle 29"/>
          <p:cNvSpPr/>
          <p:nvPr/>
        </p:nvSpPr>
        <p:spPr>
          <a:xfrm>
            <a:off x="2232000" y="1799999"/>
            <a:ext cx="824400" cy="597600"/>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246400" y="1889999"/>
            <a:ext cx="810000" cy="482400"/>
          </a:xfrm>
          <a:prstGeom prst="rect">
            <a:avLst/>
          </a:prstGeom>
          <a:noFill/>
        </p:spPr>
        <p:txBody>
          <a:bodyPr wrap="square">
            <a:spAutoFit/>
          </a:bodyPr>
          <a:lstStyle/>
          <a:p>
            <a:pPr algn="ctr"/>
            <a:r>
              <a:rPr sz="1100" b="1" i="0">
                <a:solidFill>
                  <a:srgbClr val="D4AF37"/>
                </a:solidFill>
              </a:rPr>
              <a:t>12</a:t>
            </a:r>
          </a:p>
        </p:txBody>
      </p:sp>
      <p:sp>
        <p:nvSpPr>
          <p:cNvPr id="32" name="Rectangle 31"/>
          <p:cNvSpPr/>
          <p:nvPr/>
        </p:nvSpPr>
        <p:spPr>
          <a:xfrm>
            <a:off x="3078000" y="1799999"/>
            <a:ext cx="824400" cy="597600"/>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092400" y="1889999"/>
            <a:ext cx="810000" cy="482400"/>
          </a:xfrm>
          <a:prstGeom prst="rect">
            <a:avLst/>
          </a:prstGeom>
          <a:noFill/>
        </p:spPr>
        <p:txBody>
          <a:bodyPr wrap="square">
            <a:spAutoFit/>
          </a:bodyPr>
          <a:lstStyle/>
          <a:p>
            <a:pPr algn="ctr"/>
            <a:r>
              <a:rPr sz="1100" b="1" i="0">
                <a:solidFill>
                  <a:srgbClr val="D4AF37"/>
                </a:solidFill>
              </a:rPr>
              <a:t>10</a:t>
            </a:r>
          </a:p>
        </p:txBody>
      </p:sp>
      <p:sp>
        <p:nvSpPr>
          <p:cNvPr id="34" name="Rectangle 33"/>
          <p:cNvSpPr/>
          <p:nvPr/>
        </p:nvSpPr>
        <p:spPr>
          <a:xfrm>
            <a:off x="3924000" y="1799999"/>
            <a:ext cx="824400" cy="597600"/>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938400" y="1889999"/>
            <a:ext cx="810000" cy="482400"/>
          </a:xfrm>
          <a:prstGeom prst="rect">
            <a:avLst/>
          </a:prstGeom>
          <a:noFill/>
        </p:spPr>
        <p:txBody>
          <a:bodyPr wrap="square">
            <a:spAutoFit/>
          </a:bodyPr>
          <a:lstStyle/>
          <a:p>
            <a:pPr algn="ctr"/>
            <a:r>
              <a:rPr sz="1100" b="1" i="0">
                <a:solidFill>
                  <a:srgbClr val="D4AF37"/>
                </a:solidFill>
              </a:rPr>
              <a:t>8</a:t>
            </a:r>
          </a:p>
        </p:txBody>
      </p:sp>
      <p:sp>
        <p:nvSpPr>
          <p:cNvPr id="36" name="Rectangle 35"/>
          <p:cNvSpPr/>
          <p:nvPr/>
        </p:nvSpPr>
        <p:spPr>
          <a:xfrm>
            <a:off x="4770000" y="1799999"/>
            <a:ext cx="824400" cy="597600"/>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784400" y="1889999"/>
            <a:ext cx="810000" cy="482400"/>
          </a:xfrm>
          <a:prstGeom prst="rect">
            <a:avLst/>
          </a:prstGeom>
          <a:noFill/>
        </p:spPr>
        <p:txBody>
          <a:bodyPr wrap="square">
            <a:spAutoFit/>
          </a:bodyPr>
          <a:lstStyle/>
          <a:p>
            <a:pPr algn="ctr"/>
            <a:r>
              <a:rPr sz="1100" b="1" i="0">
                <a:solidFill>
                  <a:srgbClr val="D4AF37"/>
                </a:solidFill>
              </a:rPr>
              <a:t>8</a:t>
            </a:r>
          </a:p>
        </p:txBody>
      </p:sp>
      <p:sp>
        <p:nvSpPr>
          <p:cNvPr id="38" name="Rectangle 37"/>
          <p:cNvSpPr/>
          <p:nvPr/>
        </p:nvSpPr>
        <p:spPr>
          <a:xfrm>
            <a:off x="5616000" y="1799999"/>
            <a:ext cx="824400" cy="597600"/>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630400" y="1889999"/>
            <a:ext cx="810000" cy="482400"/>
          </a:xfrm>
          <a:prstGeom prst="rect">
            <a:avLst/>
          </a:prstGeom>
          <a:noFill/>
        </p:spPr>
        <p:txBody>
          <a:bodyPr wrap="square">
            <a:spAutoFit/>
          </a:bodyPr>
          <a:lstStyle/>
          <a:p>
            <a:pPr algn="ctr"/>
            <a:r>
              <a:rPr sz="1100" b="1" i="0">
                <a:solidFill>
                  <a:srgbClr val="D4AF37"/>
                </a:solidFill>
              </a:rPr>
              <a:t>7</a:t>
            </a:r>
          </a:p>
        </p:txBody>
      </p:sp>
      <p:sp>
        <p:nvSpPr>
          <p:cNvPr id="40" name="Rectangle 39"/>
          <p:cNvSpPr/>
          <p:nvPr/>
        </p:nvSpPr>
        <p:spPr>
          <a:xfrm>
            <a:off x="6462000" y="1799999"/>
            <a:ext cx="824400" cy="597600"/>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476400" y="1889999"/>
            <a:ext cx="810000" cy="482400"/>
          </a:xfrm>
          <a:prstGeom prst="rect">
            <a:avLst/>
          </a:prstGeom>
          <a:noFill/>
        </p:spPr>
        <p:txBody>
          <a:bodyPr wrap="square">
            <a:spAutoFit/>
          </a:bodyPr>
          <a:lstStyle/>
          <a:p>
            <a:pPr algn="ctr"/>
            <a:r>
              <a:rPr sz="1100" b="1" i="0">
                <a:solidFill>
                  <a:srgbClr val="D4AF37"/>
                </a:solidFill>
              </a:rPr>
              <a:t>5</a:t>
            </a:r>
          </a:p>
        </p:txBody>
      </p:sp>
      <p:sp>
        <p:nvSpPr>
          <p:cNvPr id="42" name="Rectangle 41"/>
          <p:cNvSpPr/>
          <p:nvPr/>
        </p:nvSpPr>
        <p:spPr>
          <a:xfrm>
            <a:off x="7308000" y="1799999"/>
            <a:ext cx="824400" cy="597600"/>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322400" y="1889999"/>
            <a:ext cx="810000" cy="482400"/>
          </a:xfrm>
          <a:prstGeom prst="rect">
            <a:avLst/>
          </a:prstGeom>
          <a:noFill/>
        </p:spPr>
        <p:txBody>
          <a:bodyPr wrap="square">
            <a:spAutoFit/>
          </a:bodyPr>
          <a:lstStyle/>
          <a:p>
            <a:pPr algn="ctr"/>
            <a:r>
              <a:rPr sz="1100" b="1" i="0">
                <a:solidFill>
                  <a:srgbClr val="D4AF37"/>
                </a:solidFill>
              </a:rPr>
              <a:t>3</a:t>
            </a:r>
          </a:p>
        </p:txBody>
      </p:sp>
      <p:sp>
        <p:nvSpPr>
          <p:cNvPr id="44" name="Rectangle 43"/>
          <p:cNvSpPr/>
          <p:nvPr/>
        </p:nvSpPr>
        <p:spPr>
          <a:xfrm>
            <a:off x="8154000" y="1799999"/>
            <a:ext cx="824400" cy="597600"/>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168400" y="1889999"/>
            <a:ext cx="810000" cy="482400"/>
          </a:xfrm>
          <a:prstGeom prst="rect">
            <a:avLst/>
          </a:prstGeom>
          <a:noFill/>
        </p:spPr>
        <p:txBody>
          <a:bodyPr wrap="square">
            <a:spAutoFit/>
          </a:bodyPr>
          <a:lstStyle/>
          <a:p>
            <a:pPr algn="ctr"/>
            <a:r>
              <a:rPr sz="1100" b="1" i="0">
                <a:solidFill>
                  <a:srgbClr val="D4AF37"/>
                </a:solidFill>
              </a:rPr>
              <a:t>1</a:t>
            </a:r>
          </a:p>
        </p:txBody>
      </p:sp>
      <p:sp>
        <p:nvSpPr>
          <p:cNvPr id="46" name="Rectangle 45"/>
          <p:cNvSpPr/>
          <p:nvPr/>
        </p:nvSpPr>
        <p:spPr>
          <a:xfrm>
            <a:off x="144000" y="2419199"/>
            <a:ext cx="2088000" cy="597600"/>
          </a:xfrm>
          <a:prstGeom prst="rect">
            <a:avLst/>
          </a:prstGeom>
          <a:solidFill>
            <a:srgbClr val="0B1E42"/>
          </a:solidFill>
          <a:ln w="19050">
            <a:solidFill>
              <a:srgbClr val="4FC3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144000" y="2419199"/>
            <a:ext cx="79200" cy="597600"/>
          </a:xfrm>
          <a:prstGeom prst="rect">
            <a:avLst/>
          </a:prstGeom>
          <a:solidFill>
            <a:srgbClr val="4FC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259200" y="2483999"/>
            <a:ext cx="1936800" cy="518400"/>
          </a:xfrm>
          <a:prstGeom prst="rect">
            <a:avLst/>
          </a:prstGeom>
          <a:noFill/>
        </p:spPr>
        <p:txBody>
          <a:bodyPr wrap="square">
            <a:spAutoFit/>
          </a:bodyPr>
          <a:lstStyle/>
          <a:p>
            <a:pPr algn="l"/>
            <a:r>
              <a:rPr sz="900" b="1" i="0">
                <a:solidFill>
                  <a:srgbClr val="4FC3F7"/>
                </a:solidFill>
              </a:rPr>
              <a:t>Opérations &amp; Équipe (25%=30M)</a:t>
            </a:r>
          </a:p>
        </p:txBody>
      </p:sp>
      <p:sp>
        <p:nvSpPr>
          <p:cNvPr id="49" name="Rectangle 48"/>
          <p:cNvSpPr/>
          <p:nvPr/>
        </p:nvSpPr>
        <p:spPr>
          <a:xfrm>
            <a:off x="2232000" y="2419199"/>
            <a:ext cx="824400" cy="597600"/>
          </a:xfrm>
          <a:prstGeom prst="rect">
            <a:avLst/>
          </a:prstGeom>
          <a:solidFill>
            <a:srgbClr val="0B1E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2246400" y="2509199"/>
            <a:ext cx="810000" cy="482400"/>
          </a:xfrm>
          <a:prstGeom prst="rect">
            <a:avLst/>
          </a:prstGeom>
          <a:noFill/>
        </p:spPr>
        <p:txBody>
          <a:bodyPr wrap="square">
            <a:spAutoFit/>
          </a:bodyPr>
          <a:lstStyle/>
          <a:p>
            <a:pPr algn="ctr"/>
            <a:r>
              <a:rPr sz="1100" b="1" i="0">
                <a:solidFill>
                  <a:srgbClr val="4FC3F7"/>
                </a:solidFill>
              </a:rPr>
              <a:t>7</a:t>
            </a:r>
          </a:p>
        </p:txBody>
      </p:sp>
      <p:sp>
        <p:nvSpPr>
          <p:cNvPr id="51" name="Rectangle 50"/>
          <p:cNvSpPr/>
          <p:nvPr/>
        </p:nvSpPr>
        <p:spPr>
          <a:xfrm>
            <a:off x="3078000" y="2419199"/>
            <a:ext cx="824400" cy="597600"/>
          </a:xfrm>
          <a:prstGeom prst="rect">
            <a:avLst/>
          </a:prstGeom>
          <a:solidFill>
            <a:srgbClr val="0B1E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3092400" y="2509199"/>
            <a:ext cx="810000" cy="482400"/>
          </a:xfrm>
          <a:prstGeom prst="rect">
            <a:avLst/>
          </a:prstGeom>
          <a:noFill/>
        </p:spPr>
        <p:txBody>
          <a:bodyPr wrap="square">
            <a:spAutoFit/>
          </a:bodyPr>
          <a:lstStyle/>
          <a:p>
            <a:pPr algn="ctr"/>
            <a:r>
              <a:rPr sz="1100" b="1" i="0">
                <a:solidFill>
                  <a:srgbClr val="4FC3F7"/>
                </a:solidFill>
              </a:rPr>
              <a:t>6</a:t>
            </a:r>
          </a:p>
        </p:txBody>
      </p:sp>
      <p:sp>
        <p:nvSpPr>
          <p:cNvPr id="53" name="Rectangle 52"/>
          <p:cNvSpPr/>
          <p:nvPr/>
        </p:nvSpPr>
        <p:spPr>
          <a:xfrm>
            <a:off x="3924000" y="2419199"/>
            <a:ext cx="824400" cy="597600"/>
          </a:xfrm>
          <a:prstGeom prst="rect">
            <a:avLst/>
          </a:prstGeom>
          <a:solidFill>
            <a:srgbClr val="0B1E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3938400" y="2509199"/>
            <a:ext cx="810000" cy="482400"/>
          </a:xfrm>
          <a:prstGeom prst="rect">
            <a:avLst/>
          </a:prstGeom>
          <a:noFill/>
        </p:spPr>
        <p:txBody>
          <a:bodyPr wrap="square">
            <a:spAutoFit/>
          </a:bodyPr>
          <a:lstStyle/>
          <a:p>
            <a:pPr algn="ctr"/>
            <a:r>
              <a:rPr sz="1100" b="1" i="0">
                <a:solidFill>
                  <a:srgbClr val="4FC3F7"/>
                </a:solidFill>
              </a:rPr>
              <a:t>5</a:t>
            </a:r>
          </a:p>
        </p:txBody>
      </p:sp>
      <p:sp>
        <p:nvSpPr>
          <p:cNvPr id="55" name="Rectangle 54"/>
          <p:cNvSpPr/>
          <p:nvPr/>
        </p:nvSpPr>
        <p:spPr>
          <a:xfrm>
            <a:off x="4770000" y="2419199"/>
            <a:ext cx="824400" cy="597600"/>
          </a:xfrm>
          <a:prstGeom prst="rect">
            <a:avLst/>
          </a:prstGeom>
          <a:solidFill>
            <a:srgbClr val="0B1E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4784400" y="2509199"/>
            <a:ext cx="810000" cy="482400"/>
          </a:xfrm>
          <a:prstGeom prst="rect">
            <a:avLst/>
          </a:prstGeom>
          <a:noFill/>
        </p:spPr>
        <p:txBody>
          <a:bodyPr wrap="square">
            <a:spAutoFit/>
          </a:bodyPr>
          <a:lstStyle/>
          <a:p>
            <a:pPr algn="ctr"/>
            <a:r>
              <a:rPr sz="1100" b="1" i="0">
                <a:solidFill>
                  <a:srgbClr val="4FC3F7"/>
                </a:solidFill>
              </a:rPr>
              <a:t>5</a:t>
            </a:r>
          </a:p>
        </p:txBody>
      </p:sp>
      <p:sp>
        <p:nvSpPr>
          <p:cNvPr id="57" name="Rectangle 56"/>
          <p:cNvSpPr/>
          <p:nvPr/>
        </p:nvSpPr>
        <p:spPr>
          <a:xfrm>
            <a:off x="5616000" y="2419199"/>
            <a:ext cx="824400" cy="597600"/>
          </a:xfrm>
          <a:prstGeom prst="rect">
            <a:avLst/>
          </a:prstGeom>
          <a:solidFill>
            <a:srgbClr val="0B1E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5630400" y="2509199"/>
            <a:ext cx="810000" cy="482400"/>
          </a:xfrm>
          <a:prstGeom prst="rect">
            <a:avLst/>
          </a:prstGeom>
          <a:noFill/>
        </p:spPr>
        <p:txBody>
          <a:bodyPr wrap="square">
            <a:spAutoFit/>
          </a:bodyPr>
          <a:lstStyle/>
          <a:p>
            <a:pPr algn="ctr"/>
            <a:r>
              <a:rPr sz="1100" b="1" i="0">
                <a:solidFill>
                  <a:srgbClr val="4FC3F7"/>
                </a:solidFill>
              </a:rPr>
              <a:t>4</a:t>
            </a:r>
          </a:p>
        </p:txBody>
      </p:sp>
      <p:sp>
        <p:nvSpPr>
          <p:cNvPr id="59" name="Rectangle 58"/>
          <p:cNvSpPr/>
          <p:nvPr/>
        </p:nvSpPr>
        <p:spPr>
          <a:xfrm>
            <a:off x="6462000" y="2419199"/>
            <a:ext cx="824400" cy="597600"/>
          </a:xfrm>
          <a:prstGeom prst="rect">
            <a:avLst/>
          </a:prstGeom>
          <a:solidFill>
            <a:srgbClr val="0B1E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6476400" y="2509199"/>
            <a:ext cx="810000" cy="482400"/>
          </a:xfrm>
          <a:prstGeom prst="rect">
            <a:avLst/>
          </a:prstGeom>
          <a:noFill/>
        </p:spPr>
        <p:txBody>
          <a:bodyPr wrap="square">
            <a:spAutoFit/>
          </a:bodyPr>
          <a:lstStyle/>
          <a:p>
            <a:pPr algn="ctr"/>
            <a:r>
              <a:rPr sz="1100" b="1" i="0">
                <a:solidFill>
                  <a:srgbClr val="4FC3F7"/>
                </a:solidFill>
              </a:rPr>
              <a:t>2</a:t>
            </a:r>
          </a:p>
        </p:txBody>
      </p:sp>
      <p:sp>
        <p:nvSpPr>
          <p:cNvPr id="61" name="Rectangle 60"/>
          <p:cNvSpPr/>
          <p:nvPr/>
        </p:nvSpPr>
        <p:spPr>
          <a:xfrm>
            <a:off x="7308000" y="2419199"/>
            <a:ext cx="824400" cy="597600"/>
          </a:xfrm>
          <a:prstGeom prst="rect">
            <a:avLst/>
          </a:prstGeom>
          <a:solidFill>
            <a:srgbClr val="0B1E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7322400" y="2509199"/>
            <a:ext cx="810000" cy="482400"/>
          </a:xfrm>
          <a:prstGeom prst="rect">
            <a:avLst/>
          </a:prstGeom>
          <a:noFill/>
        </p:spPr>
        <p:txBody>
          <a:bodyPr wrap="square">
            <a:spAutoFit/>
          </a:bodyPr>
          <a:lstStyle/>
          <a:p>
            <a:pPr algn="ctr"/>
            <a:r>
              <a:rPr sz="1100" b="1" i="0">
                <a:solidFill>
                  <a:srgbClr val="4FC3F7"/>
                </a:solidFill>
              </a:rPr>
              <a:t>1</a:t>
            </a:r>
          </a:p>
        </p:txBody>
      </p:sp>
      <p:sp>
        <p:nvSpPr>
          <p:cNvPr id="63" name="Rectangle 62"/>
          <p:cNvSpPr/>
          <p:nvPr/>
        </p:nvSpPr>
        <p:spPr>
          <a:xfrm>
            <a:off x="8154000" y="2419199"/>
            <a:ext cx="824400" cy="597600"/>
          </a:xfrm>
          <a:prstGeom prst="rect">
            <a:avLst/>
          </a:prstGeom>
          <a:solidFill>
            <a:srgbClr val="0B1E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8168400" y="2509199"/>
            <a:ext cx="810000" cy="482400"/>
          </a:xfrm>
          <a:prstGeom prst="rect">
            <a:avLst/>
          </a:prstGeom>
          <a:noFill/>
        </p:spPr>
        <p:txBody>
          <a:bodyPr wrap="square">
            <a:spAutoFit/>
          </a:bodyPr>
          <a:lstStyle/>
          <a:p>
            <a:pPr algn="ctr"/>
            <a:r>
              <a:rPr sz="1100" b="0" i="0">
                <a:solidFill>
                  <a:srgbClr val="B0C4DE"/>
                </a:solidFill>
              </a:rPr>
              <a:t>—</a:t>
            </a:r>
          </a:p>
        </p:txBody>
      </p:sp>
      <p:sp>
        <p:nvSpPr>
          <p:cNvPr id="65" name="Rectangle 64"/>
          <p:cNvSpPr/>
          <p:nvPr/>
        </p:nvSpPr>
        <p:spPr>
          <a:xfrm>
            <a:off x="144000" y="3038399"/>
            <a:ext cx="2088000" cy="597600"/>
          </a:xfrm>
          <a:prstGeom prst="rect">
            <a:avLst/>
          </a:prstGeom>
          <a:solidFill>
            <a:srgbClr val="132B5E"/>
          </a:solidFill>
          <a:ln w="19050">
            <a:solidFill>
              <a:srgbClr val="FF99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144000" y="3038399"/>
            <a:ext cx="79200" cy="597600"/>
          </a:xfrm>
          <a:prstGeom prst="rect">
            <a:avLst/>
          </a:prstGeom>
          <a:solidFill>
            <a:srgbClr val="FF99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259200" y="3103199"/>
            <a:ext cx="1936800" cy="518400"/>
          </a:xfrm>
          <a:prstGeom prst="rect">
            <a:avLst/>
          </a:prstGeom>
          <a:noFill/>
        </p:spPr>
        <p:txBody>
          <a:bodyPr wrap="square">
            <a:spAutoFit/>
          </a:bodyPr>
          <a:lstStyle/>
          <a:p>
            <a:pPr algn="l"/>
            <a:r>
              <a:rPr sz="900" b="1" i="0">
                <a:solidFill>
                  <a:srgbClr val="FF9933"/>
                </a:solidFill>
              </a:rPr>
              <a:t>Acq. Services &amp; Infra (15%=18M)</a:t>
            </a:r>
          </a:p>
        </p:txBody>
      </p:sp>
      <p:sp>
        <p:nvSpPr>
          <p:cNvPr id="68" name="Rectangle 67"/>
          <p:cNvSpPr/>
          <p:nvPr/>
        </p:nvSpPr>
        <p:spPr>
          <a:xfrm>
            <a:off x="2232000" y="3038399"/>
            <a:ext cx="824400" cy="597600"/>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2246400" y="3128399"/>
            <a:ext cx="810000" cy="482400"/>
          </a:xfrm>
          <a:prstGeom prst="rect">
            <a:avLst/>
          </a:prstGeom>
          <a:noFill/>
        </p:spPr>
        <p:txBody>
          <a:bodyPr wrap="square">
            <a:spAutoFit/>
          </a:bodyPr>
          <a:lstStyle/>
          <a:p>
            <a:pPr algn="ctr"/>
            <a:r>
              <a:rPr sz="1100" b="1" i="0">
                <a:solidFill>
                  <a:srgbClr val="FF9933"/>
                </a:solidFill>
              </a:rPr>
              <a:t>7</a:t>
            </a:r>
          </a:p>
        </p:txBody>
      </p:sp>
      <p:sp>
        <p:nvSpPr>
          <p:cNvPr id="70" name="Rectangle 69"/>
          <p:cNvSpPr/>
          <p:nvPr/>
        </p:nvSpPr>
        <p:spPr>
          <a:xfrm>
            <a:off x="3078000" y="3038399"/>
            <a:ext cx="824400" cy="597600"/>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3092400" y="3128399"/>
            <a:ext cx="810000" cy="482400"/>
          </a:xfrm>
          <a:prstGeom prst="rect">
            <a:avLst/>
          </a:prstGeom>
          <a:noFill/>
        </p:spPr>
        <p:txBody>
          <a:bodyPr wrap="square">
            <a:spAutoFit/>
          </a:bodyPr>
          <a:lstStyle/>
          <a:p>
            <a:pPr algn="ctr"/>
            <a:r>
              <a:rPr sz="1100" b="1" i="0">
                <a:solidFill>
                  <a:srgbClr val="FF9933"/>
                </a:solidFill>
              </a:rPr>
              <a:t>5</a:t>
            </a:r>
          </a:p>
        </p:txBody>
      </p:sp>
      <p:sp>
        <p:nvSpPr>
          <p:cNvPr id="72" name="Rectangle 71"/>
          <p:cNvSpPr/>
          <p:nvPr/>
        </p:nvSpPr>
        <p:spPr>
          <a:xfrm>
            <a:off x="3924000" y="3038399"/>
            <a:ext cx="824400" cy="597600"/>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3938400" y="3128399"/>
            <a:ext cx="810000" cy="482400"/>
          </a:xfrm>
          <a:prstGeom prst="rect">
            <a:avLst/>
          </a:prstGeom>
          <a:noFill/>
        </p:spPr>
        <p:txBody>
          <a:bodyPr wrap="square">
            <a:spAutoFit/>
          </a:bodyPr>
          <a:lstStyle/>
          <a:p>
            <a:pPr algn="ctr"/>
            <a:r>
              <a:rPr sz="1100" b="1" i="0">
                <a:solidFill>
                  <a:srgbClr val="FF9933"/>
                </a:solidFill>
              </a:rPr>
              <a:t>3</a:t>
            </a:r>
          </a:p>
        </p:txBody>
      </p:sp>
      <p:sp>
        <p:nvSpPr>
          <p:cNvPr id="74" name="Rectangle 73"/>
          <p:cNvSpPr/>
          <p:nvPr/>
        </p:nvSpPr>
        <p:spPr>
          <a:xfrm>
            <a:off x="4770000" y="3038399"/>
            <a:ext cx="824400" cy="597600"/>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4784400" y="3128399"/>
            <a:ext cx="810000" cy="482400"/>
          </a:xfrm>
          <a:prstGeom prst="rect">
            <a:avLst/>
          </a:prstGeom>
          <a:noFill/>
        </p:spPr>
        <p:txBody>
          <a:bodyPr wrap="square">
            <a:spAutoFit/>
          </a:bodyPr>
          <a:lstStyle/>
          <a:p>
            <a:pPr algn="ctr"/>
            <a:r>
              <a:rPr sz="1100" b="1" i="0">
                <a:solidFill>
                  <a:srgbClr val="FF9933"/>
                </a:solidFill>
              </a:rPr>
              <a:t>2</a:t>
            </a:r>
          </a:p>
        </p:txBody>
      </p:sp>
      <p:sp>
        <p:nvSpPr>
          <p:cNvPr id="76" name="Rectangle 75"/>
          <p:cNvSpPr/>
          <p:nvPr/>
        </p:nvSpPr>
        <p:spPr>
          <a:xfrm>
            <a:off x="5616000" y="3038399"/>
            <a:ext cx="824400" cy="597600"/>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5630400" y="3128399"/>
            <a:ext cx="810000" cy="482400"/>
          </a:xfrm>
          <a:prstGeom prst="rect">
            <a:avLst/>
          </a:prstGeom>
          <a:noFill/>
        </p:spPr>
        <p:txBody>
          <a:bodyPr wrap="square">
            <a:spAutoFit/>
          </a:bodyPr>
          <a:lstStyle/>
          <a:p>
            <a:pPr algn="ctr"/>
            <a:r>
              <a:rPr sz="1100" b="1" i="0">
                <a:solidFill>
                  <a:srgbClr val="FF9933"/>
                </a:solidFill>
              </a:rPr>
              <a:t>1</a:t>
            </a:r>
          </a:p>
        </p:txBody>
      </p:sp>
      <p:sp>
        <p:nvSpPr>
          <p:cNvPr id="78" name="Rectangle 77"/>
          <p:cNvSpPr/>
          <p:nvPr/>
        </p:nvSpPr>
        <p:spPr>
          <a:xfrm>
            <a:off x="6462000" y="3038399"/>
            <a:ext cx="824400" cy="597600"/>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6476400" y="3128399"/>
            <a:ext cx="810000" cy="482400"/>
          </a:xfrm>
          <a:prstGeom prst="rect">
            <a:avLst/>
          </a:prstGeom>
          <a:noFill/>
        </p:spPr>
        <p:txBody>
          <a:bodyPr wrap="square">
            <a:spAutoFit/>
          </a:bodyPr>
          <a:lstStyle/>
          <a:p>
            <a:pPr algn="ctr"/>
            <a:r>
              <a:rPr sz="1100" b="0" i="0">
                <a:solidFill>
                  <a:srgbClr val="B0C4DE"/>
                </a:solidFill>
              </a:rPr>
              <a:t>—</a:t>
            </a:r>
          </a:p>
        </p:txBody>
      </p:sp>
      <p:sp>
        <p:nvSpPr>
          <p:cNvPr id="80" name="Rectangle 79"/>
          <p:cNvSpPr/>
          <p:nvPr/>
        </p:nvSpPr>
        <p:spPr>
          <a:xfrm>
            <a:off x="7308000" y="3038399"/>
            <a:ext cx="824400" cy="597600"/>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7322400" y="3128399"/>
            <a:ext cx="810000" cy="482400"/>
          </a:xfrm>
          <a:prstGeom prst="rect">
            <a:avLst/>
          </a:prstGeom>
          <a:noFill/>
        </p:spPr>
        <p:txBody>
          <a:bodyPr wrap="square">
            <a:spAutoFit/>
          </a:bodyPr>
          <a:lstStyle/>
          <a:p>
            <a:pPr algn="ctr"/>
            <a:r>
              <a:rPr sz="1100" b="0" i="0">
                <a:solidFill>
                  <a:srgbClr val="B0C4DE"/>
                </a:solidFill>
              </a:rPr>
              <a:t>—</a:t>
            </a:r>
          </a:p>
        </p:txBody>
      </p:sp>
      <p:sp>
        <p:nvSpPr>
          <p:cNvPr id="82" name="Rectangle 81"/>
          <p:cNvSpPr/>
          <p:nvPr/>
        </p:nvSpPr>
        <p:spPr>
          <a:xfrm>
            <a:off x="8154000" y="3038399"/>
            <a:ext cx="824400" cy="597600"/>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8168400" y="3128399"/>
            <a:ext cx="810000" cy="482400"/>
          </a:xfrm>
          <a:prstGeom prst="rect">
            <a:avLst/>
          </a:prstGeom>
          <a:noFill/>
        </p:spPr>
        <p:txBody>
          <a:bodyPr wrap="square">
            <a:spAutoFit/>
          </a:bodyPr>
          <a:lstStyle/>
          <a:p>
            <a:pPr algn="ctr"/>
            <a:r>
              <a:rPr sz="1100" b="0" i="0">
                <a:solidFill>
                  <a:srgbClr val="B0C4DE"/>
                </a:solidFill>
              </a:rPr>
              <a:t>—</a:t>
            </a:r>
          </a:p>
        </p:txBody>
      </p:sp>
      <p:sp>
        <p:nvSpPr>
          <p:cNvPr id="84" name="Rectangle 83"/>
          <p:cNvSpPr/>
          <p:nvPr/>
        </p:nvSpPr>
        <p:spPr>
          <a:xfrm>
            <a:off x="144000" y="3657599"/>
            <a:ext cx="2088000" cy="597600"/>
          </a:xfrm>
          <a:prstGeom prst="rect">
            <a:avLst/>
          </a:prstGeom>
          <a:solidFill>
            <a:srgbClr val="0B1E42"/>
          </a:solidFill>
          <a:ln w="19050">
            <a:solidFill>
              <a:srgbClr val="00C8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ectangle 84"/>
          <p:cNvSpPr/>
          <p:nvPr/>
        </p:nvSpPr>
        <p:spPr>
          <a:xfrm>
            <a:off x="144000" y="3657599"/>
            <a:ext cx="79200" cy="597600"/>
          </a:xfrm>
          <a:prstGeom prst="rect">
            <a:avLst/>
          </a:prstGeom>
          <a:solidFill>
            <a:srgbClr val="00C8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259200" y="3722399"/>
            <a:ext cx="1936800" cy="518400"/>
          </a:xfrm>
          <a:prstGeom prst="rect">
            <a:avLst/>
          </a:prstGeom>
          <a:noFill/>
        </p:spPr>
        <p:txBody>
          <a:bodyPr wrap="square">
            <a:spAutoFit/>
          </a:bodyPr>
          <a:lstStyle/>
          <a:p>
            <a:pPr algn="l"/>
            <a:r>
              <a:rPr sz="900" b="1" i="0">
                <a:solidFill>
                  <a:srgbClr val="00C87A"/>
                </a:solidFill>
              </a:rPr>
              <a:t>Réserve de Trésorerie (15%=18M)</a:t>
            </a:r>
          </a:p>
        </p:txBody>
      </p:sp>
      <p:sp>
        <p:nvSpPr>
          <p:cNvPr id="87" name="Rectangle 86"/>
          <p:cNvSpPr/>
          <p:nvPr/>
        </p:nvSpPr>
        <p:spPr>
          <a:xfrm>
            <a:off x="2232000" y="3657599"/>
            <a:ext cx="824400" cy="597600"/>
          </a:xfrm>
          <a:prstGeom prst="rect">
            <a:avLst/>
          </a:prstGeom>
          <a:solidFill>
            <a:srgbClr val="0B1E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2246400" y="3747599"/>
            <a:ext cx="810000" cy="482400"/>
          </a:xfrm>
          <a:prstGeom prst="rect">
            <a:avLst/>
          </a:prstGeom>
          <a:noFill/>
        </p:spPr>
        <p:txBody>
          <a:bodyPr wrap="square">
            <a:spAutoFit/>
          </a:bodyPr>
          <a:lstStyle/>
          <a:p>
            <a:pPr algn="ctr"/>
            <a:r>
              <a:rPr sz="1100" b="1" i="0">
                <a:solidFill>
                  <a:srgbClr val="00C87A"/>
                </a:solidFill>
              </a:rPr>
              <a:t>2</a:t>
            </a:r>
          </a:p>
        </p:txBody>
      </p:sp>
      <p:sp>
        <p:nvSpPr>
          <p:cNvPr id="89" name="Rectangle 88"/>
          <p:cNvSpPr/>
          <p:nvPr/>
        </p:nvSpPr>
        <p:spPr>
          <a:xfrm>
            <a:off x="3078000" y="3657599"/>
            <a:ext cx="824400" cy="597600"/>
          </a:xfrm>
          <a:prstGeom prst="rect">
            <a:avLst/>
          </a:prstGeom>
          <a:solidFill>
            <a:srgbClr val="0B1E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3092400" y="3747599"/>
            <a:ext cx="810000" cy="482400"/>
          </a:xfrm>
          <a:prstGeom prst="rect">
            <a:avLst/>
          </a:prstGeom>
          <a:noFill/>
        </p:spPr>
        <p:txBody>
          <a:bodyPr wrap="square">
            <a:spAutoFit/>
          </a:bodyPr>
          <a:lstStyle/>
          <a:p>
            <a:pPr algn="ctr"/>
            <a:r>
              <a:rPr sz="1100" b="1" i="0">
                <a:solidFill>
                  <a:srgbClr val="00C87A"/>
                </a:solidFill>
              </a:rPr>
              <a:t>4</a:t>
            </a:r>
          </a:p>
        </p:txBody>
      </p:sp>
      <p:sp>
        <p:nvSpPr>
          <p:cNvPr id="91" name="Rectangle 90"/>
          <p:cNvSpPr/>
          <p:nvPr/>
        </p:nvSpPr>
        <p:spPr>
          <a:xfrm>
            <a:off x="3924000" y="3657599"/>
            <a:ext cx="824400" cy="597600"/>
          </a:xfrm>
          <a:prstGeom prst="rect">
            <a:avLst/>
          </a:prstGeom>
          <a:solidFill>
            <a:srgbClr val="0B1E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3938400" y="3747599"/>
            <a:ext cx="810000" cy="482400"/>
          </a:xfrm>
          <a:prstGeom prst="rect">
            <a:avLst/>
          </a:prstGeom>
          <a:noFill/>
        </p:spPr>
        <p:txBody>
          <a:bodyPr wrap="square">
            <a:spAutoFit/>
          </a:bodyPr>
          <a:lstStyle/>
          <a:p>
            <a:pPr algn="ctr"/>
            <a:r>
              <a:rPr sz="1100" b="1" i="0">
                <a:solidFill>
                  <a:srgbClr val="00C87A"/>
                </a:solidFill>
              </a:rPr>
              <a:t>6</a:t>
            </a:r>
          </a:p>
        </p:txBody>
      </p:sp>
      <p:sp>
        <p:nvSpPr>
          <p:cNvPr id="93" name="Rectangle 92"/>
          <p:cNvSpPr/>
          <p:nvPr/>
        </p:nvSpPr>
        <p:spPr>
          <a:xfrm>
            <a:off x="4770000" y="3657599"/>
            <a:ext cx="824400" cy="597600"/>
          </a:xfrm>
          <a:prstGeom prst="rect">
            <a:avLst/>
          </a:prstGeom>
          <a:solidFill>
            <a:srgbClr val="0B1E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4784400" y="3747599"/>
            <a:ext cx="810000" cy="482400"/>
          </a:xfrm>
          <a:prstGeom prst="rect">
            <a:avLst/>
          </a:prstGeom>
          <a:noFill/>
        </p:spPr>
        <p:txBody>
          <a:bodyPr wrap="square">
            <a:spAutoFit/>
          </a:bodyPr>
          <a:lstStyle/>
          <a:p>
            <a:pPr algn="ctr"/>
            <a:r>
              <a:rPr sz="1100" b="1" i="0">
                <a:solidFill>
                  <a:srgbClr val="00C87A"/>
                </a:solidFill>
              </a:rPr>
              <a:t>1</a:t>
            </a:r>
          </a:p>
        </p:txBody>
      </p:sp>
      <p:sp>
        <p:nvSpPr>
          <p:cNvPr id="95" name="Rectangle 94"/>
          <p:cNvSpPr/>
          <p:nvPr/>
        </p:nvSpPr>
        <p:spPr>
          <a:xfrm>
            <a:off x="5616000" y="3657599"/>
            <a:ext cx="824400" cy="597600"/>
          </a:xfrm>
          <a:prstGeom prst="rect">
            <a:avLst/>
          </a:prstGeom>
          <a:solidFill>
            <a:srgbClr val="0B1E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5630400" y="3747599"/>
            <a:ext cx="810000" cy="482400"/>
          </a:xfrm>
          <a:prstGeom prst="rect">
            <a:avLst/>
          </a:prstGeom>
          <a:noFill/>
        </p:spPr>
        <p:txBody>
          <a:bodyPr wrap="square">
            <a:spAutoFit/>
          </a:bodyPr>
          <a:lstStyle/>
          <a:p>
            <a:pPr algn="ctr"/>
            <a:r>
              <a:rPr sz="1100" b="1" i="0">
                <a:solidFill>
                  <a:srgbClr val="00C87A"/>
                </a:solidFill>
              </a:rPr>
              <a:t>3</a:t>
            </a:r>
          </a:p>
        </p:txBody>
      </p:sp>
      <p:sp>
        <p:nvSpPr>
          <p:cNvPr id="97" name="Rectangle 96"/>
          <p:cNvSpPr/>
          <p:nvPr/>
        </p:nvSpPr>
        <p:spPr>
          <a:xfrm>
            <a:off x="6462000" y="3657599"/>
            <a:ext cx="824400" cy="597600"/>
          </a:xfrm>
          <a:prstGeom prst="rect">
            <a:avLst/>
          </a:prstGeom>
          <a:solidFill>
            <a:srgbClr val="0B1E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extBox 97"/>
          <p:cNvSpPr txBox="1"/>
          <p:nvPr/>
        </p:nvSpPr>
        <p:spPr>
          <a:xfrm>
            <a:off x="6476400" y="3747599"/>
            <a:ext cx="810000" cy="482400"/>
          </a:xfrm>
          <a:prstGeom prst="rect">
            <a:avLst/>
          </a:prstGeom>
          <a:noFill/>
        </p:spPr>
        <p:txBody>
          <a:bodyPr wrap="square">
            <a:spAutoFit/>
          </a:bodyPr>
          <a:lstStyle/>
          <a:p>
            <a:pPr algn="ctr"/>
            <a:r>
              <a:rPr sz="1100" b="1" i="0">
                <a:solidFill>
                  <a:srgbClr val="00C87A"/>
                </a:solidFill>
              </a:rPr>
              <a:t>1</a:t>
            </a:r>
          </a:p>
        </p:txBody>
      </p:sp>
      <p:sp>
        <p:nvSpPr>
          <p:cNvPr id="99" name="Rectangle 98"/>
          <p:cNvSpPr/>
          <p:nvPr/>
        </p:nvSpPr>
        <p:spPr>
          <a:xfrm>
            <a:off x="7308000" y="3657599"/>
            <a:ext cx="824400" cy="597600"/>
          </a:xfrm>
          <a:prstGeom prst="rect">
            <a:avLst/>
          </a:prstGeom>
          <a:solidFill>
            <a:srgbClr val="0B1E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TextBox 99"/>
          <p:cNvSpPr txBox="1"/>
          <p:nvPr/>
        </p:nvSpPr>
        <p:spPr>
          <a:xfrm>
            <a:off x="7322400" y="3747599"/>
            <a:ext cx="810000" cy="482400"/>
          </a:xfrm>
          <a:prstGeom prst="rect">
            <a:avLst/>
          </a:prstGeom>
          <a:noFill/>
        </p:spPr>
        <p:txBody>
          <a:bodyPr wrap="square">
            <a:spAutoFit/>
          </a:bodyPr>
          <a:lstStyle/>
          <a:p>
            <a:pPr algn="ctr"/>
            <a:r>
              <a:rPr sz="1100" b="0" i="0">
                <a:solidFill>
                  <a:srgbClr val="B0C4DE"/>
                </a:solidFill>
              </a:rPr>
              <a:t>—</a:t>
            </a:r>
          </a:p>
        </p:txBody>
      </p:sp>
      <p:sp>
        <p:nvSpPr>
          <p:cNvPr id="101" name="Rectangle 100"/>
          <p:cNvSpPr/>
          <p:nvPr/>
        </p:nvSpPr>
        <p:spPr>
          <a:xfrm>
            <a:off x="8154000" y="3657599"/>
            <a:ext cx="824400" cy="597600"/>
          </a:xfrm>
          <a:prstGeom prst="rect">
            <a:avLst/>
          </a:prstGeom>
          <a:solidFill>
            <a:srgbClr val="0B1E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8168400" y="3747599"/>
            <a:ext cx="810000" cy="482400"/>
          </a:xfrm>
          <a:prstGeom prst="rect">
            <a:avLst/>
          </a:prstGeom>
          <a:noFill/>
        </p:spPr>
        <p:txBody>
          <a:bodyPr wrap="square">
            <a:spAutoFit/>
          </a:bodyPr>
          <a:lstStyle/>
          <a:p>
            <a:pPr algn="ctr"/>
            <a:r>
              <a:rPr sz="1100" b="1" i="0">
                <a:solidFill>
                  <a:srgbClr val="00C87A"/>
                </a:solidFill>
              </a:rPr>
              <a:t>1</a:t>
            </a:r>
          </a:p>
        </p:txBody>
      </p:sp>
      <p:sp>
        <p:nvSpPr>
          <p:cNvPr id="103" name="Rectangle 102"/>
          <p:cNvSpPr/>
          <p:nvPr/>
        </p:nvSpPr>
        <p:spPr>
          <a:xfrm>
            <a:off x="144000" y="4276799"/>
            <a:ext cx="8856000" cy="597600"/>
          </a:xfrm>
          <a:prstGeom prst="rect">
            <a:avLst/>
          </a:prstGeom>
          <a:solidFill>
            <a:srgbClr val="132B5E"/>
          </a:solidFill>
          <a:ln w="19050">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Rectangle 103"/>
          <p:cNvSpPr/>
          <p:nvPr/>
        </p:nvSpPr>
        <p:spPr>
          <a:xfrm>
            <a:off x="144000" y="4276799"/>
            <a:ext cx="79200" cy="5976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extBox 104"/>
          <p:cNvSpPr txBox="1"/>
          <p:nvPr/>
        </p:nvSpPr>
        <p:spPr>
          <a:xfrm>
            <a:off x="259200" y="4341599"/>
            <a:ext cx="1936800" cy="518400"/>
          </a:xfrm>
          <a:prstGeom prst="rect">
            <a:avLst/>
          </a:prstGeom>
          <a:noFill/>
        </p:spPr>
        <p:txBody>
          <a:bodyPr wrap="square">
            <a:spAutoFit/>
          </a:bodyPr>
          <a:lstStyle/>
          <a:p>
            <a:pPr algn="l"/>
            <a:r>
              <a:rPr sz="900" b="1" i="0">
                <a:solidFill>
                  <a:srgbClr val="D4AF37"/>
                </a:solidFill>
              </a:rPr>
              <a:t>TOTAL décaissé / trimestre (M)</a:t>
            </a:r>
          </a:p>
        </p:txBody>
      </p:sp>
      <p:sp>
        <p:nvSpPr>
          <p:cNvPr id="106" name="Rectangle 105"/>
          <p:cNvSpPr/>
          <p:nvPr/>
        </p:nvSpPr>
        <p:spPr>
          <a:xfrm>
            <a:off x="2232000" y="4276799"/>
            <a:ext cx="824400" cy="597600"/>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TextBox 106"/>
          <p:cNvSpPr txBox="1"/>
          <p:nvPr/>
        </p:nvSpPr>
        <p:spPr>
          <a:xfrm>
            <a:off x="2246400" y="4366799"/>
            <a:ext cx="810000" cy="482400"/>
          </a:xfrm>
          <a:prstGeom prst="rect">
            <a:avLst/>
          </a:prstGeom>
          <a:noFill/>
        </p:spPr>
        <p:txBody>
          <a:bodyPr wrap="square">
            <a:spAutoFit/>
          </a:bodyPr>
          <a:lstStyle/>
          <a:p>
            <a:pPr algn="ctr"/>
            <a:r>
              <a:rPr sz="1200" b="1" i="0">
                <a:solidFill>
                  <a:srgbClr val="D4AF37"/>
                </a:solidFill>
              </a:rPr>
              <a:t>28</a:t>
            </a:r>
          </a:p>
        </p:txBody>
      </p:sp>
      <p:sp>
        <p:nvSpPr>
          <p:cNvPr id="108" name="Rectangle 107"/>
          <p:cNvSpPr/>
          <p:nvPr/>
        </p:nvSpPr>
        <p:spPr>
          <a:xfrm>
            <a:off x="3078000" y="4276799"/>
            <a:ext cx="824400" cy="597600"/>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TextBox 108"/>
          <p:cNvSpPr txBox="1"/>
          <p:nvPr/>
        </p:nvSpPr>
        <p:spPr>
          <a:xfrm>
            <a:off x="3092400" y="4366799"/>
            <a:ext cx="810000" cy="482400"/>
          </a:xfrm>
          <a:prstGeom prst="rect">
            <a:avLst/>
          </a:prstGeom>
          <a:noFill/>
        </p:spPr>
        <p:txBody>
          <a:bodyPr wrap="square">
            <a:spAutoFit/>
          </a:bodyPr>
          <a:lstStyle/>
          <a:p>
            <a:pPr algn="ctr"/>
            <a:r>
              <a:rPr sz="1200" b="1" i="0">
                <a:solidFill>
                  <a:srgbClr val="D4AF37"/>
                </a:solidFill>
              </a:rPr>
              <a:t>25</a:t>
            </a:r>
          </a:p>
        </p:txBody>
      </p:sp>
      <p:sp>
        <p:nvSpPr>
          <p:cNvPr id="110" name="Rectangle 109"/>
          <p:cNvSpPr/>
          <p:nvPr/>
        </p:nvSpPr>
        <p:spPr>
          <a:xfrm>
            <a:off x="3924000" y="4276799"/>
            <a:ext cx="824400" cy="597600"/>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TextBox 110"/>
          <p:cNvSpPr txBox="1"/>
          <p:nvPr/>
        </p:nvSpPr>
        <p:spPr>
          <a:xfrm>
            <a:off x="3938400" y="4366799"/>
            <a:ext cx="810000" cy="482400"/>
          </a:xfrm>
          <a:prstGeom prst="rect">
            <a:avLst/>
          </a:prstGeom>
          <a:noFill/>
        </p:spPr>
        <p:txBody>
          <a:bodyPr wrap="square">
            <a:spAutoFit/>
          </a:bodyPr>
          <a:lstStyle/>
          <a:p>
            <a:pPr algn="ctr"/>
            <a:r>
              <a:rPr sz="1200" b="1" i="0">
                <a:solidFill>
                  <a:srgbClr val="D4AF37"/>
                </a:solidFill>
              </a:rPr>
              <a:t>22</a:t>
            </a:r>
          </a:p>
        </p:txBody>
      </p:sp>
      <p:sp>
        <p:nvSpPr>
          <p:cNvPr id="112" name="Rectangle 111"/>
          <p:cNvSpPr/>
          <p:nvPr/>
        </p:nvSpPr>
        <p:spPr>
          <a:xfrm>
            <a:off x="4770000" y="4276799"/>
            <a:ext cx="824400" cy="597600"/>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TextBox 112"/>
          <p:cNvSpPr txBox="1"/>
          <p:nvPr/>
        </p:nvSpPr>
        <p:spPr>
          <a:xfrm>
            <a:off x="4784400" y="4366799"/>
            <a:ext cx="810000" cy="482400"/>
          </a:xfrm>
          <a:prstGeom prst="rect">
            <a:avLst/>
          </a:prstGeom>
          <a:noFill/>
        </p:spPr>
        <p:txBody>
          <a:bodyPr wrap="square">
            <a:spAutoFit/>
          </a:bodyPr>
          <a:lstStyle/>
          <a:p>
            <a:pPr algn="ctr"/>
            <a:r>
              <a:rPr sz="1200" b="1" i="0">
                <a:solidFill>
                  <a:srgbClr val="D4AF37"/>
                </a:solidFill>
              </a:rPr>
              <a:t>16</a:t>
            </a:r>
          </a:p>
        </p:txBody>
      </p:sp>
      <p:sp>
        <p:nvSpPr>
          <p:cNvPr id="114" name="Rectangle 113"/>
          <p:cNvSpPr/>
          <p:nvPr/>
        </p:nvSpPr>
        <p:spPr>
          <a:xfrm>
            <a:off x="5616000" y="4276799"/>
            <a:ext cx="824400" cy="597600"/>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TextBox 114"/>
          <p:cNvSpPr txBox="1"/>
          <p:nvPr/>
        </p:nvSpPr>
        <p:spPr>
          <a:xfrm>
            <a:off x="5630400" y="4366799"/>
            <a:ext cx="810000" cy="482400"/>
          </a:xfrm>
          <a:prstGeom prst="rect">
            <a:avLst/>
          </a:prstGeom>
          <a:noFill/>
        </p:spPr>
        <p:txBody>
          <a:bodyPr wrap="square">
            <a:spAutoFit/>
          </a:bodyPr>
          <a:lstStyle/>
          <a:p>
            <a:pPr algn="ctr"/>
            <a:r>
              <a:rPr sz="1200" b="1" i="0">
                <a:solidFill>
                  <a:srgbClr val="D4AF37"/>
                </a:solidFill>
              </a:rPr>
              <a:t>15</a:t>
            </a:r>
          </a:p>
        </p:txBody>
      </p:sp>
      <p:sp>
        <p:nvSpPr>
          <p:cNvPr id="116" name="Rectangle 115"/>
          <p:cNvSpPr/>
          <p:nvPr/>
        </p:nvSpPr>
        <p:spPr>
          <a:xfrm>
            <a:off x="6462000" y="4276799"/>
            <a:ext cx="824400" cy="597600"/>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TextBox 116"/>
          <p:cNvSpPr txBox="1"/>
          <p:nvPr/>
        </p:nvSpPr>
        <p:spPr>
          <a:xfrm>
            <a:off x="6476400" y="4366799"/>
            <a:ext cx="810000" cy="482400"/>
          </a:xfrm>
          <a:prstGeom prst="rect">
            <a:avLst/>
          </a:prstGeom>
          <a:noFill/>
        </p:spPr>
        <p:txBody>
          <a:bodyPr wrap="square">
            <a:spAutoFit/>
          </a:bodyPr>
          <a:lstStyle/>
          <a:p>
            <a:pPr algn="ctr"/>
            <a:r>
              <a:rPr sz="1200" b="1" i="0">
                <a:solidFill>
                  <a:srgbClr val="D4AF37"/>
                </a:solidFill>
              </a:rPr>
              <a:t>8</a:t>
            </a:r>
          </a:p>
        </p:txBody>
      </p:sp>
      <p:sp>
        <p:nvSpPr>
          <p:cNvPr id="118" name="Rectangle 117"/>
          <p:cNvSpPr/>
          <p:nvPr/>
        </p:nvSpPr>
        <p:spPr>
          <a:xfrm>
            <a:off x="7308000" y="4276799"/>
            <a:ext cx="824400" cy="597600"/>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TextBox 118"/>
          <p:cNvSpPr txBox="1"/>
          <p:nvPr/>
        </p:nvSpPr>
        <p:spPr>
          <a:xfrm>
            <a:off x="7322400" y="4366799"/>
            <a:ext cx="810000" cy="482400"/>
          </a:xfrm>
          <a:prstGeom prst="rect">
            <a:avLst/>
          </a:prstGeom>
          <a:noFill/>
        </p:spPr>
        <p:txBody>
          <a:bodyPr wrap="square">
            <a:spAutoFit/>
          </a:bodyPr>
          <a:lstStyle/>
          <a:p>
            <a:pPr algn="ctr"/>
            <a:r>
              <a:rPr sz="1200" b="1" i="0">
                <a:solidFill>
                  <a:srgbClr val="D4AF37"/>
                </a:solidFill>
              </a:rPr>
              <a:t>4</a:t>
            </a:r>
          </a:p>
        </p:txBody>
      </p:sp>
      <p:sp>
        <p:nvSpPr>
          <p:cNvPr id="120" name="Rectangle 119"/>
          <p:cNvSpPr/>
          <p:nvPr/>
        </p:nvSpPr>
        <p:spPr>
          <a:xfrm>
            <a:off x="8154000" y="4276799"/>
            <a:ext cx="824400" cy="597600"/>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TextBox 120"/>
          <p:cNvSpPr txBox="1"/>
          <p:nvPr/>
        </p:nvSpPr>
        <p:spPr>
          <a:xfrm>
            <a:off x="8168400" y="4366799"/>
            <a:ext cx="810000" cy="482400"/>
          </a:xfrm>
          <a:prstGeom prst="rect">
            <a:avLst/>
          </a:prstGeom>
          <a:noFill/>
        </p:spPr>
        <p:txBody>
          <a:bodyPr wrap="square">
            <a:spAutoFit/>
          </a:bodyPr>
          <a:lstStyle/>
          <a:p>
            <a:pPr algn="ctr"/>
            <a:r>
              <a:rPr sz="1200" b="1" i="0">
                <a:solidFill>
                  <a:srgbClr val="D4AF37"/>
                </a:solidFill>
              </a:rPr>
              <a:t>2</a:t>
            </a:r>
          </a:p>
        </p:txBody>
      </p:sp>
      <p:sp>
        <p:nvSpPr>
          <p:cNvPr id="122" name="Rectangle 121"/>
          <p:cNvSpPr/>
          <p:nvPr/>
        </p:nvSpPr>
        <p:spPr>
          <a:xfrm>
            <a:off x="144000" y="4895999"/>
            <a:ext cx="8856000" cy="597600"/>
          </a:xfrm>
          <a:prstGeom prst="rect">
            <a:avLst/>
          </a:prstGeom>
          <a:solidFill>
            <a:srgbClr val="0B1E42"/>
          </a:solidFill>
          <a:ln w="19050">
            <a:solidFill>
              <a:srgbClr val="4FC3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Rectangle 122"/>
          <p:cNvSpPr/>
          <p:nvPr/>
        </p:nvSpPr>
        <p:spPr>
          <a:xfrm>
            <a:off x="144000" y="4895999"/>
            <a:ext cx="79200" cy="597600"/>
          </a:xfrm>
          <a:prstGeom prst="rect">
            <a:avLst/>
          </a:prstGeom>
          <a:solidFill>
            <a:srgbClr val="4FC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TextBox 123"/>
          <p:cNvSpPr txBox="1"/>
          <p:nvPr/>
        </p:nvSpPr>
        <p:spPr>
          <a:xfrm>
            <a:off x="259200" y="4960799"/>
            <a:ext cx="1936800" cy="518400"/>
          </a:xfrm>
          <a:prstGeom prst="rect">
            <a:avLst/>
          </a:prstGeom>
          <a:noFill/>
        </p:spPr>
        <p:txBody>
          <a:bodyPr wrap="square">
            <a:spAutoFit/>
          </a:bodyPr>
          <a:lstStyle/>
          <a:p>
            <a:pPr algn="l"/>
            <a:r>
              <a:rPr sz="900" b="1" i="0">
                <a:solidFill>
                  <a:srgbClr val="4FC3F7"/>
                </a:solidFill>
              </a:rPr>
              <a:t>Cumulé déployé (M FCFA)</a:t>
            </a:r>
          </a:p>
        </p:txBody>
      </p:sp>
      <p:sp>
        <p:nvSpPr>
          <p:cNvPr id="125" name="Rectangle 124"/>
          <p:cNvSpPr/>
          <p:nvPr/>
        </p:nvSpPr>
        <p:spPr>
          <a:xfrm>
            <a:off x="2232000" y="4895999"/>
            <a:ext cx="824400" cy="597600"/>
          </a:xfrm>
          <a:prstGeom prst="rect">
            <a:avLst/>
          </a:prstGeom>
          <a:solidFill>
            <a:srgbClr val="0B1E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TextBox 125"/>
          <p:cNvSpPr txBox="1"/>
          <p:nvPr/>
        </p:nvSpPr>
        <p:spPr>
          <a:xfrm>
            <a:off x="2246400" y="4949999"/>
            <a:ext cx="810000" cy="529200"/>
          </a:xfrm>
          <a:prstGeom prst="rect">
            <a:avLst/>
          </a:prstGeom>
          <a:noFill/>
        </p:spPr>
        <p:txBody>
          <a:bodyPr wrap="square">
            <a:spAutoFit/>
          </a:bodyPr>
          <a:lstStyle/>
          <a:p>
            <a:pPr algn="ctr"/>
            <a:r>
              <a:rPr sz="900" b="1" i="0">
                <a:solidFill>
                  <a:srgbClr val="4FC3F7"/>
                </a:solidFill>
              </a:rPr>
              <a:t>28M
(23%)</a:t>
            </a:r>
          </a:p>
        </p:txBody>
      </p:sp>
      <p:sp>
        <p:nvSpPr>
          <p:cNvPr id="127" name="Rectangle 126"/>
          <p:cNvSpPr/>
          <p:nvPr/>
        </p:nvSpPr>
        <p:spPr>
          <a:xfrm>
            <a:off x="3078000" y="4895999"/>
            <a:ext cx="824400" cy="597600"/>
          </a:xfrm>
          <a:prstGeom prst="rect">
            <a:avLst/>
          </a:prstGeom>
          <a:solidFill>
            <a:srgbClr val="0B1E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TextBox 127"/>
          <p:cNvSpPr txBox="1"/>
          <p:nvPr/>
        </p:nvSpPr>
        <p:spPr>
          <a:xfrm>
            <a:off x="3092400" y="4949999"/>
            <a:ext cx="810000" cy="529200"/>
          </a:xfrm>
          <a:prstGeom prst="rect">
            <a:avLst/>
          </a:prstGeom>
          <a:noFill/>
        </p:spPr>
        <p:txBody>
          <a:bodyPr wrap="square">
            <a:spAutoFit/>
          </a:bodyPr>
          <a:lstStyle/>
          <a:p>
            <a:pPr algn="ctr"/>
            <a:r>
              <a:rPr sz="900" b="1" i="0">
                <a:solidFill>
                  <a:srgbClr val="4FC3F7"/>
                </a:solidFill>
              </a:rPr>
              <a:t>53M
(44%)</a:t>
            </a:r>
          </a:p>
        </p:txBody>
      </p:sp>
      <p:sp>
        <p:nvSpPr>
          <p:cNvPr id="129" name="Rectangle 128"/>
          <p:cNvSpPr/>
          <p:nvPr/>
        </p:nvSpPr>
        <p:spPr>
          <a:xfrm>
            <a:off x="3924000" y="4895999"/>
            <a:ext cx="824400" cy="597600"/>
          </a:xfrm>
          <a:prstGeom prst="rect">
            <a:avLst/>
          </a:prstGeom>
          <a:solidFill>
            <a:srgbClr val="0B1E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TextBox 129"/>
          <p:cNvSpPr txBox="1"/>
          <p:nvPr/>
        </p:nvSpPr>
        <p:spPr>
          <a:xfrm>
            <a:off x="3938400" y="4949999"/>
            <a:ext cx="810000" cy="529200"/>
          </a:xfrm>
          <a:prstGeom prst="rect">
            <a:avLst/>
          </a:prstGeom>
          <a:noFill/>
        </p:spPr>
        <p:txBody>
          <a:bodyPr wrap="square">
            <a:spAutoFit/>
          </a:bodyPr>
          <a:lstStyle/>
          <a:p>
            <a:pPr algn="ctr"/>
            <a:r>
              <a:rPr sz="900" b="1" i="0">
                <a:solidFill>
                  <a:srgbClr val="4FC3F7"/>
                </a:solidFill>
              </a:rPr>
              <a:t>75M
(62%)</a:t>
            </a:r>
          </a:p>
        </p:txBody>
      </p:sp>
      <p:sp>
        <p:nvSpPr>
          <p:cNvPr id="131" name="Rectangle 130"/>
          <p:cNvSpPr/>
          <p:nvPr/>
        </p:nvSpPr>
        <p:spPr>
          <a:xfrm>
            <a:off x="4770000" y="4895999"/>
            <a:ext cx="824400" cy="597600"/>
          </a:xfrm>
          <a:prstGeom prst="rect">
            <a:avLst/>
          </a:prstGeom>
          <a:solidFill>
            <a:srgbClr val="0B1E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TextBox 131"/>
          <p:cNvSpPr txBox="1"/>
          <p:nvPr/>
        </p:nvSpPr>
        <p:spPr>
          <a:xfrm>
            <a:off x="4784400" y="4949999"/>
            <a:ext cx="810000" cy="529200"/>
          </a:xfrm>
          <a:prstGeom prst="rect">
            <a:avLst/>
          </a:prstGeom>
          <a:noFill/>
        </p:spPr>
        <p:txBody>
          <a:bodyPr wrap="square">
            <a:spAutoFit/>
          </a:bodyPr>
          <a:lstStyle/>
          <a:p>
            <a:pPr algn="ctr"/>
            <a:r>
              <a:rPr sz="900" b="1" i="0">
                <a:solidFill>
                  <a:srgbClr val="4FC3F7"/>
                </a:solidFill>
              </a:rPr>
              <a:t>91M
(75%)</a:t>
            </a:r>
          </a:p>
        </p:txBody>
      </p:sp>
      <p:sp>
        <p:nvSpPr>
          <p:cNvPr id="133" name="Rectangle 132"/>
          <p:cNvSpPr/>
          <p:nvPr/>
        </p:nvSpPr>
        <p:spPr>
          <a:xfrm>
            <a:off x="5616000" y="4895999"/>
            <a:ext cx="824400" cy="597600"/>
          </a:xfrm>
          <a:prstGeom prst="rect">
            <a:avLst/>
          </a:prstGeom>
          <a:solidFill>
            <a:srgbClr val="0B1E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TextBox 133"/>
          <p:cNvSpPr txBox="1"/>
          <p:nvPr/>
        </p:nvSpPr>
        <p:spPr>
          <a:xfrm>
            <a:off x="5630400" y="4949999"/>
            <a:ext cx="810000" cy="529200"/>
          </a:xfrm>
          <a:prstGeom prst="rect">
            <a:avLst/>
          </a:prstGeom>
          <a:noFill/>
        </p:spPr>
        <p:txBody>
          <a:bodyPr wrap="square">
            <a:spAutoFit/>
          </a:bodyPr>
          <a:lstStyle/>
          <a:p>
            <a:pPr algn="ctr"/>
            <a:r>
              <a:rPr sz="900" b="1" i="0">
                <a:solidFill>
                  <a:srgbClr val="4FC3F7"/>
                </a:solidFill>
              </a:rPr>
              <a:t>106M
(88%)</a:t>
            </a:r>
          </a:p>
        </p:txBody>
      </p:sp>
      <p:sp>
        <p:nvSpPr>
          <p:cNvPr id="135" name="Rectangle 134"/>
          <p:cNvSpPr/>
          <p:nvPr/>
        </p:nvSpPr>
        <p:spPr>
          <a:xfrm>
            <a:off x="6462000" y="4895999"/>
            <a:ext cx="824400" cy="597600"/>
          </a:xfrm>
          <a:prstGeom prst="rect">
            <a:avLst/>
          </a:prstGeom>
          <a:solidFill>
            <a:srgbClr val="0B1E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TextBox 135"/>
          <p:cNvSpPr txBox="1"/>
          <p:nvPr/>
        </p:nvSpPr>
        <p:spPr>
          <a:xfrm>
            <a:off x="6476400" y="4949999"/>
            <a:ext cx="810000" cy="529200"/>
          </a:xfrm>
          <a:prstGeom prst="rect">
            <a:avLst/>
          </a:prstGeom>
          <a:noFill/>
        </p:spPr>
        <p:txBody>
          <a:bodyPr wrap="square">
            <a:spAutoFit/>
          </a:bodyPr>
          <a:lstStyle/>
          <a:p>
            <a:pPr algn="ctr"/>
            <a:r>
              <a:rPr sz="900" b="1" i="0">
                <a:solidFill>
                  <a:srgbClr val="4FC3F7"/>
                </a:solidFill>
              </a:rPr>
              <a:t>114M
(95%)</a:t>
            </a:r>
          </a:p>
        </p:txBody>
      </p:sp>
      <p:sp>
        <p:nvSpPr>
          <p:cNvPr id="137" name="Rectangle 136"/>
          <p:cNvSpPr/>
          <p:nvPr/>
        </p:nvSpPr>
        <p:spPr>
          <a:xfrm>
            <a:off x="7308000" y="4895999"/>
            <a:ext cx="824400" cy="597600"/>
          </a:xfrm>
          <a:prstGeom prst="rect">
            <a:avLst/>
          </a:prstGeom>
          <a:solidFill>
            <a:srgbClr val="0B1E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TextBox 137"/>
          <p:cNvSpPr txBox="1"/>
          <p:nvPr/>
        </p:nvSpPr>
        <p:spPr>
          <a:xfrm>
            <a:off x="7322400" y="4949999"/>
            <a:ext cx="810000" cy="529200"/>
          </a:xfrm>
          <a:prstGeom prst="rect">
            <a:avLst/>
          </a:prstGeom>
          <a:noFill/>
        </p:spPr>
        <p:txBody>
          <a:bodyPr wrap="square">
            <a:spAutoFit/>
          </a:bodyPr>
          <a:lstStyle/>
          <a:p>
            <a:pPr algn="ctr"/>
            <a:r>
              <a:rPr sz="900" b="1" i="0">
                <a:solidFill>
                  <a:srgbClr val="4FC3F7"/>
                </a:solidFill>
              </a:rPr>
              <a:t>118M
(98%)</a:t>
            </a:r>
          </a:p>
        </p:txBody>
      </p:sp>
      <p:sp>
        <p:nvSpPr>
          <p:cNvPr id="139" name="Rectangle 138"/>
          <p:cNvSpPr/>
          <p:nvPr/>
        </p:nvSpPr>
        <p:spPr>
          <a:xfrm>
            <a:off x="8154000" y="4895999"/>
            <a:ext cx="824400" cy="597600"/>
          </a:xfrm>
          <a:prstGeom prst="rect">
            <a:avLst/>
          </a:prstGeom>
          <a:solidFill>
            <a:srgbClr val="0B1E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TextBox 139"/>
          <p:cNvSpPr txBox="1"/>
          <p:nvPr/>
        </p:nvSpPr>
        <p:spPr>
          <a:xfrm>
            <a:off x="8168400" y="4949999"/>
            <a:ext cx="810000" cy="529200"/>
          </a:xfrm>
          <a:prstGeom prst="rect">
            <a:avLst/>
          </a:prstGeom>
          <a:noFill/>
        </p:spPr>
        <p:txBody>
          <a:bodyPr wrap="square">
            <a:spAutoFit/>
          </a:bodyPr>
          <a:lstStyle/>
          <a:p>
            <a:pPr algn="ctr"/>
            <a:r>
              <a:rPr sz="900" b="1" i="0">
                <a:solidFill>
                  <a:srgbClr val="4FC3F7"/>
                </a:solidFill>
              </a:rPr>
              <a:t>120M
(100%)</a:t>
            </a:r>
          </a:p>
        </p:txBody>
      </p:sp>
      <p:sp>
        <p:nvSpPr>
          <p:cNvPr id="141" name="Rectangle 140"/>
          <p:cNvSpPr/>
          <p:nvPr/>
        </p:nvSpPr>
        <p:spPr>
          <a:xfrm>
            <a:off x="144000" y="5515199"/>
            <a:ext cx="8856000" cy="597600"/>
          </a:xfrm>
          <a:prstGeom prst="rect">
            <a:avLst/>
          </a:prstGeom>
          <a:solidFill>
            <a:srgbClr val="132B5E"/>
          </a:solidFill>
          <a:ln w="19050">
            <a:solidFill>
              <a:srgbClr val="00C8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Rectangle 141"/>
          <p:cNvSpPr/>
          <p:nvPr/>
        </p:nvSpPr>
        <p:spPr>
          <a:xfrm>
            <a:off x="144000" y="5515199"/>
            <a:ext cx="79200" cy="597600"/>
          </a:xfrm>
          <a:prstGeom prst="rect">
            <a:avLst/>
          </a:prstGeom>
          <a:solidFill>
            <a:srgbClr val="00C8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TextBox 142"/>
          <p:cNvSpPr txBox="1"/>
          <p:nvPr/>
        </p:nvSpPr>
        <p:spPr>
          <a:xfrm>
            <a:off x="259200" y="5579999"/>
            <a:ext cx="1936800" cy="518400"/>
          </a:xfrm>
          <a:prstGeom prst="rect">
            <a:avLst/>
          </a:prstGeom>
          <a:noFill/>
        </p:spPr>
        <p:txBody>
          <a:bodyPr wrap="square">
            <a:spAutoFit/>
          </a:bodyPr>
          <a:lstStyle/>
          <a:p>
            <a:pPr algn="l"/>
            <a:r>
              <a:rPr sz="900" b="1" i="0">
                <a:solidFill>
                  <a:srgbClr val="00C87A"/>
                </a:solidFill>
              </a:rPr>
              <a:t>Budget restant (M FCFA)</a:t>
            </a:r>
          </a:p>
        </p:txBody>
      </p:sp>
      <p:sp>
        <p:nvSpPr>
          <p:cNvPr id="144" name="Rectangle 143"/>
          <p:cNvSpPr/>
          <p:nvPr/>
        </p:nvSpPr>
        <p:spPr>
          <a:xfrm>
            <a:off x="2232000" y="5515199"/>
            <a:ext cx="824400" cy="597600"/>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TextBox 144"/>
          <p:cNvSpPr txBox="1"/>
          <p:nvPr/>
        </p:nvSpPr>
        <p:spPr>
          <a:xfrm>
            <a:off x="2246400" y="5605199"/>
            <a:ext cx="810000" cy="482400"/>
          </a:xfrm>
          <a:prstGeom prst="rect">
            <a:avLst/>
          </a:prstGeom>
          <a:noFill/>
        </p:spPr>
        <p:txBody>
          <a:bodyPr wrap="square">
            <a:spAutoFit/>
          </a:bodyPr>
          <a:lstStyle/>
          <a:p>
            <a:pPr algn="ctr"/>
            <a:r>
              <a:rPr sz="1100" b="1" i="0">
                <a:solidFill>
                  <a:srgbClr val="00C87A"/>
                </a:solidFill>
              </a:rPr>
              <a:t>92M</a:t>
            </a:r>
          </a:p>
        </p:txBody>
      </p:sp>
      <p:sp>
        <p:nvSpPr>
          <p:cNvPr id="146" name="Rectangle 145"/>
          <p:cNvSpPr/>
          <p:nvPr/>
        </p:nvSpPr>
        <p:spPr>
          <a:xfrm>
            <a:off x="3078000" y="5515199"/>
            <a:ext cx="824400" cy="597600"/>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TextBox 146"/>
          <p:cNvSpPr txBox="1"/>
          <p:nvPr/>
        </p:nvSpPr>
        <p:spPr>
          <a:xfrm>
            <a:off x="3092400" y="5605199"/>
            <a:ext cx="810000" cy="482400"/>
          </a:xfrm>
          <a:prstGeom prst="rect">
            <a:avLst/>
          </a:prstGeom>
          <a:noFill/>
        </p:spPr>
        <p:txBody>
          <a:bodyPr wrap="square">
            <a:spAutoFit/>
          </a:bodyPr>
          <a:lstStyle/>
          <a:p>
            <a:pPr algn="ctr"/>
            <a:r>
              <a:rPr sz="1100" b="1" i="0">
                <a:solidFill>
                  <a:srgbClr val="00C87A"/>
                </a:solidFill>
              </a:rPr>
              <a:t>67M</a:t>
            </a:r>
          </a:p>
        </p:txBody>
      </p:sp>
      <p:sp>
        <p:nvSpPr>
          <p:cNvPr id="148" name="Rectangle 147"/>
          <p:cNvSpPr/>
          <p:nvPr/>
        </p:nvSpPr>
        <p:spPr>
          <a:xfrm>
            <a:off x="3924000" y="5515199"/>
            <a:ext cx="824400" cy="597600"/>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TextBox 148"/>
          <p:cNvSpPr txBox="1"/>
          <p:nvPr/>
        </p:nvSpPr>
        <p:spPr>
          <a:xfrm>
            <a:off x="3938400" y="5605199"/>
            <a:ext cx="810000" cy="482400"/>
          </a:xfrm>
          <a:prstGeom prst="rect">
            <a:avLst/>
          </a:prstGeom>
          <a:noFill/>
        </p:spPr>
        <p:txBody>
          <a:bodyPr wrap="square">
            <a:spAutoFit/>
          </a:bodyPr>
          <a:lstStyle/>
          <a:p>
            <a:pPr algn="ctr"/>
            <a:r>
              <a:rPr sz="1100" b="1" i="0">
                <a:solidFill>
                  <a:srgbClr val="00C87A"/>
                </a:solidFill>
              </a:rPr>
              <a:t>45M</a:t>
            </a:r>
          </a:p>
        </p:txBody>
      </p:sp>
      <p:sp>
        <p:nvSpPr>
          <p:cNvPr id="150" name="Rectangle 149"/>
          <p:cNvSpPr/>
          <p:nvPr/>
        </p:nvSpPr>
        <p:spPr>
          <a:xfrm>
            <a:off x="4770000" y="5515199"/>
            <a:ext cx="824400" cy="597600"/>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TextBox 150"/>
          <p:cNvSpPr txBox="1"/>
          <p:nvPr/>
        </p:nvSpPr>
        <p:spPr>
          <a:xfrm>
            <a:off x="4784400" y="5605199"/>
            <a:ext cx="810000" cy="482400"/>
          </a:xfrm>
          <a:prstGeom prst="rect">
            <a:avLst/>
          </a:prstGeom>
          <a:noFill/>
        </p:spPr>
        <p:txBody>
          <a:bodyPr wrap="square">
            <a:spAutoFit/>
          </a:bodyPr>
          <a:lstStyle/>
          <a:p>
            <a:pPr algn="ctr"/>
            <a:r>
              <a:rPr sz="1100" b="1" i="0">
                <a:solidFill>
                  <a:srgbClr val="FF9933"/>
                </a:solidFill>
              </a:rPr>
              <a:t>29M</a:t>
            </a:r>
          </a:p>
        </p:txBody>
      </p:sp>
      <p:sp>
        <p:nvSpPr>
          <p:cNvPr id="152" name="Rectangle 151"/>
          <p:cNvSpPr/>
          <p:nvPr/>
        </p:nvSpPr>
        <p:spPr>
          <a:xfrm>
            <a:off x="5616000" y="5515199"/>
            <a:ext cx="824400" cy="597600"/>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TextBox 152"/>
          <p:cNvSpPr txBox="1"/>
          <p:nvPr/>
        </p:nvSpPr>
        <p:spPr>
          <a:xfrm>
            <a:off x="5630400" y="5605199"/>
            <a:ext cx="810000" cy="482400"/>
          </a:xfrm>
          <a:prstGeom prst="rect">
            <a:avLst/>
          </a:prstGeom>
          <a:noFill/>
        </p:spPr>
        <p:txBody>
          <a:bodyPr wrap="square">
            <a:spAutoFit/>
          </a:bodyPr>
          <a:lstStyle/>
          <a:p>
            <a:pPr algn="ctr"/>
            <a:r>
              <a:rPr sz="1100" b="1" i="0">
                <a:solidFill>
                  <a:srgbClr val="FF9933"/>
                </a:solidFill>
              </a:rPr>
              <a:t>14M</a:t>
            </a:r>
          </a:p>
        </p:txBody>
      </p:sp>
      <p:sp>
        <p:nvSpPr>
          <p:cNvPr id="154" name="Rectangle 153"/>
          <p:cNvSpPr/>
          <p:nvPr/>
        </p:nvSpPr>
        <p:spPr>
          <a:xfrm>
            <a:off x="6462000" y="5515199"/>
            <a:ext cx="824400" cy="597600"/>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TextBox 154"/>
          <p:cNvSpPr txBox="1"/>
          <p:nvPr/>
        </p:nvSpPr>
        <p:spPr>
          <a:xfrm>
            <a:off x="6476400" y="5605199"/>
            <a:ext cx="810000" cy="482400"/>
          </a:xfrm>
          <a:prstGeom prst="rect">
            <a:avLst/>
          </a:prstGeom>
          <a:noFill/>
        </p:spPr>
        <p:txBody>
          <a:bodyPr wrap="square">
            <a:spAutoFit/>
          </a:bodyPr>
          <a:lstStyle/>
          <a:p>
            <a:pPr algn="ctr"/>
            <a:r>
              <a:rPr sz="1100" b="1" i="0">
                <a:solidFill>
                  <a:srgbClr val="FF9933"/>
                </a:solidFill>
              </a:rPr>
              <a:t>6M</a:t>
            </a:r>
          </a:p>
        </p:txBody>
      </p:sp>
      <p:sp>
        <p:nvSpPr>
          <p:cNvPr id="156" name="Rectangle 155"/>
          <p:cNvSpPr/>
          <p:nvPr/>
        </p:nvSpPr>
        <p:spPr>
          <a:xfrm>
            <a:off x="7308000" y="5515199"/>
            <a:ext cx="824400" cy="597600"/>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 name="TextBox 156"/>
          <p:cNvSpPr txBox="1"/>
          <p:nvPr/>
        </p:nvSpPr>
        <p:spPr>
          <a:xfrm>
            <a:off x="7322400" y="5605199"/>
            <a:ext cx="810000" cy="482400"/>
          </a:xfrm>
          <a:prstGeom prst="rect">
            <a:avLst/>
          </a:prstGeom>
          <a:noFill/>
        </p:spPr>
        <p:txBody>
          <a:bodyPr wrap="square">
            <a:spAutoFit/>
          </a:bodyPr>
          <a:lstStyle/>
          <a:p>
            <a:pPr algn="ctr"/>
            <a:r>
              <a:rPr sz="1100" b="1" i="0">
                <a:solidFill>
                  <a:srgbClr val="FF9933"/>
                </a:solidFill>
              </a:rPr>
              <a:t>2M</a:t>
            </a:r>
          </a:p>
        </p:txBody>
      </p:sp>
      <p:sp>
        <p:nvSpPr>
          <p:cNvPr id="158" name="Rectangle 157"/>
          <p:cNvSpPr/>
          <p:nvPr/>
        </p:nvSpPr>
        <p:spPr>
          <a:xfrm>
            <a:off x="8154000" y="5515199"/>
            <a:ext cx="824400" cy="597600"/>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 name="TextBox 158"/>
          <p:cNvSpPr txBox="1"/>
          <p:nvPr/>
        </p:nvSpPr>
        <p:spPr>
          <a:xfrm>
            <a:off x="8168400" y="5605199"/>
            <a:ext cx="810000" cy="482400"/>
          </a:xfrm>
          <a:prstGeom prst="rect">
            <a:avLst/>
          </a:prstGeom>
          <a:noFill/>
        </p:spPr>
        <p:txBody>
          <a:bodyPr wrap="square">
            <a:spAutoFit/>
          </a:bodyPr>
          <a:lstStyle/>
          <a:p>
            <a:pPr algn="ctr"/>
            <a:r>
              <a:rPr sz="1100" b="1" i="0">
                <a:solidFill>
                  <a:srgbClr val="B0C4DE"/>
                </a:solidFill>
              </a:rPr>
              <a:t>0</a:t>
            </a:r>
          </a:p>
        </p:txBody>
      </p:sp>
      <p:sp>
        <p:nvSpPr>
          <p:cNvPr id="160" name="Rectangle 159"/>
          <p:cNvSpPr/>
          <p:nvPr/>
        </p:nvSpPr>
        <p:spPr>
          <a:xfrm>
            <a:off x="144000" y="6134399"/>
            <a:ext cx="8856000" cy="597600"/>
          </a:xfrm>
          <a:prstGeom prst="rect">
            <a:avLst/>
          </a:prstGeom>
          <a:solidFill>
            <a:srgbClr val="0A301A"/>
          </a:solidFill>
          <a:ln w="19050">
            <a:solidFill>
              <a:srgbClr val="00C8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Rectangle 160"/>
          <p:cNvSpPr/>
          <p:nvPr/>
        </p:nvSpPr>
        <p:spPr>
          <a:xfrm>
            <a:off x="144000" y="6134399"/>
            <a:ext cx="79200" cy="597600"/>
          </a:xfrm>
          <a:prstGeom prst="rect">
            <a:avLst/>
          </a:prstGeom>
          <a:solidFill>
            <a:srgbClr val="00C8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 name="TextBox 161"/>
          <p:cNvSpPr txBox="1"/>
          <p:nvPr/>
        </p:nvSpPr>
        <p:spPr>
          <a:xfrm>
            <a:off x="259200" y="6199199"/>
            <a:ext cx="1936800" cy="518400"/>
          </a:xfrm>
          <a:prstGeom prst="rect">
            <a:avLst/>
          </a:prstGeom>
          <a:noFill/>
        </p:spPr>
        <p:txBody>
          <a:bodyPr wrap="square">
            <a:spAutoFit/>
          </a:bodyPr>
          <a:lstStyle/>
          <a:p>
            <a:pPr algn="l"/>
            <a:r>
              <a:rPr sz="900" b="1" i="0">
                <a:solidFill>
                  <a:srgbClr val="00C87A"/>
                </a:solidFill>
              </a:rPr>
              <a:t>Position trésorerie (M FCFA)</a:t>
            </a:r>
          </a:p>
        </p:txBody>
      </p:sp>
      <p:sp>
        <p:nvSpPr>
          <p:cNvPr id="163" name="Rectangle 162"/>
          <p:cNvSpPr/>
          <p:nvPr/>
        </p:nvSpPr>
        <p:spPr>
          <a:xfrm>
            <a:off x="2232000" y="6134399"/>
            <a:ext cx="824400" cy="597600"/>
          </a:xfrm>
          <a:prstGeom prst="rect">
            <a:avLst/>
          </a:prstGeom>
          <a:solidFill>
            <a:srgbClr val="0A30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 name="TextBox 163"/>
          <p:cNvSpPr txBox="1"/>
          <p:nvPr/>
        </p:nvSpPr>
        <p:spPr>
          <a:xfrm>
            <a:off x="2246400" y="6224399"/>
            <a:ext cx="810000" cy="482400"/>
          </a:xfrm>
          <a:prstGeom prst="rect">
            <a:avLst/>
          </a:prstGeom>
          <a:noFill/>
        </p:spPr>
        <p:txBody>
          <a:bodyPr wrap="square">
            <a:spAutoFit/>
          </a:bodyPr>
          <a:lstStyle/>
          <a:p>
            <a:pPr algn="ctr"/>
            <a:r>
              <a:rPr sz="1100" b="1" i="0">
                <a:solidFill>
                  <a:srgbClr val="4FC3F7"/>
                </a:solidFill>
              </a:rPr>
              <a:t>95</a:t>
            </a:r>
          </a:p>
        </p:txBody>
      </p:sp>
      <p:sp>
        <p:nvSpPr>
          <p:cNvPr id="165" name="Rectangle 164"/>
          <p:cNvSpPr/>
          <p:nvPr/>
        </p:nvSpPr>
        <p:spPr>
          <a:xfrm>
            <a:off x="3078000" y="6134399"/>
            <a:ext cx="824400" cy="597600"/>
          </a:xfrm>
          <a:prstGeom prst="rect">
            <a:avLst/>
          </a:prstGeom>
          <a:solidFill>
            <a:srgbClr val="0A30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TextBox 165"/>
          <p:cNvSpPr txBox="1"/>
          <p:nvPr/>
        </p:nvSpPr>
        <p:spPr>
          <a:xfrm>
            <a:off x="3092400" y="6224399"/>
            <a:ext cx="810000" cy="482400"/>
          </a:xfrm>
          <a:prstGeom prst="rect">
            <a:avLst/>
          </a:prstGeom>
          <a:noFill/>
        </p:spPr>
        <p:txBody>
          <a:bodyPr wrap="square">
            <a:spAutoFit/>
          </a:bodyPr>
          <a:lstStyle/>
          <a:p>
            <a:pPr algn="ctr"/>
            <a:r>
              <a:rPr sz="1100" b="1" i="0">
                <a:solidFill>
                  <a:srgbClr val="4FC3F7"/>
                </a:solidFill>
              </a:rPr>
              <a:t>78</a:t>
            </a:r>
          </a:p>
        </p:txBody>
      </p:sp>
      <p:sp>
        <p:nvSpPr>
          <p:cNvPr id="167" name="Rectangle 166"/>
          <p:cNvSpPr/>
          <p:nvPr/>
        </p:nvSpPr>
        <p:spPr>
          <a:xfrm>
            <a:off x="3924000" y="6134399"/>
            <a:ext cx="824400" cy="597600"/>
          </a:xfrm>
          <a:prstGeom prst="rect">
            <a:avLst/>
          </a:prstGeom>
          <a:solidFill>
            <a:srgbClr val="0A30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 name="TextBox 167"/>
          <p:cNvSpPr txBox="1"/>
          <p:nvPr/>
        </p:nvSpPr>
        <p:spPr>
          <a:xfrm>
            <a:off x="3938400" y="6224399"/>
            <a:ext cx="810000" cy="482400"/>
          </a:xfrm>
          <a:prstGeom prst="rect">
            <a:avLst/>
          </a:prstGeom>
          <a:noFill/>
        </p:spPr>
        <p:txBody>
          <a:bodyPr wrap="square">
            <a:spAutoFit/>
          </a:bodyPr>
          <a:lstStyle/>
          <a:p>
            <a:pPr algn="ctr"/>
            <a:r>
              <a:rPr sz="1100" b="1" i="0">
                <a:solidFill>
                  <a:srgbClr val="FF9933"/>
                </a:solidFill>
              </a:rPr>
              <a:t>70</a:t>
            </a:r>
          </a:p>
        </p:txBody>
      </p:sp>
      <p:sp>
        <p:nvSpPr>
          <p:cNvPr id="169" name="Rectangle 168"/>
          <p:cNvSpPr/>
          <p:nvPr/>
        </p:nvSpPr>
        <p:spPr>
          <a:xfrm>
            <a:off x="4770000" y="6134399"/>
            <a:ext cx="824400" cy="597600"/>
          </a:xfrm>
          <a:prstGeom prst="rect">
            <a:avLst/>
          </a:prstGeom>
          <a:solidFill>
            <a:srgbClr val="0A30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 name="TextBox 169"/>
          <p:cNvSpPr txBox="1"/>
          <p:nvPr/>
        </p:nvSpPr>
        <p:spPr>
          <a:xfrm>
            <a:off x="4784400" y="6224399"/>
            <a:ext cx="810000" cy="482400"/>
          </a:xfrm>
          <a:prstGeom prst="rect">
            <a:avLst/>
          </a:prstGeom>
          <a:noFill/>
        </p:spPr>
        <p:txBody>
          <a:bodyPr wrap="square">
            <a:spAutoFit/>
          </a:bodyPr>
          <a:lstStyle/>
          <a:p>
            <a:pPr algn="ctr"/>
            <a:r>
              <a:rPr sz="1100" b="1" i="0">
                <a:solidFill>
                  <a:srgbClr val="FF9933"/>
                </a:solidFill>
              </a:rPr>
              <a:t>66</a:t>
            </a:r>
          </a:p>
        </p:txBody>
      </p:sp>
      <p:sp>
        <p:nvSpPr>
          <p:cNvPr id="171" name="Rectangle 170"/>
          <p:cNvSpPr/>
          <p:nvPr/>
        </p:nvSpPr>
        <p:spPr>
          <a:xfrm>
            <a:off x="5616000" y="6134399"/>
            <a:ext cx="824400" cy="597600"/>
          </a:xfrm>
          <a:prstGeom prst="rect">
            <a:avLst/>
          </a:prstGeom>
          <a:solidFill>
            <a:srgbClr val="0A30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 name="TextBox 171"/>
          <p:cNvSpPr txBox="1"/>
          <p:nvPr/>
        </p:nvSpPr>
        <p:spPr>
          <a:xfrm>
            <a:off x="5630400" y="6224399"/>
            <a:ext cx="810000" cy="482400"/>
          </a:xfrm>
          <a:prstGeom prst="rect">
            <a:avLst/>
          </a:prstGeom>
          <a:noFill/>
        </p:spPr>
        <p:txBody>
          <a:bodyPr wrap="square">
            <a:spAutoFit/>
          </a:bodyPr>
          <a:lstStyle/>
          <a:p>
            <a:pPr algn="ctr"/>
            <a:r>
              <a:rPr sz="1100" b="1" i="0">
                <a:solidFill>
                  <a:srgbClr val="FF9933"/>
                </a:solidFill>
              </a:rPr>
              <a:t>69</a:t>
            </a:r>
          </a:p>
        </p:txBody>
      </p:sp>
      <p:sp>
        <p:nvSpPr>
          <p:cNvPr id="173" name="Rectangle 172"/>
          <p:cNvSpPr/>
          <p:nvPr/>
        </p:nvSpPr>
        <p:spPr>
          <a:xfrm>
            <a:off x="6462000" y="6134399"/>
            <a:ext cx="824400" cy="597600"/>
          </a:xfrm>
          <a:prstGeom prst="rect">
            <a:avLst/>
          </a:prstGeom>
          <a:solidFill>
            <a:srgbClr val="0A30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 name="TextBox 173"/>
          <p:cNvSpPr txBox="1"/>
          <p:nvPr/>
        </p:nvSpPr>
        <p:spPr>
          <a:xfrm>
            <a:off x="6476400" y="6224399"/>
            <a:ext cx="810000" cy="482400"/>
          </a:xfrm>
          <a:prstGeom prst="rect">
            <a:avLst/>
          </a:prstGeom>
          <a:noFill/>
        </p:spPr>
        <p:txBody>
          <a:bodyPr wrap="square">
            <a:spAutoFit/>
          </a:bodyPr>
          <a:lstStyle/>
          <a:p>
            <a:pPr algn="ctr"/>
            <a:r>
              <a:rPr sz="1100" b="1" i="0">
                <a:solidFill>
                  <a:srgbClr val="4FC3F7"/>
                </a:solidFill>
              </a:rPr>
              <a:t>83</a:t>
            </a:r>
          </a:p>
        </p:txBody>
      </p:sp>
      <p:sp>
        <p:nvSpPr>
          <p:cNvPr id="175" name="Rectangle 174"/>
          <p:cNvSpPr/>
          <p:nvPr/>
        </p:nvSpPr>
        <p:spPr>
          <a:xfrm>
            <a:off x="7308000" y="6134399"/>
            <a:ext cx="824400" cy="597600"/>
          </a:xfrm>
          <a:prstGeom prst="rect">
            <a:avLst/>
          </a:prstGeom>
          <a:solidFill>
            <a:srgbClr val="0A30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 name="TextBox 175"/>
          <p:cNvSpPr txBox="1"/>
          <p:nvPr/>
        </p:nvSpPr>
        <p:spPr>
          <a:xfrm>
            <a:off x="7322400" y="6224399"/>
            <a:ext cx="810000" cy="482400"/>
          </a:xfrm>
          <a:prstGeom prst="rect">
            <a:avLst/>
          </a:prstGeom>
          <a:noFill/>
        </p:spPr>
        <p:txBody>
          <a:bodyPr wrap="square">
            <a:spAutoFit/>
          </a:bodyPr>
          <a:lstStyle/>
          <a:p>
            <a:pPr algn="ctr"/>
            <a:r>
              <a:rPr sz="1100" b="1" i="0">
                <a:solidFill>
                  <a:srgbClr val="00C87A"/>
                </a:solidFill>
              </a:rPr>
              <a:t>110</a:t>
            </a:r>
          </a:p>
        </p:txBody>
      </p:sp>
      <p:sp>
        <p:nvSpPr>
          <p:cNvPr id="177" name="Rectangle 176"/>
          <p:cNvSpPr/>
          <p:nvPr/>
        </p:nvSpPr>
        <p:spPr>
          <a:xfrm>
            <a:off x="8154000" y="6134399"/>
            <a:ext cx="824400" cy="597600"/>
          </a:xfrm>
          <a:prstGeom prst="rect">
            <a:avLst/>
          </a:prstGeom>
          <a:solidFill>
            <a:srgbClr val="0A30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 name="TextBox 177"/>
          <p:cNvSpPr txBox="1"/>
          <p:nvPr/>
        </p:nvSpPr>
        <p:spPr>
          <a:xfrm>
            <a:off x="8168400" y="6224399"/>
            <a:ext cx="810000" cy="482400"/>
          </a:xfrm>
          <a:prstGeom prst="rect">
            <a:avLst/>
          </a:prstGeom>
          <a:noFill/>
        </p:spPr>
        <p:txBody>
          <a:bodyPr wrap="square">
            <a:spAutoFit/>
          </a:bodyPr>
          <a:lstStyle/>
          <a:p>
            <a:pPr algn="ctr"/>
            <a:r>
              <a:rPr sz="1100" b="1" i="0">
                <a:solidFill>
                  <a:srgbClr val="00C87A"/>
                </a:solidFill>
              </a:rPr>
              <a:t>156</a:t>
            </a:r>
          </a:p>
        </p:txBody>
      </p:sp>
      <p:sp>
        <p:nvSpPr>
          <p:cNvPr id="179" name="Rectangle 178"/>
          <p:cNvSpPr/>
          <p:nvPr/>
        </p:nvSpPr>
        <p:spPr>
          <a:xfrm>
            <a:off x="144000" y="6818399"/>
            <a:ext cx="8856000" cy="306000"/>
          </a:xfrm>
          <a:prstGeom prst="rect">
            <a:avLst/>
          </a:prstGeom>
          <a:solidFill>
            <a:srgbClr val="132B5E"/>
          </a:solidFill>
          <a:ln w="19050">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 name="TextBox 179"/>
          <p:cNvSpPr txBox="1"/>
          <p:nvPr/>
        </p:nvSpPr>
        <p:spPr>
          <a:xfrm>
            <a:off x="252000" y="6854399"/>
            <a:ext cx="8640001" cy="259200"/>
          </a:xfrm>
          <a:prstGeom prst="rect">
            <a:avLst/>
          </a:prstGeom>
          <a:noFill/>
        </p:spPr>
        <p:txBody>
          <a:bodyPr wrap="square">
            <a:spAutoFit/>
          </a:bodyPr>
          <a:lstStyle/>
          <a:p>
            <a:pPr algn="ctr"/>
            <a:r>
              <a:rPr sz="900" b="1" i="0">
                <a:solidFill>
                  <a:srgbClr val="D4AF37"/>
                </a:solidFill>
              </a:rPr>
              <a:t>120M FCFA programmés sur 8 trimestres  |  Pic de décaissement T2'26 : 28M (lancement)  |  T1'28 : 2M seulement — activité auto-financée  |  Trésorerie min. = 66M (T1'27) · max = 156M (T1'28)</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B1E42"/>
        </a:solidFill>
        <a:effectLst/>
      </p:bgPr>
    </p:bg>
    <p:spTree>
      <p:nvGrpSpPr>
        <p:cNvPr id="1" name=""/>
        <p:cNvGrpSpPr/>
        <p:nvPr/>
      </p:nvGrpSpPr>
      <p:grpSpPr/>
      <p:sp>
        <p:nvSpPr>
          <p:cNvPr id="2" name="Rectangle 1"/>
          <p:cNvSpPr/>
          <p:nvPr/>
        </p:nvSpPr>
        <p:spPr>
          <a:xfrm>
            <a:off x="0" y="0"/>
            <a:ext cx="9144000" cy="4860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6000"/>
            <a:ext cx="144000" cy="6138000"/>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32000" y="36000"/>
            <a:ext cx="540000" cy="413999"/>
          </a:xfrm>
          <a:prstGeom prst="rect">
            <a:avLst/>
          </a:prstGeom>
          <a:noFill/>
        </p:spPr>
        <p:txBody>
          <a:bodyPr wrap="square">
            <a:spAutoFit/>
          </a:bodyPr>
          <a:lstStyle/>
          <a:p>
            <a:pPr algn="ctr"/>
            <a:r>
              <a:rPr sz="1400" b="1" i="0">
                <a:solidFill>
                  <a:srgbClr val="0B1E42"/>
                </a:solidFill>
              </a:rPr>
              <a:t>13</a:t>
            </a:r>
          </a:p>
        </p:txBody>
      </p:sp>
      <p:sp>
        <p:nvSpPr>
          <p:cNvPr id="5" name="TextBox 4"/>
          <p:cNvSpPr txBox="1"/>
          <p:nvPr/>
        </p:nvSpPr>
        <p:spPr>
          <a:xfrm>
            <a:off x="251999" y="540000"/>
            <a:ext cx="8280000" cy="540000"/>
          </a:xfrm>
          <a:prstGeom prst="rect">
            <a:avLst/>
          </a:prstGeom>
          <a:noFill/>
        </p:spPr>
        <p:txBody>
          <a:bodyPr wrap="square">
            <a:spAutoFit/>
          </a:bodyPr>
          <a:lstStyle/>
          <a:p>
            <a:pPr algn="l"/>
            <a:r>
              <a:rPr sz="2100" b="1" i="0">
                <a:solidFill>
                  <a:srgbClr val="FFFFFF"/>
                </a:solidFill>
              </a:rPr>
              <a:t>Rentabilité &amp; Trésorerie — Visualisation Trimestrielle</a:t>
            </a:r>
          </a:p>
        </p:txBody>
      </p:sp>
      <p:sp>
        <p:nvSpPr>
          <p:cNvPr id="6" name="TextBox 5"/>
          <p:cNvSpPr txBox="1"/>
          <p:nvPr/>
        </p:nvSpPr>
        <p:spPr>
          <a:xfrm>
            <a:off x="251999" y="1098000"/>
            <a:ext cx="8640001" cy="288000"/>
          </a:xfrm>
          <a:prstGeom prst="rect">
            <a:avLst/>
          </a:prstGeom>
          <a:noFill/>
        </p:spPr>
        <p:txBody>
          <a:bodyPr wrap="square">
            <a:spAutoFit/>
          </a:bodyPr>
          <a:lstStyle/>
          <a:p>
            <a:pPr algn="l"/>
            <a:r>
              <a:rPr sz="1100" b="0" i="1">
                <a:solidFill>
                  <a:srgbClr val="D4AF37"/>
                </a:solidFill>
              </a:rPr>
              <a:t>Revenus vs Charges · Trésorerie jamais négative · Seuil cumulatif T1 2028 · 120M invest. préservé</a:t>
            </a:r>
          </a:p>
        </p:txBody>
      </p:sp>
      <p:sp>
        <p:nvSpPr>
          <p:cNvPr id="7" name="Rectangle 6"/>
          <p:cNvSpPr/>
          <p:nvPr/>
        </p:nvSpPr>
        <p:spPr>
          <a:xfrm>
            <a:off x="0" y="6642000"/>
            <a:ext cx="9144000" cy="2160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0000" y="6642000"/>
            <a:ext cx="6480000" cy="216000"/>
          </a:xfrm>
          <a:prstGeom prst="rect">
            <a:avLst/>
          </a:prstGeom>
          <a:noFill/>
        </p:spPr>
        <p:txBody>
          <a:bodyPr wrap="square">
            <a:spAutoFit/>
          </a:bodyPr>
          <a:lstStyle/>
          <a:p>
            <a:pPr algn="l"/>
            <a:r>
              <a:rPr sz="900" b="0" i="0">
                <a:solidFill>
                  <a:srgbClr val="0B1E42"/>
                </a:solidFill>
              </a:rPr>
              <a:t>YUKPO  |  YUKPO COMPANY SARL  |  Confidentiel  |  2026</a:t>
            </a:r>
          </a:p>
        </p:txBody>
      </p:sp>
      <p:graphicFrame>
        <p:nvGraphicFramePr>
          <p:cNvPr id="9" name="Chart 8"/>
          <p:cNvGraphicFramePr>
            <a:graphicFrameLocks noGrp="1"/>
          </p:cNvGraphicFramePr>
          <p:nvPr/>
        </p:nvGraphicFramePr>
        <p:xfrm>
          <a:off x="144000" y="1440000"/>
          <a:ext cx="7020000" cy="4788000"/>
        </p:xfrm>
        <a:graphic>
          <a:graphicData uri="http://schemas.openxmlformats.org/drawingml/2006/chart">
            <c:chart xmlns:c="http://schemas.openxmlformats.org/drawingml/2006/chart" r:id="rId2"/>
          </a:graphicData>
        </a:graphic>
      </p:graphicFrame>
      <p:sp>
        <p:nvSpPr>
          <p:cNvPr id="10" name="Rectangle 9"/>
          <p:cNvSpPr/>
          <p:nvPr/>
        </p:nvSpPr>
        <p:spPr>
          <a:xfrm>
            <a:off x="7343999" y="1440000"/>
            <a:ext cx="1655999" cy="4788000"/>
          </a:xfrm>
          <a:prstGeom prst="rect">
            <a:avLst/>
          </a:prstGeom>
          <a:solidFill>
            <a:srgbClr val="0A301A"/>
          </a:solidFill>
          <a:ln w="19050">
            <a:solidFill>
              <a:srgbClr val="00C8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343999" y="1440000"/>
            <a:ext cx="1655999" cy="97200"/>
          </a:xfrm>
          <a:prstGeom prst="rect">
            <a:avLst/>
          </a:prstGeom>
          <a:solidFill>
            <a:srgbClr val="00C8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15999" y="1602000"/>
            <a:ext cx="1530000" cy="259200"/>
          </a:xfrm>
          <a:prstGeom prst="rect">
            <a:avLst/>
          </a:prstGeom>
          <a:noFill/>
        </p:spPr>
        <p:txBody>
          <a:bodyPr wrap="square">
            <a:spAutoFit/>
          </a:bodyPr>
          <a:lstStyle/>
          <a:p>
            <a:pPr algn="ctr"/>
            <a:r>
              <a:rPr sz="1300" b="1" i="0">
                <a:solidFill>
                  <a:srgbClr val="00C87A"/>
                </a:solidFill>
              </a:rPr>
              <a:t>T1 2028</a:t>
            </a:r>
          </a:p>
        </p:txBody>
      </p:sp>
      <p:sp>
        <p:nvSpPr>
          <p:cNvPr id="13" name="TextBox 12"/>
          <p:cNvSpPr txBox="1"/>
          <p:nvPr/>
        </p:nvSpPr>
        <p:spPr>
          <a:xfrm>
            <a:off x="7415999" y="1879200"/>
            <a:ext cx="1530000" cy="396000"/>
          </a:xfrm>
          <a:prstGeom prst="rect">
            <a:avLst/>
          </a:prstGeom>
          <a:noFill/>
        </p:spPr>
        <p:txBody>
          <a:bodyPr wrap="square">
            <a:spAutoFit/>
          </a:bodyPr>
          <a:lstStyle/>
          <a:p>
            <a:pPr algn="ctr"/>
            <a:r>
              <a:rPr sz="1100" b="1" i="0">
                <a:solidFill>
                  <a:srgbClr val="FFFFFF"/>
                </a:solidFill>
              </a:rPr>
              <a:t>Seuil
cumulatif</a:t>
            </a:r>
          </a:p>
        </p:txBody>
      </p:sp>
      <p:sp>
        <p:nvSpPr>
          <p:cNvPr id="14" name="Rectangle 13"/>
          <p:cNvSpPr/>
          <p:nvPr/>
        </p:nvSpPr>
        <p:spPr>
          <a:xfrm>
            <a:off x="7487999" y="2322000"/>
            <a:ext cx="1367999" cy="21600"/>
          </a:xfrm>
          <a:prstGeom prst="rect">
            <a:avLst/>
          </a:prstGeom>
          <a:solidFill>
            <a:srgbClr val="00C8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415999" y="2412000"/>
            <a:ext cx="1530000" cy="198000"/>
          </a:xfrm>
          <a:prstGeom prst="rect">
            <a:avLst/>
          </a:prstGeom>
          <a:noFill/>
        </p:spPr>
        <p:txBody>
          <a:bodyPr wrap="square">
            <a:spAutoFit/>
          </a:bodyPr>
          <a:lstStyle/>
          <a:p>
            <a:pPr algn="ctr"/>
            <a:r>
              <a:rPr sz="800" b="0" i="0">
                <a:solidFill>
                  <a:srgbClr val="B0C4DE"/>
                </a:solidFill>
              </a:rPr>
              <a:t>Revenus T1'28</a:t>
            </a:r>
          </a:p>
        </p:txBody>
      </p:sp>
      <p:sp>
        <p:nvSpPr>
          <p:cNvPr id="16" name="TextBox 15"/>
          <p:cNvSpPr txBox="1"/>
          <p:nvPr/>
        </p:nvSpPr>
        <p:spPr>
          <a:xfrm>
            <a:off x="7415999" y="2610000"/>
            <a:ext cx="1530000" cy="270000"/>
          </a:xfrm>
          <a:prstGeom prst="rect">
            <a:avLst/>
          </a:prstGeom>
          <a:noFill/>
        </p:spPr>
        <p:txBody>
          <a:bodyPr wrap="square">
            <a:spAutoFit/>
          </a:bodyPr>
          <a:lstStyle/>
          <a:p>
            <a:pPr algn="ctr"/>
            <a:r>
              <a:rPr sz="1100" b="1" i="0">
                <a:solidFill>
                  <a:srgbClr val="D4AF37"/>
                </a:solidFill>
              </a:rPr>
              <a:t>88 M</a:t>
            </a:r>
          </a:p>
        </p:txBody>
      </p:sp>
      <p:sp>
        <p:nvSpPr>
          <p:cNvPr id="17" name="Rectangle 16"/>
          <p:cNvSpPr/>
          <p:nvPr/>
        </p:nvSpPr>
        <p:spPr>
          <a:xfrm>
            <a:off x="7487999" y="2872800"/>
            <a:ext cx="1367999" cy="14400"/>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15999" y="2898000"/>
            <a:ext cx="1530000" cy="198000"/>
          </a:xfrm>
          <a:prstGeom prst="rect">
            <a:avLst/>
          </a:prstGeom>
          <a:noFill/>
        </p:spPr>
        <p:txBody>
          <a:bodyPr wrap="square">
            <a:spAutoFit/>
          </a:bodyPr>
          <a:lstStyle/>
          <a:p>
            <a:pPr algn="ctr"/>
            <a:r>
              <a:rPr sz="800" b="0" i="0">
                <a:solidFill>
                  <a:srgbClr val="B0C4DE"/>
                </a:solidFill>
              </a:rPr>
              <a:t>Charges T1'28</a:t>
            </a:r>
          </a:p>
        </p:txBody>
      </p:sp>
      <p:sp>
        <p:nvSpPr>
          <p:cNvPr id="19" name="TextBox 18"/>
          <p:cNvSpPr txBox="1"/>
          <p:nvPr/>
        </p:nvSpPr>
        <p:spPr>
          <a:xfrm>
            <a:off x="7415999" y="3096000"/>
            <a:ext cx="1530000" cy="270000"/>
          </a:xfrm>
          <a:prstGeom prst="rect">
            <a:avLst/>
          </a:prstGeom>
          <a:noFill/>
        </p:spPr>
        <p:txBody>
          <a:bodyPr wrap="square">
            <a:spAutoFit/>
          </a:bodyPr>
          <a:lstStyle/>
          <a:p>
            <a:pPr algn="ctr"/>
            <a:r>
              <a:rPr sz="1100" b="1" i="0">
                <a:solidFill>
                  <a:srgbClr val="FF6B6B"/>
                </a:solidFill>
              </a:rPr>
              <a:t>42 M</a:t>
            </a:r>
          </a:p>
        </p:txBody>
      </p:sp>
      <p:sp>
        <p:nvSpPr>
          <p:cNvPr id="20" name="Rectangle 19"/>
          <p:cNvSpPr/>
          <p:nvPr/>
        </p:nvSpPr>
        <p:spPr>
          <a:xfrm>
            <a:off x="7487999" y="3358800"/>
            <a:ext cx="1367999" cy="14400"/>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415999" y="3384000"/>
            <a:ext cx="1530000" cy="198000"/>
          </a:xfrm>
          <a:prstGeom prst="rect">
            <a:avLst/>
          </a:prstGeom>
          <a:noFill/>
        </p:spPr>
        <p:txBody>
          <a:bodyPr wrap="square">
            <a:spAutoFit/>
          </a:bodyPr>
          <a:lstStyle/>
          <a:p>
            <a:pPr algn="ctr"/>
            <a:r>
              <a:rPr sz="800" b="0" i="0">
                <a:solidFill>
                  <a:srgbClr val="B0C4DE"/>
                </a:solidFill>
              </a:rPr>
              <a:t>Net trim. T1'28</a:t>
            </a:r>
          </a:p>
        </p:txBody>
      </p:sp>
      <p:sp>
        <p:nvSpPr>
          <p:cNvPr id="22" name="TextBox 21"/>
          <p:cNvSpPr txBox="1"/>
          <p:nvPr/>
        </p:nvSpPr>
        <p:spPr>
          <a:xfrm>
            <a:off x="7415999" y="3582000"/>
            <a:ext cx="1530000" cy="270000"/>
          </a:xfrm>
          <a:prstGeom prst="rect">
            <a:avLst/>
          </a:prstGeom>
          <a:noFill/>
        </p:spPr>
        <p:txBody>
          <a:bodyPr wrap="square">
            <a:spAutoFit/>
          </a:bodyPr>
          <a:lstStyle/>
          <a:p>
            <a:pPr algn="ctr"/>
            <a:r>
              <a:rPr sz="1100" b="1" i="0">
                <a:solidFill>
                  <a:srgbClr val="00C87A"/>
                </a:solidFill>
              </a:rPr>
              <a:t>+46 M FCFA</a:t>
            </a:r>
          </a:p>
        </p:txBody>
      </p:sp>
      <p:sp>
        <p:nvSpPr>
          <p:cNvPr id="23" name="Rectangle 22"/>
          <p:cNvSpPr/>
          <p:nvPr/>
        </p:nvSpPr>
        <p:spPr>
          <a:xfrm>
            <a:off x="7487999" y="3844800"/>
            <a:ext cx="1367999" cy="14400"/>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415999" y="3870000"/>
            <a:ext cx="1530000" cy="198000"/>
          </a:xfrm>
          <a:prstGeom prst="rect">
            <a:avLst/>
          </a:prstGeom>
          <a:noFill/>
        </p:spPr>
        <p:txBody>
          <a:bodyPr wrap="square">
            <a:spAutoFit/>
          </a:bodyPr>
          <a:lstStyle/>
          <a:p>
            <a:pPr algn="ctr"/>
            <a:r>
              <a:rPr sz="800" b="0" i="0">
                <a:solidFill>
                  <a:srgbClr val="B0C4DE"/>
                </a:solidFill>
              </a:rPr>
              <a:t>Tréso T1'28</a:t>
            </a:r>
          </a:p>
        </p:txBody>
      </p:sp>
      <p:sp>
        <p:nvSpPr>
          <p:cNvPr id="25" name="TextBox 24"/>
          <p:cNvSpPr txBox="1"/>
          <p:nvPr/>
        </p:nvSpPr>
        <p:spPr>
          <a:xfrm>
            <a:off x="7415999" y="4068000"/>
            <a:ext cx="1530000" cy="270000"/>
          </a:xfrm>
          <a:prstGeom prst="rect">
            <a:avLst/>
          </a:prstGeom>
          <a:noFill/>
        </p:spPr>
        <p:txBody>
          <a:bodyPr wrap="square">
            <a:spAutoFit/>
          </a:bodyPr>
          <a:lstStyle/>
          <a:p>
            <a:pPr algn="ctr"/>
            <a:r>
              <a:rPr sz="1100" b="1" i="0">
                <a:solidFill>
                  <a:srgbClr val="4FC3F7"/>
                </a:solidFill>
              </a:rPr>
              <a:t>156 M FCFA</a:t>
            </a:r>
          </a:p>
        </p:txBody>
      </p:sp>
      <p:sp>
        <p:nvSpPr>
          <p:cNvPr id="26" name="Rectangle 25"/>
          <p:cNvSpPr/>
          <p:nvPr/>
        </p:nvSpPr>
        <p:spPr>
          <a:xfrm>
            <a:off x="7487999" y="4330800"/>
            <a:ext cx="1367999" cy="14400"/>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15999" y="4356000"/>
            <a:ext cx="1530000" cy="198000"/>
          </a:xfrm>
          <a:prstGeom prst="rect">
            <a:avLst/>
          </a:prstGeom>
          <a:noFill/>
        </p:spPr>
        <p:txBody>
          <a:bodyPr wrap="square">
            <a:spAutoFit/>
          </a:bodyPr>
          <a:lstStyle/>
          <a:p>
            <a:pPr algn="ctr"/>
            <a:r>
              <a:rPr sz="800" b="0" i="0">
                <a:solidFill>
                  <a:srgbClr val="B0C4DE"/>
                </a:solidFill>
              </a:rPr>
              <a:t>Cumul P&amp;L T1'28</a:t>
            </a:r>
          </a:p>
        </p:txBody>
      </p:sp>
      <p:sp>
        <p:nvSpPr>
          <p:cNvPr id="28" name="TextBox 27"/>
          <p:cNvSpPr txBox="1"/>
          <p:nvPr/>
        </p:nvSpPr>
        <p:spPr>
          <a:xfrm>
            <a:off x="7415999" y="4554000"/>
            <a:ext cx="1530000" cy="270000"/>
          </a:xfrm>
          <a:prstGeom prst="rect">
            <a:avLst/>
          </a:prstGeom>
          <a:noFill/>
        </p:spPr>
        <p:txBody>
          <a:bodyPr wrap="square">
            <a:spAutoFit/>
          </a:bodyPr>
          <a:lstStyle/>
          <a:p>
            <a:pPr algn="ctr"/>
            <a:r>
              <a:rPr sz="1100" b="1" i="0">
                <a:solidFill>
                  <a:srgbClr val="9B59B6"/>
                </a:solidFill>
              </a:rPr>
              <a:t>+36 M FCFA</a:t>
            </a:r>
          </a:p>
        </p:txBody>
      </p:sp>
      <p:sp>
        <p:nvSpPr>
          <p:cNvPr id="29" name="Rectangle 28"/>
          <p:cNvSpPr/>
          <p:nvPr/>
        </p:nvSpPr>
        <p:spPr>
          <a:xfrm>
            <a:off x="7487999" y="4816800"/>
            <a:ext cx="1367999" cy="14400"/>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451999" y="5058000"/>
            <a:ext cx="1439999" cy="280800"/>
          </a:xfrm>
          <a:prstGeom prst="rect">
            <a:avLst/>
          </a:prstGeom>
          <a:solidFill>
            <a:srgbClr val="132B5E"/>
          </a:solidFill>
          <a:ln w="19050">
            <a:solidFill>
              <a:srgbClr val="FF99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451999" y="5068800"/>
            <a:ext cx="1439999" cy="270000"/>
          </a:xfrm>
          <a:prstGeom prst="rect">
            <a:avLst/>
          </a:prstGeom>
          <a:noFill/>
        </p:spPr>
        <p:txBody>
          <a:bodyPr wrap="square">
            <a:spAutoFit/>
          </a:bodyPr>
          <a:lstStyle/>
          <a:p>
            <a:pPr algn="ctr"/>
            <a:r>
              <a:rPr sz="800" b="0" i="1">
                <a:solidFill>
                  <a:srgbClr val="FF9933"/>
                </a:solidFill>
              </a:rPr>
              <a:t>Tréso min. = 66M
(T1'27 — jamais &lt; 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B1E42"/>
        </a:solidFill>
        <a:effectLst/>
      </p:bgPr>
    </p:bg>
    <p:spTree>
      <p:nvGrpSpPr>
        <p:cNvPr id="1" name=""/>
        <p:cNvGrpSpPr/>
        <p:nvPr/>
      </p:nvGrpSpPr>
      <p:grpSpPr/>
      <p:sp>
        <p:nvSpPr>
          <p:cNvPr id="2" name="Rectangle 1"/>
          <p:cNvSpPr/>
          <p:nvPr/>
        </p:nvSpPr>
        <p:spPr>
          <a:xfrm>
            <a:off x="0" y="0"/>
            <a:ext cx="9144000" cy="4860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6000"/>
            <a:ext cx="144000" cy="6138000"/>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32000" y="36000"/>
            <a:ext cx="540000" cy="413999"/>
          </a:xfrm>
          <a:prstGeom prst="rect">
            <a:avLst/>
          </a:prstGeom>
          <a:noFill/>
        </p:spPr>
        <p:txBody>
          <a:bodyPr wrap="square">
            <a:spAutoFit/>
          </a:bodyPr>
          <a:lstStyle/>
          <a:p>
            <a:pPr algn="ctr"/>
            <a:r>
              <a:rPr sz="1400" b="1" i="0">
                <a:solidFill>
                  <a:srgbClr val="0B1E42"/>
                </a:solidFill>
              </a:rPr>
              <a:t>14</a:t>
            </a:r>
          </a:p>
        </p:txBody>
      </p:sp>
      <p:sp>
        <p:nvSpPr>
          <p:cNvPr id="5" name="TextBox 4"/>
          <p:cNvSpPr txBox="1"/>
          <p:nvPr/>
        </p:nvSpPr>
        <p:spPr>
          <a:xfrm>
            <a:off x="251999" y="540000"/>
            <a:ext cx="8280000" cy="540000"/>
          </a:xfrm>
          <a:prstGeom prst="rect">
            <a:avLst/>
          </a:prstGeom>
          <a:noFill/>
        </p:spPr>
        <p:txBody>
          <a:bodyPr wrap="square">
            <a:spAutoFit/>
          </a:bodyPr>
          <a:lstStyle/>
          <a:p>
            <a:pPr algn="l"/>
            <a:r>
              <a:rPr sz="2100" b="1" i="0">
                <a:solidFill>
                  <a:srgbClr val="FFFFFF"/>
                </a:solidFill>
              </a:rPr>
              <a:t>Valorisation — Estimation Partielle : 600+ M FCFA</a:t>
            </a:r>
          </a:p>
        </p:txBody>
      </p:sp>
      <p:sp>
        <p:nvSpPr>
          <p:cNvPr id="6" name="TextBox 5"/>
          <p:cNvSpPr txBox="1"/>
          <p:nvPr/>
        </p:nvSpPr>
        <p:spPr>
          <a:xfrm>
            <a:off x="251999" y="1098000"/>
            <a:ext cx="8640001" cy="288000"/>
          </a:xfrm>
          <a:prstGeom prst="rect">
            <a:avLst/>
          </a:prstGeom>
          <a:noFill/>
        </p:spPr>
        <p:txBody>
          <a:bodyPr wrap="square">
            <a:spAutoFit/>
          </a:bodyPr>
          <a:lstStyle/>
          <a:p>
            <a:pPr algn="l"/>
            <a:r>
              <a:rPr sz="1100" b="0" i="1">
                <a:solidFill>
                  <a:srgbClr val="D4AF37"/>
                </a:solidFill>
              </a:rPr>
              <a:t>200 M FCFA de valeur directe (dev) · Innovation, IP et supports technologiques non valorisés</a:t>
            </a:r>
          </a:p>
        </p:txBody>
      </p:sp>
      <p:sp>
        <p:nvSpPr>
          <p:cNvPr id="7" name="Rectangle 6"/>
          <p:cNvSpPr/>
          <p:nvPr/>
        </p:nvSpPr>
        <p:spPr>
          <a:xfrm>
            <a:off x="0" y="6642000"/>
            <a:ext cx="9144000" cy="2160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0000" y="6642000"/>
            <a:ext cx="6480000" cy="216000"/>
          </a:xfrm>
          <a:prstGeom prst="rect">
            <a:avLst/>
          </a:prstGeom>
          <a:noFill/>
        </p:spPr>
        <p:txBody>
          <a:bodyPr wrap="square">
            <a:spAutoFit/>
          </a:bodyPr>
          <a:lstStyle/>
          <a:p>
            <a:pPr algn="l"/>
            <a:r>
              <a:rPr sz="900" b="0" i="0">
                <a:solidFill>
                  <a:srgbClr val="0B1E42"/>
                </a:solidFill>
              </a:rPr>
              <a:t>YUKPO  |  YUKPO COMPANY SARL  |  Confidentiel  |  2026</a:t>
            </a:r>
          </a:p>
        </p:txBody>
      </p:sp>
      <p:sp>
        <p:nvSpPr>
          <p:cNvPr id="9" name="Rectangle 8"/>
          <p:cNvSpPr/>
          <p:nvPr/>
        </p:nvSpPr>
        <p:spPr>
          <a:xfrm>
            <a:off x="247500" y="1475999"/>
            <a:ext cx="2718000" cy="2808000"/>
          </a:xfrm>
          <a:prstGeom prst="rect">
            <a:avLst/>
          </a:prstGeom>
          <a:solidFill>
            <a:srgbClr val="132B5E"/>
          </a:solidFill>
          <a:ln w="19050">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47500" y="1475999"/>
            <a:ext cx="2718000" cy="972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55500" y="1619999"/>
            <a:ext cx="2538000" cy="864000"/>
          </a:xfrm>
          <a:prstGeom prst="rect">
            <a:avLst/>
          </a:prstGeom>
          <a:noFill/>
        </p:spPr>
        <p:txBody>
          <a:bodyPr wrap="square">
            <a:spAutoFit/>
          </a:bodyPr>
          <a:lstStyle/>
          <a:p>
            <a:pPr algn="ctr"/>
            <a:r>
              <a:rPr sz="2600" b="1" i="0">
                <a:solidFill>
                  <a:srgbClr val="D4AF37"/>
                </a:solidFill>
              </a:rPr>
              <a:t>200 M
FCFA</a:t>
            </a:r>
          </a:p>
        </p:txBody>
      </p:sp>
      <p:sp>
        <p:nvSpPr>
          <p:cNvPr id="12" name="TextBox 11"/>
          <p:cNvSpPr txBox="1"/>
          <p:nvPr/>
        </p:nvSpPr>
        <p:spPr>
          <a:xfrm>
            <a:off x="355500" y="2501999"/>
            <a:ext cx="2538000" cy="396000"/>
          </a:xfrm>
          <a:prstGeom prst="rect">
            <a:avLst/>
          </a:prstGeom>
          <a:noFill/>
        </p:spPr>
        <p:txBody>
          <a:bodyPr wrap="square">
            <a:spAutoFit/>
          </a:bodyPr>
          <a:lstStyle/>
          <a:p>
            <a:pPr algn="ctr"/>
            <a:r>
              <a:rPr sz="1100" b="0" i="0">
                <a:solidFill>
                  <a:srgbClr val="FFFFFF"/>
                </a:solidFill>
              </a:rPr>
              <a:t>Valeur directe
de développement</a:t>
            </a:r>
          </a:p>
        </p:txBody>
      </p:sp>
      <p:sp>
        <p:nvSpPr>
          <p:cNvPr id="13" name="Rectangle 12"/>
          <p:cNvSpPr/>
          <p:nvPr/>
        </p:nvSpPr>
        <p:spPr>
          <a:xfrm>
            <a:off x="427500" y="2915999"/>
            <a:ext cx="2358000" cy="216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55500" y="2987999"/>
            <a:ext cx="2538000" cy="1242001"/>
          </a:xfrm>
          <a:prstGeom prst="rect">
            <a:avLst/>
          </a:prstGeom>
          <a:noFill/>
        </p:spPr>
        <p:txBody>
          <a:bodyPr wrap="square">
            <a:spAutoFit/>
          </a:bodyPr>
          <a:lstStyle/>
          <a:p>
            <a:pPr algn="ctr"/>
            <a:r>
              <a:rPr sz="1100" b="0" i="0">
                <a:solidFill>
                  <a:srgbClr val="B0C4DE"/>
                </a:solidFill>
              </a:rPr>
              <a:t>20 000 h de dev.
à 10 000 FCFA/h
= 200 M FCFA
de valeur directe mesurée</a:t>
            </a:r>
          </a:p>
        </p:txBody>
      </p:sp>
      <p:sp>
        <p:nvSpPr>
          <p:cNvPr id="15" name="Rectangle 14"/>
          <p:cNvSpPr/>
          <p:nvPr/>
        </p:nvSpPr>
        <p:spPr>
          <a:xfrm>
            <a:off x="3213000" y="1475999"/>
            <a:ext cx="2718000" cy="2808000"/>
          </a:xfrm>
          <a:prstGeom prst="rect">
            <a:avLst/>
          </a:prstGeom>
          <a:solidFill>
            <a:srgbClr val="132B5E"/>
          </a:solidFill>
          <a:ln w="19050">
            <a:solidFill>
              <a:srgbClr val="00C8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213000" y="1475999"/>
            <a:ext cx="2718000" cy="97200"/>
          </a:xfrm>
          <a:prstGeom prst="rect">
            <a:avLst/>
          </a:prstGeom>
          <a:solidFill>
            <a:srgbClr val="00C8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321000" y="1619999"/>
            <a:ext cx="2538000" cy="864000"/>
          </a:xfrm>
          <a:prstGeom prst="rect">
            <a:avLst/>
          </a:prstGeom>
          <a:noFill/>
        </p:spPr>
        <p:txBody>
          <a:bodyPr wrap="square">
            <a:spAutoFit/>
          </a:bodyPr>
          <a:lstStyle/>
          <a:p>
            <a:pPr algn="ctr"/>
            <a:r>
              <a:rPr sz="2600" b="1" i="0">
                <a:solidFill>
                  <a:srgbClr val="00C87A"/>
                </a:solidFill>
              </a:rPr>
              <a:t>&gt; 600 M
FCFA</a:t>
            </a:r>
          </a:p>
        </p:txBody>
      </p:sp>
      <p:sp>
        <p:nvSpPr>
          <p:cNvPr id="18" name="TextBox 17"/>
          <p:cNvSpPr txBox="1"/>
          <p:nvPr/>
        </p:nvSpPr>
        <p:spPr>
          <a:xfrm>
            <a:off x="3321000" y="2501999"/>
            <a:ext cx="2538000" cy="396000"/>
          </a:xfrm>
          <a:prstGeom prst="rect">
            <a:avLst/>
          </a:prstGeom>
          <a:noFill/>
        </p:spPr>
        <p:txBody>
          <a:bodyPr wrap="square">
            <a:spAutoFit/>
          </a:bodyPr>
          <a:lstStyle/>
          <a:p>
            <a:pPr algn="ctr"/>
            <a:r>
              <a:rPr sz="1100" b="0" i="0">
                <a:solidFill>
                  <a:srgbClr val="FFFFFF"/>
                </a:solidFill>
              </a:rPr>
              <a:t>Valorisation totale
(estimation partielle)</a:t>
            </a:r>
          </a:p>
        </p:txBody>
      </p:sp>
      <p:sp>
        <p:nvSpPr>
          <p:cNvPr id="19" name="Rectangle 18"/>
          <p:cNvSpPr/>
          <p:nvPr/>
        </p:nvSpPr>
        <p:spPr>
          <a:xfrm>
            <a:off x="3393000" y="2915999"/>
            <a:ext cx="2358000" cy="21600"/>
          </a:xfrm>
          <a:prstGeom prst="rect">
            <a:avLst/>
          </a:prstGeom>
          <a:solidFill>
            <a:srgbClr val="00C8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321000" y="2987999"/>
            <a:ext cx="2538000" cy="1242001"/>
          </a:xfrm>
          <a:prstGeom prst="rect">
            <a:avLst/>
          </a:prstGeom>
          <a:noFill/>
        </p:spPr>
        <p:txBody>
          <a:bodyPr wrap="square">
            <a:spAutoFit/>
          </a:bodyPr>
          <a:lstStyle/>
          <a:p>
            <a:pPr algn="ctr"/>
            <a:r>
              <a:rPr sz="1100" b="0" i="0">
                <a:solidFill>
                  <a:srgbClr val="B0C4DE"/>
                </a:solidFill>
              </a:rPr>
              <a:t>200 M code + algorithmes
+ YukpoIA + Creator Studio
+ IP, marque &amp; potentiel
→ 400+ M non encore valorisés</a:t>
            </a:r>
          </a:p>
        </p:txBody>
      </p:sp>
      <p:sp>
        <p:nvSpPr>
          <p:cNvPr id="21" name="Rectangle 20"/>
          <p:cNvSpPr/>
          <p:nvPr/>
        </p:nvSpPr>
        <p:spPr>
          <a:xfrm>
            <a:off x="6178500" y="1475999"/>
            <a:ext cx="2718000" cy="2808000"/>
          </a:xfrm>
          <a:prstGeom prst="rect">
            <a:avLst/>
          </a:prstGeom>
          <a:solidFill>
            <a:srgbClr val="132B5E"/>
          </a:solidFill>
          <a:ln w="19050">
            <a:solidFill>
              <a:srgbClr val="4FC3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78500" y="1475999"/>
            <a:ext cx="2718000" cy="97200"/>
          </a:xfrm>
          <a:prstGeom prst="rect">
            <a:avLst/>
          </a:prstGeom>
          <a:solidFill>
            <a:srgbClr val="4FC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286500" y="1619999"/>
            <a:ext cx="2538000" cy="864000"/>
          </a:xfrm>
          <a:prstGeom prst="rect">
            <a:avLst/>
          </a:prstGeom>
          <a:noFill/>
        </p:spPr>
        <p:txBody>
          <a:bodyPr wrap="square">
            <a:spAutoFit/>
          </a:bodyPr>
          <a:lstStyle/>
          <a:p>
            <a:pPr algn="ctr"/>
            <a:r>
              <a:rPr sz="2600" b="1" i="0">
                <a:solidFill>
                  <a:srgbClr val="4FC3F7"/>
                </a:solidFill>
              </a:rPr>
              <a:t>Max 20 %</a:t>
            </a:r>
          </a:p>
        </p:txBody>
      </p:sp>
      <p:sp>
        <p:nvSpPr>
          <p:cNvPr id="24" name="TextBox 23"/>
          <p:cNvSpPr txBox="1"/>
          <p:nvPr/>
        </p:nvSpPr>
        <p:spPr>
          <a:xfrm>
            <a:off x="6286500" y="2501999"/>
            <a:ext cx="2538000" cy="396000"/>
          </a:xfrm>
          <a:prstGeom prst="rect">
            <a:avLst/>
          </a:prstGeom>
          <a:noFill/>
        </p:spPr>
        <p:txBody>
          <a:bodyPr wrap="square">
            <a:spAutoFit/>
          </a:bodyPr>
          <a:lstStyle/>
          <a:p>
            <a:pPr algn="ctr"/>
            <a:r>
              <a:rPr sz="1100" b="0" i="0">
                <a:solidFill>
                  <a:srgbClr val="FFFFFF"/>
                </a:solidFill>
              </a:rPr>
              <a:t>Part cédée
aux investisseurs</a:t>
            </a:r>
          </a:p>
        </p:txBody>
      </p:sp>
      <p:sp>
        <p:nvSpPr>
          <p:cNvPr id="25" name="Rectangle 24"/>
          <p:cNvSpPr/>
          <p:nvPr/>
        </p:nvSpPr>
        <p:spPr>
          <a:xfrm>
            <a:off x="6358500" y="2915999"/>
            <a:ext cx="2358000" cy="21600"/>
          </a:xfrm>
          <a:prstGeom prst="rect">
            <a:avLst/>
          </a:prstGeom>
          <a:solidFill>
            <a:srgbClr val="4FC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286500" y="2987999"/>
            <a:ext cx="2538000" cy="1242001"/>
          </a:xfrm>
          <a:prstGeom prst="rect">
            <a:avLst/>
          </a:prstGeom>
          <a:noFill/>
        </p:spPr>
        <p:txBody>
          <a:bodyPr wrap="square">
            <a:spAutoFit/>
          </a:bodyPr>
          <a:lstStyle/>
          <a:p>
            <a:pPr algn="ctr"/>
            <a:r>
              <a:rPr sz="1100" b="0" i="0">
                <a:solidFill>
                  <a:srgbClr val="B0C4DE"/>
                </a:solidFill>
              </a:rPr>
              <a:t>120 M investis
/ 600+ M post-money
≤ 20 % de dilution
Équité fondateur préservée</a:t>
            </a:r>
          </a:p>
        </p:txBody>
      </p:sp>
      <p:sp>
        <p:nvSpPr>
          <p:cNvPr id="27" name="Rectangle 26"/>
          <p:cNvSpPr/>
          <p:nvPr/>
        </p:nvSpPr>
        <p:spPr>
          <a:xfrm>
            <a:off x="144000" y="4373999"/>
            <a:ext cx="8856000" cy="259200"/>
          </a:xfrm>
          <a:prstGeom prst="rect">
            <a:avLst/>
          </a:prstGeom>
          <a:solidFill>
            <a:srgbClr val="132B5E"/>
          </a:solidFill>
          <a:ln w="19050">
            <a:solidFill>
              <a:srgbClr val="FF99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144000" y="4373999"/>
            <a:ext cx="79200" cy="259200"/>
          </a:xfrm>
          <a:prstGeom prst="rect">
            <a:avLst/>
          </a:prstGeom>
          <a:solidFill>
            <a:srgbClr val="FF99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70000" y="4402799"/>
            <a:ext cx="8676000" cy="216000"/>
          </a:xfrm>
          <a:prstGeom prst="rect">
            <a:avLst/>
          </a:prstGeom>
          <a:noFill/>
        </p:spPr>
        <p:txBody>
          <a:bodyPr wrap="square">
            <a:spAutoFit/>
          </a:bodyPr>
          <a:lstStyle/>
          <a:p>
            <a:pPr algn="l"/>
            <a:r>
              <a:rPr sz="900" b="0" i="1">
                <a:solidFill>
                  <a:srgbClr val="FF9933"/>
                </a:solidFill>
              </a:rPr>
              <a:t>Note : estimation partielle — l'innovation, les supports technologiques et le potentiel marché ne sont pas intégrés dans cette base de calcul.</a:t>
            </a:r>
          </a:p>
        </p:txBody>
      </p:sp>
      <p:sp>
        <p:nvSpPr>
          <p:cNvPr id="30" name="Rectangle 29"/>
          <p:cNvSpPr/>
          <p:nvPr/>
        </p:nvSpPr>
        <p:spPr>
          <a:xfrm>
            <a:off x="144000" y="4697999"/>
            <a:ext cx="2170800" cy="900000"/>
          </a:xfrm>
          <a:prstGeom prst="rect">
            <a:avLst/>
          </a:prstGeom>
          <a:solidFill>
            <a:srgbClr val="132B5E"/>
          </a:solidFill>
          <a:ln w="19050">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16000" y="4762799"/>
            <a:ext cx="2034000" cy="216000"/>
          </a:xfrm>
          <a:prstGeom prst="rect">
            <a:avLst/>
          </a:prstGeom>
          <a:noFill/>
        </p:spPr>
        <p:txBody>
          <a:bodyPr wrap="square">
            <a:spAutoFit/>
          </a:bodyPr>
          <a:lstStyle/>
          <a:p>
            <a:pPr algn="l"/>
            <a:r>
              <a:rPr sz="1000" b="0" i="0">
                <a:solidFill>
                  <a:srgbClr val="B0C4DE"/>
                </a:solidFill>
              </a:rPr>
              <a:t>ROI cible</a:t>
            </a:r>
          </a:p>
        </p:txBody>
      </p:sp>
      <p:sp>
        <p:nvSpPr>
          <p:cNvPr id="32" name="TextBox 31"/>
          <p:cNvSpPr txBox="1"/>
          <p:nvPr/>
        </p:nvSpPr>
        <p:spPr>
          <a:xfrm>
            <a:off x="216000" y="4957199"/>
            <a:ext cx="2034000" cy="594000"/>
          </a:xfrm>
          <a:prstGeom prst="rect">
            <a:avLst/>
          </a:prstGeom>
          <a:noFill/>
        </p:spPr>
        <p:txBody>
          <a:bodyPr wrap="square">
            <a:spAutoFit/>
          </a:bodyPr>
          <a:lstStyle/>
          <a:p>
            <a:pPr algn="ctr"/>
            <a:r>
              <a:rPr sz="1300" b="1" i="0">
                <a:solidFill>
                  <a:srgbClr val="D4AF37"/>
                </a:solidFill>
              </a:rPr>
              <a:t>3× à 5×</a:t>
            </a:r>
          </a:p>
        </p:txBody>
      </p:sp>
      <p:sp>
        <p:nvSpPr>
          <p:cNvPr id="33" name="Rectangle 32"/>
          <p:cNvSpPr/>
          <p:nvPr/>
        </p:nvSpPr>
        <p:spPr>
          <a:xfrm>
            <a:off x="2358000" y="4697999"/>
            <a:ext cx="2170800" cy="900000"/>
          </a:xfrm>
          <a:prstGeom prst="rect">
            <a:avLst/>
          </a:prstGeom>
          <a:solidFill>
            <a:srgbClr val="132B5E"/>
          </a:solidFill>
          <a:ln w="19050">
            <a:solidFill>
              <a:srgbClr val="4FC3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430000" y="4762799"/>
            <a:ext cx="2034000" cy="216000"/>
          </a:xfrm>
          <a:prstGeom prst="rect">
            <a:avLst/>
          </a:prstGeom>
          <a:noFill/>
        </p:spPr>
        <p:txBody>
          <a:bodyPr wrap="square">
            <a:spAutoFit/>
          </a:bodyPr>
          <a:lstStyle/>
          <a:p>
            <a:pPr algn="l"/>
            <a:r>
              <a:rPr sz="1000" b="0" i="0">
                <a:solidFill>
                  <a:srgbClr val="B0C4DE"/>
                </a:solidFill>
              </a:rPr>
              <a:t>Horizon</a:t>
            </a:r>
          </a:p>
        </p:txBody>
      </p:sp>
      <p:sp>
        <p:nvSpPr>
          <p:cNvPr id="35" name="TextBox 34"/>
          <p:cNvSpPr txBox="1"/>
          <p:nvPr/>
        </p:nvSpPr>
        <p:spPr>
          <a:xfrm>
            <a:off x="2430000" y="4957199"/>
            <a:ext cx="2034000" cy="594000"/>
          </a:xfrm>
          <a:prstGeom prst="rect">
            <a:avLst/>
          </a:prstGeom>
          <a:noFill/>
        </p:spPr>
        <p:txBody>
          <a:bodyPr wrap="square">
            <a:spAutoFit/>
          </a:bodyPr>
          <a:lstStyle/>
          <a:p>
            <a:pPr algn="ctr"/>
            <a:r>
              <a:rPr sz="1300" b="1" i="0">
                <a:solidFill>
                  <a:srgbClr val="4FC3F7"/>
                </a:solidFill>
              </a:rPr>
              <a:t>3 – 5 ans</a:t>
            </a:r>
          </a:p>
        </p:txBody>
      </p:sp>
      <p:sp>
        <p:nvSpPr>
          <p:cNvPr id="36" name="Rectangle 35"/>
          <p:cNvSpPr/>
          <p:nvPr/>
        </p:nvSpPr>
        <p:spPr>
          <a:xfrm>
            <a:off x="4572000" y="4697999"/>
            <a:ext cx="2170800" cy="900000"/>
          </a:xfrm>
          <a:prstGeom prst="rect">
            <a:avLst/>
          </a:prstGeom>
          <a:solidFill>
            <a:srgbClr val="132B5E"/>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644000" y="4762799"/>
            <a:ext cx="2034000" cy="216000"/>
          </a:xfrm>
          <a:prstGeom prst="rect">
            <a:avLst/>
          </a:prstGeom>
          <a:noFill/>
        </p:spPr>
        <p:txBody>
          <a:bodyPr wrap="square">
            <a:spAutoFit/>
          </a:bodyPr>
          <a:lstStyle/>
          <a:p>
            <a:pPr algn="l"/>
            <a:r>
              <a:rPr sz="1000" b="0" i="0">
                <a:solidFill>
                  <a:srgbClr val="B0C4DE"/>
                </a:solidFill>
              </a:rPr>
              <a:t>Structure</a:t>
            </a:r>
          </a:p>
        </p:txBody>
      </p:sp>
      <p:sp>
        <p:nvSpPr>
          <p:cNvPr id="38" name="TextBox 37"/>
          <p:cNvSpPr txBox="1"/>
          <p:nvPr/>
        </p:nvSpPr>
        <p:spPr>
          <a:xfrm>
            <a:off x="4644000" y="4957199"/>
            <a:ext cx="2034000" cy="594000"/>
          </a:xfrm>
          <a:prstGeom prst="rect">
            <a:avLst/>
          </a:prstGeom>
          <a:noFill/>
        </p:spPr>
        <p:txBody>
          <a:bodyPr wrap="square">
            <a:spAutoFit/>
          </a:bodyPr>
          <a:lstStyle/>
          <a:p>
            <a:pPr algn="ctr"/>
            <a:r>
              <a:rPr sz="1300" b="1" i="0">
                <a:solidFill>
                  <a:srgbClr val="FFFFFF"/>
                </a:solidFill>
              </a:rPr>
              <a:t>YUKPO COMPANY SARL</a:t>
            </a:r>
          </a:p>
        </p:txBody>
      </p:sp>
      <p:sp>
        <p:nvSpPr>
          <p:cNvPr id="39" name="Rectangle 38"/>
          <p:cNvSpPr/>
          <p:nvPr/>
        </p:nvSpPr>
        <p:spPr>
          <a:xfrm>
            <a:off x="6786000" y="4697999"/>
            <a:ext cx="2170800" cy="900000"/>
          </a:xfrm>
          <a:prstGeom prst="rect">
            <a:avLst/>
          </a:prstGeom>
          <a:solidFill>
            <a:srgbClr val="132B5E"/>
          </a:solidFill>
          <a:ln w="19050">
            <a:solidFill>
              <a:srgbClr val="00C8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858000" y="4762799"/>
            <a:ext cx="2034000" cy="216000"/>
          </a:xfrm>
          <a:prstGeom prst="rect">
            <a:avLst/>
          </a:prstGeom>
          <a:noFill/>
        </p:spPr>
        <p:txBody>
          <a:bodyPr wrap="square">
            <a:spAutoFit/>
          </a:bodyPr>
          <a:lstStyle/>
          <a:p>
            <a:pPr algn="l"/>
            <a:r>
              <a:rPr sz="1000" b="0" i="0">
                <a:solidFill>
                  <a:srgbClr val="B0C4DE"/>
                </a:solidFill>
              </a:rPr>
              <a:t>Sortie</a:t>
            </a:r>
          </a:p>
        </p:txBody>
      </p:sp>
      <p:sp>
        <p:nvSpPr>
          <p:cNvPr id="41" name="TextBox 40"/>
          <p:cNvSpPr txBox="1"/>
          <p:nvPr/>
        </p:nvSpPr>
        <p:spPr>
          <a:xfrm>
            <a:off x="6858000" y="4957199"/>
            <a:ext cx="2034000" cy="594000"/>
          </a:xfrm>
          <a:prstGeom prst="rect">
            <a:avLst/>
          </a:prstGeom>
          <a:noFill/>
        </p:spPr>
        <p:txBody>
          <a:bodyPr wrap="square">
            <a:spAutoFit/>
          </a:bodyPr>
          <a:lstStyle/>
          <a:p>
            <a:pPr algn="ctr"/>
            <a:r>
              <a:rPr sz="1300" b="1" i="0">
                <a:solidFill>
                  <a:srgbClr val="00C87A"/>
                </a:solidFill>
              </a:rPr>
              <a:t>Rachat / Dividendes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B1E42"/>
        </a:solidFill>
        <a:effectLst/>
      </p:bgPr>
    </p:bg>
    <p:spTree>
      <p:nvGrpSpPr>
        <p:cNvPr id="1" name=""/>
        <p:cNvGrpSpPr/>
        <p:nvPr/>
      </p:nvGrpSpPr>
      <p:grpSpPr/>
      <p:sp>
        <p:nvSpPr>
          <p:cNvPr id="2" name="Rectangle 1"/>
          <p:cNvSpPr/>
          <p:nvPr/>
        </p:nvSpPr>
        <p:spPr>
          <a:xfrm>
            <a:off x="0" y="0"/>
            <a:ext cx="9144000" cy="4860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6000"/>
            <a:ext cx="144000" cy="6138000"/>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32000" y="36000"/>
            <a:ext cx="540000" cy="413999"/>
          </a:xfrm>
          <a:prstGeom prst="rect">
            <a:avLst/>
          </a:prstGeom>
          <a:noFill/>
        </p:spPr>
        <p:txBody>
          <a:bodyPr wrap="square">
            <a:spAutoFit/>
          </a:bodyPr>
          <a:lstStyle/>
          <a:p>
            <a:pPr algn="ctr"/>
            <a:r>
              <a:rPr sz="1400" b="1" i="0">
                <a:solidFill>
                  <a:srgbClr val="0B1E42"/>
                </a:solidFill>
              </a:rPr>
              <a:t>15</a:t>
            </a:r>
          </a:p>
        </p:txBody>
      </p:sp>
      <p:sp>
        <p:nvSpPr>
          <p:cNvPr id="5" name="TextBox 4"/>
          <p:cNvSpPr txBox="1"/>
          <p:nvPr/>
        </p:nvSpPr>
        <p:spPr>
          <a:xfrm>
            <a:off x="251999" y="540000"/>
            <a:ext cx="8280000" cy="540000"/>
          </a:xfrm>
          <a:prstGeom prst="rect">
            <a:avLst/>
          </a:prstGeom>
          <a:noFill/>
        </p:spPr>
        <p:txBody>
          <a:bodyPr wrap="square">
            <a:spAutoFit/>
          </a:bodyPr>
          <a:lstStyle/>
          <a:p>
            <a:pPr algn="l"/>
            <a:r>
              <a:rPr sz="2100" b="1" i="0">
                <a:solidFill>
                  <a:srgbClr val="FFFFFF"/>
                </a:solidFill>
              </a:rPr>
              <a:t>L'Équipe — Fondateur &amp; Profils à Recruter</a:t>
            </a:r>
          </a:p>
        </p:txBody>
      </p:sp>
      <p:sp>
        <p:nvSpPr>
          <p:cNvPr id="6" name="TextBox 5"/>
          <p:cNvSpPr txBox="1"/>
          <p:nvPr/>
        </p:nvSpPr>
        <p:spPr>
          <a:xfrm>
            <a:off x="251999" y="1098000"/>
            <a:ext cx="8640001" cy="288000"/>
          </a:xfrm>
          <a:prstGeom prst="rect">
            <a:avLst/>
          </a:prstGeom>
          <a:noFill/>
        </p:spPr>
        <p:txBody>
          <a:bodyPr wrap="square">
            <a:spAutoFit/>
          </a:bodyPr>
          <a:lstStyle/>
          <a:p>
            <a:pPr algn="l"/>
            <a:r>
              <a:rPr sz="1100" b="0" i="1">
                <a:solidFill>
                  <a:srgbClr val="D4AF37"/>
                </a:solidFill>
              </a:rPr>
              <a:t>Un fondateur aux compétences rares + une équipe terrain opérationnelle dès le lancement</a:t>
            </a:r>
          </a:p>
        </p:txBody>
      </p:sp>
      <p:sp>
        <p:nvSpPr>
          <p:cNvPr id="7" name="Rectangle 6"/>
          <p:cNvSpPr/>
          <p:nvPr/>
        </p:nvSpPr>
        <p:spPr>
          <a:xfrm>
            <a:off x="0" y="6642000"/>
            <a:ext cx="9144000" cy="2160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0000" y="6642000"/>
            <a:ext cx="6480000" cy="216000"/>
          </a:xfrm>
          <a:prstGeom prst="rect">
            <a:avLst/>
          </a:prstGeom>
          <a:noFill/>
        </p:spPr>
        <p:txBody>
          <a:bodyPr wrap="square">
            <a:spAutoFit/>
          </a:bodyPr>
          <a:lstStyle/>
          <a:p>
            <a:pPr algn="l"/>
            <a:r>
              <a:rPr sz="900" b="0" i="0">
                <a:solidFill>
                  <a:srgbClr val="0B1E42"/>
                </a:solidFill>
              </a:rPr>
              <a:t>YUKPO  |  YUKPO COMPANY SARL  |  Confidentiel  |  2026</a:t>
            </a:r>
          </a:p>
        </p:txBody>
      </p:sp>
      <p:sp>
        <p:nvSpPr>
          <p:cNvPr id="9" name="Rectangle 8"/>
          <p:cNvSpPr/>
          <p:nvPr/>
        </p:nvSpPr>
        <p:spPr>
          <a:xfrm>
            <a:off x="144000" y="1440000"/>
            <a:ext cx="3420000" cy="4806000"/>
          </a:xfrm>
          <a:prstGeom prst="rect">
            <a:avLst/>
          </a:prstGeom>
          <a:solidFill>
            <a:srgbClr val="132B5E"/>
          </a:solidFill>
          <a:ln w="19050">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44000" y="1440000"/>
            <a:ext cx="3420000" cy="972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116000" y="1602000"/>
            <a:ext cx="1440000" cy="1440000"/>
          </a:xfrm>
          <a:prstGeom prst="rect">
            <a:avLst/>
          </a:prstGeom>
          <a:solidFill>
            <a:srgbClr val="0B1E42"/>
          </a:solidFill>
          <a:ln w="19050">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116000" y="1746000"/>
            <a:ext cx="1440000" cy="900000"/>
          </a:xfrm>
          <a:prstGeom prst="rect">
            <a:avLst/>
          </a:prstGeom>
          <a:noFill/>
        </p:spPr>
        <p:txBody>
          <a:bodyPr wrap="square">
            <a:spAutoFit/>
          </a:bodyPr>
          <a:lstStyle/>
          <a:p>
            <a:pPr algn="ctr"/>
            <a:r>
              <a:rPr sz="3800" b="1" i="0">
                <a:solidFill>
                  <a:srgbClr val="D4AF37"/>
                </a:solidFill>
              </a:rPr>
              <a:t>LSH</a:t>
            </a:r>
          </a:p>
        </p:txBody>
      </p:sp>
      <p:sp>
        <p:nvSpPr>
          <p:cNvPr id="13" name="TextBox 12"/>
          <p:cNvSpPr txBox="1"/>
          <p:nvPr/>
        </p:nvSpPr>
        <p:spPr>
          <a:xfrm>
            <a:off x="252000" y="3114000"/>
            <a:ext cx="3240000" cy="306000"/>
          </a:xfrm>
          <a:prstGeom prst="rect">
            <a:avLst/>
          </a:prstGeom>
          <a:noFill/>
        </p:spPr>
        <p:txBody>
          <a:bodyPr wrap="square">
            <a:spAutoFit/>
          </a:bodyPr>
          <a:lstStyle/>
          <a:p>
            <a:pPr algn="ctr"/>
            <a:r>
              <a:rPr sz="1300" b="1" i="0">
                <a:solidFill>
                  <a:srgbClr val="FFFFFF"/>
                </a:solidFill>
              </a:rPr>
              <a:t>LELE SIAKA Hernandez</a:t>
            </a:r>
          </a:p>
        </p:txBody>
      </p:sp>
      <p:sp>
        <p:nvSpPr>
          <p:cNvPr id="14" name="TextBox 13"/>
          <p:cNvSpPr txBox="1"/>
          <p:nvPr/>
        </p:nvSpPr>
        <p:spPr>
          <a:xfrm>
            <a:off x="252000" y="3420000"/>
            <a:ext cx="3240000" cy="216000"/>
          </a:xfrm>
          <a:prstGeom prst="rect">
            <a:avLst/>
          </a:prstGeom>
          <a:noFill/>
        </p:spPr>
        <p:txBody>
          <a:bodyPr wrap="square">
            <a:spAutoFit/>
          </a:bodyPr>
          <a:lstStyle/>
          <a:p>
            <a:pPr algn="ctr"/>
            <a:r>
              <a:rPr sz="1000" b="0" i="1">
                <a:solidFill>
                  <a:srgbClr val="D4AF37"/>
                </a:solidFill>
              </a:rPr>
              <a:t>CEO &amp; Fondateur — YUKPO</a:t>
            </a:r>
          </a:p>
        </p:txBody>
      </p:sp>
      <p:sp>
        <p:nvSpPr>
          <p:cNvPr id="15" name="TextBox 14"/>
          <p:cNvSpPr txBox="1"/>
          <p:nvPr/>
        </p:nvSpPr>
        <p:spPr>
          <a:xfrm>
            <a:off x="252000" y="3654000"/>
            <a:ext cx="3240000" cy="216000"/>
          </a:xfrm>
          <a:prstGeom prst="rect">
            <a:avLst/>
          </a:prstGeom>
          <a:noFill/>
        </p:spPr>
        <p:txBody>
          <a:bodyPr wrap="square">
            <a:spAutoFit/>
          </a:bodyPr>
          <a:lstStyle/>
          <a:p>
            <a:pPr algn="ctr"/>
            <a:r>
              <a:rPr sz="1000" b="0" i="0">
                <a:solidFill>
                  <a:srgbClr val="4FC3F7"/>
                </a:solidFill>
              </a:rPr>
              <a:t>+237 697 49 06 61  /  +237 674 54 68 95</a:t>
            </a:r>
          </a:p>
        </p:txBody>
      </p:sp>
      <p:sp>
        <p:nvSpPr>
          <p:cNvPr id="16" name="TextBox 15"/>
          <p:cNvSpPr txBox="1"/>
          <p:nvPr/>
        </p:nvSpPr>
        <p:spPr>
          <a:xfrm>
            <a:off x="252000" y="3880800"/>
            <a:ext cx="3240000" cy="208800"/>
          </a:xfrm>
          <a:prstGeom prst="rect">
            <a:avLst/>
          </a:prstGeom>
          <a:noFill/>
        </p:spPr>
        <p:txBody>
          <a:bodyPr wrap="square">
            <a:spAutoFit/>
          </a:bodyPr>
          <a:lstStyle/>
          <a:p>
            <a:pPr algn="ctr"/>
            <a:r>
              <a:rPr sz="900" b="0" i="0">
                <a:solidFill>
                  <a:srgbClr val="B0C4DE"/>
                </a:solidFill>
              </a:rPr>
              <a:t>lelehernandez2007@gmail.com</a:t>
            </a:r>
          </a:p>
        </p:txBody>
      </p:sp>
      <p:sp>
        <p:nvSpPr>
          <p:cNvPr id="17" name="Rectangle 16"/>
          <p:cNvSpPr/>
          <p:nvPr/>
        </p:nvSpPr>
        <p:spPr>
          <a:xfrm>
            <a:off x="360000" y="4122000"/>
            <a:ext cx="2988000" cy="216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52000" y="4194000"/>
            <a:ext cx="3240000" cy="1980000"/>
          </a:xfrm>
          <a:prstGeom prst="rect">
            <a:avLst/>
          </a:prstGeom>
          <a:noFill/>
        </p:spPr>
        <p:txBody>
          <a:bodyPr wrap="square">
            <a:spAutoFit/>
          </a:bodyPr>
          <a:lstStyle/>
          <a:p>
            <a:pPr algn="l"/>
            <a:r>
              <a:rPr sz="1000" b="0" i="0">
                <a:solidFill>
                  <a:srgbClr val="B0C4DE"/>
                </a:solidFill>
              </a:rPr>
              <a:t>Gestion de programmes &amp; pilotage stratégique
CEPS-BID / BIsD-UNICEF — 5 ans :
Coordination multi-acteurs, 6 régions, 61 districts
Budgets bailleurs, reporting, planification
Gouvernance financière &amp; risque
Assurances / CIMA — 6 ans :
Conformité réglementaire, analyse de risque
Gouvernance des données, pilotage financier
Développeur Full Stack — 20 000+ h :
Rust/Axum · React/TypeScript · PostgreSQL</a:t>
            </a:r>
          </a:p>
        </p:txBody>
      </p:sp>
      <p:sp>
        <p:nvSpPr>
          <p:cNvPr id="19" name="Rectangle 18"/>
          <p:cNvSpPr/>
          <p:nvPr/>
        </p:nvSpPr>
        <p:spPr>
          <a:xfrm>
            <a:off x="3708000" y="1440000"/>
            <a:ext cx="2628000" cy="2268000"/>
          </a:xfrm>
          <a:prstGeom prst="rect">
            <a:avLst/>
          </a:prstGeom>
          <a:solidFill>
            <a:srgbClr val="132B5E"/>
          </a:solidFill>
          <a:ln w="19050">
            <a:solidFill>
              <a:srgbClr val="4FC3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708000" y="1440000"/>
            <a:ext cx="2628000" cy="97200"/>
          </a:xfrm>
          <a:prstGeom prst="rect">
            <a:avLst/>
          </a:prstGeom>
          <a:solidFill>
            <a:srgbClr val="4FC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328001" y="1548000"/>
            <a:ext cx="900000" cy="187200"/>
          </a:xfrm>
          <a:prstGeom prst="rect">
            <a:avLst/>
          </a:prstGeom>
          <a:solidFill>
            <a:srgbClr val="0B1E42"/>
          </a:solidFill>
          <a:ln w="19050">
            <a:solidFill>
              <a:srgbClr val="4FC3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328001" y="1548000"/>
            <a:ext cx="900000" cy="187200"/>
          </a:xfrm>
          <a:prstGeom prst="rect">
            <a:avLst/>
          </a:prstGeom>
          <a:noFill/>
        </p:spPr>
        <p:txBody>
          <a:bodyPr wrap="square">
            <a:spAutoFit/>
          </a:bodyPr>
          <a:lstStyle/>
          <a:p>
            <a:pPr algn="ctr"/>
            <a:r>
              <a:rPr sz="900" b="0" i="1">
                <a:solidFill>
                  <a:srgbClr val="4FC3F7"/>
                </a:solidFill>
              </a:rPr>
              <a:t>À recruter</a:t>
            </a:r>
          </a:p>
        </p:txBody>
      </p:sp>
      <p:sp>
        <p:nvSpPr>
          <p:cNvPr id="23" name="TextBox 22"/>
          <p:cNvSpPr txBox="1"/>
          <p:nvPr/>
        </p:nvSpPr>
        <p:spPr>
          <a:xfrm>
            <a:off x="3816000" y="1771200"/>
            <a:ext cx="2448000" cy="306000"/>
          </a:xfrm>
          <a:prstGeom prst="rect">
            <a:avLst/>
          </a:prstGeom>
          <a:noFill/>
        </p:spPr>
        <p:txBody>
          <a:bodyPr wrap="square">
            <a:spAutoFit/>
          </a:bodyPr>
          <a:lstStyle/>
          <a:p>
            <a:pPr algn="l"/>
            <a:r>
              <a:rPr sz="1200" b="1" i="0">
                <a:solidFill>
                  <a:srgbClr val="FFFFFF"/>
                </a:solidFill>
              </a:rPr>
              <a:t>Développeur Mobile Senior</a:t>
            </a:r>
          </a:p>
        </p:txBody>
      </p:sp>
      <p:sp>
        <p:nvSpPr>
          <p:cNvPr id="24" name="Rectangle 23"/>
          <p:cNvSpPr/>
          <p:nvPr/>
        </p:nvSpPr>
        <p:spPr>
          <a:xfrm>
            <a:off x="3816000" y="2113200"/>
            <a:ext cx="2412000" cy="18000"/>
          </a:xfrm>
          <a:prstGeom prst="rect">
            <a:avLst/>
          </a:prstGeom>
          <a:solidFill>
            <a:srgbClr val="4FC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816000" y="2177999"/>
            <a:ext cx="2448000" cy="1476000"/>
          </a:xfrm>
          <a:prstGeom prst="rect">
            <a:avLst/>
          </a:prstGeom>
          <a:noFill/>
        </p:spPr>
        <p:txBody>
          <a:bodyPr wrap="square">
            <a:spAutoFit/>
          </a:bodyPr>
          <a:lstStyle/>
          <a:p>
            <a:pPr algn="l"/>
            <a:r>
              <a:rPr sz="1100" b="0" i="0">
                <a:solidFill>
                  <a:srgbClr val="B0C4DE"/>
                </a:solidFill>
              </a:rPr>
              <a:t>Développement des apps iOS &amp; Android.
React Native / Expo.
Intégration API, performance, UX mobile.</a:t>
            </a:r>
          </a:p>
        </p:txBody>
      </p:sp>
      <p:sp>
        <p:nvSpPr>
          <p:cNvPr id="26" name="Rectangle 25"/>
          <p:cNvSpPr/>
          <p:nvPr/>
        </p:nvSpPr>
        <p:spPr>
          <a:xfrm>
            <a:off x="6472800" y="1440000"/>
            <a:ext cx="2628000" cy="2268000"/>
          </a:xfrm>
          <a:prstGeom prst="rect">
            <a:avLst/>
          </a:prstGeom>
          <a:solidFill>
            <a:srgbClr val="132B5E"/>
          </a:solidFill>
          <a:ln w="19050">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472800" y="1440000"/>
            <a:ext cx="2628000" cy="972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092801" y="1548000"/>
            <a:ext cx="900000" cy="187200"/>
          </a:xfrm>
          <a:prstGeom prst="rect">
            <a:avLst/>
          </a:prstGeom>
          <a:solidFill>
            <a:srgbClr val="0B1E42"/>
          </a:solidFill>
          <a:ln w="19050">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092801" y="1548000"/>
            <a:ext cx="900000" cy="187200"/>
          </a:xfrm>
          <a:prstGeom prst="rect">
            <a:avLst/>
          </a:prstGeom>
          <a:noFill/>
        </p:spPr>
        <p:txBody>
          <a:bodyPr wrap="square">
            <a:spAutoFit/>
          </a:bodyPr>
          <a:lstStyle/>
          <a:p>
            <a:pPr algn="ctr"/>
            <a:r>
              <a:rPr sz="900" b="0" i="1">
                <a:solidFill>
                  <a:srgbClr val="D4AF37"/>
                </a:solidFill>
              </a:rPr>
              <a:t>À recruter</a:t>
            </a:r>
          </a:p>
        </p:txBody>
      </p:sp>
      <p:sp>
        <p:nvSpPr>
          <p:cNvPr id="30" name="TextBox 29"/>
          <p:cNvSpPr txBox="1"/>
          <p:nvPr/>
        </p:nvSpPr>
        <p:spPr>
          <a:xfrm>
            <a:off x="6580800" y="1771200"/>
            <a:ext cx="2448000" cy="306000"/>
          </a:xfrm>
          <a:prstGeom prst="rect">
            <a:avLst/>
          </a:prstGeom>
          <a:noFill/>
        </p:spPr>
        <p:txBody>
          <a:bodyPr wrap="square">
            <a:spAutoFit/>
          </a:bodyPr>
          <a:lstStyle/>
          <a:p>
            <a:pPr algn="l"/>
            <a:r>
              <a:rPr sz="1200" b="1" i="0">
                <a:solidFill>
                  <a:srgbClr val="FFFFFF"/>
                </a:solidFill>
              </a:rPr>
              <a:t>Ingénieur Backend &amp; DevOps</a:t>
            </a:r>
          </a:p>
        </p:txBody>
      </p:sp>
      <p:sp>
        <p:nvSpPr>
          <p:cNvPr id="31" name="Rectangle 30"/>
          <p:cNvSpPr/>
          <p:nvPr/>
        </p:nvSpPr>
        <p:spPr>
          <a:xfrm>
            <a:off x="6580800" y="2113200"/>
            <a:ext cx="2412000" cy="180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580800" y="2177999"/>
            <a:ext cx="2448000" cy="1476000"/>
          </a:xfrm>
          <a:prstGeom prst="rect">
            <a:avLst/>
          </a:prstGeom>
          <a:noFill/>
        </p:spPr>
        <p:txBody>
          <a:bodyPr wrap="square">
            <a:spAutoFit/>
          </a:bodyPr>
          <a:lstStyle/>
          <a:p>
            <a:pPr algn="l"/>
            <a:r>
              <a:rPr sz="1100" b="0" i="0">
                <a:solidFill>
                  <a:srgbClr val="B0C4DE"/>
                </a:solidFill>
              </a:rPr>
              <a:t>Rust/Axum, PostgreSQL, Redis.
Déploiement Cloud, CI/CD, sécurité.
Scalabilité infrastructure.</a:t>
            </a:r>
          </a:p>
        </p:txBody>
      </p:sp>
      <p:sp>
        <p:nvSpPr>
          <p:cNvPr id="33" name="Rectangle 32"/>
          <p:cNvSpPr/>
          <p:nvPr/>
        </p:nvSpPr>
        <p:spPr>
          <a:xfrm>
            <a:off x="3708000" y="3844800"/>
            <a:ext cx="2628000" cy="2268000"/>
          </a:xfrm>
          <a:prstGeom prst="rect">
            <a:avLst/>
          </a:prstGeom>
          <a:solidFill>
            <a:srgbClr val="132B5E"/>
          </a:solidFill>
          <a:ln w="19050">
            <a:solidFill>
              <a:srgbClr val="00C8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708000" y="3844800"/>
            <a:ext cx="2628000" cy="97200"/>
          </a:xfrm>
          <a:prstGeom prst="rect">
            <a:avLst/>
          </a:prstGeom>
          <a:solidFill>
            <a:srgbClr val="00C8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328001" y="3952800"/>
            <a:ext cx="900000" cy="187200"/>
          </a:xfrm>
          <a:prstGeom prst="rect">
            <a:avLst/>
          </a:prstGeom>
          <a:solidFill>
            <a:srgbClr val="0B1E42"/>
          </a:solidFill>
          <a:ln w="19050">
            <a:solidFill>
              <a:srgbClr val="00C8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328001" y="3952800"/>
            <a:ext cx="900000" cy="187200"/>
          </a:xfrm>
          <a:prstGeom prst="rect">
            <a:avLst/>
          </a:prstGeom>
          <a:noFill/>
        </p:spPr>
        <p:txBody>
          <a:bodyPr wrap="square">
            <a:spAutoFit/>
          </a:bodyPr>
          <a:lstStyle/>
          <a:p>
            <a:pPr algn="ctr"/>
            <a:r>
              <a:rPr sz="900" b="0" i="1">
                <a:solidFill>
                  <a:srgbClr val="00C87A"/>
                </a:solidFill>
              </a:rPr>
              <a:t>À recruter</a:t>
            </a:r>
          </a:p>
        </p:txBody>
      </p:sp>
      <p:sp>
        <p:nvSpPr>
          <p:cNvPr id="37" name="TextBox 36"/>
          <p:cNvSpPr txBox="1"/>
          <p:nvPr/>
        </p:nvSpPr>
        <p:spPr>
          <a:xfrm>
            <a:off x="3816000" y="4176000"/>
            <a:ext cx="2448000" cy="306000"/>
          </a:xfrm>
          <a:prstGeom prst="rect">
            <a:avLst/>
          </a:prstGeom>
          <a:noFill/>
        </p:spPr>
        <p:txBody>
          <a:bodyPr wrap="square">
            <a:spAutoFit/>
          </a:bodyPr>
          <a:lstStyle/>
          <a:p>
            <a:pPr algn="l"/>
            <a:r>
              <a:rPr sz="1200" b="1" i="0">
                <a:solidFill>
                  <a:srgbClr val="FFFFFF"/>
                </a:solidFill>
              </a:rPr>
              <a:t>Commercial Terrain — Yaoundé</a:t>
            </a:r>
          </a:p>
        </p:txBody>
      </p:sp>
      <p:sp>
        <p:nvSpPr>
          <p:cNvPr id="38" name="Rectangle 37"/>
          <p:cNvSpPr/>
          <p:nvPr/>
        </p:nvSpPr>
        <p:spPr>
          <a:xfrm>
            <a:off x="3816000" y="4518000"/>
            <a:ext cx="2412000" cy="18000"/>
          </a:xfrm>
          <a:prstGeom prst="rect">
            <a:avLst/>
          </a:prstGeom>
          <a:solidFill>
            <a:srgbClr val="00C8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816000" y="4582799"/>
            <a:ext cx="2448000" cy="1476000"/>
          </a:xfrm>
          <a:prstGeom prst="rect">
            <a:avLst/>
          </a:prstGeom>
          <a:noFill/>
        </p:spPr>
        <p:txBody>
          <a:bodyPr wrap="square">
            <a:spAutoFit/>
          </a:bodyPr>
          <a:lstStyle/>
          <a:p>
            <a:pPr algn="l"/>
            <a:r>
              <a:rPr sz="1100" b="0" i="0">
                <a:solidFill>
                  <a:srgbClr val="B0C4DE"/>
                </a:solidFill>
              </a:rPr>
              <a:t>Acquisition prestataires &amp; boutiques.
Démarchage quartiers, marchés.
Formation et onboarding partenaires.</a:t>
            </a:r>
          </a:p>
        </p:txBody>
      </p:sp>
      <p:sp>
        <p:nvSpPr>
          <p:cNvPr id="40" name="Rectangle 39"/>
          <p:cNvSpPr/>
          <p:nvPr/>
        </p:nvSpPr>
        <p:spPr>
          <a:xfrm>
            <a:off x="6472800" y="3844800"/>
            <a:ext cx="2628000" cy="2268000"/>
          </a:xfrm>
          <a:prstGeom prst="rect">
            <a:avLst/>
          </a:prstGeom>
          <a:solidFill>
            <a:srgbClr val="132B5E"/>
          </a:solidFill>
          <a:ln w="19050">
            <a:solidFill>
              <a:srgbClr val="FF99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472800" y="3844800"/>
            <a:ext cx="2628000" cy="97200"/>
          </a:xfrm>
          <a:prstGeom prst="rect">
            <a:avLst/>
          </a:prstGeom>
          <a:solidFill>
            <a:srgbClr val="FF99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8092801" y="3952800"/>
            <a:ext cx="900000" cy="187200"/>
          </a:xfrm>
          <a:prstGeom prst="rect">
            <a:avLst/>
          </a:prstGeom>
          <a:solidFill>
            <a:srgbClr val="0B1E42"/>
          </a:solidFill>
          <a:ln w="19050">
            <a:solidFill>
              <a:srgbClr val="FF99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092801" y="3952800"/>
            <a:ext cx="900000" cy="187200"/>
          </a:xfrm>
          <a:prstGeom prst="rect">
            <a:avLst/>
          </a:prstGeom>
          <a:noFill/>
        </p:spPr>
        <p:txBody>
          <a:bodyPr wrap="square">
            <a:spAutoFit/>
          </a:bodyPr>
          <a:lstStyle/>
          <a:p>
            <a:pPr algn="ctr"/>
            <a:r>
              <a:rPr sz="900" b="0" i="1">
                <a:solidFill>
                  <a:srgbClr val="FF9933"/>
                </a:solidFill>
              </a:rPr>
              <a:t>À recruter</a:t>
            </a:r>
          </a:p>
        </p:txBody>
      </p:sp>
      <p:sp>
        <p:nvSpPr>
          <p:cNvPr id="44" name="TextBox 43"/>
          <p:cNvSpPr txBox="1"/>
          <p:nvPr/>
        </p:nvSpPr>
        <p:spPr>
          <a:xfrm>
            <a:off x="6580800" y="4176000"/>
            <a:ext cx="2448000" cy="306000"/>
          </a:xfrm>
          <a:prstGeom prst="rect">
            <a:avLst/>
          </a:prstGeom>
          <a:noFill/>
        </p:spPr>
        <p:txBody>
          <a:bodyPr wrap="square">
            <a:spAutoFit/>
          </a:bodyPr>
          <a:lstStyle/>
          <a:p>
            <a:pPr algn="l"/>
            <a:r>
              <a:rPr sz="1200" b="1" i="0">
                <a:solidFill>
                  <a:srgbClr val="FFFFFF"/>
                </a:solidFill>
              </a:rPr>
              <a:t>Commercial Terrain — Douala</a:t>
            </a:r>
          </a:p>
        </p:txBody>
      </p:sp>
      <p:sp>
        <p:nvSpPr>
          <p:cNvPr id="45" name="Rectangle 44"/>
          <p:cNvSpPr/>
          <p:nvPr/>
        </p:nvSpPr>
        <p:spPr>
          <a:xfrm>
            <a:off x="6580800" y="4518000"/>
            <a:ext cx="2412000" cy="18000"/>
          </a:xfrm>
          <a:prstGeom prst="rect">
            <a:avLst/>
          </a:prstGeom>
          <a:solidFill>
            <a:srgbClr val="FF99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580800" y="4582799"/>
            <a:ext cx="2448000" cy="1476000"/>
          </a:xfrm>
          <a:prstGeom prst="rect">
            <a:avLst/>
          </a:prstGeom>
          <a:noFill/>
        </p:spPr>
        <p:txBody>
          <a:bodyPr wrap="square">
            <a:spAutoFit/>
          </a:bodyPr>
          <a:lstStyle/>
          <a:p>
            <a:pPr algn="l"/>
            <a:r>
              <a:rPr sz="1100" b="0" i="0">
                <a:solidFill>
                  <a:srgbClr val="B0C4DE"/>
                </a:solidFill>
              </a:rPr>
              <a:t>Même mission sur Douala.
Réseau B2B entreprises &amp; hôtels.
Ambassadeurs &amp; animation terrain.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B1E42"/>
        </a:solidFill>
        <a:effectLst/>
      </p:bgPr>
    </p:bg>
    <p:spTree>
      <p:nvGrpSpPr>
        <p:cNvPr id="1" name=""/>
        <p:cNvGrpSpPr/>
        <p:nvPr/>
      </p:nvGrpSpPr>
      <p:grpSpPr/>
      <p:sp>
        <p:nvSpPr>
          <p:cNvPr id="2" name="Rectangle 1"/>
          <p:cNvSpPr/>
          <p:nvPr/>
        </p:nvSpPr>
        <p:spPr>
          <a:xfrm>
            <a:off x="0" y="0"/>
            <a:ext cx="9144000" cy="4860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6000"/>
            <a:ext cx="144000" cy="6138000"/>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32000" y="36000"/>
            <a:ext cx="540000" cy="413999"/>
          </a:xfrm>
          <a:prstGeom prst="rect">
            <a:avLst/>
          </a:prstGeom>
          <a:noFill/>
        </p:spPr>
        <p:txBody>
          <a:bodyPr wrap="square">
            <a:spAutoFit/>
          </a:bodyPr>
          <a:lstStyle/>
          <a:p>
            <a:pPr algn="ctr"/>
            <a:r>
              <a:rPr sz="1400" b="1" i="0">
                <a:solidFill>
                  <a:srgbClr val="0B1E42"/>
                </a:solidFill>
              </a:rPr>
              <a:t>16</a:t>
            </a:r>
          </a:p>
        </p:txBody>
      </p:sp>
      <p:sp>
        <p:nvSpPr>
          <p:cNvPr id="5" name="TextBox 4"/>
          <p:cNvSpPr txBox="1"/>
          <p:nvPr/>
        </p:nvSpPr>
        <p:spPr>
          <a:xfrm>
            <a:off x="251999" y="540000"/>
            <a:ext cx="8280000" cy="540000"/>
          </a:xfrm>
          <a:prstGeom prst="rect">
            <a:avLst/>
          </a:prstGeom>
          <a:noFill/>
        </p:spPr>
        <p:txBody>
          <a:bodyPr wrap="square">
            <a:spAutoFit/>
          </a:bodyPr>
          <a:lstStyle/>
          <a:p>
            <a:pPr algn="l"/>
            <a:r>
              <a:rPr sz="2100" b="1" i="0">
                <a:solidFill>
                  <a:srgbClr val="FFFFFF"/>
                </a:solidFill>
              </a:rPr>
              <a:t>Modalités de Financement — 3 Options Disponibles</a:t>
            </a:r>
          </a:p>
        </p:txBody>
      </p:sp>
      <p:sp>
        <p:nvSpPr>
          <p:cNvPr id="6" name="TextBox 5"/>
          <p:cNvSpPr txBox="1"/>
          <p:nvPr/>
        </p:nvSpPr>
        <p:spPr>
          <a:xfrm>
            <a:off x="251999" y="1098000"/>
            <a:ext cx="8640001" cy="288000"/>
          </a:xfrm>
          <a:prstGeom prst="rect">
            <a:avLst/>
          </a:prstGeom>
          <a:noFill/>
        </p:spPr>
        <p:txBody>
          <a:bodyPr wrap="square">
            <a:spAutoFit/>
          </a:bodyPr>
          <a:lstStyle/>
          <a:p>
            <a:pPr algn="l"/>
            <a:r>
              <a:rPr sz="1100" b="0" i="1">
                <a:solidFill>
                  <a:srgbClr val="D4AF37"/>
                </a:solidFill>
              </a:rPr>
              <a:t>Prêt bancaire, caution bancaire ou entrée au capital — chaque option est indépendante</a:t>
            </a:r>
          </a:p>
        </p:txBody>
      </p:sp>
      <p:sp>
        <p:nvSpPr>
          <p:cNvPr id="7" name="Rectangle 6"/>
          <p:cNvSpPr/>
          <p:nvPr/>
        </p:nvSpPr>
        <p:spPr>
          <a:xfrm>
            <a:off x="0" y="6642000"/>
            <a:ext cx="9144000" cy="2160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0000" y="6642000"/>
            <a:ext cx="6480000" cy="216000"/>
          </a:xfrm>
          <a:prstGeom prst="rect">
            <a:avLst/>
          </a:prstGeom>
          <a:noFill/>
        </p:spPr>
        <p:txBody>
          <a:bodyPr wrap="square">
            <a:spAutoFit/>
          </a:bodyPr>
          <a:lstStyle/>
          <a:p>
            <a:pPr algn="l"/>
            <a:r>
              <a:rPr sz="900" b="0" i="0">
                <a:solidFill>
                  <a:srgbClr val="0B1E42"/>
                </a:solidFill>
              </a:rPr>
              <a:t>YUKPO  |  YUKPO COMPANY SARL  |  Confidentiel  |  2026</a:t>
            </a:r>
          </a:p>
        </p:txBody>
      </p:sp>
      <p:sp>
        <p:nvSpPr>
          <p:cNvPr id="9" name="Rectangle 8"/>
          <p:cNvSpPr/>
          <p:nvPr/>
        </p:nvSpPr>
        <p:spPr>
          <a:xfrm>
            <a:off x="247500" y="1458000"/>
            <a:ext cx="2718000" cy="4500000"/>
          </a:xfrm>
          <a:prstGeom prst="rect">
            <a:avLst/>
          </a:prstGeom>
          <a:solidFill>
            <a:srgbClr val="132B5E"/>
          </a:solidFill>
          <a:ln w="19050">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47500" y="1458000"/>
            <a:ext cx="2718000" cy="972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6300" y="1602000"/>
            <a:ext cx="2538000" cy="295200"/>
          </a:xfrm>
          <a:prstGeom prst="rect">
            <a:avLst/>
          </a:prstGeom>
          <a:noFill/>
        </p:spPr>
        <p:txBody>
          <a:bodyPr wrap="square">
            <a:spAutoFit/>
          </a:bodyPr>
          <a:lstStyle/>
          <a:p>
            <a:pPr algn="l"/>
            <a:r>
              <a:rPr sz="1300" b="1" i="0">
                <a:solidFill>
                  <a:srgbClr val="D4AF37"/>
                </a:solidFill>
              </a:rPr>
              <a:t>Prêt Bancaire</a:t>
            </a:r>
          </a:p>
        </p:txBody>
      </p:sp>
      <p:sp>
        <p:nvSpPr>
          <p:cNvPr id="12" name="TextBox 11"/>
          <p:cNvSpPr txBox="1"/>
          <p:nvPr/>
        </p:nvSpPr>
        <p:spPr>
          <a:xfrm>
            <a:off x="366300" y="1908000"/>
            <a:ext cx="2538000" cy="540000"/>
          </a:xfrm>
          <a:prstGeom prst="rect">
            <a:avLst/>
          </a:prstGeom>
          <a:noFill/>
        </p:spPr>
        <p:txBody>
          <a:bodyPr wrap="square">
            <a:spAutoFit/>
          </a:bodyPr>
          <a:lstStyle/>
          <a:p>
            <a:pPr algn="ctr"/>
            <a:r>
              <a:rPr sz="1400" b="1" i="0">
                <a:solidFill>
                  <a:srgbClr val="FFFFFF"/>
                </a:solidFill>
              </a:rPr>
              <a:t>Montant :
80 – 120 M FCFA</a:t>
            </a:r>
          </a:p>
        </p:txBody>
      </p:sp>
      <p:sp>
        <p:nvSpPr>
          <p:cNvPr id="13" name="Rectangle 12"/>
          <p:cNvSpPr/>
          <p:nvPr/>
        </p:nvSpPr>
        <p:spPr>
          <a:xfrm>
            <a:off x="391500" y="2473200"/>
            <a:ext cx="2430000" cy="180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6300" y="2538000"/>
            <a:ext cx="2538000" cy="1080000"/>
          </a:xfrm>
          <a:prstGeom prst="rect">
            <a:avLst/>
          </a:prstGeom>
          <a:noFill/>
        </p:spPr>
        <p:txBody>
          <a:bodyPr wrap="square">
            <a:spAutoFit/>
          </a:bodyPr>
          <a:lstStyle/>
          <a:p>
            <a:pPr algn="l"/>
            <a:r>
              <a:rPr sz="1000" b="0" i="0">
                <a:solidFill>
                  <a:srgbClr val="B0C4DE"/>
                </a:solidFill>
              </a:rPr>
              <a:t>Durée : 3 à 5 ans
Taux négocié avec la banque
Remboursement mensuel
sur les revenus YUKPO</a:t>
            </a:r>
          </a:p>
        </p:txBody>
      </p:sp>
      <p:sp>
        <p:nvSpPr>
          <p:cNvPr id="15" name="Rectangle 14"/>
          <p:cNvSpPr/>
          <p:nvPr/>
        </p:nvSpPr>
        <p:spPr>
          <a:xfrm>
            <a:off x="391500" y="3654000"/>
            <a:ext cx="2430000" cy="180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6300" y="3708000"/>
            <a:ext cx="2538000" cy="223200"/>
          </a:xfrm>
          <a:prstGeom prst="rect">
            <a:avLst/>
          </a:prstGeom>
          <a:noFill/>
        </p:spPr>
        <p:txBody>
          <a:bodyPr wrap="square">
            <a:spAutoFit/>
          </a:bodyPr>
          <a:lstStyle/>
          <a:p>
            <a:pPr algn="l"/>
            <a:r>
              <a:rPr sz="1000" b="1" i="0">
                <a:solidFill>
                  <a:srgbClr val="D4AF37"/>
                </a:solidFill>
              </a:rPr>
              <a:t>Modalités clés</a:t>
            </a:r>
          </a:p>
        </p:txBody>
      </p:sp>
      <p:sp>
        <p:nvSpPr>
          <p:cNvPr id="17" name="TextBox 16"/>
          <p:cNvSpPr txBox="1"/>
          <p:nvPr/>
        </p:nvSpPr>
        <p:spPr>
          <a:xfrm>
            <a:off x="366300" y="3942000"/>
            <a:ext cx="2538000" cy="1944000"/>
          </a:xfrm>
          <a:prstGeom prst="rect">
            <a:avLst/>
          </a:prstGeom>
          <a:noFill/>
        </p:spPr>
        <p:txBody>
          <a:bodyPr wrap="square">
            <a:spAutoFit/>
          </a:bodyPr>
          <a:lstStyle/>
          <a:p>
            <a:pPr algn="l"/>
            <a:r>
              <a:rPr sz="1000" b="0" i="0">
                <a:solidFill>
                  <a:srgbClr val="B0C4DE"/>
                </a:solidFill>
              </a:rPr>
              <a:t>Garantie par le chiffre d'affaires
prévu et les actifs de la société.
Option idéale pour
préserver la structure du capital.</a:t>
            </a:r>
          </a:p>
        </p:txBody>
      </p:sp>
      <p:sp>
        <p:nvSpPr>
          <p:cNvPr id="18" name="Rectangle 17"/>
          <p:cNvSpPr/>
          <p:nvPr/>
        </p:nvSpPr>
        <p:spPr>
          <a:xfrm>
            <a:off x="3213000" y="1458000"/>
            <a:ext cx="2718000" cy="4500000"/>
          </a:xfrm>
          <a:prstGeom prst="rect">
            <a:avLst/>
          </a:prstGeom>
          <a:solidFill>
            <a:srgbClr val="132B5E"/>
          </a:solidFill>
          <a:ln w="19050">
            <a:solidFill>
              <a:srgbClr val="4FC3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213000" y="1458000"/>
            <a:ext cx="2718000" cy="97200"/>
          </a:xfrm>
          <a:prstGeom prst="rect">
            <a:avLst/>
          </a:prstGeom>
          <a:solidFill>
            <a:srgbClr val="4FC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331800" y="1602000"/>
            <a:ext cx="2538000" cy="295200"/>
          </a:xfrm>
          <a:prstGeom prst="rect">
            <a:avLst/>
          </a:prstGeom>
          <a:noFill/>
        </p:spPr>
        <p:txBody>
          <a:bodyPr wrap="square">
            <a:spAutoFit/>
          </a:bodyPr>
          <a:lstStyle/>
          <a:p>
            <a:pPr algn="l"/>
            <a:r>
              <a:rPr sz="1300" b="1" i="0">
                <a:solidFill>
                  <a:srgbClr val="4FC3F7"/>
                </a:solidFill>
              </a:rPr>
              <a:t>Caution Bancaire</a:t>
            </a:r>
          </a:p>
        </p:txBody>
      </p:sp>
      <p:sp>
        <p:nvSpPr>
          <p:cNvPr id="21" name="TextBox 20"/>
          <p:cNvSpPr txBox="1"/>
          <p:nvPr/>
        </p:nvSpPr>
        <p:spPr>
          <a:xfrm>
            <a:off x="3331800" y="1908000"/>
            <a:ext cx="2538000" cy="540000"/>
          </a:xfrm>
          <a:prstGeom prst="rect">
            <a:avLst/>
          </a:prstGeom>
          <a:noFill/>
        </p:spPr>
        <p:txBody>
          <a:bodyPr wrap="square">
            <a:spAutoFit/>
          </a:bodyPr>
          <a:lstStyle/>
          <a:p>
            <a:pPr algn="ctr"/>
            <a:r>
              <a:rPr sz="1400" b="1" i="0">
                <a:solidFill>
                  <a:srgbClr val="FFFFFF"/>
                </a:solidFill>
              </a:rPr>
              <a:t>Montant :
50 – 120 M FCFA</a:t>
            </a:r>
          </a:p>
        </p:txBody>
      </p:sp>
      <p:sp>
        <p:nvSpPr>
          <p:cNvPr id="22" name="Rectangle 21"/>
          <p:cNvSpPr/>
          <p:nvPr/>
        </p:nvSpPr>
        <p:spPr>
          <a:xfrm>
            <a:off x="3357000" y="2473200"/>
            <a:ext cx="2430000" cy="18000"/>
          </a:xfrm>
          <a:prstGeom prst="rect">
            <a:avLst/>
          </a:prstGeom>
          <a:solidFill>
            <a:srgbClr val="4FC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331800" y="2538000"/>
            <a:ext cx="2538000" cy="1080000"/>
          </a:xfrm>
          <a:prstGeom prst="rect">
            <a:avLst/>
          </a:prstGeom>
          <a:noFill/>
        </p:spPr>
        <p:txBody>
          <a:bodyPr wrap="square">
            <a:spAutoFit/>
          </a:bodyPr>
          <a:lstStyle/>
          <a:p>
            <a:pPr algn="l"/>
            <a:r>
              <a:rPr sz="1000" b="0" i="0">
                <a:solidFill>
                  <a:srgbClr val="B0C4DE"/>
                </a:solidFill>
              </a:rPr>
              <a:t>La banque se porte caution
pour YUKPO auprès
de partenaires et
fournisseurs stratégiques</a:t>
            </a:r>
          </a:p>
        </p:txBody>
      </p:sp>
      <p:sp>
        <p:nvSpPr>
          <p:cNvPr id="24" name="Rectangle 23"/>
          <p:cNvSpPr/>
          <p:nvPr/>
        </p:nvSpPr>
        <p:spPr>
          <a:xfrm>
            <a:off x="3357000" y="3654000"/>
            <a:ext cx="2430000" cy="18000"/>
          </a:xfrm>
          <a:prstGeom prst="rect">
            <a:avLst/>
          </a:prstGeom>
          <a:solidFill>
            <a:srgbClr val="4FC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331800" y="3708000"/>
            <a:ext cx="2538000" cy="223200"/>
          </a:xfrm>
          <a:prstGeom prst="rect">
            <a:avLst/>
          </a:prstGeom>
          <a:noFill/>
        </p:spPr>
        <p:txBody>
          <a:bodyPr wrap="square">
            <a:spAutoFit/>
          </a:bodyPr>
          <a:lstStyle/>
          <a:p>
            <a:pPr algn="l"/>
            <a:r>
              <a:rPr sz="1000" b="1" i="0">
                <a:solidFill>
                  <a:srgbClr val="4FC3F7"/>
                </a:solidFill>
              </a:rPr>
              <a:t>Avantages</a:t>
            </a:r>
          </a:p>
        </p:txBody>
      </p:sp>
      <p:sp>
        <p:nvSpPr>
          <p:cNvPr id="26" name="TextBox 25"/>
          <p:cNvSpPr txBox="1"/>
          <p:nvPr/>
        </p:nvSpPr>
        <p:spPr>
          <a:xfrm>
            <a:off x="3331800" y="3942000"/>
            <a:ext cx="2538000" cy="1944000"/>
          </a:xfrm>
          <a:prstGeom prst="rect">
            <a:avLst/>
          </a:prstGeom>
          <a:noFill/>
        </p:spPr>
        <p:txBody>
          <a:bodyPr wrap="square">
            <a:spAutoFit/>
          </a:bodyPr>
          <a:lstStyle/>
          <a:p>
            <a:pPr algn="l"/>
            <a:r>
              <a:rPr sz="1000" b="0" i="0">
                <a:solidFill>
                  <a:srgbClr val="B0C4DE"/>
                </a:solidFill>
              </a:rPr>
              <a:t>Déblocage de contrats
commerciaux importants.
Levier de crédibilité marché
sans dilution du capital.</a:t>
            </a:r>
          </a:p>
        </p:txBody>
      </p:sp>
      <p:sp>
        <p:nvSpPr>
          <p:cNvPr id="27" name="Rectangle 26"/>
          <p:cNvSpPr/>
          <p:nvPr/>
        </p:nvSpPr>
        <p:spPr>
          <a:xfrm>
            <a:off x="6178500" y="1458000"/>
            <a:ext cx="2718000" cy="4500000"/>
          </a:xfrm>
          <a:prstGeom prst="rect">
            <a:avLst/>
          </a:prstGeom>
          <a:solidFill>
            <a:srgbClr val="132B5E"/>
          </a:solidFill>
          <a:ln w="19050">
            <a:solidFill>
              <a:srgbClr val="00C8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178500" y="1458000"/>
            <a:ext cx="2718000" cy="97200"/>
          </a:xfrm>
          <a:prstGeom prst="rect">
            <a:avLst/>
          </a:prstGeom>
          <a:solidFill>
            <a:srgbClr val="00C8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297300" y="1602000"/>
            <a:ext cx="2538000" cy="295200"/>
          </a:xfrm>
          <a:prstGeom prst="rect">
            <a:avLst/>
          </a:prstGeom>
          <a:noFill/>
        </p:spPr>
        <p:txBody>
          <a:bodyPr wrap="square">
            <a:spAutoFit/>
          </a:bodyPr>
          <a:lstStyle/>
          <a:p>
            <a:pPr algn="l"/>
            <a:r>
              <a:rPr sz="1300" b="1" i="0">
                <a:solidFill>
                  <a:srgbClr val="00C87A"/>
                </a:solidFill>
              </a:rPr>
              <a:t>Entrée dans le Capital</a:t>
            </a:r>
          </a:p>
        </p:txBody>
      </p:sp>
      <p:sp>
        <p:nvSpPr>
          <p:cNvPr id="30" name="TextBox 29"/>
          <p:cNvSpPr txBox="1"/>
          <p:nvPr/>
        </p:nvSpPr>
        <p:spPr>
          <a:xfrm>
            <a:off x="6297300" y="1908000"/>
            <a:ext cx="2538000" cy="540000"/>
          </a:xfrm>
          <a:prstGeom prst="rect">
            <a:avLst/>
          </a:prstGeom>
          <a:noFill/>
        </p:spPr>
        <p:txBody>
          <a:bodyPr wrap="square">
            <a:spAutoFit/>
          </a:bodyPr>
          <a:lstStyle/>
          <a:p>
            <a:pPr algn="ctr"/>
            <a:r>
              <a:rPr sz="1400" b="1" i="0">
                <a:solidFill>
                  <a:srgbClr val="FFFFFF"/>
                </a:solidFill>
              </a:rPr>
              <a:t>Part max : 20 %
(16,7 % pour 120 M)</a:t>
            </a:r>
          </a:p>
        </p:txBody>
      </p:sp>
      <p:sp>
        <p:nvSpPr>
          <p:cNvPr id="31" name="Rectangle 30"/>
          <p:cNvSpPr/>
          <p:nvPr/>
        </p:nvSpPr>
        <p:spPr>
          <a:xfrm>
            <a:off x="6322500" y="2473200"/>
            <a:ext cx="2430000" cy="18000"/>
          </a:xfrm>
          <a:prstGeom prst="rect">
            <a:avLst/>
          </a:prstGeom>
          <a:solidFill>
            <a:srgbClr val="00C8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297300" y="2538000"/>
            <a:ext cx="2538000" cy="1080000"/>
          </a:xfrm>
          <a:prstGeom prst="rect">
            <a:avLst/>
          </a:prstGeom>
          <a:noFill/>
        </p:spPr>
        <p:txBody>
          <a:bodyPr wrap="square">
            <a:spAutoFit/>
          </a:bodyPr>
          <a:lstStyle/>
          <a:p>
            <a:pPr algn="l"/>
            <a:r>
              <a:rPr sz="1000" b="0" i="0">
                <a:solidFill>
                  <a:srgbClr val="B0C4DE"/>
                </a:solidFill>
              </a:rPr>
              <a:t>Valorisation : &gt; 600 M FCFA
20 000+ heures dev.
Post-money : 720 M FCFA
ROI cible : 3× à 5×</a:t>
            </a:r>
          </a:p>
        </p:txBody>
      </p:sp>
      <p:sp>
        <p:nvSpPr>
          <p:cNvPr id="33" name="Rectangle 32"/>
          <p:cNvSpPr/>
          <p:nvPr/>
        </p:nvSpPr>
        <p:spPr>
          <a:xfrm>
            <a:off x="6322500" y="3654000"/>
            <a:ext cx="2430000" cy="18000"/>
          </a:xfrm>
          <a:prstGeom prst="rect">
            <a:avLst/>
          </a:prstGeom>
          <a:solidFill>
            <a:srgbClr val="00C8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297300" y="3708000"/>
            <a:ext cx="2538000" cy="223200"/>
          </a:xfrm>
          <a:prstGeom prst="rect">
            <a:avLst/>
          </a:prstGeom>
          <a:noFill/>
        </p:spPr>
        <p:txBody>
          <a:bodyPr wrap="square">
            <a:spAutoFit/>
          </a:bodyPr>
          <a:lstStyle/>
          <a:p>
            <a:pPr algn="l"/>
            <a:r>
              <a:rPr sz="1000" b="1" i="0">
                <a:solidFill>
                  <a:srgbClr val="00C87A"/>
                </a:solidFill>
              </a:rPr>
              <a:t>Conditions</a:t>
            </a:r>
          </a:p>
        </p:txBody>
      </p:sp>
      <p:sp>
        <p:nvSpPr>
          <p:cNvPr id="35" name="TextBox 34"/>
          <p:cNvSpPr txBox="1"/>
          <p:nvPr/>
        </p:nvSpPr>
        <p:spPr>
          <a:xfrm>
            <a:off x="6297300" y="3942000"/>
            <a:ext cx="2538000" cy="1944000"/>
          </a:xfrm>
          <a:prstGeom prst="rect">
            <a:avLst/>
          </a:prstGeom>
          <a:noFill/>
        </p:spPr>
        <p:txBody>
          <a:bodyPr wrap="square">
            <a:spAutoFit/>
          </a:bodyPr>
          <a:lstStyle/>
          <a:p>
            <a:pPr algn="l"/>
            <a:r>
              <a:rPr sz="1000" b="0" i="0">
                <a:solidFill>
                  <a:srgbClr val="B0C4DE"/>
                </a:solidFill>
              </a:rPr>
              <a:t>Structure : YUKPO COMPANY SARL
Horizon sortie : 3 à 5 ans
Reporting trimestriel
Siège observateur optionnel</a:t>
            </a:r>
          </a:p>
        </p:txBody>
      </p:sp>
      <p:sp>
        <p:nvSpPr>
          <p:cNvPr id="36" name="Rectangle 35"/>
          <p:cNvSpPr/>
          <p:nvPr/>
        </p:nvSpPr>
        <p:spPr>
          <a:xfrm>
            <a:off x="144000" y="6083999"/>
            <a:ext cx="8856000" cy="630000"/>
          </a:xfrm>
          <a:prstGeom prst="rect">
            <a:avLst/>
          </a:prstGeom>
          <a:solidFill>
            <a:srgbClr val="132B5E"/>
          </a:solidFill>
          <a:ln w="19050">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144000" y="6083999"/>
            <a:ext cx="97200" cy="6300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24000" y="6148799"/>
            <a:ext cx="1980000" cy="259200"/>
          </a:xfrm>
          <a:prstGeom prst="rect">
            <a:avLst/>
          </a:prstGeom>
          <a:noFill/>
        </p:spPr>
        <p:txBody>
          <a:bodyPr wrap="square">
            <a:spAutoFit/>
          </a:bodyPr>
          <a:lstStyle/>
          <a:p>
            <a:pPr algn="l"/>
            <a:r>
              <a:rPr sz="1200" b="1" i="0">
                <a:solidFill>
                  <a:srgbClr val="D4AF37"/>
                </a:solidFill>
              </a:rPr>
              <a:t>Combinaison possible</a:t>
            </a:r>
          </a:p>
        </p:txBody>
      </p:sp>
      <p:sp>
        <p:nvSpPr>
          <p:cNvPr id="39" name="TextBox 38"/>
          <p:cNvSpPr txBox="1"/>
          <p:nvPr/>
        </p:nvSpPr>
        <p:spPr>
          <a:xfrm>
            <a:off x="2340000" y="6137999"/>
            <a:ext cx="6588000" cy="558000"/>
          </a:xfrm>
          <a:prstGeom prst="rect">
            <a:avLst/>
          </a:prstGeom>
          <a:noFill/>
        </p:spPr>
        <p:txBody>
          <a:bodyPr wrap="square">
            <a:spAutoFit/>
          </a:bodyPr>
          <a:lstStyle/>
          <a:p>
            <a:pPr algn="l"/>
            <a:r>
              <a:rPr sz="1100" b="0" i="0">
                <a:solidFill>
                  <a:srgbClr val="B0C4DE"/>
                </a:solidFill>
              </a:rPr>
              <a:t>Ces trois options ne sont pas exclusives. Selon votre profil et vos contraintes, vous pouvez opter pour l'une, l'autre, ou une combinaison personnalisée. Toute proposition sera étudiée avec ouverture et flexibilité.</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B1E42"/>
        </a:solidFill>
        <a:effectLst/>
      </p:bgPr>
    </p:bg>
    <p:spTree>
      <p:nvGrpSpPr>
        <p:cNvPr id="1" name=""/>
        <p:cNvGrpSpPr/>
        <p:nvPr/>
      </p:nvGrpSpPr>
      <p:grpSpPr/>
      <p:sp>
        <p:nvSpPr>
          <p:cNvPr id="2" name="Rectangle 1"/>
          <p:cNvSpPr/>
          <p:nvPr/>
        </p:nvSpPr>
        <p:spPr>
          <a:xfrm>
            <a:off x="0" y="0"/>
            <a:ext cx="9144000" cy="4860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6000"/>
            <a:ext cx="144000" cy="6138000"/>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32000" y="36000"/>
            <a:ext cx="540000" cy="413999"/>
          </a:xfrm>
          <a:prstGeom prst="rect">
            <a:avLst/>
          </a:prstGeom>
          <a:noFill/>
        </p:spPr>
        <p:txBody>
          <a:bodyPr wrap="square">
            <a:spAutoFit/>
          </a:bodyPr>
          <a:lstStyle/>
          <a:p>
            <a:pPr algn="ctr"/>
            <a:r>
              <a:rPr sz="1400" b="1" i="0">
                <a:solidFill>
                  <a:srgbClr val="0B1E42"/>
                </a:solidFill>
              </a:rPr>
              <a:t>17</a:t>
            </a:r>
          </a:p>
        </p:txBody>
      </p:sp>
      <p:sp>
        <p:nvSpPr>
          <p:cNvPr id="5" name="TextBox 4"/>
          <p:cNvSpPr txBox="1"/>
          <p:nvPr/>
        </p:nvSpPr>
        <p:spPr>
          <a:xfrm>
            <a:off x="251999" y="540000"/>
            <a:ext cx="8280000" cy="540000"/>
          </a:xfrm>
          <a:prstGeom prst="rect">
            <a:avLst/>
          </a:prstGeom>
          <a:noFill/>
        </p:spPr>
        <p:txBody>
          <a:bodyPr wrap="square">
            <a:spAutoFit/>
          </a:bodyPr>
          <a:lstStyle/>
          <a:p>
            <a:pPr algn="l"/>
            <a:r>
              <a:rPr sz="2100" b="1" i="0">
                <a:solidFill>
                  <a:srgbClr val="FFFFFF"/>
                </a:solidFill>
              </a:rPr>
              <a:t>Feuille de Route — 36 Mois</a:t>
            </a:r>
          </a:p>
        </p:txBody>
      </p:sp>
      <p:sp>
        <p:nvSpPr>
          <p:cNvPr id="6" name="TextBox 5"/>
          <p:cNvSpPr txBox="1"/>
          <p:nvPr/>
        </p:nvSpPr>
        <p:spPr>
          <a:xfrm>
            <a:off x="251999" y="1098000"/>
            <a:ext cx="8640001" cy="288000"/>
          </a:xfrm>
          <a:prstGeom prst="rect">
            <a:avLst/>
          </a:prstGeom>
          <a:noFill/>
        </p:spPr>
        <p:txBody>
          <a:bodyPr wrap="square">
            <a:spAutoFit/>
          </a:bodyPr>
          <a:lstStyle/>
          <a:p>
            <a:pPr algn="l"/>
            <a:r>
              <a:rPr sz="1100" b="0" i="1">
                <a:solidFill>
                  <a:srgbClr val="D4AF37"/>
                </a:solidFill>
              </a:rPr>
              <a:t>Des jalons concrets et géographiquement orientés vers le leadership africain</a:t>
            </a:r>
          </a:p>
        </p:txBody>
      </p:sp>
      <p:sp>
        <p:nvSpPr>
          <p:cNvPr id="7" name="Rectangle 6"/>
          <p:cNvSpPr/>
          <p:nvPr/>
        </p:nvSpPr>
        <p:spPr>
          <a:xfrm>
            <a:off x="0" y="6642000"/>
            <a:ext cx="9144000" cy="2160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0000" y="6642000"/>
            <a:ext cx="6480000" cy="216000"/>
          </a:xfrm>
          <a:prstGeom prst="rect">
            <a:avLst/>
          </a:prstGeom>
          <a:noFill/>
        </p:spPr>
        <p:txBody>
          <a:bodyPr wrap="square">
            <a:spAutoFit/>
          </a:bodyPr>
          <a:lstStyle/>
          <a:p>
            <a:pPr algn="l"/>
            <a:r>
              <a:rPr sz="900" b="0" i="0">
                <a:solidFill>
                  <a:srgbClr val="0B1E42"/>
                </a:solidFill>
              </a:rPr>
              <a:t>YUKPO  |  YUKPO COMPANY SARL  |  Confidentiel  |  2026</a:t>
            </a:r>
          </a:p>
        </p:txBody>
      </p:sp>
      <p:sp>
        <p:nvSpPr>
          <p:cNvPr id="9" name="Rectangle 8"/>
          <p:cNvSpPr/>
          <p:nvPr/>
        </p:nvSpPr>
        <p:spPr>
          <a:xfrm>
            <a:off x="360000" y="3679200"/>
            <a:ext cx="8424000" cy="576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72800" y="3520800"/>
            <a:ext cx="374400" cy="3744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72800" y="3520800"/>
            <a:ext cx="374400" cy="374400"/>
          </a:xfrm>
          <a:prstGeom prst="rect">
            <a:avLst/>
          </a:prstGeom>
          <a:noFill/>
        </p:spPr>
        <p:txBody>
          <a:bodyPr wrap="square">
            <a:spAutoFit/>
          </a:bodyPr>
          <a:lstStyle/>
          <a:p>
            <a:pPr algn="ctr"/>
            <a:r>
              <a:rPr sz="1000" b="1" i="0">
                <a:solidFill>
                  <a:srgbClr val="0B1E42"/>
                </a:solidFill>
              </a:rPr>
              <a:t>1</a:t>
            </a:r>
          </a:p>
        </p:txBody>
      </p:sp>
      <p:sp>
        <p:nvSpPr>
          <p:cNvPr id="12" name="Rectangle 11"/>
          <p:cNvSpPr/>
          <p:nvPr/>
        </p:nvSpPr>
        <p:spPr>
          <a:xfrm>
            <a:off x="-198000" y="1558800"/>
            <a:ext cx="1116000" cy="1872000"/>
          </a:xfrm>
          <a:prstGeom prst="rect">
            <a:avLst/>
          </a:prstGeom>
          <a:solidFill>
            <a:srgbClr val="132B5E"/>
          </a:solidFill>
          <a:ln w="19050">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98000" y="1558800"/>
            <a:ext cx="1116000" cy="792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3200" y="1666800"/>
            <a:ext cx="1000800" cy="198000"/>
          </a:xfrm>
          <a:prstGeom prst="rect">
            <a:avLst/>
          </a:prstGeom>
          <a:noFill/>
        </p:spPr>
        <p:txBody>
          <a:bodyPr wrap="square">
            <a:spAutoFit/>
          </a:bodyPr>
          <a:lstStyle/>
          <a:p>
            <a:pPr algn="ctr"/>
            <a:r>
              <a:rPr sz="800" b="1" i="0">
                <a:solidFill>
                  <a:srgbClr val="D4AF37"/>
                </a:solidFill>
              </a:rPr>
              <a:t>T2 2026</a:t>
            </a:r>
          </a:p>
        </p:txBody>
      </p:sp>
      <p:sp>
        <p:nvSpPr>
          <p:cNvPr id="15" name="TextBox 14"/>
          <p:cNvSpPr txBox="1"/>
          <p:nvPr/>
        </p:nvSpPr>
        <p:spPr>
          <a:xfrm>
            <a:off x="-133200" y="1875600"/>
            <a:ext cx="1000800" cy="486000"/>
          </a:xfrm>
          <a:prstGeom prst="rect">
            <a:avLst/>
          </a:prstGeom>
          <a:noFill/>
        </p:spPr>
        <p:txBody>
          <a:bodyPr wrap="square">
            <a:spAutoFit/>
          </a:bodyPr>
          <a:lstStyle/>
          <a:p>
            <a:pPr algn="ctr"/>
            <a:r>
              <a:rPr sz="1100" b="1" i="0">
                <a:solidFill>
                  <a:srgbClr val="FFFFFF"/>
                </a:solidFill>
              </a:rPr>
              <a:t>Lancement
Yaoundé+Douala</a:t>
            </a:r>
          </a:p>
        </p:txBody>
      </p:sp>
      <p:sp>
        <p:nvSpPr>
          <p:cNvPr id="16" name="TextBox 15"/>
          <p:cNvSpPr txBox="1"/>
          <p:nvPr/>
        </p:nvSpPr>
        <p:spPr>
          <a:xfrm>
            <a:off x="-133200" y="2379599"/>
            <a:ext cx="1000800" cy="990000"/>
          </a:xfrm>
          <a:prstGeom prst="rect">
            <a:avLst/>
          </a:prstGeom>
          <a:noFill/>
        </p:spPr>
        <p:txBody>
          <a:bodyPr wrap="square">
            <a:spAutoFit/>
          </a:bodyPr>
          <a:lstStyle/>
          <a:p>
            <a:pPr algn="ctr"/>
            <a:r>
              <a:rPr sz="900" b="0" i="0">
                <a:solidFill>
                  <a:srgbClr val="B0C4DE"/>
                </a:solidFill>
              </a:rPr>
              <a:t>9 services + Bourse
du Livre actifs</a:t>
            </a:r>
          </a:p>
        </p:txBody>
      </p:sp>
      <p:sp>
        <p:nvSpPr>
          <p:cNvPr id="17" name="Rectangle 16"/>
          <p:cNvSpPr/>
          <p:nvPr/>
        </p:nvSpPr>
        <p:spPr>
          <a:xfrm>
            <a:off x="1576800" y="3520800"/>
            <a:ext cx="374400" cy="374400"/>
          </a:xfrm>
          <a:prstGeom prst="rect">
            <a:avLst/>
          </a:prstGeom>
          <a:solidFill>
            <a:srgbClr val="FF99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576800" y="3520800"/>
            <a:ext cx="374400" cy="374400"/>
          </a:xfrm>
          <a:prstGeom prst="rect">
            <a:avLst/>
          </a:prstGeom>
          <a:noFill/>
        </p:spPr>
        <p:txBody>
          <a:bodyPr wrap="square">
            <a:spAutoFit/>
          </a:bodyPr>
          <a:lstStyle/>
          <a:p>
            <a:pPr algn="ctr"/>
            <a:r>
              <a:rPr sz="1000" b="1" i="0">
                <a:solidFill>
                  <a:srgbClr val="0B1E42"/>
                </a:solidFill>
              </a:rPr>
              <a:t>2</a:t>
            </a:r>
          </a:p>
        </p:txBody>
      </p:sp>
      <p:sp>
        <p:nvSpPr>
          <p:cNvPr id="19" name="Rectangle 18"/>
          <p:cNvSpPr/>
          <p:nvPr/>
        </p:nvSpPr>
        <p:spPr>
          <a:xfrm>
            <a:off x="1206000" y="3985200"/>
            <a:ext cx="1116000" cy="1872000"/>
          </a:xfrm>
          <a:prstGeom prst="rect">
            <a:avLst/>
          </a:prstGeom>
          <a:solidFill>
            <a:srgbClr val="132B5E"/>
          </a:solidFill>
          <a:ln w="19050">
            <a:solidFill>
              <a:srgbClr val="FF99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206000" y="3985200"/>
            <a:ext cx="1116000" cy="79200"/>
          </a:xfrm>
          <a:prstGeom prst="rect">
            <a:avLst/>
          </a:prstGeom>
          <a:solidFill>
            <a:srgbClr val="FF99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270800" y="4093200"/>
            <a:ext cx="1000800" cy="198000"/>
          </a:xfrm>
          <a:prstGeom prst="rect">
            <a:avLst/>
          </a:prstGeom>
          <a:noFill/>
        </p:spPr>
        <p:txBody>
          <a:bodyPr wrap="square">
            <a:spAutoFit/>
          </a:bodyPr>
          <a:lstStyle/>
          <a:p>
            <a:pPr algn="ctr"/>
            <a:r>
              <a:rPr sz="800" b="1" i="0">
                <a:solidFill>
                  <a:srgbClr val="FF9933"/>
                </a:solidFill>
              </a:rPr>
              <a:t>T3 2026</a:t>
            </a:r>
          </a:p>
        </p:txBody>
      </p:sp>
      <p:sp>
        <p:nvSpPr>
          <p:cNvPr id="22" name="TextBox 21"/>
          <p:cNvSpPr txBox="1"/>
          <p:nvPr/>
        </p:nvSpPr>
        <p:spPr>
          <a:xfrm>
            <a:off x="1270800" y="4302000"/>
            <a:ext cx="1000800" cy="486000"/>
          </a:xfrm>
          <a:prstGeom prst="rect">
            <a:avLst/>
          </a:prstGeom>
          <a:noFill/>
        </p:spPr>
        <p:txBody>
          <a:bodyPr wrap="square">
            <a:spAutoFit/>
          </a:bodyPr>
          <a:lstStyle/>
          <a:p>
            <a:pPr algn="ctr"/>
            <a:r>
              <a:rPr sz="1100" b="1" i="0">
                <a:solidFill>
                  <a:srgbClr val="FFFFFF"/>
                </a:solidFill>
              </a:rPr>
              <a:t>Bourse
du Livre</a:t>
            </a:r>
          </a:p>
        </p:txBody>
      </p:sp>
      <p:sp>
        <p:nvSpPr>
          <p:cNvPr id="23" name="TextBox 22"/>
          <p:cNvSpPr txBox="1"/>
          <p:nvPr/>
        </p:nvSpPr>
        <p:spPr>
          <a:xfrm>
            <a:off x="1270800" y="4805999"/>
            <a:ext cx="1000800" cy="990000"/>
          </a:xfrm>
          <a:prstGeom prst="rect">
            <a:avLst/>
          </a:prstGeom>
          <a:noFill/>
        </p:spPr>
        <p:txBody>
          <a:bodyPr wrap="square">
            <a:spAutoFit/>
          </a:bodyPr>
          <a:lstStyle/>
          <a:p>
            <a:pPr algn="ctr"/>
            <a:r>
              <a:rPr sz="900" b="0" i="0">
                <a:solidFill>
                  <a:srgbClr val="B0C4DE"/>
                </a:solidFill>
              </a:rPr>
              <a:t>Levier scolaire :
50 000+ familles ciblées</a:t>
            </a:r>
          </a:p>
        </p:txBody>
      </p:sp>
      <p:sp>
        <p:nvSpPr>
          <p:cNvPr id="24" name="Rectangle 23"/>
          <p:cNvSpPr/>
          <p:nvPr/>
        </p:nvSpPr>
        <p:spPr>
          <a:xfrm>
            <a:off x="2980800" y="3520800"/>
            <a:ext cx="374400" cy="374400"/>
          </a:xfrm>
          <a:prstGeom prst="rect">
            <a:avLst/>
          </a:prstGeom>
          <a:solidFill>
            <a:srgbClr val="4FC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980800" y="3520800"/>
            <a:ext cx="374400" cy="374400"/>
          </a:xfrm>
          <a:prstGeom prst="rect">
            <a:avLst/>
          </a:prstGeom>
          <a:noFill/>
        </p:spPr>
        <p:txBody>
          <a:bodyPr wrap="square">
            <a:spAutoFit/>
          </a:bodyPr>
          <a:lstStyle/>
          <a:p>
            <a:pPr algn="ctr"/>
            <a:r>
              <a:rPr sz="1000" b="1" i="0">
                <a:solidFill>
                  <a:srgbClr val="0B1E42"/>
                </a:solidFill>
              </a:rPr>
              <a:t>3</a:t>
            </a:r>
          </a:p>
        </p:txBody>
      </p:sp>
      <p:sp>
        <p:nvSpPr>
          <p:cNvPr id="26" name="Rectangle 25"/>
          <p:cNvSpPr/>
          <p:nvPr/>
        </p:nvSpPr>
        <p:spPr>
          <a:xfrm>
            <a:off x="2610000" y="1558800"/>
            <a:ext cx="1116000" cy="1872000"/>
          </a:xfrm>
          <a:prstGeom prst="rect">
            <a:avLst/>
          </a:prstGeom>
          <a:solidFill>
            <a:srgbClr val="132B5E"/>
          </a:solidFill>
          <a:ln w="19050">
            <a:solidFill>
              <a:srgbClr val="4FC3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610000" y="1558800"/>
            <a:ext cx="1116000" cy="79200"/>
          </a:xfrm>
          <a:prstGeom prst="rect">
            <a:avLst/>
          </a:prstGeom>
          <a:solidFill>
            <a:srgbClr val="4FC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674800" y="1666800"/>
            <a:ext cx="1000800" cy="198000"/>
          </a:xfrm>
          <a:prstGeom prst="rect">
            <a:avLst/>
          </a:prstGeom>
          <a:noFill/>
        </p:spPr>
        <p:txBody>
          <a:bodyPr wrap="square">
            <a:spAutoFit/>
          </a:bodyPr>
          <a:lstStyle/>
          <a:p>
            <a:pPr algn="ctr"/>
            <a:r>
              <a:rPr sz="800" b="1" i="0">
                <a:solidFill>
                  <a:srgbClr val="4FC3F7"/>
                </a:solidFill>
              </a:rPr>
              <a:t>T4 2026</a:t>
            </a:r>
          </a:p>
        </p:txBody>
      </p:sp>
      <p:sp>
        <p:nvSpPr>
          <p:cNvPr id="29" name="TextBox 28"/>
          <p:cNvSpPr txBox="1"/>
          <p:nvPr/>
        </p:nvSpPr>
        <p:spPr>
          <a:xfrm>
            <a:off x="2674800" y="1875600"/>
            <a:ext cx="1000800" cy="486000"/>
          </a:xfrm>
          <a:prstGeom prst="rect">
            <a:avLst/>
          </a:prstGeom>
          <a:noFill/>
        </p:spPr>
        <p:txBody>
          <a:bodyPr wrap="square">
            <a:spAutoFit/>
          </a:bodyPr>
          <a:lstStyle/>
          <a:p>
            <a:pPr algn="ctr"/>
            <a:r>
              <a:rPr sz="1100" b="1" i="0">
                <a:solidFill>
                  <a:srgbClr val="FFFFFF"/>
                </a:solidFill>
              </a:rPr>
              <a:t>30 000
utilisateurs</a:t>
            </a:r>
          </a:p>
        </p:txBody>
      </p:sp>
      <p:sp>
        <p:nvSpPr>
          <p:cNvPr id="30" name="TextBox 29"/>
          <p:cNvSpPr txBox="1"/>
          <p:nvPr/>
        </p:nvSpPr>
        <p:spPr>
          <a:xfrm>
            <a:off x="2674800" y="2379599"/>
            <a:ext cx="1000800" cy="990000"/>
          </a:xfrm>
          <a:prstGeom prst="rect">
            <a:avLst/>
          </a:prstGeom>
          <a:noFill/>
        </p:spPr>
        <p:txBody>
          <a:bodyPr wrap="square">
            <a:spAutoFit/>
          </a:bodyPr>
          <a:lstStyle/>
          <a:p>
            <a:pPr algn="ctr"/>
            <a:r>
              <a:rPr sz="900" b="0" i="0">
                <a:solidFill>
                  <a:srgbClr val="B0C4DE"/>
                </a:solidFill>
              </a:rPr>
              <a:t>Croissance organique
campagnes actives</a:t>
            </a:r>
          </a:p>
        </p:txBody>
      </p:sp>
      <p:sp>
        <p:nvSpPr>
          <p:cNvPr id="31" name="Rectangle 30"/>
          <p:cNvSpPr/>
          <p:nvPr/>
        </p:nvSpPr>
        <p:spPr>
          <a:xfrm>
            <a:off x="4384800" y="3520800"/>
            <a:ext cx="374400" cy="3744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384800" y="3520800"/>
            <a:ext cx="374400" cy="374400"/>
          </a:xfrm>
          <a:prstGeom prst="rect">
            <a:avLst/>
          </a:prstGeom>
          <a:noFill/>
        </p:spPr>
        <p:txBody>
          <a:bodyPr wrap="square">
            <a:spAutoFit/>
          </a:bodyPr>
          <a:lstStyle/>
          <a:p>
            <a:pPr algn="ctr"/>
            <a:r>
              <a:rPr sz="1000" b="1" i="0">
                <a:solidFill>
                  <a:srgbClr val="0B1E42"/>
                </a:solidFill>
              </a:rPr>
              <a:t>4</a:t>
            </a:r>
          </a:p>
        </p:txBody>
      </p:sp>
      <p:sp>
        <p:nvSpPr>
          <p:cNvPr id="33" name="Rectangle 32"/>
          <p:cNvSpPr/>
          <p:nvPr/>
        </p:nvSpPr>
        <p:spPr>
          <a:xfrm>
            <a:off x="4014000" y="3985200"/>
            <a:ext cx="1116000" cy="1872000"/>
          </a:xfrm>
          <a:prstGeom prst="rect">
            <a:avLst/>
          </a:prstGeom>
          <a:solidFill>
            <a:srgbClr val="132B5E"/>
          </a:solidFill>
          <a:ln w="19050">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4014000" y="3985200"/>
            <a:ext cx="1116000" cy="792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078800" y="4093200"/>
            <a:ext cx="1000800" cy="198000"/>
          </a:xfrm>
          <a:prstGeom prst="rect">
            <a:avLst/>
          </a:prstGeom>
          <a:noFill/>
        </p:spPr>
        <p:txBody>
          <a:bodyPr wrap="square">
            <a:spAutoFit/>
          </a:bodyPr>
          <a:lstStyle/>
          <a:p>
            <a:pPr algn="ctr"/>
            <a:r>
              <a:rPr sz="800" b="1" i="0">
                <a:solidFill>
                  <a:srgbClr val="D4AF37"/>
                </a:solidFill>
              </a:rPr>
              <a:t>T1 2027</a:t>
            </a:r>
          </a:p>
        </p:txBody>
      </p:sp>
      <p:sp>
        <p:nvSpPr>
          <p:cNvPr id="36" name="TextBox 35"/>
          <p:cNvSpPr txBox="1"/>
          <p:nvPr/>
        </p:nvSpPr>
        <p:spPr>
          <a:xfrm>
            <a:off x="4078800" y="4302000"/>
            <a:ext cx="1000800" cy="486000"/>
          </a:xfrm>
          <a:prstGeom prst="rect">
            <a:avLst/>
          </a:prstGeom>
          <a:noFill/>
        </p:spPr>
        <p:txBody>
          <a:bodyPr wrap="square">
            <a:spAutoFit/>
          </a:bodyPr>
          <a:lstStyle/>
          <a:p>
            <a:pPr algn="ctr"/>
            <a:r>
              <a:rPr sz="1100" b="1" i="0">
                <a:solidFill>
                  <a:srgbClr val="FFFFFF"/>
                </a:solidFill>
              </a:rPr>
              <a:t>Bafoussam
+ densif.</a:t>
            </a:r>
          </a:p>
        </p:txBody>
      </p:sp>
      <p:sp>
        <p:nvSpPr>
          <p:cNvPr id="37" name="TextBox 36"/>
          <p:cNvSpPr txBox="1"/>
          <p:nvPr/>
        </p:nvSpPr>
        <p:spPr>
          <a:xfrm>
            <a:off x="4078800" y="4805999"/>
            <a:ext cx="1000800" cy="990000"/>
          </a:xfrm>
          <a:prstGeom prst="rect">
            <a:avLst/>
          </a:prstGeom>
          <a:noFill/>
        </p:spPr>
        <p:txBody>
          <a:bodyPr wrap="square">
            <a:spAutoFit/>
          </a:bodyPr>
          <a:lstStyle/>
          <a:p>
            <a:pPr algn="ctr"/>
            <a:r>
              <a:rPr sz="900" b="0" i="0">
                <a:solidFill>
                  <a:srgbClr val="B0C4DE"/>
                </a:solidFill>
              </a:rPr>
              <a:t>3e ville + réseau
national camerounais</a:t>
            </a:r>
          </a:p>
        </p:txBody>
      </p:sp>
      <p:sp>
        <p:nvSpPr>
          <p:cNvPr id="38" name="Rectangle 37"/>
          <p:cNvSpPr/>
          <p:nvPr/>
        </p:nvSpPr>
        <p:spPr>
          <a:xfrm>
            <a:off x="5788800" y="3520800"/>
            <a:ext cx="374400" cy="374400"/>
          </a:xfrm>
          <a:prstGeom prst="rect">
            <a:avLst/>
          </a:prstGeom>
          <a:solidFill>
            <a:srgbClr val="00C8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788800" y="3520800"/>
            <a:ext cx="374400" cy="374400"/>
          </a:xfrm>
          <a:prstGeom prst="rect">
            <a:avLst/>
          </a:prstGeom>
          <a:noFill/>
        </p:spPr>
        <p:txBody>
          <a:bodyPr wrap="square">
            <a:spAutoFit/>
          </a:bodyPr>
          <a:lstStyle/>
          <a:p>
            <a:pPr algn="ctr"/>
            <a:r>
              <a:rPr sz="1000" b="1" i="0">
                <a:solidFill>
                  <a:srgbClr val="0B1E42"/>
                </a:solidFill>
              </a:rPr>
              <a:t>5</a:t>
            </a:r>
          </a:p>
        </p:txBody>
      </p:sp>
      <p:sp>
        <p:nvSpPr>
          <p:cNvPr id="40" name="Rectangle 39"/>
          <p:cNvSpPr/>
          <p:nvPr/>
        </p:nvSpPr>
        <p:spPr>
          <a:xfrm>
            <a:off x="5418000" y="1558800"/>
            <a:ext cx="1116000" cy="1872000"/>
          </a:xfrm>
          <a:prstGeom prst="rect">
            <a:avLst/>
          </a:prstGeom>
          <a:solidFill>
            <a:srgbClr val="132B5E"/>
          </a:solidFill>
          <a:ln w="19050">
            <a:solidFill>
              <a:srgbClr val="00C8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5418000" y="1558800"/>
            <a:ext cx="1116000" cy="79200"/>
          </a:xfrm>
          <a:prstGeom prst="rect">
            <a:avLst/>
          </a:prstGeom>
          <a:solidFill>
            <a:srgbClr val="00C8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482800" y="1666800"/>
            <a:ext cx="1000800" cy="198000"/>
          </a:xfrm>
          <a:prstGeom prst="rect">
            <a:avLst/>
          </a:prstGeom>
          <a:noFill/>
        </p:spPr>
        <p:txBody>
          <a:bodyPr wrap="square">
            <a:spAutoFit/>
          </a:bodyPr>
          <a:lstStyle/>
          <a:p>
            <a:pPr algn="ctr"/>
            <a:r>
              <a:rPr sz="800" b="1" i="0">
                <a:solidFill>
                  <a:srgbClr val="00C87A"/>
                </a:solidFill>
              </a:rPr>
              <a:t>Q4 2027</a:t>
            </a:r>
          </a:p>
        </p:txBody>
      </p:sp>
      <p:sp>
        <p:nvSpPr>
          <p:cNvPr id="43" name="TextBox 42"/>
          <p:cNvSpPr txBox="1"/>
          <p:nvPr/>
        </p:nvSpPr>
        <p:spPr>
          <a:xfrm>
            <a:off x="5482800" y="1875600"/>
            <a:ext cx="1000800" cy="486000"/>
          </a:xfrm>
          <a:prstGeom prst="rect">
            <a:avLst/>
          </a:prstGeom>
          <a:noFill/>
        </p:spPr>
        <p:txBody>
          <a:bodyPr wrap="square">
            <a:spAutoFit/>
          </a:bodyPr>
          <a:lstStyle/>
          <a:p>
            <a:pPr algn="ctr"/>
            <a:r>
              <a:rPr sz="1100" b="1" i="0">
                <a:solidFill>
                  <a:srgbClr val="FFFFFF"/>
                </a:solidFill>
              </a:rPr>
              <a:t>Côte
d'Ivoire</a:t>
            </a:r>
          </a:p>
        </p:txBody>
      </p:sp>
      <p:sp>
        <p:nvSpPr>
          <p:cNvPr id="44" name="TextBox 43"/>
          <p:cNvSpPr txBox="1"/>
          <p:nvPr/>
        </p:nvSpPr>
        <p:spPr>
          <a:xfrm>
            <a:off x="5482800" y="2379599"/>
            <a:ext cx="1000800" cy="990000"/>
          </a:xfrm>
          <a:prstGeom prst="rect">
            <a:avLst/>
          </a:prstGeom>
          <a:noFill/>
        </p:spPr>
        <p:txBody>
          <a:bodyPr wrap="square">
            <a:spAutoFit/>
          </a:bodyPr>
          <a:lstStyle/>
          <a:p>
            <a:pPr algn="ctr"/>
            <a:r>
              <a:rPr sz="900" b="0" i="0">
                <a:solidFill>
                  <a:srgbClr val="B0C4DE"/>
                </a:solidFill>
              </a:rPr>
              <a:t>Abidjan — 1er marché
international</a:t>
            </a:r>
          </a:p>
        </p:txBody>
      </p:sp>
      <p:sp>
        <p:nvSpPr>
          <p:cNvPr id="45" name="Rectangle 44"/>
          <p:cNvSpPr/>
          <p:nvPr/>
        </p:nvSpPr>
        <p:spPr>
          <a:xfrm>
            <a:off x="7192800" y="3520800"/>
            <a:ext cx="374400" cy="374400"/>
          </a:xfrm>
          <a:prstGeom prst="rect">
            <a:avLst/>
          </a:prstGeom>
          <a:solidFill>
            <a:srgbClr val="00C8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192800" y="3520800"/>
            <a:ext cx="374400" cy="374400"/>
          </a:xfrm>
          <a:prstGeom prst="rect">
            <a:avLst/>
          </a:prstGeom>
          <a:noFill/>
        </p:spPr>
        <p:txBody>
          <a:bodyPr wrap="square">
            <a:spAutoFit/>
          </a:bodyPr>
          <a:lstStyle/>
          <a:p>
            <a:pPr algn="ctr"/>
            <a:r>
              <a:rPr sz="1000" b="1" i="0">
                <a:solidFill>
                  <a:srgbClr val="0B1E42"/>
                </a:solidFill>
              </a:rPr>
              <a:t>6</a:t>
            </a:r>
          </a:p>
        </p:txBody>
      </p:sp>
      <p:sp>
        <p:nvSpPr>
          <p:cNvPr id="47" name="Rectangle 46"/>
          <p:cNvSpPr/>
          <p:nvPr/>
        </p:nvSpPr>
        <p:spPr>
          <a:xfrm>
            <a:off x="6822000" y="3985200"/>
            <a:ext cx="1116000" cy="1872000"/>
          </a:xfrm>
          <a:prstGeom prst="rect">
            <a:avLst/>
          </a:prstGeom>
          <a:solidFill>
            <a:srgbClr val="132B5E"/>
          </a:solidFill>
          <a:ln w="19050">
            <a:solidFill>
              <a:srgbClr val="00C8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6822000" y="3985200"/>
            <a:ext cx="1116000" cy="79200"/>
          </a:xfrm>
          <a:prstGeom prst="rect">
            <a:avLst/>
          </a:prstGeom>
          <a:solidFill>
            <a:srgbClr val="00C8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886800" y="4093200"/>
            <a:ext cx="1000800" cy="198000"/>
          </a:xfrm>
          <a:prstGeom prst="rect">
            <a:avLst/>
          </a:prstGeom>
          <a:noFill/>
        </p:spPr>
        <p:txBody>
          <a:bodyPr wrap="square">
            <a:spAutoFit/>
          </a:bodyPr>
          <a:lstStyle/>
          <a:p>
            <a:pPr algn="ctr"/>
            <a:r>
              <a:rPr sz="800" b="1" i="0">
                <a:solidFill>
                  <a:srgbClr val="00C87A"/>
                </a:solidFill>
              </a:rPr>
              <a:t>T1 2028</a:t>
            </a:r>
          </a:p>
        </p:txBody>
      </p:sp>
      <p:sp>
        <p:nvSpPr>
          <p:cNvPr id="50" name="TextBox 49"/>
          <p:cNvSpPr txBox="1"/>
          <p:nvPr/>
        </p:nvSpPr>
        <p:spPr>
          <a:xfrm>
            <a:off x="6886800" y="4302000"/>
            <a:ext cx="1000800" cy="486000"/>
          </a:xfrm>
          <a:prstGeom prst="rect">
            <a:avLst/>
          </a:prstGeom>
          <a:noFill/>
        </p:spPr>
        <p:txBody>
          <a:bodyPr wrap="square">
            <a:spAutoFit/>
          </a:bodyPr>
          <a:lstStyle/>
          <a:p>
            <a:pPr algn="ctr"/>
            <a:r>
              <a:rPr sz="1100" b="1" i="0">
                <a:solidFill>
                  <a:srgbClr val="FFFFFF"/>
                </a:solidFill>
              </a:rPr>
              <a:t>Rentabilité
Nette</a:t>
            </a:r>
          </a:p>
        </p:txBody>
      </p:sp>
      <p:sp>
        <p:nvSpPr>
          <p:cNvPr id="51" name="TextBox 50"/>
          <p:cNvSpPr txBox="1"/>
          <p:nvPr/>
        </p:nvSpPr>
        <p:spPr>
          <a:xfrm>
            <a:off x="6886800" y="4805999"/>
            <a:ext cx="1000800" cy="990000"/>
          </a:xfrm>
          <a:prstGeom prst="rect">
            <a:avLst/>
          </a:prstGeom>
          <a:noFill/>
        </p:spPr>
        <p:txBody>
          <a:bodyPr wrap="square">
            <a:spAutoFit/>
          </a:bodyPr>
          <a:lstStyle/>
          <a:p>
            <a:pPr algn="ctr"/>
            <a:r>
              <a:rPr sz="900" b="0" i="0">
                <a:solidFill>
                  <a:srgbClr val="B0C4DE"/>
                </a:solidFill>
              </a:rPr>
              <a:t>+27 M FCFA/mois
meilleur des cas</a:t>
            </a:r>
          </a:p>
        </p:txBody>
      </p:sp>
      <p:sp>
        <p:nvSpPr>
          <p:cNvPr id="52" name="Rectangle 51"/>
          <p:cNvSpPr/>
          <p:nvPr/>
        </p:nvSpPr>
        <p:spPr>
          <a:xfrm>
            <a:off x="8596800" y="3520800"/>
            <a:ext cx="374400" cy="374400"/>
          </a:xfrm>
          <a:prstGeom prst="rect">
            <a:avLst/>
          </a:prstGeom>
          <a:solidFill>
            <a:srgbClr val="FF99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8596800" y="3520800"/>
            <a:ext cx="374400" cy="374400"/>
          </a:xfrm>
          <a:prstGeom prst="rect">
            <a:avLst/>
          </a:prstGeom>
          <a:noFill/>
        </p:spPr>
        <p:txBody>
          <a:bodyPr wrap="square">
            <a:spAutoFit/>
          </a:bodyPr>
          <a:lstStyle/>
          <a:p>
            <a:pPr algn="ctr"/>
            <a:r>
              <a:rPr sz="1000" b="1" i="0">
                <a:solidFill>
                  <a:srgbClr val="0B1E42"/>
                </a:solidFill>
              </a:rPr>
              <a:t>7</a:t>
            </a:r>
          </a:p>
        </p:txBody>
      </p:sp>
      <p:sp>
        <p:nvSpPr>
          <p:cNvPr id="54" name="Rectangle 53"/>
          <p:cNvSpPr/>
          <p:nvPr/>
        </p:nvSpPr>
        <p:spPr>
          <a:xfrm>
            <a:off x="8226000" y="1558800"/>
            <a:ext cx="1116000" cy="1872000"/>
          </a:xfrm>
          <a:prstGeom prst="rect">
            <a:avLst/>
          </a:prstGeom>
          <a:solidFill>
            <a:srgbClr val="132B5E"/>
          </a:solidFill>
          <a:ln w="19050">
            <a:solidFill>
              <a:srgbClr val="FF99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8226000" y="1558800"/>
            <a:ext cx="1116000" cy="79200"/>
          </a:xfrm>
          <a:prstGeom prst="rect">
            <a:avLst/>
          </a:prstGeom>
          <a:solidFill>
            <a:srgbClr val="FF99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8290800" y="1666800"/>
            <a:ext cx="1000800" cy="198000"/>
          </a:xfrm>
          <a:prstGeom prst="rect">
            <a:avLst/>
          </a:prstGeom>
          <a:noFill/>
        </p:spPr>
        <p:txBody>
          <a:bodyPr wrap="square">
            <a:spAutoFit/>
          </a:bodyPr>
          <a:lstStyle/>
          <a:p>
            <a:pPr algn="ctr"/>
            <a:r>
              <a:rPr sz="800" b="1" i="0">
                <a:solidFill>
                  <a:srgbClr val="FF9933"/>
                </a:solidFill>
              </a:rPr>
              <a:t>S2 2028+</a:t>
            </a:r>
          </a:p>
        </p:txBody>
      </p:sp>
      <p:sp>
        <p:nvSpPr>
          <p:cNvPr id="57" name="TextBox 56"/>
          <p:cNvSpPr txBox="1"/>
          <p:nvPr/>
        </p:nvSpPr>
        <p:spPr>
          <a:xfrm>
            <a:off x="8290800" y="1875600"/>
            <a:ext cx="1000800" cy="486000"/>
          </a:xfrm>
          <a:prstGeom prst="rect">
            <a:avLst/>
          </a:prstGeom>
          <a:noFill/>
        </p:spPr>
        <p:txBody>
          <a:bodyPr wrap="square">
            <a:spAutoFit/>
          </a:bodyPr>
          <a:lstStyle/>
          <a:p>
            <a:pPr algn="ctr"/>
            <a:r>
              <a:rPr sz="1100" b="1" i="0">
                <a:solidFill>
                  <a:srgbClr val="FFFFFF"/>
                </a:solidFill>
              </a:rPr>
              <a:t>Sénégal &amp;
Afrique</a:t>
            </a:r>
          </a:p>
        </p:txBody>
      </p:sp>
      <p:sp>
        <p:nvSpPr>
          <p:cNvPr id="58" name="TextBox 57"/>
          <p:cNvSpPr txBox="1"/>
          <p:nvPr/>
        </p:nvSpPr>
        <p:spPr>
          <a:xfrm>
            <a:off x="8290800" y="2379599"/>
            <a:ext cx="1000800" cy="990000"/>
          </a:xfrm>
          <a:prstGeom prst="rect">
            <a:avLst/>
          </a:prstGeom>
          <a:noFill/>
        </p:spPr>
        <p:txBody>
          <a:bodyPr wrap="square">
            <a:spAutoFit/>
          </a:bodyPr>
          <a:lstStyle/>
          <a:p>
            <a:pPr algn="ctr"/>
            <a:r>
              <a:rPr sz="900" b="0" i="0">
                <a:solidFill>
                  <a:srgbClr val="B0C4DE"/>
                </a:solidFill>
              </a:rPr>
              <a:t>Dakar + leadership
pan-africain 2030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B1E42"/>
        </a:solidFill>
        <a:effectLst/>
      </p:bgPr>
    </p:bg>
    <p:spTree>
      <p:nvGrpSpPr>
        <p:cNvPr id="1" name=""/>
        <p:cNvGrpSpPr/>
        <p:nvPr/>
      </p:nvGrpSpPr>
      <p:grpSpPr/>
      <p:sp>
        <p:nvSpPr>
          <p:cNvPr id="2" name="Rectangle 1"/>
          <p:cNvSpPr/>
          <p:nvPr/>
        </p:nvSpPr>
        <p:spPr>
          <a:xfrm>
            <a:off x="0" y="0"/>
            <a:ext cx="9144000" cy="1620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696000"/>
            <a:ext cx="9144000" cy="1620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62000"/>
            <a:ext cx="79200" cy="65340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064800" y="162000"/>
            <a:ext cx="79200" cy="65340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420000" y="216000"/>
            <a:ext cx="2304000" cy="1152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con.png"/>
          <p:cNvPicPr>
            <a:picLocks noChangeAspect="1"/>
          </p:cNvPicPr>
          <p:nvPr/>
        </p:nvPicPr>
        <p:blipFill>
          <a:blip r:embed="rId2"/>
          <a:stretch>
            <a:fillRect/>
          </a:stretch>
        </p:blipFill>
        <p:spPr>
          <a:xfrm>
            <a:off x="3420000" y="216000"/>
            <a:ext cx="2304000" cy="1152000"/>
          </a:xfrm>
          <a:prstGeom prst="rect">
            <a:avLst/>
          </a:prstGeom>
        </p:spPr>
      </p:pic>
      <p:sp>
        <p:nvSpPr>
          <p:cNvPr id="8" name="TextBox 7"/>
          <p:cNvSpPr txBox="1"/>
          <p:nvPr/>
        </p:nvSpPr>
        <p:spPr>
          <a:xfrm>
            <a:off x="360000" y="1368000"/>
            <a:ext cx="8424000" cy="720000"/>
          </a:xfrm>
          <a:prstGeom prst="rect">
            <a:avLst/>
          </a:prstGeom>
          <a:noFill/>
        </p:spPr>
        <p:txBody>
          <a:bodyPr wrap="square">
            <a:spAutoFit/>
          </a:bodyPr>
          <a:lstStyle/>
          <a:p>
            <a:pPr algn="ctr"/>
            <a:r>
              <a:rPr sz="2400" b="1" i="0">
                <a:solidFill>
                  <a:srgbClr val="D4AF37"/>
                </a:solidFill>
              </a:rPr>
              <a:t>Investissons Ensemble dans l'Avenir Numérique de l'Afrique</a:t>
            </a:r>
          </a:p>
        </p:txBody>
      </p:sp>
      <p:sp>
        <p:nvSpPr>
          <p:cNvPr id="9" name="Rectangle 8"/>
          <p:cNvSpPr/>
          <p:nvPr/>
        </p:nvSpPr>
        <p:spPr>
          <a:xfrm>
            <a:off x="1620000" y="2106000"/>
            <a:ext cx="5904000" cy="288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0000" y="2196000"/>
            <a:ext cx="8424000" cy="270000"/>
          </a:xfrm>
          <a:prstGeom prst="rect">
            <a:avLst/>
          </a:prstGeom>
          <a:noFill/>
        </p:spPr>
        <p:txBody>
          <a:bodyPr wrap="square">
            <a:spAutoFit/>
          </a:bodyPr>
          <a:lstStyle/>
          <a:p>
            <a:pPr algn="ctr"/>
            <a:r>
              <a:rPr sz="1300" b="1" i="0">
                <a:solidFill>
                  <a:srgbClr val="FFFFFF"/>
                </a:solidFill>
              </a:rPr>
              <a:t>CONNECT. CREATE. SOLVE.</a:t>
            </a:r>
          </a:p>
        </p:txBody>
      </p:sp>
      <p:sp>
        <p:nvSpPr>
          <p:cNvPr id="11" name="Rectangle 10"/>
          <p:cNvSpPr/>
          <p:nvPr/>
        </p:nvSpPr>
        <p:spPr>
          <a:xfrm>
            <a:off x="456000" y="2592000"/>
            <a:ext cx="3888000" cy="1044000"/>
          </a:xfrm>
          <a:prstGeom prst="rect">
            <a:avLst/>
          </a:prstGeom>
          <a:solidFill>
            <a:srgbClr val="132B5E"/>
          </a:solidFill>
          <a:ln w="19050">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6000" y="2592000"/>
            <a:ext cx="3888000" cy="792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00000" y="2717999"/>
            <a:ext cx="3654000" cy="234000"/>
          </a:xfrm>
          <a:prstGeom prst="rect">
            <a:avLst/>
          </a:prstGeom>
          <a:noFill/>
        </p:spPr>
        <p:txBody>
          <a:bodyPr wrap="square">
            <a:spAutoFit/>
          </a:bodyPr>
          <a:lstStyle/>
          <a:p>
            <a:pPr algn="l"/>
            <a:r>
              <a:rPr sz="1100" b="1" i="0">
                <a:solidFill>
                  <a:srgbClr val="D4AF37"/>
                </a:solidFill>
              </a:rPr>
              <a:t>Email</a:t>
            </a:r>
          </a:p>
        </p:txBody>
      </p:sp>
      <p:sp>
        <p:nvSpPr>
          <p:cNvPr id="14" name="TextBox 13"/>
          <p:cNvSpPr txBox="1"/>
          <p:nvPr/>
        </p:nvSpPr>
        <p:spPr>
          <a:xfrm>
            <a:off x="600000" y="2952000"/>
            <a:ext cx="3654000" cy="594000"/>
          </a:xfrm>
          <a:prstGeom prst="rect">
            <a:avLst/>
          </a:prstGeom>
          <a:noFill/>
        </p:spPr>
        <p:txBody>
          <a:bodyPr wrap="square">
            <a:spAutoFit/>
          </a:bodyPr>
          <a:lstStyle/>
          <a:p>
            <a:pPr algn="ctr"/>
            <a:r>
              <a:rPr sz="1400" b="1" i="0">
                <a:solidFill>
                  <a:srgbClr val="FFFFFF"/>
                </a:solidFill>
              </a:rPr>
              <a:t>lelehernandez2007@gmail.com</a:t>
            </a:r>
          </a:p>
        </p:txBody>
      </p:sp>
      <p:sp>
        <p:nvSpPr>
          <p:cNvPr id="15" name="Rectangle 14"/>
          <p:cNvSpPr/>
          <p:nvPr/>
        </p:nvSpPr>
        <p:spPr>
          <a:xfrm>
            <a:off x="4800000" y="2592000"/>
            <a:ext cx="3888000" cy="1044000"/>
          </a:xfrm>
          <a:prstGeom prst="rect">
            <a:avLst/>
          </a:prstGeom>
          <a:solidFill>
            <a:srgbClr val="132B5E"/>
          </a:solidFill>
          <a:ln w="19050">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800000" y="2592000"/>
            <a:ext cx="3888000" cy="792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944000" y="2717999"/>
            <a:ext cx="3654000" cy="234000"/>
          </a:xfrm>
          <a:prstGeom prst="rect">
            <a:avLst/>
          </a:prstGeom>
          <a:noFill/>
        </p:spPr>
        <p:txBody>
          <a:bodyPr wrap="square">
            <a:spAutoFit/>
          </a:bodyPr>
          <a:lstStyle/>
          <a:p>
            <a:pPr algn="l"/>
            <a:r>
              <a:rPr sz="1100" b="1" i="0">
                <a:solidFill>
                  <a:srgbClr val="D4AF37"/>
                </a:solidFill>
              </a:rPr>
              <a:t>Téléphone</a:t>
            </a:r>
          </a:p>
        </p:txBody>
      </p:sp>
      <p:sp>
        <p:nvSpPr>
          <p:cNvPr id="18" name="TextBox 17"/>
          <p:cNvSpPr txBox="1"/>
          <p:nvPr/>
        </p:nvSpPr>
        <p:spPr>
          <a:xfrm>
            <a:off x="4944000" y="2952000"/>
            <a:ext cx="3654000" cy="594000"/>
          </a:xfrm>
          <a:prstGeom prst="rect">
            <a:avLst/>
          </a:prstGeom>
          <a:noFill/>
        </p:spPr>
        <p:txBody>
          <a:bodyPr wrap="square">
            <a:spAutoFit/>
          </a:bodyPr>
          <a:lstStyle/>
          <a:p>
            <a:pPr algn="ctr"/>
            <a:r>
              <a:rPr sz="1400" b="1" i="0">
                <a:solidFill>
                  <a:srgbClr val="FFFFFF"/>
                </a:solidFill>
              </a:rPr>
              <a:t>+237 697 49 06 61  /  +237 674 54 68 95</a:t>
            </a:r>
          </a:p>
        </p:txBody>
      </p:sp>
      <p:sp>
        <p:nvSpPr>
          <p:cNvPr id="19" name="Rectangle 18"/>
          <p:cNvSpPr/>
          <p:nvPr/>
        </p:nvSpPr>
        <p:spPr>
          <a:xfrm>
            <a:off x="456000" y="3780000"/>
            <a:ext cx="3888000" cy="1044000"/>
          </a:xfrm>
          <a:prstGeom prst="rect">
            <a:avLst/>
          </a:prstGeom>
          <a:solidFill>
            <a:srgbClr val="132B5E"/>
          </a:solidFill>
          <a:ln w="19050">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56000" y="3780000"/>
            <a:ext cx="3888000" cy="792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0000" y="3905999"/>
            <a:ext cx="3654000" cy="234000"/>
          </a:xfrm>
          <a:prstGeom prst="rect">
            <a:avLst/>
          </a:prstGeom>
          <a:noFill/>
        </p:spPr>
        <p:txBody>
          <a:bodyPr wrap="square">
            <a:spAutoFit/>
          </a:bodyPr>
          <a:lstStyle/>
          <a:p>
            <a:pPr algn="l"/>
            <a:r>
              <a:rPr sz="1100" b="1" i="0">
                <a:solidFill>
                  <a:srgbClr val="D4AF37"/>
                </a:solidFill>
              </a:rPr>
              <a:t>Web</a:t>
            </a:r>
          </a:p>
        </p:txBody>
      </p:sp>
      <p:sp>
        <p:nvSpPr>
          <p:cNvPr id="22" name="TextBox 21"/>
          <p:cNvSpPr txBox="1"/>
          <p:nvPr/>
        </p:nvSpPr>
        <p:spPr>
          <a:xfrm>
            <a:off x="600000" y="4140000"/>
            <a:ext cx="3654000" cy="594000"/>
          </a:xfrm>
          <a:prstGeom prst="rect">
            <a:avLst/>
          </a:prstGeom>
          <a:noFill/>
        </p:spPr>
        <p:txBody>
          <a:bodyPr wrap="square">
            <a:spAutoFit/>
          </a:bodyPr>
          <a:lstStyle/>
          <a:p>
            <a:pPr algn="ctr"/>
            <a:r>
              <a:rPr sz="1400" b="1" i="0">
                <a:solidFill>
                  <a:srgbClr val="FFFFFF"/>
                </a:solidFill>
              </a:rPr>
              <a:t>yukpomnang.com</a:t>
            </a:r>
          </a:p>
        </p:txBody>
      </p:sp>
      <p:sp>
        <p:nvSpPr>
          <p:cNvPr id="23" name="Rectangle 22"/>
          <p:cNvSpPr/>
          <p:nvPr/>
        </p:nvSpPr>
        <p:spPr>
          <a:xfrm>
            <a:off x="4800000" y="3780000"/>
            <a:ext cx="3888000" cy="1044000"/>
          </a:xfrm>
          <a:prstGeom prst="rect">
            <a:avLst/>
          </a:prstGeom>
          <a:solidFill>
            <a:srgbClr val="132B5E"/>
          </a:solidFill>
          <a:ln w="19050">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800000" y="3780000"/>
            <a:ext cx="3888000" cy="792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944000" y="3905999"/>
            <a:ext cx="3654000" cy="234000"/>
          </a:xfrm>
          <a:prstGeom prst="rect">
            <a:avLst/>
          </a:prstGeom>
          <a:noFill/>
        </p:spPr>
        <p:txBody>
          <a:bodyPr wrap="square">
            <a:spAutoFit/>
          </a:bodyPr>
          <a:lstStyle/>
          <a:p>
            <a:pPr algn="l"/>
            <a:r>
              <a:rPr sz="1100" b="1" i="0">
                <a:solidFill>
                  <a:srgbClr val="D4AF37"/>
                </a:solidFill>
              </a:rPr>
              <a:t>Localisation</a:t>
            </a:r>
          </a:p>
        </p:txBody>
      </p:sp>
      <p:sp>
        <p:nvSpPr>
          <p:cNvPr id="26" name="TextBox 25"/>
          <p:cNvSpPr txBox="1"/>
          <p:nvPr/>
        </p:nvSpPr>
        <p:spPr>
          <a:xfrm>
            <a:off x="4944000" y="4140000"/>
            <a:ext cx="3654000" cy="594000"/>
          </a:xfrm>
          <a:prstGeom prst="rect">
            <a:avLst/>
          </a:prstGeom>
          <a:noFill/>
        </p:spPr>
        <p:txBody>
          <a:bodyPr wrap="square">
            <a:spAutoFit/>
          </a:bodyPr>
          <a:lstStyle/>
          <a:p>
            <a:pPr algn="ctr"/>
            <a:r>
              <a:rPr sz="1400" b="1" i="0">
                <a:solidFill>
                  <a:srgbClr val="FFFFFF"/>
                </a:solidFill>
              </a:rPr>
              <a:t>Yaoundé, Cameroun</a:t>
            </a:r>
          </a:p>
        </p:txBody>
      </p:sp>
      <p:sp>
        <p:nvSpPr>
          <p:cNvPr id="27" name="TextBox 26"/>
          <p:cNvSpPr txBox="1"/>
          <p:nvPr/>
        </p:nvSpPr>
        <p:spPr>
          <a:xfrm>
            <a:off x="360000" y="5040000"/>
            <a:ext cx="8424000" cy="295200"/>
          </a:xfrm>
          <a:prstGeom prst="rect">
            <a:avLst/>
          </a:prstGeom>
          <a:noFill/>
        </p:spPr>
        <p:txBody>
          <a:bodyPr wrap="square">
            <a:spAutoFit/>
          </a:bodyPr>
          <a:lstStyle/>
          <a:p>
            <a:pPr algn="ctr"/>
            <a:r>
              <a:rPr sz="1300" b="1" i="0">
                <a:solidFill>
                  <a:srgbClr val="FFFFFF"/>
                </a:solidFill>
              </a:rPr>
              <a:t>LELE SIAKA Hernandez  |  CEO &amp; Fondateur — YUKPO COMPANY SARL</a:t>
            </a:r>
          </a:p>
        </p:txBody>
      </p:sp>
      <p:sp>
        <p:nvSpPr>
          <p:cNvPr id="28" name="TextBox 27"/>
          <p:cNvSpPr txBox="1"/>
          <p:nvPr/>
        </p:nvSpPr>
        <p:spPr>
          <a:xfrm>
            <a:off x="360000" y="5364000"/>
            <a:ext cx="8424000" cy="295200"/>
          </a:xfrm>
          <a:prstGeom prst="rect">
            <a:avLst/>
          </a:prstGeom>
          <a:noFill/>
        </p:spPr>
        <p:txBody>
          <a:bodyPr wrap="square">
            <a:spAutoFit/>
          </a:bodyPr>
          <a:lstStyle/>
          <a:p>
            <a:pPr algn="ctr"/>
            <a:r>
              <a:rPr sz="1500" b="1" i="1">
                <a:solidFill>
                  <a:srgbClr val="D4AF37"/>
                </a:solidFill>
              </a:rPr>
              <a:t>"CONNECT. CREATE. SOLVE."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