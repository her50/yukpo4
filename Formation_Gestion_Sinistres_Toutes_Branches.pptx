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3440" y="0"/>
            <a:ext cx="11887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 Light"/>
              </a:rPr>
              <a:t>FORMATION
PROFESSIONNELLE
EN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68880"/>
            <a:ext cx="4160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GESTION
DES SINISTRES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3749039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434840"/>
            <a:ext cx="4160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DEE"/>
                </a:solidFill>
                <a:latin typeface="Calibri"/>
              </a:rPr>
              <a:t>De la déclaration au règlement
Toutes branches confondues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26364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BBDD"/>
                </a:solidFill>
                <a:latin typeface="Calibri"/>
              </a:rPr>
              <a:t>Avril 2026  |  Version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6235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8F01"/>
                </a:solidFill>
                <a:latin typeface="Calibri"/>
              </a:rPr>
              <a:t>Formateur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89788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TALOM Eric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371600"/>
            <a:ext cx="6858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5C"/>
                </a:solidFill>
                <a:latin typeface="Calibri"/>
              </a:rPr>
              <a:t>GESTION DES SINISTRES
Toutes Branches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5029200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766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Formation de remise à niveau — Professionnels de l'Assurance
Automobile  •  Incendie  •  Transports Facultés
Santé  •  Individuel Accident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PLAN DE LA FORMATION — CONDUCTEUR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69280" cy="667512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94360" cy="6675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417320"/>
            <a:ext cx="5577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4173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Introduction &amp; Cadre Réglementaire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8F01"/>
                </a:solidFill>
                <a:latin typeface="Calibri"/>
              </a:rPr>
              <a:t>1h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84832"/>
            <a:ext cx="5669280" cy="6675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84832"/>
            <a:ext cx="594360" cy="6675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176272"/>
            <a:ext cx="5577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17627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Processus Général de 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26771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8F01"/>
                </a:solidFill>
                <a:latin typeface="Calibri"/>
              </a:rPr>
              <a:t>2h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43784"/>
            <a:ext cx="5669280" cy="667512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43784"/>
            <a:ext cx="594360" cy="6675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2935224"/>
            <a:ext cx="5577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93522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Branche Automobile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02666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8F01"/>
                </a:solidFill>
                <a:latin typeface="Calibri"/>
              </a:rPr>
              <a:t>3h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02736"/>
            <a:ext cx="5669280" cy="6675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602736"/>
            <a:ext cx="594360" cy="6675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3694176"/>
            <a:ext cx="5577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369417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Branche Incendie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78561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8F01"/>
                </a:solidFill>
                <a:latin typeface="Calibri"/>
              </a:rPr>
              <a:t>2h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61688"/>
            <a:ext cx="5669280" cy="667512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361688"/>
            <a:ext cx="594360" cy="6675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4453128"/>
            <a:ext cx="5577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445312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Transports Facultés (TFT / A / 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54456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8F01"/>
                </a:solidFill>
                <a:latin typeface="Calibri"/>
              </a:rPr>
              <a:t>3h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325880"/>
            <a:ext cx="5669280" cy="667512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325880"/>
            <a:ext cx="594360" cy="6675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1417320"/>
            <a:ext cx="5577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14173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Branche Santé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8F01"/>
                </a:solidFill>
                <a:latin typeface="Calibri"/>
              </a:rPr>
              <a:t>2h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084832"/>
            <a:ext cx="5669280" cy="6675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2084832"/>
            <a:ext cx="594360" cy="6675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176272"/>
            <a:ext cx="5577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217627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Individuel Accident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226771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8F01"/>
                </a:solidFill>
                <a:latin typeface="Calibri"/>
              </a:rPr>
              <a:t>2h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843784"/>
            <a:ext cx="5669280" cy="667512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2843784"/>
            <a:ext cx="594360" cy="6675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2935224"/>
            <a:ext cx="5577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293522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Classement &amp; Archivage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302666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8F01"/>
                </a:solidFill>
                <a:latin typeface="Calibri"/>
              </a:rPr>
              <a:t>1h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602736"/>
            <a:ext cx="5669280" cy="66751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3602736"/>
            <a:ext cx="594360" cy="66751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3694176"/>
            <a:ext cx="5577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369417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alibri"/>
              </a:rPr>
              <a:t>Évaluation &amp; Cas Pratiques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378561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8F01"/>
                </a:solidFill>
                <a:latin typeface="Calibri"/>
              </a:rPr>
              <a:t>2h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8F01"/>
                </a:solidFill>
                <a:latin typeface="Calibri Light"/>
              </a:rPr>
              <a:t>MODULE 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INTRODUCTION
&amp; CADRE RÉGLEMENTAIRE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Fondements juridiques — Code CIMA — Obligations des parties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0 —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Objectifs Pédagogiques &amp; Public Cible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Objectifs pédagogiques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Maîtriser les procédures de réception, instruction et règlement des sinistres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Appliquer le cadre réglementaire CIMA à chaque stade du traitement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Gérer efficacement les relations avec les assurés, experts et prestataires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Produire et archiver une documentation conforme aux exigences légales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Analyser les sinistres par branche avec rigueur et méthode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Public cible &amp; prérequis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Gestionnaires sinistres en activité souhaitant se remettre à niveau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Inspecteurs, rédacteurs, agents généraux et courtiers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Toute personne impliquée dans le traitement ou le suivi de dossiers sinistres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Prérequis : connaissances de base en assurance IARD et Personnes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MODULE 0 —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Cadre Réglementaire — Code CIMA &amp; Principes Incontournables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562356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298448"/>
            <a:ext cx="562356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Textes Fondamentaux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828800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Code CIMA — Traité du 10 juillet 1992 (14 États membres CIMA)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Art. 12 à 18 : Obligations de l'assureur en cas de sinistre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Art. 15 : Délai d'instruction — accusé de réception 48h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Art. 16 : Délai de règlement — 30 jours après accord parties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Art. 18 : Pénalités pour retard — intérêts légaux + 50%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Art. 28 : Prescription biennale des actions nées du contrat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Circulaires CRCA et lois nationales complémentaires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Code des assurances national selon pays (Sénégal, Côte d'Ivoire…)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98448"/>
            <a:ext cx="562356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623560" cy="47548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35024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Principes Juridiques Fondamentaux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Principe indemnitaire — pas d'enrichissement sans cause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Principe de bonne foi — obligation des deux parties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Déclaration exacte — sanctions si fausse déclaration (nullité)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Subrogation — l'assureur se substitue à l'assuré pour recours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Déchéance — perte du droit à garantie si non-respect des obligations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Contribution entre assureurs (coassurance / double assurance)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Règle proportionnelle de capitaux (insuffisance d'assurance)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Expertise contradictoire — droit de contre-expertise assuré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8F01"/>
                </a:solidFill>
                <a:latin typeface="Calibri Light"/>
              </a:rPr>
              <a:t>MODULE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PROCESSUS GÉNÉRAL
DE GESTION DES SINISTRES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Du premier appel au règlement définitif et à l'archivage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MODULE 1 — Processus Général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Les 6 Étapes Clés du Traitement d'un Sinistre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344168"/>
            <a:ext cx="1880616" cy="5669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1399032"/>
            <a:ext cx="17891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DÉCLARATION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965960"/>
            <a:ext cx="17708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Réception de l'avis de sinistre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Vérification identité assuré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Enregistrement dans le SIG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Attribution du n° de dossier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Accusé de réception 24–48h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4080" y="1344168"/>
            <a:ext cx="1880616" cy="5669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09800" y="1399032"/>
            <a:ext cx="17891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INSTRUCTION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8944" y="1965960"/>
            <a:ext cx="17708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Vérification des garanties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Analyse contrat / police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Recherche de responsabilité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Demande pièces justificatives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Désignation d'un expert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6992" y="1344168"/>
            <a:ext cx="1880616" cy="56692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2712" y="1399032"/>
            <a:ext cx="17891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EXPERTISE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1856" y="1965960"/>
            <a:ext cx="17708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Mission d'expert agréé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Rapport contradictoire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Contre-expertise éventuelle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Chiffrage des dommages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Validation du rapport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344168"/>
            <a:ext cx="1880616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5624" y="1399032"/>
            <a:ext cx="17891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4. DÉCISION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965960"/>
            <a:ext cx="17708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Acceptation / refus garantie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Courrier motivé obligatoire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Délai : 30 jours (CIMA)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Accord amiable ou litige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Notification à l'assuré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344168"/>
            <a:ext cx="1880616" cy="56692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8536" y="1399032"/>
            <a:ext cx="17891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5. RÈGLEMENT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7680" y="1965960"/>
            <a:ext cx="17708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Décompte d'indemnité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Franchises / vétustés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Ordre de paiement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Quittance de règlement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Paiement dans les délais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5728" y="1344168"/>
            <a:ext cx="1880616" cy="5669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61448" y="1399032"/>
            <a:ext cx="17891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6. CLÔTURE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0592" y="1965960"/>
            <a:ext cx="177088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Classement du dossier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Archivage physique/GED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Recours / subrogation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Mise à jour provisions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• Reporting statistique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1 — Processus Général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Réception &amp; Enregistrement de la Déclaration de Sinistre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Canaux de déclaration acceptés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Téléphone (standard sinistres) — enregistrement de l'appel recommandé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Courrier recommandé avec accusé de réception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Courriel horodaté (valeur probante selon législation nationale)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Déclaration en agence — formulaire papier daté et signé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Application mobile / espace client en ligne (horodatage automatique)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Informations obligatoires à collecter dès la déclaration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Numéro de police / contrat + identité complète de l'assuré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Date, heure, lieu et circonstances détaillées du sinistre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Nature et estimation provisoire des dommages (matériels, corporels)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Identité des tiers impliqués, témoins et intervenants (pompiers, police)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Existence d'autres assurances couvrant le même risque (déclaration obligatoire)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Mesures conservatoires prises ou à prendre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1 — Processus Général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Instruction, Décision &amp; Règlement de l'Indemnité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2E86AB"/>
                </a:solidFill>
                <a:latin typeface="Calibri"/>
              </a:rPr>
              <a:t>◆  Phase d'instruction — vérification &amp; investigation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Contrôle validité contrat : primes payées, délai de carence respecté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Vérification que le sinistre est dans l'objet et les garanties souscrites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Recherche des exclusions (art. contractuels + exclusions légales CIMA)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Constitution du dossier probatoire : PV police, photos, attestations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2E86AB"/>
                </a:solidFill>
                <a:latin typeface="Calibri"/>
              </a:rPr>
              <a:t>◆  Phase de décision — position de l'assureur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Délai de 30 jours à compter de la réception de toutes pièces (CIMA art. 16)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Lettre de garantie OU refus de garantie motivé — obligatoirement écrit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Proposition d'indemnisation chiffrée et détaillée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2E86AB"/>
                </a:solidFill>
                <a:latin typeface="Calibri"/>
              </a:rPr>
              <a:t>◆  Phase de règlement — paiement de l'indemnité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Calcul indemnité : valeur assurée, franchise, vétusté, règle proportionnelle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Mode de règlement : virement bancaire, chèque, paiement direct prestataire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Quittance finale signée par l'assuré — clôture et archivage du dossier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8F01"/>
                </a:solidFill>
                <a:latin typeface="Calibri Light"/>
              </a:rPr>
              <a:t>MODULE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BRANCHE AUTOMOBILE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RC Obligatoire  •  Dommages  •  Vol  •  Bris de Glace  •  Assistance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2 — Automobile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Automobile — Vue d'Ensemble des Garanties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Garanties obligatoires (RC Auto)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Responsabilité Civile Obligatoire (RCO) — dommages corporels et matériels aux tiers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Garantie défense-recours (protection juridique de l'assuré)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Garanties facultatives courantes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Dommages Tous Accidents (DTA) — véhicule assuré quelle que soit la responsabilité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Dommages Collision — sinistre avec tiers identifié et responsable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Vol / Incendie / Bris de Glace (BDG) — couvertures distinctes paramétrables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Catastrophes naturelles et événements climatiques (TCG)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Assistance et remorquage 24h/24 — véhicule de remplacement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Garanties Corporelles Conducteur (GCC) — capital décès/invalidité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Conventions applicables entre assureurs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Convention IDA (Indemnisation Directe de l'Assuré) — règlement sans attendre recours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Convention IRSA (recours inter-assureurs) — forfaits par catégorie de sinistre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2 — Automobile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Automobile — Instruction d'un Sinistre RC &amp; Dommages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Documents à collecter impérativement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Constat amiable d'accident signé par les deux conducteurs (double exemplaire)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Permis de conduire, carte grise, attestation d'assurance valide à la date du sinistre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PV de police / gendarmerie (obligatoire si blessés ou sinistre grave)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Photos du lieu, des véhicules et de l'ensemble des dommages visibles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Devis de réparation des garages agréés ou mandatés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Expertise automobile — processus et outils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Mandatement de l'expert agréé — délai de mission : 5 jours ouvrables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Rapport d'expertise : valeur à neuf, coefficient vétusté, valeur vénale (VV)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Destruction totale (DT) : VV – valeur épave = indemnité nette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Contre-expertise possible à la demande de l'assuré (frais partagés)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Recours &amp; subrogation après règlement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Droit de recours contre le tiers responsable ou son assureur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Application Convention IRSA pour le règlement inter-assureurs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MODULE 2 — Automobile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Automobile — Tableau de Bord des Délais Réglementaires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37160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Délai réglementaire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Responsable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Conséquence si non-respecté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Accusé de réception de la déclaration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24 à 48 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Gestionnaire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Engagement de responsabilité de l'assureur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Mandatement de l'expert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5 jours ouvrables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Gestionnaire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Pénalités CIMA — signalement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Dépôt du rapport d'expertise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15 jours ouvrables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Expert agréé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Mise en cause de l'expert par la CRCA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Proposition d'indemnisation à l'assuré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30 jours après accord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Assureur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Intérêts légaux majorés de 50% (art. 18 CIMA)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Paiement effectif de l'indemnité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10 jours après quittance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Compta / Assureur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Pénalités CIMA — réclamation possible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445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Recours contre tiers responsable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Prescription biennale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Juriste / Contentieux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Forclusion — perte du droit de recours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8F01"/>
                </a:solidFill>
                <a:latin typeface="Calibri Light"/>
              </a:rPr>
              <a:t>MODULE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BRANCHE INCENDIE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Risques simples  •  Risques d'entreprise  •  Règle proportionnelle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3 — Incendie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Incendie — Périls Couverts, Extensions et Exclusions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Périls de base (garantis automatiquement)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Incendie, explosion, implosion — Foudre directe et ses suites immédiates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Chute d'appareils de navigation aérienne (CANA)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Dommages causés par les secours lors de l'intervention (eau d'extinction)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Extensions courantes (options contractuelles)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Dégâts des eaux (DDO) : infiltrations, rupture de canalisations, inondation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Tempêtes, cyclones, grêle (TCG) — couverture événements climatiques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Bris de glaces / Vol avec effraction (conditions particulières d'assurabilité)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Pertes d'exploitation consécutives à l'incendie (marge brute garantie)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RC Voisins et Recours des Voisins (RVRV) — dommages aux tiers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Risques exclus courants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Guerre, émeutes, actes de terrorisme (sauf extension spécifique)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Faute intentionnelle ou dolosive de l'assuré (art. 12 Code CIMA)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Dommages électriques (machines électriques) sans extension dédiée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MODULE 3 — Incendie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Incendie — Instruction du Dossier &amp; Calcul de l'Indemnité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562356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298448"/>
            <a:ext cx="562356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Pièces constitutives du dossier sinistre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828800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Déclaration écrite : date, heure, circonstances précises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PV des sapeurs-pompiers (original ou copie certifiée)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PV de police / gendarmerie (incendie criminel suspecté)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Inventaire détaillé des biens sinistrés (mobilier + immobilier)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Factures d'achat ou estimations des biens détruits / endommagés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Photos et vidéos des dommages (préalables à tout déblaiement)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Devis de remise en état des entreprises spécialisées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Attestation syndic ou gestionnaire (si immeuble collectif)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Rapport d'expertise incendie (expert mandaté par l'assureur)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98448"/>
            <a:ext cx="562356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623560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35024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Calcul Indemnité — Règle Proportionnelle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Valeur assurée (VA) vs Valeur réelle (VR) au jour du sinistre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Si VA ≥ VR → indemnité = sinistre × (1 — franchise)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Si VA &lt; VR → règle proportionnelle : I = S × (VA / VR)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Exemple : VA=10M, VR=20M, S=4M → I = 4 × (10/20) = 2 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Application de la vétusté sur biens mobiliers et équipements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Clause valeur à neuf : remboursement sans déduction vétusté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Coassurance : répartition entre assureurs (chef de file)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Pertes d'exploitation : calcul de la marge brute perdue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Franchise absolue ou relative selon conditions particulières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8F01"/>
                </a:solidFill>
                <a:latin typeface="Calibri Light"/>
              </a:rPr>
              <a:t>MODULE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BRANCHE TRANSPORTS
FACULTÉS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Facultés Terrestres  •  Facultés Aériennes  •  Facultés Maritimes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4 — Transports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Transports — Notions Fondamentales, Intervenants &amp;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Définitions clés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Facultés : marchandises transportées (par opposition à 'corps' = véhicule/navire/aéronef)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Chargeur / expéditeur : propriétaire de la marchandise (assuré principal)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Destinataire : peut bénéficier de l'assurance selon la clause 'à qui il appartiendra'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Transporteur : tenu à une obligation de résultat — recours possible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Documents de transport essentiels par mode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Lettre de Voiture (LDV) / CMR international — transport routier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Lettre de Transport Aérien (LTA / Air Waybill) — fret aérien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Connaissement maritime (Bill of Lading) — titre de propriété de la marchandise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Certificat d'assurance transport — preuve de couverture présentable aux tiers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Garanties standard — Clauses Instituts de Londres (A/B/C)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Clause A (All Risks) : tous risques sauf exclusions expressément listées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Clause B : avaries particulières + risques listés (naufrage, échouage, incendie, etc.)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Clause C : risques majeurs uniquement — franchise d'avarie particulière (FAP sauf)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MODULE 4 — Transports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Facultés Terrestres &amp; Aériennes — Instruction des Sinistres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562356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298448"/>
            <a:ext cx="5623560" cy="47548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Facultés Terrestres (route / rail)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828800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Réserves sur le bon de livraison à la réception (OBLIGATOIRE)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Confirmation écrite des réserves au transporteur sous 3 jours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Constat contradictoire avec le transporteur ou son représentant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Photos détaillées des dommages avant tout déplacement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Documents : LDV/CMR, bon de livraison, facture commerciale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Expertise des marchandises (qualitative + quantitative)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Recours CMR : plafond 8,33 DTS/kg de poids brut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Prescription : 1 an (national) — 1 an (CMR international)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Avaries communes rares en transport terrestre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98448"/>
            <a:ext cx="562356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62356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35024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Facultés Aériennes (fret aérien)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Déclaration à la compagnie aérienne dans les 24h suivant réception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LTA (Air Waybill) : document de référence pour tous recours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Convention de Montréal 1999 (remplace Convention de Varsovie)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Limite responsabilité transporteur : 19 DTS/kg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Expertise marchandises en présence du représentant transporteur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Délais de protestation : 14 jours (avarie), 21 jours (retard)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Prescription 2 ans à compter de la livraison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Sinistres typiques : chocs, mouillures, manquants, vol en soute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4 — Transports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Facultés Maritimes — Procédure &amp; Avarie Commune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Actions immédiates à l'arrivée du navire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Émission de réserves sur le Bon à Délivrer (BAD) lors de la prise en charge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Notification écrite au transporteur dans les 3 jours (avarie apparente)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Mandatement immédiat d'un commissaire d'avaries (expertise contradictoire)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Documents indispensables au dossier sinistre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Connaissement (Bill of Lading) original — titre de propriété de la marchandise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Facture commerciale + liste de colisage (packing list) détaillée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Certificats (poids, origine, phytosanitaire, qualité) selon nature marchandise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Rapport du commissaire d'avaries + protestation de mer du capitaine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Déclaration d'avaries à la douane si nécessaire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Avarie Commune — Règles d'York-Anvers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Acte volontaire et raisonnable pour sauver l'expédition en péril commun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Contribution proportionnelle de tous les intéressés à la valeur de l'expédition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Expertise spécialisée (average adjuster) — délais longs : 6 à 24 mois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8F01"/>
                </a:solidFill>
                <a:latin typeface="Calibri Light"/>
              </a:rPr>
              <a:t>MODULE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BRANCHE SANTÉ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Frais médicaux  •  Hospitalisation  •  Maternité  •  Tiers Payant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5 — Santé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Santé — Garanties, Mécanismes de Remboursement &amp;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Types de garanties santé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Frais médicaux : consultations, médicaments, analyses, imagerie médicale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Hospitalisation : frais de séjour, honoraires chirurgicaux, forfait journalier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Maternité : frais d'accouchement, suivi prénatal et postnatal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Soins dentaires et optique selon tableaux de garanties contractuels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Évacuation sanitaire et rapatriement médical international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Mécanismes de remboursement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Tiers payant : prise en charge directe assureur → prestataire (sans avance frais)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Remboursement a posteriori : l'assuré avance les frais puis se fait rembourser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Réseau de soins agréés vs hors réseau : différences de taux de remboursement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Ticket modérateur : part restant à charge de l'assuré (% ou montant fixe)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Documents standard pour la liquidation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Ordonnance médicale originale + feuille de soins signée du médecin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Bulletin de Prise en Charge (BPC) pour hospitalisation programmée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Facture détaillée du prestataire avec codification nationale des actes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MODULE 5 — Santé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Santé — Gestion des Dossiers Hospitalisation &amp; Contrôle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562356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298448"/>
            <a:ext cx="562356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Prise en Charge Préalable (PEC)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828800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Demande de PEC déposée AVANT l'admission (sauf urgence médicale)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Documents : devis d'hospitalisation signé du médecin traitant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Délai de réponse assureur : 48h (hors urgence) / immédiat (urgence)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Lettre de garantie envoyée directement à l'établissement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Mention explicite des plafonds et exclusions pris en charge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Suivi en cas de prolongation de séjour (renouvellement BPC)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Régulation médicale si doute sur la pertinence ou durée des soins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Protocole urgence : PEC rétroactive sous 72h après admission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Gestion des hospitalisations à l'étranger : réseau international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98448"/>
            <a:ext cx="562356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623560" cy="47548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35024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Contrôle &amp; Liquidation des Factures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Vérification conformité facture / devis initial (écarts signalés)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Contrôle médical par le médecin-conseil assureur si besoin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Codification CCAM / Nomenclature nationale des actes médicaux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Application des tableaux de garanties et plafonds contractuels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Déduction des organismes sociaux (Sécurité Sociale, mutuelles)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Calcul du ticket modérateur à la charge de l'assuré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Émission du décompte de remboursement détaillé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Délai de règlement : 10 jours après réception du dossier complet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Détection des anomalies : doublons, tarifs hors nomenclature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8F01"/>
                </a:solidFill>
                <a:latin typeface="Calibri Light"/>
              </a:rPr>
              <a:t>MODULE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INDIVIDUEL ACCIDENT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Décès  •  PTIA  •  IPP / IPT  •  ITT  •  Frais médicaux accident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6 — Individuel Accident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Individuel Accident — Garanties, Définitions &amp; Exclusions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Garanties principales de la branche IA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Décès accidentel : capital versé aux bénéficiaires désignés au contrat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PTIA (Perte Totale et Irréversible d'Autonomie) : 100% du capital souscrit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IPP (Invalidité Permanente Partielle) : % du capital selon barème médical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IPT (Invalidité Permanente Totale) : taux ≥ 66% d'incapacité fonctionnelle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ITT (Incapacité Temporaire Totale) : indemnité journalière pendant l'arrêt de travail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Frais médicaux et chirurgicaux consécutifs à un accident corporel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Définitions contractuelles essentielles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Accident : atteinte corporelle soudaine, involontaire, causée par un événement extérieur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Distinction accident / maladie : enjeu fondamental pour le déclenchement de la garantie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Consolidation : date à partir de laquelle l'état de santé est stabilisé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Exclusions standard : sports extrêmes, guerre, état alcoolique/substances, fait intentionnel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 Light"/>
              </a:rPr>
              <a:t>MODULE 6 — Individuel Accident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Individuel Accident — Instruction, Expertise Médicale &amp; Calcul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Pièces justificatives selon type de sinistre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Décès : certificat de décès + rapport médical + actes de naissance bénéficiaires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IPP/IPT : certificat médical initial + rapport de consolidation du médecin traitant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ITT : arrêts de travail médicaux renouvelés + bulletins de salaire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PTIA : décision MDPH ou équivalent national + rapport médical spécialisé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Évaluation médicale du taux d'invalidité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Médecin-conseil désigné par l'assureur (examen médical contradictoire obligatoire)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Référence : Guide Barème Européen d'Évaluation des Atteintes à l'Intégrité Physique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Taux fonctionnel (AIPP) + incidence professionnelle éventuelle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Contre-expertise à la demande de l'assuré (droit CIMA)</a:t>
            </a:r>
          </a:p>
          <a:p>
            <a:pPr>
              <a:spcBef>
                <a:spcPts val="700"/>
              </a:spcBef>
            </a:pPr>
            <a:r>
              <a:rPr sz="1800" b="1">
                <a:solidFill>
                  <a:srgbClr val="1B3A5C"/>
                </a:solidFill>
                <a:latin typeface="Calibri"/>
              </a:rPr>
              <a:t>◆  Formules de calcul des indemnités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IPP : Capital souscrit × Taux d'invalidité (ex : 10 000 000 FCFA × 30% = 3 000 000 FCFA)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ITT : Indemnité journalière × (jours d'arrêt − franchise temporelle de 3 jours)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444444"/>
                </a:solidFill>
                <a:latin typeface="Calibri"/>
              </a:rPr>
              <a:t>      ▸  Cumul de garanties possible : IA + frais médicaux + prévoyance employeur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8F01"/>
                </a:solidFill>
                <a:latin typeface="Calibri Light"/>
              </a:rPr>
              <a:t>MODULE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CLASSEMENT &amp;
ARCHIVAGE DES DOSSIERS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Organisation  •  Conservation  •  Conformité réglementaire  •  GED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MODULE 7 — Classement &amp; Archivage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Classement &amp; Archivage — Règles et Bonnes Pratiques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562356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298448"/>
            <a:ext cx="5623560" cy="4754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Classement physique (dossier papier)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828800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Chemise de couleur par branche (code chromatique normalisé)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Numérotation unique : branche / année / numéro séquentiel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Bordereau des pièces daté et signé en début de chemise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Ordre chronologique strict des pièces dans le dossier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Séparation nette : dossiers actifs / clôturés / contentieux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Local d'archives sécurisé (accès restreint, protection incendie)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Inventaire trimestriel des dossiers archivés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Délai légal de conservation : 10 ans après clôture (CIMA art. 28)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Destruction sécurisée : broyage certifié après délai légal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98448"/>
            <a:ext cx="5623560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623560" cy="4754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35024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Archivage numérique (GED)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3492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Scan de tous les documents originaux à réception (qualité contrôlée)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Indexation normalisée : branche, date, assuré, n° police, n° sinistre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Convention de nommage interne des fichiers (charte documentaire)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Contrôle qualité des scans : lisibilité, complétude, orientation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Sauvegarde redondante : serveur local + cloud sécurisé (chiffré)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Accès par profil utilisateur avec traçabilité des consultations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Plan de reprise sur incident (PRA/PCA) validé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Purge sécurisée après délai légal (effacement certifié RGPD)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▸  Audit annuel de conformité de l'archivage numérique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8F01"/>
                </a:solidFill>
                <a:latin typeface="Calibri Light"/>
              </a:rPr>
              <a:t>MODULE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ÉVALUATION &amp;
CAS PRATIQUES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Mise en application — QCM — Jeux de rôle — Dossiers simulés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ÉVALUATION &amp; VALIDATION DES ACQUIS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53312"/>
            <a:ext cx="3794760" cy="5321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53312"/>
            <a:ext cx="3794760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99032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QCM THÉORIQUE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4708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30 questions —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21992"/>
            <a:ext cx="347472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20 questions de connaissances générales toutes branches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10 questions sur la réglementation CIMA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Score minimum requis : 14/20 (70%)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Correction collective commentée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53312"/>
            <a:ext cx="3794760" cy="5321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353312"/>
            <a:ext cx="3794760" cy="7772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399032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CAS PRATIQUES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4708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3 dossiers — 60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21992"/>
            <a:ext cx="347472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Dossier Automobile : sinistre RC + dommages propres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Dossier Incendie : risque habitation + règle proportionnelle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Dossier Santé : hospitalisation avec tiers payant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Grille d'évaluation fournie aux participants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353312"/>
            <a:ext cx="3794760" cy="5321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353312"/>
            <a:ext cx="3794760" cy="7772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399032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MISE EN SITUATION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4708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Jeux de rôle — 45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221992"/>
            <a:ext cx="347472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Réception d'une déclaration de sinistre par téléphone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Gestion d'un assuré mécontent (refus de garantie)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Rédaction d'un courrier de règlement d'indemnité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✓  Évaluation comportementale et communication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MODULE 8 — Évaluation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Récapitulatif — Délais Clés à Maîtriser par Branche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37160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Branche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Acte / Étape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Délai CIMA / Convention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Toutes branches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Accusé réception déclaration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24 à 48 heures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Art. 15 CIMA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Toutes branches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Proposition d'indemnisation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30 jours après accord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Art. 16 CIMA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Toutes branches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Paiement effectif de l'indemnité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10 jours après quittance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Art. 18 CIMA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Automobile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Mandatement expert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5 jours ouvrables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Convention expertise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Automobile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Rapport d'expertise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15 jours ouvrables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Convention expertise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Transports maritimes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Notification avaries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3 jours après livraison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Convention Bruxelles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Transports aériens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Protestation avaries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14 jours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Convention Montréal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Santé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Réponse à la demande de 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48 heures (hors urgence)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Conditions générales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IA — ITT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Franchise temporelle ITT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3 premiers jours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Conditions particulières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2148840"/>
            <a:ext cx="612648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CCDDEE"/>
                </a:solidFill>
                <a:latin typeface="Calibri"/>
              </a:rPr>
              <a:t>Formation — Gestion des Sinistres Toutes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8F01"/>
                </a:solidFill>
                <a:latin typeface="Calibri"/>
              </a:rPr>
              <a:t>Formateur : TALOM Eric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546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18F01"/>
                </a:solidFill>
                <a:latin typeface="Calibri"/>
              </a:rPr>
              <a:t>◈  POINTS CLÉS À RETENIR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794760"/>
            <a:ext cx="8138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EF5FF"/>
                </a:solidFill>
                <a:latin typeface="Calibri"/>
              </a:rPr>
              <a:t>◈  Rigueur et célérité dans le traitement des déclarations de sinistre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EF5FF"/>
                </a:solidFill>
                <a:latin typeface="Calibri"/>
              </a:rPr>
              <a:t>◈  Respect strict des délais réglementaires CIMA à chaque étape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EF5FF"/>
                </a:solidFill>
                <a:latin typeface="Calibri"/>
              </a:rPr>
              <a:t>◈  Communication transparente et proactive avec l'assuré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EF5FF"/>
                </a:solidFill>
                <a:latin typeface="Calibri"/>
              </a:rPr>
              <a:t>◈  Archivage rigoureux pour la traçabilité et la conformité légale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EF5FF"/>
                </a:solidFill>
                <a:latin typeface="Calibri"/>
              </a:rPr>
              <a:t>◈  Actualisation permanente des connaissances réglementaires et techniques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