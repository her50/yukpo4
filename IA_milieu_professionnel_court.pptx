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gnex.com/products/deep-learning" TargetMode="External"/><Relationship Id="rId3" Type="http://schemas.openxmlformats.org/officeDocument/2006/relationships/hyperlink" Target="https://azure.microsoft.com/en-us/products/ai-services/ai-anomaly-detector" TargetMode="External"/><Relationship Id="rId4" Type="http://schemas.openxmlformats.org/officeDocument/2006/relationships/hyperlink" Target="https://cloud.google.com/vertex-ai?hl=fr" TargetMode="Externa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ws.amazon.com/lookout-for-vision/" TargetMode="External"/><Relationship Id="rId3" Type="http://schemas.openxmlformats.org/officeDocument/2006/relationships/hyperlink" Target="https://roboflow.com" TargetMode="Externa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uance.com/healthcare.html" TargetMode="External"/><Relationship Id="rId3" Type="http://schemas.openxmlformats.org/officeDocument/2006/relationships/hyperlink" Target="https://www.nabla.com" TargetMode="External"/><Relationship Id="rId4" Type="http://schemas.openxmlformats.org/officeDocument/2006/relationships/hyperlink" Target="https://chat.openai.com" TargetMode="Externa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uki.ai/" TargetMode="External"/><Relationship Id="rId3" Type="http://schemas.openxmlformats.org/officeDocument/2006/relationships/hyperlink" Target="https://qure.ai" TargetMode="External"/><Relationship Id="rId4" Type="http://schemas.openxmlformats.org/officeDocument/2006/relationships/hyperlink" Target="https://www.isabelhealthcare.com/" TargetMode="Externa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igitaldiagnostics.com/" TargetMode="Externa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aterialise.com/en/medical/mimics" TargetMode="External"/><Relationship Id="rId3" Type="http://schemas.openxmlformats.org/officeDocument/2006/relationships/hyperlink" Target="https://www.viz.ai" TargetMode="External"/><Relationship Id="rId4" Type="http://schemas.openxmlformats.org/officeDocument/2006/relationships/hyperlink" Target="https://caresyntax.com" TargetMode="Externa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idoc.com/" TargetMode="Externa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awgeex.com" TargetMode="External"/><Relationship Id="rId3" Type="http://schemas.openxmlformats.org/officeDocument/2006/relationships/hyperlink" Target="https://www.lexisnexis.com" TargetMode="External"/><Relationship Id="rId4" Type="http://schemas.openxmlformats.org/officeDocument/2006/relationships/hyperlink" Target="https://claude.ai" TargetMode="Externa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ira.litera.com/" TargetMode="Externa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exisnexis.com/en-us/products/cocounsel" TargetMode="External"/><Relationship Id="rId3" Type="http://schemas.openxmlformats.org/officeDocument/2006/relationships/hyperlink" Target="https://www.harvey.ai" TargetMode="External"/><Relationship Id="rId4" Type="http://schemas.openxmlformats.org/officeDocument/2006/relationships/hyperlink" Target="https://chat.openai.com" TargetMode="Externa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asetext.com/" TargetMode="Externa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nsensus.app" TargetMode="External"/><Relationship Id="rId3" Type="http://schemas.openxmlformats.org/officeDocument/2006/relationships/hyperlink" Target="https://elicit.com" TargetMode="External"/><Relationship Id="rId4" Type="http://schemas.openxmlformats.org/officeDocument/2006/relationships/hyperlink" Target="https://www.veeva.com" TargetMode="Externa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manticscholar.org/" TargetMode="Externa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s.google.com" TargetMode="External"/><Relationship Id="rId3" Type="http://schemas.openxmlformats.org/officeDocument/2006/relationships/hyperlink" Target="https://www.adobe.com/products/firefly.html" TargetMode="External"/><Relationship Id="rId4" Type="http://schemas.openxmlformats.org/officeDocument/2006/relationships/hyperlink" Target="https://www.hubspot.com/products/artificial-intelligence" TargetMode="Externa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alesforce.com/products/einstein-ai-solutions/" TargetMode="Externa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licetechnologies.com" TargetMode="External"/><Relationship Id="rId3" Type="http://schemas.openxmlformats.org/officeDocument/2006/relationships/hyperlink" Target="https://www.openspace.ai" TargetMode="External"/><Relationship Id="rId4" Type="http://schemas.openxmlformats.org/officeDocument/2006/relationships/hyperlink" Target="https://www.microsoft.com/microsoft-365/copilot" TargetMode="Externa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uildots.com/" TargetMode="Externa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hift-technology.com" TargetMode="External"/><Relationship Id="rId3" Type="http://schemas.openxmlformats.org/officeDocument/2006/relationships/hyperlink" Target="https://www.friss.com" TargetMode="External"/><Relationship Id="rId4" Type="http://schemas.openxmlformats.org/officeDocument/2006/relationships/hyperlink" Target="https://azure.microsoft.com/en-us/products/ai-services/ai-document-intelligence" TargetMode="Externa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actable.ai/" TargetMode="Externa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kur8.com" TargetMode="External"/><Relationship Id="rId3" Type="http://schemas.openxmlformats.org/officeDocument/2006/relationships/hyperlink" Target="https://h2o.ai/products/h2o-driverless-ai/" TargetMode="External"/><Relationship Id="rId4" Type="http://schemas.openxmlformats.org/officeDocument/2006/relationships/hyperlink" Target="https://powerbi.microsoft.com" TargetMode="Externa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ataiku.com/" TargetMode="Externa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ikit-learn.org/stable/" TargetMode="External"/><Relationship Id="rId3" Type="http://schemas.openxmlformats.org/officeDocument/2006/relationships/hyperlink" Target="https://h2o.ai" TargetMode="External"/><Relationship Id="rId4" Type="http://schemas.openxmlformats.org/officeDocument/2006/relationships/hyperlink" Target="https://mlflow.org" TargetMode="Externa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orch.org" TargetMode="External"/><Relationship Id="rId3" Type="http://schemas.openxmlformats.org/officeDocument/2006/relationships/hyperlink" Target="https://www.tensorflow.org/" TargetMode="External"/><Relationship Id="rId4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ukpomnang.com" TargetMode="External"/><Relationship Id="rId3" Type="http://schemas.openxmlformats.org/officeDocument/2006/relationships/hyperlink" Target="https://play.google.com/store/apps/details?id=com.yukpomnang.mobile" TargetMode="External"/><Relationship Id="rId4" Type="http://schemas.openxmlformats.org/officeDocument/2006/relationships/hyperlink" Target="https://apps.apple.com/search?term=Yukpo" TargetMode="External"/><Relationship Id="rId5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772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3A5F"/>
                </a:solidFill>
              </a:defRPr>
            </a:pPr>
            <a:r>
              <a:t>Intelligence artificielle &amp; métiers</a:t>
            </a:r>
          </a:p>
          <a:p>
            <a:pPr algn="ctr">
              <a:spcBef>
                <a:spcPts val="1600"/>
              </a:spcBef>
              <a:defRPr sz="1350">
                <a:solidFill>
                  <a:srgbClr val="454545"/>
                </a:solidFill>
              </a:defRPr>
            </a:pPr>
            <a:r>
              <a:t>Apports concrets par secteur — outils et mise en œuvre</a:t>
            </a:r>
          </a:p>
          <a:p>
            <a:pPr algn="ctr">
              <a:spcBef>
                <a:spcPts val="600"/>
              </a:spcBef>
              <a:defRPr sz="1350">
                <a:solidFill>
                  <a:srgbClr val="454545"/>
                </a:solidFill>
              </a:defRPr>
            </a:pPr>
            <a:r>
              <a:t>Mars 2026</a:t>
            </a:r>
          </a:p>
          <a:p>
            <a:pPr algn="ctr">
              <a:spcBef>
                <a:spcPts val="2200"/>
              </a:spcBef>
              <a:defRPr sz="1150" b="1">
                <a:solidFill>
                  <a:srgbClr val="2E4E72"/>
                </a:solidFill>
              </a:defRPr>
            </a:pPr>
            <a:r>
              <a:t>Hernandez LELE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Qu'est-ce que l'intelligence artificielle ?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Pour tout public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En une phrase : des programmes qui apprennent à partir d'exemples (textes, images, chiffres) pour repérer des motifs et proposer des réponses — ce n'est pas une conscience : du calcul statistique à très grande échelle.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Ce n'est pas infaillible : ces systèmes peuvent se tromper ou produire un texte « crédible » mais faux — relire et valider reste indispensable.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Différence utile : une automatisation classique suit des règles fixes ; l'IA s'ajuste quand on lui montre de nouveaux cas (images, texte, prévisions, anomalies…).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Au travail : l'IA réduit le temps sur le répétitif et le volumineux ; la décision qui engage l'entreprise, le patient ou le client reste humaine et responsable.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Les grands usages de l'IA au travail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Lecture des fiches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Voir : repérer un défaut, une anomalie ou un objet sur une image ou une vidéo.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Lire et écrire : résumer, reformuler, extraire des informations, produire un brouillon — toujours relire.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Anticiper : prévoir une panne, un volume ou un risque ; signaler ce qui sort de l'ordinaire.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Prioriser : trier dossiers, comptes ou actions à partir de l'historique.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Dans les tableaux : situation du quotidien → effet utile → où l'outil se branche techniquement → nom du service → lien officiel → type d'accès.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Données personnelles : ne les saisir dans un service en ligne qu'avec cadre adapté (RGPD, contrat, hébergement santé HDS le cas échéant).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65960"/>
            <a:ext cx="9144000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77724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Fiches par secteur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DDE5F5"/>
                </a:solidFill>
              </a:defRPr>
            </a:pPr>
            <a:r>
              <a:t>Situation → effet utile → installation / production → outil → 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Partie 2 — Fiches sectorielles (IA)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Industriel — plastique &amp; extrusion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Contrôle visuel, capteurs, prévision — ligne de production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Les défauts visibles sur les pièces (fissures, bulles) sont repérés trop tard : tout un lot peut être jeté.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Le système regarde chaque pièce comme un contrôleur : il dit « OK » ou « à vérifier » et alerte avant d'expédier.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Caméra au-dessus du tapis ou du poste contrôle ; ordinateur industriel ou petit calculateur branché au réseau d'atelier (souvent en local pour la vitesse).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Cognex VisionPro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www.cognex.com/products/deep-…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industrie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Les machines tournent « normalement » puis cassent sans prévenir : arrêt brutal et réparation coûteuse.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Le logiciel lit en continu capteurs (vibration, température) et signale un comportement anormal avant la panne.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Capteurs existants reliés à un service cloud ou un serveur interne ; alertes vers maintenance (e-mail, tableau de bord).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Microsoft Azure AI Anomaly Detector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azure.microsoft.com/en-us/pro…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à l'usage (Azure)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Régler température et vitesse à l'essai, c'est long et coûteux à chaque nouveau produit.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Le système propose des réglages à partir des données passées : moins d'essais au hasard, moins de rebut.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Données d'usine importées dans la plateforme cloud ; essais pilotes puis recommandations (équipe technique valide).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Google Cloud Vertex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cloud.google.com/vertex-ai?hl=fr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(GCP)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Industriel — plastique &amp; extrusion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Contrôle visuel, capteurs, prévision — ligne de production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Contrôler à l'œil 100 % des pièces, c'est impossible toute la journée sans se tromper.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Un modèle entraîné sur vos photos repère les micro-défauts et les regroupe par type pour agir sur la chaîne.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Images envoyées au cloud AWS ou caméra edge ; intégration possible à MES / base qualité.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AWS Lookout for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aws.amazon.com/lookout-for-vi…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(AWS)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Pas d'équipe « data » pour coder un outil sur mesure : besoin d'étiqueter et tester vite.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Interface web : on charge des images, on entraîne, on déploie une API ou une petite caméra intelligente.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Navigateur + compte ; déploiement sur poste, Raspberry ou serveur selon l'offre.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Roboflow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roboflow.com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 / payant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Médecin généraliste — partie 1/3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Dossier, imagerie, aide au raisonnement — décision médicale toujours humaine — tableau 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Après chaque consultation, taper le compte rendu au clavier prend du temps et éloigne du patient.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L'outil écoute (micro) et propose un texte structuré : le médecin relit et signe avant d'enregistrer.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Micro au cabinet ou salle ; logiciel sur poste sécurisé ou offre hôpital — déploiement par l'IT selon contrat.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Microsoft Dragon Ambient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www.nuance.com/healthcare.html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établissement ou offre pro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Rédiger courriers et synthèses pour les confrères : charge mentale élevée.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Assistant texte spécialisé santé : premiers jets à partir du contexte — données anonymisées, relecture obligatoire.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Application web ou intégration dossier patient (selon offre) ; usage sous contrat HDS / employeur.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Nabla Copilot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www.nabla.com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Pro / essai — usage encadré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Le patient ne comprend pas les termes médicaux ; il faut reformuler simplement sans déformer le sens.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Reformulation de texte à niveau de langage adapté — le médecin valide le fond.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Application web grand public ou API ; ne jamais y coller d'identité réelle sans cadre.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ChatGPT (usage prudent, anonymisé)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chat.openai.com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Médecin généraliste — partie 2/3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Dossier, imagerie, aide au raisonnement — décision médicale toujours humaine — tableau 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La paperasse réduit le temps d'écoute au fil des semaines.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Dictée intelligente : le logiciel remplit les champs habituels du dossier pour signature.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App mobile / web connectée au DMP ou dossier selon intégration entreprise.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Suki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www.suki.ai/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organisation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Une radiographie thorax est lue vite : un oubli ou un doute peut retarder une orientation.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Logiciel d'aide à la lecture : il surligne des zones à risque sur l'image — la décision reste médicale.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Serveur hôpital ou cloud agréé ; intégration PACS / RIS selon pays et marquage CE / FDA des produits.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Qure.ai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qure.ai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institution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Le médecin veut un ordre d'idées avant d'affiner : symptômes flous, plusieurs causes possibles.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Moteur de questions / diagnostics différentiels à partir de signes — liste d'hypothèses à confronter au dossier réel.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Site web ou intégration cabinet ; ne remplace pas l'examen — l'intention est d'organiser la réflexion.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Isabel 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www.isabelhealthcare.com/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pro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Médecin généraliste — partie 3/3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Dossier, imagerie, aide au raisonnement — décision médicale toujours humaine — tableau 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Dépistage de la rétinopathie diabétique en première ligne : file d'attente ophtalmologue longue.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Caméra rétine + logiciel classe « envoyer en urgence » ou « suivi classique » — selon dispositif homologué localement.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Appareil photo rétinien branché sur PC avec logiciel certifié ; workflow défini par l'établissement.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Digital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www.digitaldiagnostics.com/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réseau de soins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Chirurgien &amp; imagerie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Planification 3D, urgences, bloc, file d'attente imagerie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Avant une opération, mesurer et segmenter organes sur scanner prend du temps et varie selon qui le fait.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Le logiciel découpe l'image 3D et prépare un modèle pour le bloc — le chirurgien valide le plan.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Poste de travail avec logiciel certifié ; données DICOM depuis le PACS hospitalier.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Materialise Mimics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www.materialise.com/en/medica…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hôpital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Un AVC ou une grosse lésion vasculaire : il faut mobiliser l'équipe tout de suite.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L'IA analyse l'image et envoie une alerte sur téléphone/tablette de l'équipe selon protocole hôpital.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Intégration PACS + messagerie sécurisée ; déploiement réseau de soins.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Viz.ai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www.viz.ai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réseau de soins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Savoir si le bloc tourne « bien » (temps, matériel) est flou sans tableau de bord.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Tableaux de bord et analyses à partir des flux du bloc (données anonymisées) pour améliorer l'organisation.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Passerelle vers données bloc + serveur hôpital ; projet avec direction et DSI.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Caresyntax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caresyntax.com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hôpital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Chirurgien &amp; imagerie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Planification 3D, urgences, bloc, file d'attente imagerie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Trop d'images à lire : les urgences peuvent attendre derrière des examens moins graves.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L'IA classe les examens pour que le radiologue traite d'abord les cas signalés comme critiques (selon produit).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Routeur d'examens sur serveur imagerie ; connexion au PACS.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Aidoc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www.aidoc.com/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réseau de soins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juridique — assurance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Contrats et veille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Un contrat de dizaines de pages : risque de passer à côté d'une clause importante.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Le logiciel surligne et score les clauses sensibles pour prioriser la lecture humaine.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Navigateur SaaS ou intégration SharePoint ; compte entreprise.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LawGeex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www.lawgeex.com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entreprise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La réglementation change souvent : difficile de tout suivre à la main.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Recherche en langage naturel et alertes sur textes officiels (selon abonnement).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Web + compte LexisNexis ; souvent lien avec base documentaire interne.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Lexis+ (LexisNexis)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www.lexisnexis.com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Besoin d'un premier plan avant la revue détaillée d'un dossier long.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Grand modèle de langage : résumés et plans — chaque citation doit être revérée à la source.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Site web Claude ; copier-coller sans données personnelles hors cadre.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claude.ai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 / payant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juridique — assurance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Contrats et veille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Beaucoup de contrats se ressemblent mais diffèrent sur un mot : les comparer à la main est long.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Extraction et alignement de clauses pour comparaison rapide — validation juridique finale.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Cloud Litera ; import de contrats PDF/Word.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Kira (Litera)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kira.litera.com/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entreprise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Avocat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Recherche et rédaction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Trouver la bonne décision de justice avec des mots du quotidien plutôt que des codes juridiques.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Assistant posé sur les bases payantes LexisNexis — réponses avec références à vérifier.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Application web cabinet avec abonnement base de données.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LexisNexis CoCounsel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www.lexisnexis.com/en-us/prod…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cabinet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Dossiers de centaines de pages à résumer pour audience.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Résumés et extraction assistés par IA — relecture et citation au dossier obligatoires.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Web Harvey (invitation cabinet).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Harvey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www.harvey.ai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cabinet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Premier jet de chronologie ou de mémoire pour gagner du temps.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Génération de texte — données anonymisées ; secret professionnel : cadre cabinet / pas de données clients sur outils grand public sans accord.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Navigateur web ; ne pas y coller de données identifiables sans accord.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chat.openai.com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Avocat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Recherche et rédaction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Question juridique posée comme à un collègue.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Recherche sémantique sur jurisprudence (selon base Thomson Reuters).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Abonnement Thomson Reuters ; application web cabinet.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Casetext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casetext.com/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cabinet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Délégué médical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Littérature scientifique et CRM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Préparer une visite : trouver vite les articles qui vont dans le sens de la discussion.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Moteur de recherche orienté articles scientifiques avec extraits synthétiques — vérifier les sources.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Site web Consensus.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consensus.app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Lire dix résumés d'études pour une réunion le lendemain.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Tableur de questions sur la littérature — chaque chiffre doit être recoupé sur l'article original.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Web Elicit.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Elicit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elicit.com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 / abonnement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Aligner le discours avec ce que fait réellement le terrain (CRM).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Suggestions « prochaine action » et scoring intégrés au CRM pharma (déploiement entreprise).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Instance entreprise Veeva ; intégration IT pharma.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Veeva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www.veeva.com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entreprise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Délégué médical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Littérature scientifique et CRM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Voir qui cite qui dans un domaine pour ne pas lire dans le désordre.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Carte de citations et résumés — point d'entrée vers PubMed.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Site web Semantic Scholar.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Semantic Scholar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www.semanticscholar.org/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Gratuit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marketing — télécom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Campagnes et CRM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Dépenser en publicité sans savoir quelle combinaison fonctionne vraiment.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Campagne pilotée par algorithmes sur objectifs (Google Ads).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Compte Google Ads ; liaison compte et budgets.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Google Ads Performance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ads.google.com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(budget pub)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Créer beaucoup de visuels publicitaires prend du temps créatif.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Génération et variation d'images à partir de consignes texte (Adobe).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Creative Cloud / navigateur selon offre Firefly.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Adobe Firefly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www.adobe.com/products/firefl…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Souvent abonnement Creative Cloud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Savoir qui rappeler en priorité parmi les prospects.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Scores et suggestions dans le CRM (HubSpot).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HubSpot connecté au site et aux campagnes.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HubSpot AI (Breeze)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www.hubspot.com/products/arti…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Freemium / payant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marketing — télécom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Campagnes et CRM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Grands comptes : quel geste commercial au bon moment.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Modèles prédictifs intégrés Salesforce (Einstein).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Org Salesforce + données CRM.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Salesforce Einstein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www.salesforce.com/products/e…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(Salesforce)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Ingénieur génie civil &amp; construction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Planning, chantier, BIM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Planning de chantier qui se télescope : une retard en entraîne d'autres.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Moteur d'optimisation de calendrier avec scénarios « et si… ».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Import planning dans logiciel Alice (cloud projet).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Alice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www.alicetechnologies.com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projet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Comparer ce qui est construit au plan sur le papier.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Visite 360° + vision : repérer l'écart entre chantier et modèle.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Casque / trépied + compte OpenSpace sur chantier.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OpenSpace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www.openspace.ai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chantier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Comptes rendus de réunion et suivi de dossiers techniques.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Copilot sur documents SharePoint / Teams (résumés, actions).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Microsoft 365 avec Copilot activé.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Microsoft Copilot (365)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www.microsoft.com/microsoft-3…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(365)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Ingénieur génie civil &amp; construction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Planning, chantier, BIM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Savoir où en est le chantier par rapport au planning sans tout mesurer à la main.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Vidéos / images comparées au modèle BIM pour estimer l'avancement.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Caméras chantier + plateforme Buildots.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Buildots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www.buildots.com/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grand chantier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Responsable sinistres &amp; courtage — assurance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Priorisation, fraude, pièces, chiffrage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Des dossiers qui arrivent en masse : lesquels traiter en premier.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Score de priorité et routage automatique vers la bonne équipe.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API assureur + workflow Shift (cloud entreprise).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Shift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www.shift-technology.com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assureur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Repérer les déclarations douteuses sans tout auditer à la main.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Modèles entraînés sur historiques de fraude et réseaux de liens.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Intégration SI sinistres FRISS.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FRISS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www.friss.com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entreprise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Pièces en photo ou PDF : tout retaper au clavier.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Service Azure lit la mise en page et renvoie champs structurés vers votre logiciel métier.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Abonnement Azure + connecteurs IT.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Azure AI Document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azure.microsoft.com/en-us/pro…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(Azure)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Responsable sinistres &amp; courtage — assurance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Priorisation, fraude, pièces, chiffrage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Chiffrer un sinistre auto ou habitation à partir de photos.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Estimation assistée par image pour accélérer la proposition d'indemnisation (validation humaine).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API Tractable côté assureur ou appli démarche sinistre.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Tractable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tractable.ai/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assurance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réassurance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Tarification, modèles, comités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Tarifer et segmenter les risques sur gros volumes.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Modèles de tarification transparents (GLM + ML) intégrés au processus souscription.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SaaS Akur8 ; données actuarielles importées.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Akur8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www.akur8.com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assurance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Prototyper des modèles prédictifs sans tout coder à la main.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AutoML H2O — export vers production.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H2O Driverless AI (on-prem ou cloud).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H2O Driverless 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h2o.ai/products/h2o-driverles…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data science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Comités : besoin d'expliquer les chiffres en langage clair.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Copilot dans Power BI pour questions en langage naturel sur les rapports.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Tenant Microsoft avec licence Copilot BI.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powerbi.microsoft.com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Selon licence Microsoft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Responsable réassurance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Tarification, modèles, comités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Équipes actuariat / data / métier sur un même pipeline.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Plateforme collaborative ML avec traçabilité des jeux de données et modèles.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Dataiku sur cloud ou serveur entreprise.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Dataiku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www.dataiku.com/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Payant / entreprise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Statisticien / data scientist — partie 1/2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Modélisation et mise en production — tableau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Modèles classiques (régression, forêts) sur tableaux de chiffres.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Bibliothèque Python standard pour entraîner et évaluer sur une seule API cohérente.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Environnement Python (conda, venv) ; scripts ou notebooks.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scikit-learn.org/stable/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Open source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Aller vite sur des modèles prédictifs avec explication des variables.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AutoML H2O open source ou cloud.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Cluster ou H2O en local / cloud.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H2O.ai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h2o.ai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Gratuit (open source) / payant cloud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Suivre les modèles en production (dérive, versions).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MLflow : journalisation des runs et déploiement.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Serveur MLflow ou Databricks / OSS.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4"/>
                        </a:rPr>
                        <a:t>MLflow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4"/>
                        </a:rPr>
                        <a:t>mlflow.org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Open source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Statisticien / data scientist — partie 2/2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Modélisation et mise en production — tableau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517904"/>
          <a:ext cx="779068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627632"/>
                <a:gridCol w="1371600"/>
                <a:gridCol w="1078992"/>
                <a:gridCol w="1207008"/>
                <a:gridCol w="1389888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Situation (concret)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Ce que change l'IA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Où ça s'installe / comment ça tourne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Lien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00" b="1"/>
                      </a:pPr>
                      <a:r>
                        <a:rPr b="1" sz="1050">
                          <a:solidFill>
                            <a:srgbClr val="FFFFFF"/>
                          </a:solidFill>
                        </a:rPr>
                        <a:t>Accès</a:t>
                      </a:r>
                    </a:p>
                  </a:txBody>
                  <a:tcPr anchor="t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Réseaux de neurones recherche ou production.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PyTorch : entraînement GPU, export ONNX.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Python + CUDA sur station ou cloud.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2"/>
                        </a:rPr>
                        <a:t>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2"/>
                        </a:rPr>
                        <a:t>pytorch.org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Open source</a:t>
                      </a:r>
                    </a:p>
                  </a:txBody>
                  <a:tcPr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000" b="0"/>
                      </a:pPr>
                      <a:r>
                        <a:t>Mise en production TensorFlow à grande échelle.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222222"/>
                          </a:solidFill>
                        </a:rPr>
                        <a:t>Effet : </a:t>
                      </a:r>
                      <a:r>
                        <a:rPr sz="1000">
                          <a:solidFill>
                            <a:srgbClr val="333333"/>
                          </a:solidFill>
                        </a:rPr>
                        <a:t>TFX / Serving pour pipelines et API.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222222"/>
                          </a:solidFill>
                        </a:rPr>
                        <a:t>Installation : </a:t>
                      </a:r>
                      <a:r>
                        <a:rPr sz="950">
                          <a:solidFill>
                            <a:srgbClr val="333333"/>
                          </a:solidFill>
                        </a:rPr>
                        <a:t>Cluster Kubernetes ou cloud GCP.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B57A6"/>
                          </a:solidFill>
                          <a:hlinkClick r:id="rId3"/>
                        </a:rPr>
                        <a:t>TensorFlow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B57A6"/>
                          </a:solidFill>
                          <a:hlinkClick r:id="rId3"/>
                        </a:rPr>
                        <a:t>www.tensorflow.org/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950" b="0"/>
                      </a:pPr>
                      <a:r>
                        <a:t>Open source</a:t>
                      </a:r>
                    </a:p>
                  </a:txBody>
                  <a:tcPr anchor="t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Passer à l'action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Choisir une ligne pertinente dans votre secteur et contacter l'éditeur pour une démonstration ou un pilote encadré.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Tester sur un petit cas interne avec données anonymisées ; mesurer le gain de temps sur deux semaines.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Obtenir l'accord juridique, IT et qualité avant toute mise en production sur données réelles.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Yukpo — positionnement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Yukpo Company — écosystème Yukpomnang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Une plateforme O2O :</a:t>
            </a:r>
            <a:r>
              <a:rPr sz="1450">
                <a:solidFill>
                  <a:srgbClr val="282828"/>
                </a:solidFill>
              </a:rPr>
              <a:t> elle relie ce qui se passe en ligne (recherche, offre, commande) à la réalité terrain (livraison, service, contact local).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L'intelligence au centre :</a:t>
            </a:r>
            <a:r>
              <a:rPr sz="1450">
                <a:solidFill>
                  <a:srgbClr val="282828"/>
                </a:solidFill>
              </a:rPr>
              <a:t> recherche multimodale (texte, voix, image), assistants pour créer ou compléter une offre, parcours guidés pour aller plus vite du besoin à la solution.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Pour les professionnels et les communautés :</a:t>
            </a:r>
            <a:r>
              <a:rPr sz="1450">
                <a:solidFill>
                  <a:srgbClr val="282828"/>
                </a:solidFill>
              </a:rPr>
              <a:t> visibilité numérique des commerces et services locaux, mise en relation directe, expérience unifiée mobile et web sous la marque Yukpomnang.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Ce que les utilisateurs et les pros y font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Fonctionnalités majeures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Trouver :</a:t>
            </a:r>
            <a:r>
              <a:rPr sz="1450">
                <a:solidFill>
                  <a:srgbClr val="282828"/>
                </a:solidFill>
              </a:rPr>
              <a:t> recherche intelligente combinant mots-clés, oral, photo et géolocalisation pour découvrir produits et prestataires à proximité.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Publier :</a:t>
            </a:r>
            <a:r>
              <a:rPr sz="1450">
                <a:solidFill>
                  <a:srgbClr val="282828"/>
                </a:solidFill>
              </a:rPr>
              <a:t> création accélérée de fiches produits ou services (texte, médias) avec aide à la mise en forme et à la complétude.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Échanger :</a:t>
            </a:r>
            <a:r>
              <a:rPr sz="1450">
                <a:solidFill>
                  <a:srgbClr val="282828"/>
                </a:solidFill>
              </a:rPr>
              <a:t> messagerie temps réel, suivi de commandes et de livraisons, parcours d'achat ou de demande de service de bout en bout.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Fidéliser :</a:t>
            </a:r>
            <a:r>
              <a:rPr sz="1450">
                <a:solidFill>
                  <a:srgbClr val="282828"/>
                </a:solidFill>
              </a:rPr>
              <a:t> visibilité renforcée pour les vendeurs et créateurs, logique de place de marché avec livraison intégrée lorsque le contexte le permet.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10789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Confiance et déploiement</a:t>
            </a:r>
          </a:p>
          <a:p>
            <a:pPr>
              <a:spcBef>
                <a:spcPts val="400"/>
              </a:spcBef>
              <a:defRPr sz="1250">
                <a:solidFill>
                  <a:srgbClr val="444444"/>
                </a:solidFill>
              </a:defRPr>
            </a:pPr>
            <a:r>
              <a:t>Cadre et canaux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7790688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Sécurité et conformité :</a:t>
            </a:r>
            <a:r>
              <a:rPr sz="1450">
                <a:solidFill>
                  <a:srgbClr val="282828"/>
                </a:solidFill>
              </a:rPr>
              <a:t> traitement des données dans le respect des cadres applicables ; transparence sur les usages des fonctionnalités intelligentes.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Accès :</a:t>
            </a:r>
            <a:r>
              <a:rPr sz="1450">
                <a:solidFill>
                  <a:srgbClr val="282828"/>
                </a:solidFill>
              </a:rPr>
              <a:t> application mobile Yukpo (Android / iOS selon les stores), site Yukpomnang pour l'information et le contact.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E3A5F"/>
                </a:solidFill>
              </a:rPr>
              <a:t>Ambition :</a:t>
            </a:r>
            <a:r>
              <a:rPr sz="1450">
                <a:solidFill>
                  <a:srgbClr val="282828"/>
                </a:solidFill>
              </a:rPr>
              <a:t> réduire la fracture entre besoins exprimés (y compris en langues locales) et solutions disponibles sur le marché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68680"/>
            <a:ext cx="2514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61188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Yukpo</a:t>
            </a:r>
          </a:p>
          <a:p>
            <a:pPr algn="ctr">
              <a:defRPr sz="2000"/>
            </a:pPr>
            <a:r>
              <a:t>L'écoute qui comprend vraiment</a:t>
            </a:r>
          </a:p>
          <a:p>
            <a:pPr algn="ctr">
              <a:defRPr sz="1500"/>
            </a:pPr>
            <a:r>
              <a:t>Plateforme intelligente — besoins et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Yukpo — écosystème Yukpomnang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779068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Yukpo — liens officiels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78992"/>
            <a:ext cx="7790688" cy="32004"/>
          </a:xfrm>
          <a:prstGeom prst="rect">
            <a:avLst/>
          </a:prstGeom>
          <a:solidFill>
            <a:srgbClr val="2E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88720"/>
            <a:ext cx="779068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hlinkClick r:id="rId2"/>
              </a:rPr>
              <a:t>Yukpomnang.com</a:t>
            </a:r>
            <a:r>
              <a:rPr sz="1200">
                <a:solidFill>
                  <a:srgbClr val="333333"/>
                </a:solidFill>
              </a:rPr>
              <a:t>  —  Information &amp; contact  —  Site institutionnel de la plateforme.</a:t>
            </a:r>
          </a:p>
          <a:p>
            <a:pPr>
              <a:spcAft>
                <a:spcPts val="1400"/>
              </a:spcAft>
            </a:pPr>
            <a:r>
              <a:rPr sz="1300" b="1">
                <a:hlinkClick r:id="rId3"/>
              </a:rPr>
              <a:t>Google Play — Yukpo</a:t>
            </a:r>
            <a:r>
              <a:rPr sz="1200">
                <a:solidFill>
                  <a:srgbClr val="333333"/>
                </a:solidFill>
              </a:rPr>
              <a:t>  —  Téléchargement Android  —  Vérifier l'éditeur Yukpomnang sur la fiche store.</a:t>
            </a:r>
          </a:p>
          <a:p>
            <a:pPr>
              <a:spcAft>
                <a:spcPts val="1400"/>
              </a:spcAft>
            </a:pPr>
            <a:r>
              <a:rPr sz="1300" b="1">
                <a:hlinkClick r:id="rId4"/>
              </a:rPr>
              <a:t>App Store — recherche « Yukpo »</a:t>
            </a:r>
            <a:r>
              <a:rPr sz="1200">
                <a:solidFill>
                  <a:srgbClr val="333333"/>
                </a:solidFill>
              </a:rPr>
              <a:t>  —  iOS  —  Confirmer l'éditeur avant installation.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772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3A5F"/>
                </a:solidFill>
              </a:defRPr>
            </a:pPr>
            <a:r>
              <a:t>Merci</a:t>
            </a:r>
          </a:p>
          <a:p>
            <a:pPr algn="ctr">
              <a:spcBef>
                <a:spcPts val="1600"/>
              </a:spcBef>
              <a:defRPr sz="1350">
                <a:solidFill>
                  <a:srgbClr val="454545"/>
                </a:solidFill>
              </a:defRPr>
            </a:pPr>
            <a:r>
              <a:t>Questions et échanges</a:t>
            </a:r>
          </a:p>
          <a:p>
            <a:pPr algn="ctr">
              <a:spcBef>
                <a:spcPts val="600"/>
              </a:spcBef>
              <a:defRPr sz="1350">
                <a:solidFill>
                  <a:srgbClr val="454545"/>
                </a:solidFill>
              </a:defRPr>
            </a:pPr>
            <a:r>
              <a:t>yukpomnang.com</a:t>
            </a:r>
          </a:p>
          <a:p>
            <a:pPr algn="ctr">
              <a:spcBef>
                <a:spcPts val="2200"/>
              </a:spcBef>
              <a:defRPr sz="1150" b="1">
                <a:solidFill>
                  <a:srgbClr val="2E4E72"/>
                </a:solidFill>
              </a:defRPr>
            </a:pPr>
            <a:r>
              <a:t>Hernandez LELE</a:t>
            </a:r>
          </a:p>
          <a:p>
            <a:pPr algn="ctr">
              <a:spcBef>
                <a:spcPts val="500"/>
              </a:spcBef>
              <a:defRPr sz="1050" b="0">
                <a:solidFill>
                  <a:srgbClr val="2E4E72"/>
                </a:solidFill>
              </a:defRPr>
            </a:pPr>
            <a:r>
              <a:t>CEO — Yukpo Company</a:t>
            </a:r>
          </a:p>
          <a:p>
            <a:pPr algn="ctr">
              <a:spcBef>
                <a:spcPts val="500"/>
              </a:spcBef>
              <a:defRPr sz="1050" b="0">
                <a:solidFill>
                  <a:srgbClr val="2E4E72"/>
                </a:solidFill>
              </a:defRPr>
            </a:pPr>
            <a:r>
              <a:t>Consultant en statistique · suivi-évaluation de projets de développement · conception et développement full-stack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7777"/>
                </a:solidFill>
              </a:defRPr>
            </a:pPr>
            <a:r>
              <a:t>IA &amp; métiers — présentation professionnelle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